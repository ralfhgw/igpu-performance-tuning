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theme/theme3.xml" ContentType="application/vnd.openxmlformats-officedocument.theme+xml"/>
  <Override PartName="/ppt/slideLayouts/slideLayout4.xml" ContentType="application/vnd.openxmlformats-officedocument.presentationml.slideLayout+xml"/>
  <Override PartName="/ppt/theme/theme4.xml" ContentType="application/vnd.openxmlformats-officedocument.theme+xml"/>
  <Override PartName="/ppt/slideLayouts/slideLayout5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2.xml" ContentType="application/vnd.openxmlformats-officedocument.drawingml.chart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rts/chart3.xml" ContentType="application/vnd.openxmlformats-officedocument.drawingml.chart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charts/chart4.xml" ContentType="application/vnd.openxmlformats-officedocument.drawingml.chart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50" r:id="rId2"/>
    <p:sldMasterId id="2147483652" r:id="rId3"/>
    <p:sldMasterId id="2147483654" r:id="rId4"/>
    <p:sldMasterId id="2147483656" r:id="rId5"/>
  </p:sldMasterIdLst>
  <p:notesMasterIdLst>
    <p:notesMasterId r:id="rId44"/>
  </p:notesMasterIdLst>
  <p:sldIdLst>
    <p:sldId id="256" r:id="rId6"/>
    <p:sldId id="258" r:id="rId7"/>
    <p:sldId id="259" r:id="rId8"/>
    <p:sldId id="260" r:id="rId9"/>
    <p:sldId id="261" r:id="rId10"/>
    <p:sldId id="262" r:id="rId11"/>
    <p:sldId id="296" r:id="rId12"/>
    <p:sldId id="297" r:id="rId13"/>
    <p:sldId id="263" r:id="rId14"/>
    <p:sldId id="264" r:id="rId15"/>
    <p:sldId id="265" r:id="rId16"/>
    <p:sldId id="266" r:id="rId17"/>
    <p:sldId id="267" r:id="rId18"/>
    <p:sldId id="268" r:id="rId19"/>
    <p:sldId id="298" r:id="rId20"/>
    <p:sldId id="299" r:id="rId21"/>
    <p:sldId id="269" r:id="rId22"/>
    <p:sldId id="270" r:id="rId23"/>
    <p:sldId id="272" r:id="rId24"/>
    <p:sldId id="286" r:id="rId25"/>
    <p:sldId id="300" r:id="rId26"/>
    <p:sldId id="301" r:id="rId27"/>
    <p:sldId id="302" r:id="rId28"/>
    <p:sldId id="287" r:id="rId29"/>
    <p:sldId id="288" r:id="rId30"/>
    <p:sldId id="303" r:id="rId31"/>
    <p:sldId id="292" r:id="rId32"/>
    <p:sldId id="281" r:id="rId33"/>
    <p:sldId id="274" r:id="rId34"/>
    <p:sldId id="276" r:id="rId35"/>
    <p:sldId id="278" r:id="rId36"/>
    <p:sldId id="282" r:id="rId37"/>
    <p:sldId id="283" r:id="rId38"/>
    <p:sldId id="284" r:id="rId39"/>
    <p:sldId id="293" r:id="rId40"/>
    <p:sldId id="294" r:id="rId41"/>
    <p:sldId id="304" r:id="rId42"/>
    <p:sldId id="285" r:id="rId4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D9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00" d="100"/>
          <a:sy n="100" d="100"/>
        </p:scale>
        <p:origin x="-954" y="-43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9" Type="http://schemas.openxmlformats.org/officeDocument/2006/relationships/slide" Target="slides/slide34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6.xml"/><Relationship Id="rId34" Type="http://schemas.openxmlformats.org/officeDocument/2006/relationships/slide" Target="slides/slide29.xml"/><Relationship Id="rId42" Type="http://schemas.openxmlformats.org/officeDocument/2006/relationships/slide" Target="slides/slide37.xml"/><Relationship Id="rId47" Type="http://schemas.openxmlformats.org/officeDocument/2006/relationships/theme" Target="theme/theme1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46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slide" Target="slides/slide24.xml"/><Relationship Id="rId41" Type="http://schemas.openxmlformats.org/officeDocument/2006/relationships/slide" Target="slides/slide36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40" Type="http://schemas.openxmlformats.org/officeDocument/2006/relationships/slide" Target="slides/slide35.xml"/><Relationship Id="rId45" Type="http://schemas.openxmlformats.org/officeDocument/2006/relationships/presProps" Target="presProps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slide" Target="slides/slide26.xml"/><Relationship Id="rId44" Type="http://schemas.openxmlformats.org/officeDocument/2006/relationships/notesMaster" Target="notesMasters/notesMaster1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43" Type="http://schemas.openxmlformats.org/officeDocument/2006/relationships/slide" Target="slides/slide38.xml"/><Relationship Id="rId48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de-DE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2172B"/>
                </a:solidFill>
                <a:latin typeface="Arial"/>
              </a:defRPr>
            </a:pPr>
            <a:r>
              <a:rPr lang="de-DE" sz="1250" b="0" i="0" u="none" strike="noStrike">
                <a:solidFill>
                  <a:srgbClr val="12172B"/>
                </a:solidFill>
                <a:latin typeface="Arial"/>
              </a:rPr>
              <a:t>Gleicher </a:t>
            </a:r>
            <a:r>
              <a:rPr lang="de-DE" sz="1250" b="0" i="0" u="none" strike="noStrike" smtClean="0">
                <a:solidFill>
                  <a:srgbClr val="12172B"/>
                </a:solidFill>
                <a:latin typeface="Arial"/>
              </a:rPr>
              <a:t>Inhalt </a:t>
            </a:r>
            <a:r>
              <a:rPr lang="de-DE" sz="1250" b="0" i="0" u="none" strike="noStrike">
                <a:solidFill>
                  <a:srgbClr val="12172B"/>
                </a:solidFill>
                <a:latin typeface="Arial"/>
              </a:rPr>
              <a:t>– Tokens im Prompt</a:t>
            </a:r>
          </a:p>
        </c:rich>
      </c:tx>
      <c:layout>
        <c:manualLayout>
          <c:xMode val="edge"/>
          <c:yMode val="edge"/>
          <c:x val="0.24701313818823495"/>
          <c:y val="0.11627906976744186"/>
        </c:manualLayout>
      </c:layout>
      <c:overlay val="0"/>
    </c:title>
    <c:autoTitleDeleted val="0"/>
    <c:plotArea>
      <c:layout>
        <c:manualLayout>
          <c:layoutTarget val="inner"/>
          <c:xMode val="edge"/>
          <c:yMode val="edge"/>
          <c:x val="0.10522556568395755"/>
          <c:y val="0.25436071944495309"/>
          <c:w val="0.38417046935523103"/>
          <c:h val="0.67457984903049906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Prompt Eval Count</c:v>
                </c:pt>
              </c:strCache>
            </c:strRef>
          </c:tx>
          <c:spPr>
            <a:solidFill>
              <a:srgbClr val="FF6B4A"/>
            </a:solidFill>
            <a:effectLst/>
          </c:spPr>
          <c:invertIfNegative val="0"/>
          <c:dPt>
            <c:idx val="0"/>
            <c:invertIfNegative val="0"/>
            <c:bubble3D val="0"/>
          </c:dPt>
          <c:dPt>
            <c:idx val="1"/>
            <c:invertIfNegative val="0"/>
            <c:bubble3D val="0"/>
            <c:spPr>
              <a:solidFill>
                <a:srgbClr val="00D9C0"/>
              </a:solidFill>
              <a:effectLst/>
            </c:spPr>
          </c:dPt>
          <c:dLbls>
            <c:numFmt formatCode="#,##0" sourceLinked="0"/>
            <c:txPr>
              <a:bodyPr/>
              <a:lstStyle/>
              <a:p>
                <a:pPr>
                  <a:defRPr sz="1250" b="0" i="0" u="none" strike="noStrike">
                    <a:solidFill>
                      <a:srgbClr val="12172B"/>
                    </a:solidFill>
                    <a:latin typeface="Calibri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de</c:v>
                </c:pt>
                <c:pt idx="1">
                  <c:v>en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362</c:v>
                </c:pt>
                <c:pt idx="1">
                  <c:v>239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64505216"/>
        <c:axId val="264513408"/>
      </c:barChart>
      <c:catAx>
        <c:axId val="264505216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478"/>
                </a:solidFill>
                <a:latin typeface="Calibri"/>
              </a:defRPr>
            </a:pPr>
            <a:endParaRPr lang="de-DE"/>
          </a:p>
        </c:txPr>
        <c:crossAx val="264513408"/>
        <c:crosses val="autoZero"/>
        <c:auto val="1"/>
        <c:lblAlgn val="ctr"/>
        <c:lblOffset val="100"/>
        <c:noMultiLvlLbl val="1"/>
      </c:catAx>
      <c:valAx>
        <c:axId val="264513408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crossAx val="26450521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de-DE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Tokens/s</c:v>
                </c:pt>
              </c:strCache>
            </c:strRef>
          </c:tx>
          <c:spPr>
            <a:solidFill>
              <a:srgbClr val="00D9C0"/>
            </a:solidFill>
            <a:effectLst/>
          </c:spPr>
          <c:invertIfNegative val="0"/>
          <c:dPt>
            <c:idx val="0"/>
            <c:invertIfNegative val="0"/>
            <c:bubble3D val="0"/>
          </c:dPt>
          <c:dPt>
            <c:idx val="1"/>
            <c:invertIfNegative val="0"/>
            <c:bubble3D val="0"/>
            <c:spPr>
              <a:solidFill>
                <a:srgbClr val="3A9AA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F6B4A"/>
              </a:solidFill>
              <a:effectLst/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mtClean="0"/>
                      <a:t>47 Tokens/s</a:t>
                    </a:r>
                    <a:endParaRPr lang="en-US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mtClean="0"/>
                      <a:t>13 Tokens/s</a:t>
                    </a:r>
                    <a:endParaRPr lang="en-US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1.0964912280701754E-2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lang="en-US" smtClean="0"/>
                      <a:t>4 Tokens/s</a:t>
                    </a:r>
                    <a:endParaRPr lang="en-US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" sourceLinked="0"/>
            <c:txPr>
              <a:bodyPr/>
              <a:lstStyle/>
              <a:p>
                <a:pPr>
                  <a:defRPr sz="130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Reiner VRAM-Betrieb</c:v>
                </c:pt>
                <c:pt idx="1">
                  <c:v>VRAM + RAM gemischt</c:v>
                </c:pt>
                <c:pt idx="2">
                  <c:v>Reiner CPU/RAM-Betrieb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47</c:v>
                </c:pt>
                <c:pt idx="1">
                  <c:v>12.5</c:v>
                </c:pt>
                <c:pt idx="2">
                  <c:v>4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74503936"/>
        <c:axId val="275215488"/>
      </c:barChart>
      <c:catAx>
        <c:axId val="274503936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2A365C"/>
            </a:solidFill>
            <a:prstDash val="solid"/>
            <a:round/>
          </a:ln>
        </c:spPr>
        <c:txPr>
          <a:bodyPr/>
          <a:lstStyle/>
          <a:p>
            <a:pPr>
              <a:defRPr sz="1250" b="0" i="0" u="none" strike="noStrike">
                <a:solidFill>
                  <a:srgbClr val="D7DCEE"/>
                </a:solidFill>
                <a:latin typeface="Calibri"/>
              </a:defRPr>
            </a:pPr>
            <a:endParaRPr lang="de-DE"/>
          </a:p>
        </c:txPr>
        <c:crossAx val="275215488"/>
        <c:crosses val="autoZero"/>
        <c:auto val="1"/>
        <c:lblAlgn val="ctr"/>
        <c:lblOffset val="100"/>
        <c:noMultiLvlLbl val="1"/>
      </c:catAx>
      <c:valAx>
        <c:axId val="275215488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crossAx val="274503936"/>
        <c:crosses val="autoZero"/>
        <c:crossBetween val="between"/>
      </c:valAx>
      <c:spPr>
        <a:solidFill>
          <a:srgbClr val="0D1321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0D1321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de-DE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2172B"/>
                </a:solidFill>
                <a:latin typeface="Arial"/>
              </a:defRPr>
            </a:pPr>
            <a:r>
              <a:rPr lang="de-DE" sz="1300" b="0" i="0" u="none" strike="noStrike">
                <a:solidFill>
                  <a:srgbClr val="12172B"/>
                </a:solidFill>
                <a:latin typeface="Arial"/>
              </a:rPr>
              <a:t>Eval Rate im Vergleich (</a:t>
            </a:r>
            <a:r>
              <a:rPr lang="de-DE" sz="1300" b="0" i="0" u="none" strike="noStrike" smtClean="0">
                <a:solidFill>
                  <a:srgbClr val="12172B"/>
                </a:solidFill>
                <a:latin typeface="Arial"/>
              </a:rPr>
              <a:t>Tokens / sec)</a:t>
            </a:r>
            <a:endParaRPr lang="de-DE" sz="1300" b="0" i="0" u="none" strike="noStrike">
              <a:solidFill>
                <a:srgbClr val="12172B"/>
              </a:solidFill>
              <a:latin typeface="Arial"/>
            </a:endParaRP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Eval Rate (Tokens/s)</c:v>
                </c:pt>
              </c:strCache>
            </c:strRef>
          </c:tx>
          <c:spPr>
            <a:solidFill>
              <a:srgbClr val="0D1321"/>
            </a:solidFill>
            <a:effectLst/>
          </c:spPr>
          <c:invertIfNegative val="0"/>
          <c:dPt>
            <c:idx val="0"/>
            <c:invertIfNegative val="0"/>
            <c:bubble3D val="0"/>
          </c:dPt>
          <c:dPt>
            <c:idx val="1"/>
            <c:invertIfNegative val="0"/>
            <c:bubble3D val="0"/>
            <c:spPr>
              <a:solidFill>
                <a:srgbClr val="00D9C0"/>
              </a:solidFill>
              <a:effectLst/>
            </c:spPr>
          </c:dPt>
          <c:dLbls>
            <c:numFmt formatCode="0.00" sourceLinked="0"/>
            <c:txPr>
              <a:bodyPr/>
              <a:lstStyle/>
              <a:p>
                <a:pPr>
                  <a:defRPr sz="1300" b="0" i="0" u="none" strike="noStrike">
                    <a:solidFill>
                      <a:srgbClr val="12172B"/>
                    </a:solidFill>
                    <a:latin typeface="Calibri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llama3.1:8b</c:v>
                </c:pt>
                <c:pt idx="1">
                  <c:v>llama3.2:latest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6.35</c:v>
                </c:pt>
                <c:pt idx="1">
                  <c:v>13.16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76088704"/>
        <c:axId val="276092032"/>
      </c:barChart>
      <c:catAx>
        <c:axId val="27608870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478"/>
                </a:solidFill>
                <a:latin typeface="Calibri"/>
              </a:defRPr>
            </a:pPr>
            <a:endParaRPr lang="de-DE"/>
          </a:p>
        </c:txPr>
        <c:crossAx val="276092032"/>
        <c:crosses val="autoZero"/>
        <c:auto val="1"/>
        <c:lblAlgn val="ctr"/>
        <c:lblOffset val="100"/>
        <c:noMultiLvlLbl val="1"/>
      </c:catAx>
      <c:valAx>
        <c:axId val="27609203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3E7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B6478"/>
                    </a:solidFill>
                    <a:latin typeface="Arial"/>
                  </a:defRPr>
                </a:pPr>
                <a:r>
                  <a:rPr lang="de-DE" sz="1100" b="0" i="0" u="none" strike="noStrike" smtClean="0">
                    <a:solidFill>
                      <a:srgbClr val="5B6478"/>
                    </a:solidFill>
                    <a:latin typeface="Arial"/>
                  </a:rPr>
                  <a:t>eval rate Tokens </a:t>
                </a:r>
                <a:r>
                  <a:rPr lang="de-DE" sz="1100" b="0" i="0" u="none" strike="noStrike">
                    <a:solidFill>
                      <a:srgbClr val="5B6478"/>
                    </a:solidFill>
                    <a:latin typeface="Arial"/>
                  </a:rPr>
                  <a:t>/ Sekunde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478"/>
                </a:solidFill>
                <a:latin typeface="Arial"/>
              </a:defRPr>
            </a:pPr>
            <a:endParaRPr lang="de-DE"/>
          </a:p>
        </c:txPr>
        <c:crossAx val="27608870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de-DE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2172B"/>
                </a:solidFill>
                <a:latin typeface="Arial"/>
              </a:defRPr>
            </a:pPr>
            <a:r>
              <a:rPr lang="de-DE" sz="1250" b="0" i="0" u="none" strike="noStrike">
                <a:solidFill>
                  <a:srgbClr val="12172B"/>
                </a:solidFill>
                <a:latin typeface="Arial"/>
              </a:rPr>
              <a:t>Gesamtdauer bis zur fertigen Antwort (Sekunden)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Gesamtdauer (s)</c:v>
                </c:pt>
              </c:strCache>
            </c:strRef>
          </c:tx>
          <c:spPr>
            <a:solidFill>
              <a:srgbClr val="FF6B4A"/>
            </a:solidFill>
            <a:effectLst/>
          </c:spPr>
          <c:invertIfNegative val="0"/>
          <c:dPt>
            <c:idx val="0"/>
            <c:invertIfNegative val="0"/>
            <c:bubble3D val="0"/>
          </c:dPt>
          <c:dPt>
            <c:idx val="1"/>
            <c:invertIfNegative val="0"/>
            <c:bubble3D val="0"/>
            <c:spPr>
              <a:solidFill>
                <a:srgbClr val="00D9C0"/>
              </a:solidFill>
              <a:effectLst/>
            </c:spPr>
          </c:dPt>
          <c:dLbls>
            <c:numFmt formatCode="0.00&quot; s&quot;" sourceLinked="0"/>
            <c:txPr>
              <a:bodyPr/>
              <a:lstStyle/>
              <a:p>
                <a:pPr>
                  <a:defRPr sz="1300" b="0" i="0" u="none" strike="noStrike">
                    <a:solidFill>
                      <a:srgbClr val="12172B"/>
                    </a:solidFill>
                    <a:latin typeface="Calibri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Langer Prompt
(217 Prompt-Tokens)</c:v>
                </c:pt>
                <c:pt idx="1">
                  <c:v>Kurzer Prompt
(71 Prompt-Tokens)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11.96</c:v>
                </c:pt>
                <c:pt idx="1">
                  <c:v>4.3099999999999996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77234816"/>
        <c:axId val="277242240"/>
      </c:barChart>
      <c:catAx>
        <c:axId val="277234816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5B6478"/>
                </a:solidFill>
                <a:latin typeface="Calibri"/>
              </a:defRPr>
            </a:pPr>
            <a:endParaRPr lang="de-DE"/>
          </a:p>
        </c:txPr>
        <c:crossAx val="277242240"/>
        <c:crosses val="autoZero"/>
        <c:auto val="1"/>
        <c:lblAlgn val="ctr"/>
        <c:lblOffset val="100"/>
        <c:noMultiLvlLbl val="1"/>
      </c:catAx>
      <c:valAx>
        <c:axId val="277242240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7723481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096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096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BD34C9-3F24-41BC-96DE-D27AE4F55570}" type="datetimeFigureOut">
              <a:rPr lang="de-DE" smtClean="0"/>
              <a:t>23.09.2026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096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20950B-9B32-4118-9B58-93BCB66AE24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009202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solidFill>
                  <a:prstClr val="black"/>
                </a:solidFill>
              </a:rPr>
              <a:pPr/>
              <a:t>21</a:t>
            </a:fld>
            <a:endParaRPr 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solidFill>
                  <a:prstClr val="black"/>
                </a:solidFill>
              </a:rPr>
              <a:pPr/>
              <a:t>22</a:t>
            </a:fld>
            <a:endParaRPr 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solidFill>
                  <a:prstClr val="black"/>
                </a:solidFill>
              </a:rPr>
              <a:pPr/>
              <a:t>23</a:t>
            </a:fld>
            <a:endParaRPr 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712634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788208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923936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363062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3.xml"/></Relationships>
</file>

<file path=ppt/slideMasters/_rels/slideMaster4.xml.rels><?xml version="1.0" encoding="UTF-8" standalone="yes"?>
<Relationships xmlns="http://schemas.openxmlformats.org/package/2006/relationships"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4.xml"/></Relationships>
</file>

<file path=ppt/slideMasters/_rels/slideMaster5.xml.rels><?xml version="1.0" encoding="UTF-8" standalone="yes"?>
<Relationships xmlns="http://schemas.openxmlformats.org/package/2006/relationships"><Relationship Id="rId2" Type="http://schemas.openxmlformats.org/officeDocument/2006/relationships/theme" Target="../theme/theme5.xml"/><Relationship Id="rId1" Type="http://schemas.openxmlformats.org/officeDocument/2006/relationships/slideLayout" Target="../slideLayouts/slideLayout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034905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896041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644812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350758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3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4480560"/>
            <a:ext cx="2743200" cy="1828800"/>
          </a:xfrm>
          <a:prstGeom prst="roundRect">
            <a:avLst>
              <a:gd name="adj" fmla="val 6000"/>
            </a:avLst>
          </a:prstGeom>
          <a:solidFill>
            <a:srgbClr val="17213D"/>
          </a:solidFill>
          <a:ln w="12700">
            <a:solidFill>
              <a:srgbClr val="00D9C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281160" y="4160520"/>
            <a:ext cx="0" cy="36576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281160" y="6263640"/>
            <a:ext cx="0" cy="41148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29800" y="4160520"/>
            <a:ext cx="0" cy="36576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829800" y="6263640"/>
            <a:ext cx="0" cy="41148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378440" y="4160520"/>
            <a:ext cx="0" cy="36576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378440" y="6263640"/>
            <a:ext cx="0" cy="41148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927080" y="4160520"/>
            <a:ext cx="0" cy="36576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927080" y="6263640"/>
            <a:ext cx="0" cy="41148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281160" y="4800600"/>
            <a:ext cx="1920240" cy="1188720"/>
          </a:xfrm>
          <a:prstGeom prst="roundRect">
            <a:avLst>
              <a:gd name="adj" fmla="val 4615"/>
            </a:avLst>
          </a:prstGeom>
          <a:solidFill>
            <a:srgbClr val="121A33"/>
          </a:solidFill>
          <a:ln w="9525">
            <a:solidFill>
              <a:srgbClr val="00D9C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281160" y="480060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iGPU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1874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00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DEEP DIVE · DOCKER &amp; LOKALE KI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2286000"/>
            <a:ext cx="9875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smtClean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 Agent mit Ollama </a:t>
            </a:r>
            <a:r>
              <a:rPr lang="en-US" sz="46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</a:t>
            </a:r>
            <a:r>
              <a:rPr lang="en-US" sz="4600" b="1" smtClean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 iGPU</a:t>
            </a:r>
            <a:endParaRPr lang="en-US" sz="46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342900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C9D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Vom Grundverständnis zur optimierten iGPU-Nutzung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640080" y="4160520"/>
            <a:ext cx="2743200" cy="0"/>
          </a:xfrm>
          <a:prstGeom prst="line">
            <a:avLst/>
          </a:prstGeom>
          <a:noFill/>
          <a:ln w="25400">
            <a:solidFill>
              <a:srgbClr val="00D9C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4343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Grundlagen · Hardware · Optimierung · Messergebnisse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659130" y="5806440"/>
            <a:ext cx="454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smtClean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15.09.2026</a:t>
            </a:r>
          </a:p>
          <a:p>
            <a:r>
              <a:rPr lang="en-US" sz="1300" i="1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Dateien https://github.com/Ralfhgw/igpu-performance-tuning.git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3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00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1 VON 4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78308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Grundlagen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40080" y="2880360"/>
            <a:ext cx="2377440" cy="0"/>
          </a:xfrm>
          <a:prstGeom prst="line">
            <a:avLst/>
          </a:prstGeom>
          <a:noFill/>
          <a:ln w="25400">
            <a:solidFill>
              <a:srgbClr val="00D9C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3246120"/>
            <a:ext cx="420624" cy="420624"/>
          </a:xfrm>
          <a:prstGeom prst="ellipse">
            <a:avLst/>
          </a:prstGeom>
          <a:solidFill>
            <a:srgbClr val="17213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32461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D9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321640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4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Einführung: Lokale KI auf dem Mini-PC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813048"/>
            <a:ext cx="420624" cy="420624"/>
          </a:xfrm>
          <a:prstGeom prst="ellipse">
            <a:avLst/>
          </a:prstGeom>
          <a:solidFill>
            <a:srgbClr val="17213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6850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D9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667506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4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viel Speicher benötigt ein KI-Modell?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379976"/>
            <a:ext cx="420624" cy="420624"/>
          </a:xfrm>
          <a:prstGeom prst="ellipse">
            <a:avLst/>
          </a:prstGeom>
          <a:solidFill>
            <a:srgbClr val="17213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3509" y="41696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D9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4132326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4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Modelle im Speicher halten: Sleep Time / Keep Alive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40080" y="4946904"/>
            <a:ext cx="420624" cy="420624"/>
          </a:xfrm>
          <a:prstGeom prst="ellipse">
            <a:avLst/>
          </a:prstGeom>
          <a:solidFill>
            <a:srgbClr val="17213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" y="4590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D9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224915" y="4561713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4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statt Wörter: Wie KI Text verarbeitet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9052560" y="4480560"/>
            <a:ext cx="2743200" cy="1828800"/>
          </a:xfrm>
          <a:prstGeom prst="roundRect">
            <a:avLst>
              <a:gd name="adj" fmla="val 6000"/>
            </a:avLst>
          </a:prstGeom>
          <a:solidFill>
            <a:srgbClr val="17213D"/>
          </a:solidFill>
          <a:ln w="12700">
            <a:solidFill>
              <a:srgbClr val="00D9C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464040" y="4160520"/>
            <a:ext cx="0" cy="36576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464040" y="6263640"/>
            <a:ext cx="0" cy="41148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012680" y="4160520"/>
            <a:ext cx="0" cy="36576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12680" y="6263640"/>
            <a:ext cx="0" cy="41148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561320" y="4160520"/>
            <a:ext cx="0" cy="36576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561320" y="6263640"/>
            <a:ext cx="0" cy="41148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109960" y="4160520"/>
            <a:ext cx="0" cy="36576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109960" y="6263640"/>
            <a:ext cx="0" cy="41148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464040" y="4800600"/>
            <a:ext cx="1920240" cy="1188720"/>
          </a:xfrm>
          <a:prstGeom prst="roundRect">
            <a:avLst>
              <a:gd name="adj" fmla="val 4615"/>
            </a:avLst>
          </a:prstGeom>
          <a:solidFill>
            <a:srgbClr val="121A33"/>
          </a:solidFill>
          <a:ln w="9525">
            <a:solidFill>
              <a:srgbClr val="00D9C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464040" y="480060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iGPU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PERFORMANCE TUNING · iGPU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1274552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30" name="Shape 12"/>
          <p:cNvSpPr/>
          <p:nvPr/>
        </p:nvSpPr>
        <p:spPr>
          <a:xfrm>
            <a:off x="643509" y="5568696"/>
            <a:ext cx="420624" cy="420624"/>
          </a:xfrm>
          <a:prstGeom prst="ellipse">
            <a:avLst/>
          </a:prstGeom>
          <a:solidFill>
            <a:srgbClr val="17213D"/>
          </a:solidFill>
          <a:ln/>
        </p:spPr>
      </p:sp>
      <p:sp>
        <p:nvSpPr>
          <p:cNvPr id="31" name="Text 13"/>
          <p:cNvSpPr txBox="1"/>
          <p:nvPr/>
        </p:nvSpPr>
        <p:spPr>
          <a:xfrm>
            <a:off x="643509" y="5028057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D9C0"/>
                </a:solidFill>
                <a:latin typeface="Arial" pitchFamily="34" charset="0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2" name="Text 14"/>
          <p:cNvSpPr txBox="1"/>
          <p:nvPr/>
        </p:nvSpPr>
        <p:spPr>
          <a:xfrm>
            <a:off x="1215390" y="5004435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>
                <a:solidFill>
                  <a:schemeClr val="bg1">
                    <a:lumMod val="95000"/>
                  </a:schemeClr>
                </a:solidFill>
                <a:ea typeface="Arial" pitchFamily="34" charset="-122"/>
                <a:cs typeface="Arial" pitchFamily="34" charset="-120"/>
              </a:rPr>
              <a:t>Verfügbare Modelle: Ein Überblick über ollama.com/library</a:t>
            </a:r>
            <a:endParaRPr lang="en-US" sz="1600" dirty="0">
              <a:solidFill>
                <a:schemeClr val="bg1">
                  <a:lumMod val="95000"/>
                </a:schemeClr>
              </a:solidFill>
              <a:ea typeface="Arial" pitchFamily="34" charset="-122"/>
              <a:cs typeface="Arial" pitchFamily="34" charset="-120"/>
            </a:endParaRPr>
          </a:p>
        </p:txBody>
      </p:sp>
      <p:sp>
        <p:nvSpPr>
          <p:cNvPr id="33" name="Text 13"/>
          <p:cNvSpPr txBox="1"/>
          <p:nvPr/>
        </p:nvSpPr>
        <p:spPr>
          <a:xfrm>
            <a:off x="643509" y="548259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D9C0"/>
                </a:solidFill>
                <a:latin typeface="Arial" pitchFamily="34" charset="0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34" name="Text 14"/>
          <p:cNvSpPr txBox="1"/>
          <p:nvPr/>
        </p:nvSpPr>
        <p:spPr>
          <a:xfrm>
            <a:off x="1224915" y="544753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>
                <a:solidFill>
                  <a:schemeClr val="bg1">
                    <a:lumMod val="95000"/>
                  </a:schemeClr>
                </a:solidFill>
                <a:ea typeface="Arial" pitchFamily="34" charset="-122"/>
                <a:cs typeface="Arial" pitchFamily="34" charset="-120"/>
              </a:rPr>
              <a:t>Ollama REST-API: Die wichtigsten Endpunkte</a:t>
            </a:r>
            <a:endParaRPr lang="en-US" sz="1500" dirty="0">
              <a:solidFill>
                <a:schemeClr val="bg1">
                  <a:lumMod val="95000"/>
                </a:schemeClr>
              </a:solidFill>
              <a:ea typeface="Arial" pitchFamily="34" charset="-122"/>
              <a:cs typeface="Arial" pitchFamily="34" charset="-12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smtClean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</a:t>
            </a:r>
            <a:r>
              <a:rPr lang="en-US" sz="1300" b="1" kern="0" spc="20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GRUNDLAGEN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KI auf dem Mini-PC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02920" cy="502920"/>
          </a:xfrm>
          <a:prstGeom prst="ellipse">
            <a:avLst/>
          </a:prstGeom>
          <a:solidFill>
            <a:srgbClr val="0D132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D9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75564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soll untersucht werden?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167128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effizient lassen sich Sprachmodelle auf einem kleinen Rechner mit Docker betreiben?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3081528"/>
            <a:ext cx="502920" cy="502920"/>
          </a:xfrm>
          <a:prstGeom prst="ellipse">
            <a:avLst/>
          </a:prstGeom>
          <a:solidFill>
            <a:srgbClr val="0D132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30815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D9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054096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Ollama und lokale Sprachmodelle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3465576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lädt und betreibt Modelle </a:t>
            </a:r>
            <a:r>
              <a:rPr lang="en-US" sz="125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</a:t>
            </a:r>
            <a:r>
              <a:rPr lang="en-US" sz="1250" smtClean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z.B. llama3.1 </a:t>
            </a:r>
            <a:r>
              <a:rPr lang="en-US" sz="12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oder llama3.2 lokal, ohne Cloud-Anbindung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4379976"/>
            <a:ext cx="502920" cy="502920"/>
          </a:xfrm>
          <a:prstGeom prst="ellipse">
            <a:avLst/>
          </a:prstGeom>
          <a:solidFill>
            <a:srgbClr val="0D132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43799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D9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4352544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Ziel dieser Präsentation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4764024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Speicherbedarf, Geschwindigkeit und Hardwareauslastung verstehen – und gezielt optimieren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949440" y="1920240"/>
            <a:ext cx="4709160" cy="4023360"/>
          </a:xfrm>
          <a:prstGeom prst="roundRect">
            <a:avLst>
              <a:gd name="adj" fmla="val 2273"/>
            </a:avLst>
          </a:prstGeom>
          <a:solidFill>
            <a:srgbClr val="0D132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223760" y="21031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9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Testaufbau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223760" y="2606040"/>
            <a:ext cx="4160520" cy="621792"/>
          </a:xfrm>
          <a:prstGeom prst="roundRect">
            <a:avLst>
              <a:gd name="adj" fmla="val 10294"/>
            </a:avLst>
          </a:prstGeom>
          <a:solidFill>
            <a:srgbClr val="17213D"/>
          </a:solidFill>
          <a:ln w="9525">
            <a:solidFill>
              <a:srgbClr val="00D9C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223760" y="2606040"/>
            <a:ext cx="4160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Mini-PC (AMD Ryzen 7)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299448" y="3227832"/>
            <a:ext cx="0" cy="201168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223760" y="3429000"/>
            <a:ext cx="4160520" cy="621792"/>
          </a:xfrm>
          <a:prstGeom prst="roundRect">
            <a:avLst>
              <a:gd name="adj" fmla="val 10294"/>
            </a:avLst>
          </a:prstGeom>
          <a:solidFill>
            <a:srgbClr val="17213D"/>
          </a:solidFill>
          <a:ln w="9525">
            <a:solidFill>
              <a:srgbClr val="00D9C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223760" y="3429000"/>
            <a:ext cx="4160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299448" y="4050792"/>
            <a:ext cx="0" cy="201168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7223760" y="4251960"/>
            <a:ext cx="4160520" cy="621792"/>
          </a:xfrm>
          <a:prstGeom prst="roundRect">
            <a:avLst>
              <a:gd name="adj" fmla="val 10294"/>
            </a:avLst>
          </a:prstGeom>
          <a:solidFill>
            <a:srgbClr val="17213D"/>
          </a:solidFill>
          <a:ln w="9525">
            <a:solidFill>
              <a:srgbClr val="00D9C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223760" y="4251960"/>
            <a:ext cx="4160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Ollama Container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9299448" y="4873752"/>
            <a:ext cx="0" cy="201168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7223760" y="5074920"/>
            <a:ext cx="4160520" cy="621792"/>
          </a:xfrm>
          <a:prstGeom prst="roundRect">
            <a:avLst>
              <a:gd name="adj" fmla="val 10294"/>
            </a:avLst>
          </a:prstGeom>
          <a:solidFill>
            <a:srgbClr val="17213D"/>
          </a:solidFill>
          <a:ln w="9525">
            <a:solidFill>
              <a:srgbClr val="00D9C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223760" y="5074920"/>
            <a:ext cx="4160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 (llama3.1 / llama3.2)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PERFORMANCE TUNING · iGPU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274552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smtClean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</a:t>
            </a:r>
            <a:r>
              <a:rPr lang="en-US" sz="1300" b="1" kern="0" spc="20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GRUNDLAGEN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viel Speicher benötigt ein KI-Modell?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geladenes Modell reserviert dauerhaft Arbeitsspeicher – ein Vorher-Nachher-Test mit llama3.1:8b macht das sichtbar.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468880"/>
            <a:ext cx="5577840" cy="3246120"/>
          </a:xfrm>
          <a:prstGeom prst="roundRect">
            <a:avLst>
              <a:gd name="adj" fmla="val 2254"/>
            </a:avLst>
          </a:prstGeom>
          <a:solidFill>
            <a:srgbClr val="0A0E1A"/>
          </a:solidFill>
          <a:ln/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94944" y="2596896"/>
            <a:ext cx="91440" cy="91440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7" name="Shape 5"/>
          <p:cNvSpPr/>
          <p:nvPr/>
        </p:nvSpPr>
        <p:spPr>
          <a:xfrm>
            <a:off x="896112" y="2596896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8" name="Shape 6"/>
          <p:cNvSpPr/>
          <p:nvPr/>
        </p:nvSpPr>
        <p:spPr>
          <a:xfrm>
            <a:off x="1097280" y="2596896"/>
            <a:ext cx="91440" cy="91440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2816352"/>
            <a:ext cx="517550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$ docker </a:t>
            </a:r>
            <a:r>
              <a:rPr lang="en-US" sz="120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compose </a:t>
            </a:r>
            <a:r>
              <a:rPr lang="en-US" sz="1200" smtClean="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up -d ollama</a:t>
            </a:r>
          </a:p>
          <a:p>
            <a:pPr marL="0" indent="0">
              <a:lnSpc>
                <a:spcPct val="115000"/>
              </a:lnSpc>
              <a:buNone/>
            </a:pPr>
            <a:r>
              <a:rPr lang="en-US" sz="1200" smtClean="0">
                <a:solidFill>
                  <a:srgbClr val="00D9C0"/>
                </a:solidFill>
                <a:latin typeface="Consolas" panose="020B0609020204030204" pitchFamily="49" charset="0"/>
                <a:cs typeface="Courier New" pitchFamily="34" charset="-120"/>
              </a:rPr>
              <a:t>$ docker exec –it ollama_container ollama list</a:t>
            </a:r>
            <a:endParaRPr lang="en-US" sz="1200" dirty="0">
              <a:solidFill>
                <a:srgbClr val="00D9C0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$ free -h</a:t>
            </a:r>
            <a:endParaRPr lang="en-US" sz="1200" dirty="0">
              <a:solidFill>
                <a:srgbClr val="00D9C0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$ docker exec -it ollama_container \</a:t>
            </a:r>
            <a:endParaRPr lang="en-US" sz="1200" dirty="0">
              <a:solidFill>
                <a:srgbClr val="00D9C0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    ollama run </a:t>
            </a:r>
            <a:r>
              <a:rPr lang="en-US" sz="120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llama3.1:8b </a:t>
            </a:r>
            <a:r>
              <a:rPr lang="en-US" sz="1200" smtClean="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\</a:t>
            </a:r>
          </a:p>
          <a:p>
            <a:pPr marL="0" indent="0">
              <a:lnSpc>
                <a:spcPct val="115000"/>
              </a:lnSpc>
              <a:buNone/>
            </a:pPr>
            <a:r>
              <a:rPr lang="en-US" sz="120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smtClean="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   "</a:t>
            </a:r>
            <a:r>
              <a:rPr lang="en-US" sz="120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Beschreibe </a:t>
            </a:r>
            <a:r>
              <a:rPr lang="en-US" sz="1200" smtClean="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in einem Wort wer du bist"</a:t>
            </a:r>
            <a:endParaRPr lang="en-US" sz="1200" dirty="0">
              <a:solidFill>
                <a:srgbClr val="00D9C0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15000"/>
              </a:lnSpc>
              <a:buNone/>
            </a:pPr>
            <a:endParaRPr lang="en-US" sz="1200" smtClean="0">
              <a:solidFill>
                <a:srgbClr val="00D9C0"/>
              </a:solidFill>
              <a:latin typeface="Consolas" panose="020B0609020204030204" pitchFamily="49" charset="0"/>
              <a:ea typeface="Courier New" pitchFamily="34" charset="-122"/>
              <a:cs typeface="Courier New" pitchFamily="34" charset="-120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200" smtClean="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$ docker exec –it ollama_container ollama ps</a:t>
            </a:r>
          </a:p>
          <a:p>
            <a:pPr marL="0" indent="0">
              <a:lnSpc>
                <a:spcPct val="115000"/>
              </a:lnSpc>
              <a:buNone/>
            </a:pPr>
            <a:r>
              <a:rPr lang="en-US" sz="1200" smtClean="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120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free </a:t>
            </a:r>
            <a:r>
              <a:rPr lang="en-US" sz="1200" smtClean="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–h</a:t>
            </a:r>
          </a:p>
          <a:p>
            <a:pPr marL="0" indent="0">
              <a:lnSpc>
                <a:spcPct val="115000"/>
              </a:lnSpc>
              <a:buNone/>
            </a:pPr>
            <a:r>
              <a:rPr lang="en-US" sz="1200" smtClean="0">
                <a:solidFill>
                  <a:srgbClr val="00D9C0"/>
                </a:solidFill>
                <a:latin typeface="Consolas" panose="020B0609020204030204" pitchFamily="49" charset="0"/>
                <a:cs typeface="Courier New" pitchFamily="34" charset="-120"/>
              </a:rPr>
              <a:t>$ docker compose stop ollama</a:t>
            </a:r>
            <a:endParaRPr lang="en-US" sz="1200" dirty="0">
              <a:solidFill>
                <a:srgbClr val="00D9C0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15000"/>
              </a:lnSpc>
              <a:buNone/>
            </a:pPr>
            <a:endParaRPr lang="en-US" sz="1200" dirty="0">
              <a:latin typeface="Consolas" panose="020B0609020204030204" pitchFamily="49" charset="0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A93B5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# Ergebnis: RAM-Verbrauch steigt sichtbar</a:t>
            </a:r>
            <a:endParaRPr lang="en-US" sz="1200" dirty="0">
              <a:latin typeface="Consolas" panose="020B0609020204030204" pitchFamily="49" charset="0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A93B5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# um die Modellgröße, sobald geladen wird</a:t>
            </a:r>
            <a:endParaRPr lang="en-US" sz="1200" dirty="0">
              <a:latin typeface="Consolas" panose="020B0609020204030204" pitchFamily="49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446520" y="2468880"/>
            <a:ext cx="5166360" cy="1600200"/>
          </a:xfrm>
          <a:prstGeom prst="roundRect">
            <a:avLst>
              <a:gd name="adj" fmla="val 5714"/>
            </a:avLst>
          </a:prstGeom>
          <a:solidFill>
            <a:srgbClr val="F2F5F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675120" y="2578608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smtClean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4,9 </a:t>
            </a:r>
            <a:r>
              <a:rPr lang="en-US" sz="420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GB</a:t>
            </a:r>
            <a:endParaRPr lang="en-US" sz="4200" dirty="0"/>
          </a:p>
        </p:txBody>
      </p:sp>
      <p:sp>
        <p:nvSpPr>
          <p:cNvPr id="12" name="Text 10"/>
          <p:cNvSpPr txBox="1"/>
          <p:nvPr/>
        </p:nvSpPr>
        <p:spPr>
          <a:xfrm>
            <a:off x="6675120" y="33375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RAM-Bedarf von llama3.1:8b im geladenen Zustand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46520" y="4251960"/>
            <a:ext cx="5166360" cy="1463040"/>
          </a:xfrm>
          <a:prstGeom prst="roundRect">
            <a:avLst>
              <a:gd name="adj" fmla="val 6250"/>
            </a:avLst>
          </a:prstGeom>
          <a:solidFill>
            <a:srgbClr val="E7EC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675120" y="43708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 beim Entladen?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675120" y="4736592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Wird der Container gestoppt, gibt das System den belegten Speicher vollständig wieder frei.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PERFORMANCE TUNING · iGPU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274552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smtClean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</a:t>
            </a:r>
            <a:r>
              <a:rPr lang="en-US" sz="1300" b="1" kern="0" spc="20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GRUNDLAGEN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Modelle im Speicher halten: Sleep-Time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„keep_alive“ bestimmt, wie lange ein Modell nach der letzten Anfrage geladen bleibt, bevor Ollama es automatisch entlädt.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394960" cy="868680"/>
          </a:xfrm>
          <a:prstGeom prst="roundRect">
            <a:avLst>
              <a:gd name="adj" fmla="val 8421"/>
            </a:avLst>
          </a:prstGeom>
          <a:solidFill>
            <a:srgbClr val="F2F5F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21488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6B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/ m / h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2514600" y="214884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1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Sekunden, Minuten oder Stunden bis zum Entladen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3154680"/>
            <a:ext cx="5394960" cy="868680"/>
          </a:xfrm>
          <a:prstGeom prst="roundRect">
            <a:avLst>
              <a:gd name="adj" fmla="val 8421"/>
            </a:avLst>
          </a:prstGeom>
          <a:solidFill>
            <a:srgbClr val="F2F5F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315468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6B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2514600" y="315468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1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Unendlich lange – bis Ollama beendet wird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4160520"/>
            <a:ext cx="5394960" cy="868680"/>
          </a:xfrm>
          <a:prstGeom prst="roundRect">
            <a:avLst>
              <a:gd name="adj" fmla="val 8421"/>
            </a:avLst>
          </a:prstGeom>
          <a:solidFill>
            <a:srgbClr val="F2F5F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" y="416052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6B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2514600" y="416052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1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Wird sofort nach der Antwort gelöscht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257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Aktivieren per Docker Compose: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5577840"/>
            <a:ext cx="5394960" cy="960120"/>
          </a:xfrm>
          <a:prstGeom prst="roundRect">
            <a:avLst>
              <a:gd name="adj" fmla="val 9412"/>
            </a:avLst>
          </a:prstGeom>
          <a:solidFill>
            <a:srgbClr val="0A0E1A"/>
          </a:solidFill>
          <a:ln/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94944" y="5705856"/>
            <a:ext cx="91440" cy="91440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17" name="Shape 15"/>
          <p:cNvSpPr/>
          <p:nvPr/>
        </p:nvSpPr>
        <p:spPr>
          <a:xfrm>
            <a:off x="896112" y="5705856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18" name="Shape 16"/>
          <p:cNvSpPr/>
          <p:nvPr/>
        </p:nvSpPr>
        <p:spPr>
          <a:xfrm>
            <a:off x="1097280" y="5705856"/>
            <a:ext cx="91440" cy="91440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49808" y="5925312"/>
            <a:ext cx="4992624" cy="5326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A93B5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docker-compose.yml:</a:t>
            </a:r>
            <a:endParaRPr lang="en-US" sz="1200" dirty="0">
              <a:latin typeface="Consolas" panose="020B0609020204030204" pitchFamily="49" charset="0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  OLLAMA_KEEP_ALIVE=-1</a:t>
            </a:r>
            <a:endParaRPr lang="en-US" sz="1200" dirty="0">
              <a:solidFill>
                <a:srgbClr val="00D9C0"/>
              </a:solidFill>
              <a:latin typeface="Consolas" panose="020B0609020204030204" pitchFamily="49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263640" y="2148840"/>
            <a:ext cx="5349240" cy="4389120"/>
          </a:xfrm>
          <a:prstGeom prst="roundRect">
            <a:avLst>
              <a:gd name="adj" fmla="val 1739"/>
            </a:avLst>
          </a:prstGeom>
          <a:solidFill>
            <a:srgbClr val="0A0E1A"/>
          </a:solidFill>
          <a:ln/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09944" y="2276856"/>
            <a:ext cx="91440" cy="91440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22" name="Shape 20"/>
          <p:cNvSpPr/>
          <p:nvPr/>
        </p:nvSpPr>
        <p:spPr>
          <a:xfrm>
            <a:off x="6611112" y="2276856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23" name="Shape 21"/>
          <p:cNvSpPr/>
          <p:nvPr/>
        </p:nvSpPr>
        <p:spPr>
          <a:xfrm>
            <a:off x="6812280" y="2276856"/>
            <a:ext cx="91440" cy="91440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64808" y="2496312"/>
            <a:ext cx="4946904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$ docker exec -it ollama_container ollama ps</a:t>
            </a:r>
            <a:endParaRPr lang="en-US" sz="1200" dirty="0">
              <a:solidFill>
                <a:srgbClr val="00D9C0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A93B5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NAME    ID      SIZE   PROC   CONTEXT   UNTIL</a:t>
            </a:r>
            <a:endParaRPr lang="en-US" sz="1200" dirty="0">
              <a:latin typeface="Consolas" panose="020B0609020204030204" pitchFamily="49" charset="0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llama3.1:8b 46e0c10c 5.6GB 100% CPU 4096  4 min</a:t>
            </a:r>
            <a:endParaRPr lang="en-US" sz="1200" dirty="0">
              <a:solidFill>
                <a:srgbClr val="00D9C0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15000"/>
              </a:lnSpc>
              <a:buNone/>
            </a:pPr>
            <a:endParaRPr lang="en-US" sz="1200" dirty="0">
              <a:latin typeface="Consolas" panose="020B0609020204030204" pitchFamily="49" charset="0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$ docker compose up -d --</a:t>
            </a:r>
            <a:r>
              <a:rPr lang="en-US" sz="120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force-recreate </a:t>
            </a:r>
            <a:r>
              <a:rPr lang="en-US" sz="1200" smtClean="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ollama</a:t>
            </a:r>
          </a:p>
          <a:p>
            <a:pPr marL="0" indent="0">
              <a:lnSpc>
                <a:spcPct val="115000"/>
              </a:lnSpc>
              <a:buNone/>
            </a:pPr>
            <a:endParaRPr lang="en-US" sz="1200" dirty="0">
              <a:solidFill>
                <a:srgbClr val="00D9C0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$ docker exec -it ollama_container ollama ps</a:t>
            </a:r>
            <a:endParaRPr lang="en-US" sz="1200" dirty="0">
              <a:solidFill>
                <a:srgbClr val="00D9C0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A93B5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NAME    ID      SIZE   PROC   CONTEXT   UNTIL</a:t>
            </a:r>
            <a:endParaRPr lang="en-US" sz="1200" dirty="0">
              <a:latin typeface="Consolas" panose="020B0609020204030204" pitchFamily="49" charset="0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llama3.1:8b 46e0c10c 5.6GB 100% CPU 4096  Forever</a:t>
            </a:r>
            <a:endParaRPr lang="en-US" sz="1200" dirty="0">
              <a:solidFill>
                <a:srgbClr val="00D9C0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15000"/>
              </a:lnSpc>
              <a:buNone/>
            </a:pPr>
            <a:endParaRPr lang="en-US" sz="1200" dirty="0">
              <a:latin typeface="Consolas" panose="020B0609020204030204" pitchFamily="49" charset="0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A93B5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# Unterschied:</a:t>
            </a:r>
            <a:endParaRPr lang="en-US" sz="1200" dirty="0">
              <a:latin typeface="Consolas" panose="020B0609020204030204" pitchFamily="49" charset="0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A93B5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# 'X min'  -&gt; zeitweises </a:t>
            </a:r>
            <a:r>
              <a:rPr lang="en-US" sz="1200">
                <a:solidFill>
                  <a:srgbClr val="8A93B5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Halten </a:t>
            </a:r>
            <a:r>
              <a:rPr lang="en-US" sz="1200" smtClean="0">
                <a:solidFill>
                  <a:srgbClr val="8A93B5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(Timeout)</a:t>
            </a:r>
            <a:endParaRPr lang="en-US" sz="1200" dirty="0">
              <a:latin typeface="Consolas" panose="020B0609020204030204" pitchFamily="49" charset="0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A93B5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# 'Forever' </a:t>
            </a:r>
            <a:r>
              <a:rPr lang="en-US" sz="1200">
                <a:solidFill>
                  <a:srgbClr val="8A93B5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-&gt; </a:t>
            </a:r>
            <a:r>
              <a:rPr lang="en-US" sz="1200" smtClean="0">
                <a:solidFill>
                  <a:srgbClr val="8A93B5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dauerhaft im Speicher geladen</a:t>
            </a:r>
            <a:endParaRPr lang="en-US" sz="1200" dirty="0">
              <a:latin typeface="Consolas" panose="020B0609020204030204" pitchFamily="49" charset="0"/>
            </a:endParaRPr>
          </a:p>
        </p:txBody>
      </p:sp>
      <p:sp>
        <p:nvSpPr>
          <p:cNvPr id="25" name="Text 23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PERFORMANCE TUNING · iGPU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1274552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smtClean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</a:t>
            </a:r>
            <a:r>
              <a:rPr lang="en-US" sz="1300" b="1" kern="0" spc="20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GRUNDLAGEN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statt Wörter: Wie KI Text verarbeitet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Token ist die kleinste Texteinheit, mit der ein Sprachmodell rechnet – oft ein Wortteil statt eines ganzen </a:t>
            </a:r>
            <a:r>
              <a:rPr lang="en-US" sz="135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Wortes. Die Anzahl der Token hängt von der verwendeten Sprache </a:t>
            </a:r>
            <a:r>
              <a:rPr lang="en-US" sz="1350" smtClean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 der Textstruktur ab </a:t>
            </a:r>
            <a:r>
              <a:rPr lang="en-US" sz="135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 kann vorab mit einem Tokenizer bestimmt werden (z.B. </a:t>
            </a:r>
            <a:r>
              <a:rPr lang="en-US" sz="1350" smtClean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llm-tokenizer.com).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5394960" cy="1965960"/>
          </a:xfrm>
          <a:prstGeom prst="roundRect">
            <a:avLst>
              <a:gd name="adj" fmla="val 4651"/>
            </a:avLst>
          </a:prstGeom>
          <a:solidFill>
            <a:schemeClr val="bg2">
              <a:lumMod val="25000"/>
            </a:scheme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22402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chemeClr val="accent5">
                    <a:lumMod val="40000"/>
                    <a:lumOff val="6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DEUTSCH</a:t>
            </a:r>
            <a:endParaRPr lang="en-US" sz="1100" dirty="0">
              <a:solidFill>
                <a:schemeClr val="accent5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777240" y="2542032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>
                    <a:lumMod val="9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Datenschutzbestimmungen</a:t>
            </a:r>
            <a:endParaRPr lang="en-US" sz="18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777240" y="30175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bg1">
                    <a:lumMod val="85000"/>
                  </a:scheme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Daten + schutz + best + imm + ung + en</a:t>
            </a:r>
            <a:endParaRPr lang="en-US" sz="14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777240" y="34747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chemeClr val="accent5">
                    <a:lumMod val="40000"/>
                    <a:lumOff val="6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5–6 Tokens für ein Wort</a:t>
            </a:r>
            <a:endParaRPr lang="en-US" sz="1250" dirty="0">
              <a:solidFill>
                <a:schemeClr val="accent5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0" name="Shape 8"/>
          <p:cNvSpPr/>
          <p:nvPr/>
        </p:nvSpPr>
        <p:spPr>
          <a:xfrm>
            <a:off x="6172200" y="2103120"/>
            <a:ext cx="5668108" cy="1965960"/>
          </a:xfrm>
          <a:prstGeom prst="roundRect">
            <a:avLst>
              <a:gd name="adj" fmla="val 4651"/>
            </a:avLst>
          </a:prstGeom>
          <a:solidFill>
            <a:schemeClr val="bg2">
              <a:lumMod val="25000"/>
            </a:scheme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0" y="22402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chemeClr val="accent5">
                    <a:lumMod val="40000"/>
                    <a:lumOff val="6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ENGLISCH</a:t>
            </a:r>
            <a:endParaRPr lang="en-US" sz="1100" dirty="0">
              <a:solidFill>
                <a:schemeClr val="accent5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6400800" y="2542032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protection regulations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0" y="30175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 + protection + regulations</a:t>
            </a:r>
            <a:endParaRPr lang="en-US" sz="14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6400800" y="34747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chemeClr val="accent5">
                    <a:lumMod val="40000"/>
                    <a:lumOff val="6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genau 3 Tokens (1 pro Wort)</a:t>
            </a:r>
            <a:endParaRPr lang="en-US" sz="1250" dirty="0">
              <a:solidFill>
                <a:schemeClr val="accent5">
                  <a:lumMod val="40000"/>
                  <a:lumOff val="60000"/>
                </a:schemeClr>
              </a:solidFill>
            </a:endParaRPr>
          </a:p>
        </p:txBody>
      </p:sp>
      <p:graphicFrame>
        <p:nvGraphicFramePr>
          <p:cNvPr id="15" name="Chart 0"/>
          <p:cNvGraphicFramePr/>
          <p:nvPr>
            <p:extLst>
              <p:ext uri="{D42A27DB-BD31-4B8C-83A1-F6EECF244321}">
                <p14:modId xmlns:p14="http://schemas.microsoft.com/office/powerpoint/2010/main" val="711027811"/>
              </p:ext>
            </p:extLst>
          </p:nvPr>
        </p:nvGraphicFramePr>
        <p:xfrm>
          <a:off x="548640" y="4297680"/>
          <a:ext cx="5394960" cy="1965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PERFORMANCE TUNING · iGPU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11274552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18" name="Shape 8"/>
          <p:cNvSpPr/>
          <p:nvPr/>
        </p:nvSpPr>
        <p:spPr>
          <a:xfrm>
            <a:off x="5120640" y="4297680"/>
            <a:ext cx="6719669" cy="2240280"/>
          </a:xfrm>
          <a:prstGeom prst="roundRect">
            <a:avLst>
              <a:gd name="adj" fmla="val 4651"/>
            </a:avLst>
          </a:prstGeom>
          <a:solidFill>
            <a:srgbClr val="0D1321"/>
          </a:solidFill>
          <a:ln/>
        </p:spPr>
      </p:sp>
      <p:sp>
        <p:nvSpPr>
          <p:cNvPr id="20" name="Text 10"/>
          <p:cNvSpPr txBox="1"/>
          <p:nvPr/>
        </p:nvSpPr>
        <p:spPr>
          <a:xfrm>
            <a:off x="6780262" y="4524326"/>
            <a:ext cx="31924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smtClean="0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Token Berechnung in Ollama</a:t>
            </a:r>
            <a:endParaRPr lang="en-US" sz="1800" dirty="0"/>
          </a:p>
        </p:txBody>
      </p:sp>
      <p:sp>
        <p:nvSpPr>
          <p:cNvPr id="22" name="Text 12"/>
          <p:cNvSpPr txBox="1"/>
          <p:nvPr/>
        </p:nvSpPr>
        <p:spPr>
          <a:xfrm>
            <a:off x="5419725" y="4968190"/>
            <a:ext cx="6312027" cy="1381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smtClean="0">
                <a:solidFill>
                  <a:srgbClr val="00D9C0"/>
                </a:solidFill>
                <a:latin typeface="Consolas" panose="020B0609020204030204" pitchFamily="49" charset="0"/>
              </a:rPr>
              <a:t>$ jq </a:t>
            </a:r>
            <a:r>
              <a:rPr lang="en-US" sz="1200">
                <a:solidFill>
                  <a:srgbClr val="00D9C0"/>
                </a:solidFill>
                <a:latin typeface="Consolas" panose="020B0609020204030204" pitchFamily="49" charset="0"/>
              </a:rPr>
              <a:t>-n --rawfile t example-deutsch.txt \</a:t>
            </a:r>
          </a:p>
          <a:p>
            <a:r>
              <a:rPr lang="en-US" sz="1200">
                <a:solidFill>
                  <a:srgbClr val="00D9C0"/>
                </a:solidFill>
                <a:latin typeface="Consolas" panose="020B0609020204030204" pitchFamily="49" charset="0"/>
              </a:rPr>
              <a:t>'{model:"llama3.1:8b",prompt:$t,stream:false,options:{num_predict:1}}' | \</a:t>
            </a:r>
          </a:p>
          <a:p>
            <a:r>
              <a:rPr lang="en-US" sz="1200">
                <a:solidFill>
                  <a:srgbClr val="00D9C0"/>
                </a:solidFill>
                <a:latin typeface="Consolas" panose="020B0609020204030204" pitchFamily="49" charset="0"/>
              </a:rPr>
              <a:t>curl -s http://localhost:11434/api/generate -d @- | \</a:t>
            </a:r>
          </a:p>
          <a:p>
            <a:r>
              <a:rPr lang="en-US" sz="1200">
                <a:solidFill>
                  <a:srgbClr val="00D9C0"/>
                </a:solidFill>
                <a:latin typeface="Consolas" panose="020B0609020204030204" pitchFamily="49" charset="0"/>
              </a:rPr>
              <a:t>jq '{prompt_eval_count, eval_count</a:t>
            </a:r>
            <a:r>
              <a:rPr lang="en-US" sz="1200" smtClean="0">
                <a:solidFill>
                  <a:srgbClr val="00D9C0"/>
                </a:solidFill>
                <a:latin typeface="Consolas" panose="020B0609020204030204" pitchFamily="49" charset="0"/>
              </a:rPr>
              <a:t>}‘</a:t>
            </a:r>
          </a:p>
          <a:p>
            <a:endParaRPr lang="en-US" sz="1200">
              <a:solidFill>
                <a:srgbClr val="00D9C0"/>
              </a:solidFill>
              <a:latin typeface="Consolas" panose="020B0609020204030204" pitchFamily="49" charset="0"/>
            </a:endParaRPr>
          </a:p>
          <a:p>
            <a:r>
              <a:rPr lang="en-US" sz="120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"prompt_eval_count": 319,</a:t>
            </a:r>
          </a:p>
          <a:p>
            <a:r>
              <a:rPr lang="en-US" sz="120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sz="1200" smtClean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"</a:t>
            </a:r>
            <a:r>
              <a:rPr lang="en-US" sz="120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eval_count": 1</a:t>
            </a:r>
            <a:endParaRPr lang="en-US" sz="1200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kern="0" spc="200">
                <a:solidFill>
                  <a:srgbClr val="FF6B4A"/>
                </a:solidFill>
                <a:ea typeface="Calibri" pitchFamily="34" charset="-122"/>
                <a:cs typeface="Calibri" pitchFamily="34" charset="-120"/>
              </a:rPr>
              <a:t>BLOCK 1 GRUNDLAGEN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Verfügbare Modelle: Ein Überblick über ollama.com/library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dirty="0">
                <a:solidFill>
                  <a:srgbClr val="5B6478"/>
                </a:solidFill>
                <a:ea typeface="Calibri" pitchFamily="34" charset="-122"/>
                <a:cs typeface="Calibri" pitchFamily="34" charset="-120"/>
              </a:rPr>
              <a:t>Ollama kann hunderte offene Modelle laden – z. B. mit </a:t>
            </a:r>
            <a:r>
              <a:rPr lang="en-US" sz="1200" b="1" dirty="0">
                <a:solidFill>
                  <a:srgbClr val="5B6478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docker exec -it ollama_container ollama pull &lt;modell:tag&gt;. </a:t>
            </a:r>
            <a:r>
              <a:rPr lang="en-US" sz="1300" dirty="0">
                <a:solidFill>
                  <a:srgbClr val="5B6478"/>
                </a:solidFill>
                <a:ea typeface="Calibri" pitchFamily="34" charset="-122"/>
                <a:cs typeface="Calibri" pitchFamily="34" charset="-120"/>
              </a:rPr>
              <a:t>Diese sieben Familien decken die meisten Alltags- und Spezialfälle ab.</a:t>
            </a:r>
          </a:p>
        </p:txBody>
      </p:sp>
      <p:sp>
        <p:nvSpPr>
          <p:cNvPr id="41" name="Text 39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5B6478"/>
                </a:solidFill>
                <a:ea typeface="Calibri" pitchFamily="34" charset="-122"/>
                <a:cs typeface="Calibri" pitchFamily="34" charset="-120"/>
              </a:rPr>
              <a:t>OLLAMA PERFORMANCE TUNING · iGPU</a:t>
            </a:r>
            <a:endParaRPr lang="en-US" sz="900" dirty="0">
              <a:solidFill>
                <a:prstClr val="black"/>
              </a:solidFill>
            </a:endParaRPr>
          </a:p>
        </p:txBody>
      </p:sp>
      <p:sp>
        <p:nvSpPr>
          <p:cNvPr id="42" name="HeaderBg"/>
          <p:cNvSpPr/>
          <p:nvPr/>
        </p:nvSpPr>
        <p:spPr>
          <a:xfrm>
            <a:off x="548640" y="1965960"/>
            <a:ext cx="11094720" cy="411480"/>
          </a:xfrm>
          <a:prstGeom prst="roundRect">
            <a:avLst>
              <a:gd name="adj" fmla="val 12000"/>
            </a:avLst>
          </a:prstGeom>
          <a:solidFill>
            <a:srgbClr val="0D1321"/>
          </a:solidFill>
          <a:ln/>
        </p:spPr>
      </p:sp>
      <p:sp>
        <p:nvSpPr>
          <p:cNvPr id="43" name="Text"/>
          <p:cNvSpPr txBox="1"/>
          <p:nvPr/>
        </p:nvSpPr>
        <p:spPr>
          <a:xfrm>
            <a:off x="640080" y="1965960"/>
            <a:ext cx="2500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50" b="1" dirty="0">
                <a:solidFill>
                  <a:srgbClr val="FFFFFF"/>
                </a:solidFill>
                <a:latin typeface="Arial" pitchFamily="34" charset="0"/>
              </a:rPr>
              <a:t>Modell-Familie</a:t>
            </a:r>
          </a:p>
        </p:txBody>
      </p:sp>
      <p:sp>
        <p:nvSpPr>
          <p:cNvPr id="44" name="Text"/>
          <p:cNvSpPr txBox="1"/>
          <p:nvPr/>
        </p:nvSpPr>
        <p:spPr>
          <a:xfrm>
            <a:off x="3140080" y="1965960"/>
            <a:ext cx="1750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50" b="1" dirty="0">
                <a:solidFill>
                  <a:srgbClr val="FFFFFF"/>
                </a:solidFill>
                <a:latin typeface="Arial" pitchFamily="34" charset="0"/>
              </a:rPr>
              <a:t>Beispiel-Tag</a:t>
            </a:r>
          </a:p>
        </p:txBody>
      </p:sp>
      <p:sp>
        <p:nvSpPr>
          <p:cNvPr id="45" name="Text"/>
          <p:cNvSpPr txBox="1"/>
          <p:nvPr/>
        </p:nvSpPr>
        <p:spPr>
          <a:xfrm>
            <a:off x="4890080" y="1965960"/>
            <a:ext cx="1950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50" b="1" dirty="0">
                <a:solidFill>
                  <a:srgbClr val="FFFFFF"/>
                </a:solidFill>
                <a:latin typeface="Arial" pitchFamily="34" charset="0"/>
              </a:rPr>
              <a:t>Anbieter / Herkunft</a:t>
            </a:r>
          </a:p>
        </p:txBody>
      </p:sp>
      <p:sp>
        <p:nvSpPr>
          <p:cNvPr id="46" name="Text"/>
          <p:cNvSpPr txBox="1"/>
          <p:nvPr/>
        </p:nvSpPr>
        <p:spPr>
          <a:xfrm>
            <a:off x="6840080" y="1965960"/>
            <a:ext cx="471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50" b="1" dirty="0">
                <a:solidFill>
                  <a:srgbClr val="FFFFFF"/>
                </a:solidFill>
                <a:latin typeface="Arial" pitchFamily="34" charset="0"/>
              </a:rPr>
              <a:t>Stärken</a:t>
            </a:r>
          </a:p>
        </p:txBody>
      </p:sp>
      <p:sp>
        <p:nvSpPr>
          <p:cNvPr id="47" name="RowBg0"/>
          <p:cNvSpPr/>
          <p:nvPr/>
        </p:nvSpPr>
        <p:spPr>
          <a:xfrm>
            <a:off x="548640" y="2377440"/>
            <a:ext cx="11094720" cy="560000"/>
          </a:xfrm>
          <a:prstGeom prst="rect">
            <a:avLst/>
          </a:prstGeom>
          <a:solidFill>
            <a:srgbClr val="F2F5FA"/>
          </a:solidFill>
          <a:ln/>
        </p:spPr>
      </p:sp>
      <p:sp>
        <p:nvSpPr>
          <p:cNvPr id="48" name="Text"/>
          <p:cNvSpPr txBox="1"/>
          <p:nvPr/>
        </p:nvSpPr>
        <p:spPr>
          <a:xfrm>
            <a:off x="640080" y="2377440"/>
            <a:ext cx="250000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00" b="1" dirty="0">
                <a:solidFill>
                  <a:srgbClr val="0D1321"/>
                </a:solidFill>
              </a:rPr>
              <a:t>Llama 3.1 / 3.2 / 3.3</a:t>
            </a:r>
          </a:p>
        </p:txBody>
      </p:sp>
      <p:sp>
        <p:nvSpPr>
          <p:cNvPr id="49" name="Text"/>
          <p:cNvSpPr txBox="1"/>
          <p:nvPr/>
        </p:nvSpPr>
        <p:spPr>
          <a:xfrm>
            <a:off x="3140080" y="2377440"/>
            <a:ext cx="175000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dirty="0">
                <a:solidFill>
                  <a:srgbClr val="3D6B63"/>
                </a:solidFill>
                <a:latin typeface="Courier New" pitchFamily="34" charset="0"/>
              </a:rPr>
              <a:t>llama3.2:3b</a:t>
            </a:r>
          </a:p>
        </p:txBody>
      </p:sp>
      <p:sp>
        <p:nvSpPr>
          <p:cNvPr id="50" name="Text"/>
          <p:cNvSpPr txBox="1"/>
          <p:nvPr/>
        </p:nvSpPr>
        <p:spPr>
          <a:xfrm>
            <a:off x="4890080" y="2377440"/>
            <a:ext cx="195000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50" dirty="0">
                <a:solidFill>
                  <a:srgbClr val="5B6478"/>
                </a:solidFill>
              </a:rPr>
              <a:t>Meta AI (USA)</a:t>
            </a:r>
          </a:p>
        </p:txBody>
      </p:sp>
      <p:sp>
        <p:nvSpPr>
          <p:cNvPr id="51" name="Text"/>
          <p:cNvSpPr txBox="1"/>
          <p:nvPr/>
        </p:nvSpPr>
        <p:spPr>
          <a:xfrm>
            <a:off x="6840080" y="2377440"/>
            <a:ext cx="471184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50" dirty="0">
                <a:solidFill>
                  <a:srgbClr val="30363F"/>
                </a:solidFill>
              </a:rPr>
              <a:t>Weltweiter Open-Source-Standard – stark in Textgenerierung, logischem Denken und Alltagskonversation.</a:t>
            </a:r>
          </a:p>
        </p:txBody>
      </p:sp>
      <p:sp>
        <p:nvSpPr>
          <p:cNvPr id="52" name="Text"/>
          <p:cNvSpPr txBox="1"/>
          <p:nvPr/>
        </p:nvSpPr>
        <p:spPr>
          <a:xfrm>
            <a:off x="640080" y="2937440"/>
            <a:ext cx="250000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00" b="1" dirty="0">
                <a:solidFill>
                  <a:srgbClr val="0D1321"/>
                </a:solidFill>
              </a:rPr>
              <a:t>Gemma 4</a:t>
            </a:r>
          </a:p>
        </p:txBody>
      </p:sp>
      <p:sp>
        <p:nvSpPr>
          <p:cNvPr id="53" name="Text"/>
          <p:cNvSpPr txBox="1"/>
          <p:nvPr/>
        </p:nvSpPr>
        <p:spPr>
          <a:xfrm>
            <a:off x="3140080" y="2937440"/>
            <a:ext cx="175000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dirty="0">
                <a:solidFill>
                  <a:srgbClr val="3D6B63"/>
                </a:solidFill>
                <a:latin typeface="Courier New" pitchFamily="34" charset="0"/>
              </a:rPr>
              <a:t>gemma4:12b</a:t>
            </a:r>
          </a:p>
        </p:txBody>
      </p:sp>
      <p:sp>
        <p:nvSpPr>
          <p:cNvPr id="54" name="Text"/>
          <p:cNvSpPr txBox="1"/>
          <p:nvPr/>
        </p:nvSpPr>
        <p:spPr>
          <a:xfrm>
            <a:off x="4890080" y="2937440"/>
            <a:ext cx="195000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50" dirty="0">
                <a:solidFill>
                  <a:srgbClr val="5B6478"/>
                </a:solidFill>
              </a:rPr>
              <a:t>Google (USA)</a:t>
            </a:r>
          </a:p>
        </p:txBody>
      </p:sp>
      <p:sp>
        <p:nvSpPr>
          <p:cNvPr id="55" name="Text"/>
          <p:cNvSpPr txBox="1"/>
          <p:nvPr/>
        </p:nvSpPr>
        <p:spPr>
          <a:xfrm>
            <a:off x="6840080" y="2937440"/>
            <a:ext cx="471184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50" dirty="0">
                <a:solidFill>
                  <a:srgbClr val="30363F"/>
                </a:solidFill>
              </a:rPr>
              <a:t>Exzellent im Befolgen komplexer Instruktionen und bei Mathe-Aufgaben – Vision &amp; Tool-Calling ab Werk.</a:t>
            </a:r>
          </a:p>
        </p:txBody>
      </p:sp>
      <p:sp>
        <p:nvSpPr>
          <p:cNvPr id="56" name="RowBg2"/>
          <p:cNvSpPr/>
          <p:nvPr/>
        </p:nvSpPr>
        <p:spPr>
          <a:xfrm>
            <a:off x="548640" y="3497440"/>
            <a:ext cx="11094720" cy="560000"/>
          </a:xfrm>
          <a:prstGeom prst="rect">
            <a:avLst/>
          </a:prstGeom>
          <a:solidFill>
            <a:srgbClr val="F2F5FA"/>
          </a:solidFill>
          <a:ln/>
        </p:spPr>
      </p:sp>
      <p:sp>
        <p:nvSpPr>
          <p:cNvPr id="57" name="Text"/>
          <p:cNvSpPr txBox="1"/>
          <p:nvPr/>
        </p:nvSpPr>
        <p:spPr>
          <a:xfrm>
            <a:off x="640080" y="3497440"/>
            <a:ext cx="250000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00" b="1" dirty="0">
                <a:solidFill>
                  <a:srgbClr val="0D1321"/>
                </a:solidFill>
              </a:rPr>
              <a:t>Mistral Nemo / Large</a:t>
            </a:r>
          </a:p>
        </p:txBody>
      </p:sp>
      <p:sp>
        <p:nvSpPr>
          <p:cNvPr id="58" name="Text"/>
          <p:cNvSpPr txBox="1"/>
          <p:nvPr/>
        </p:nvSpPr>
        <p:spPr>
          <a:xfrm>
            <a:off x="3140080" y="3497440"/>
            <a:ext cx="175000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dirty="0">
                <a:solidFill>
                  <a:srgbClr val="3D6B63"/>
                </a:solidFill>
                <a:latin typeface="Courier New" pitchFamily="34" charset="0"/>
              </a:rPr>
              <a:t>mistral-nemo:12b</a:t>
            </a:r>
          </a:p>
        </p:txBody>
      </p:sp>
      <p:sp>
        <p:nvSpPr>
          <p:cNvPr id="59" name="Text"/>
          <p:cNvSpPr txBox="1"/>
          <p:nvPr/>
        </p:nvSpPr>
        <p:spPr>
          <a:xfrm>
            <a:off x="4890080" y="3497440"/>
            <a:ext cx="195000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50" dirty="0">
                <a:solidFill>
                  <a:srgbClr val="5B6478"/>
                </a:solidFill>
              </a:rPr>
              <a:t>Mistral AI (FR) &amp; NVIDIA</a:t>
            </a:r>
          </a:p>
        </p:txBody>
      </p:sp>
      <p:sp>
        <p:nvSpPr>
          <p:cNvPr id="60" name="Text"/>
          <p:cNvSpPr txBox="1"/>
          <p:nvPr/>
        </p:nvSpPr>
        <p:spPr>
          <a:xfrm>
            <a:off x="6840080" y="3497440"/>
            <a:ext cx="471184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50" dirty="0">
                <a:solidFill>
                  <a:srgbClr val="30363F"/>
                </a:solidFill>
              </a:rPr>
              <a:t>Europäisches Spitzenmodell – besonders stark in europäischen Sprachen (exzellentes Deutsch) und Argumentation.</a:t>
            </a:r>
          </a:p>
        </p:txBody>
      </p:sp>
      <p:sp>
        <p:nvSpPr>
          <p:cNvPr id="61" name="Text"/>
          <p:cNvSpPr txBox="1"/>
          <p:nvPr/>
        </p:nvSpPr>
        <p:spPr>
          <a:xfrm>
            <a:off x="640080" y="4057440"/>
            <a:ext cx="250000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00" b="1" dirty="0">
                <a:solidFill>
                  <a:srgbClr val="0D1321"/>
                </a:solidFill>
              </a:rPr>
              <a:t>Qwen 3.6 / Qwen3</a:t>
            </a:r>
          </a:p>
        </p:txBody>
      </p:sp>
      <p:sp>
        <p:nvSpPr>
          <p:cNvPr id="62" name="Text"/>
          <p:cNvSpPr txBox="1"/>
          <p:nvPr/>
        </p:nvSpPr>
        <p:spPr>
          <a:xfrm>
            <a:off x="3140080" y="4057440"/>
            <a:ext cx="175000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dirty="0">
                <a:solidFill>
                  <a:srgbClr val="3D6B63"/>
                </a:solidFill>
                <a:latin typeface="Courier New" pitchFamily="34" charset="0"/>
              </a:rPr>
              <a:t>qwen3:32b</a:t>
            </a:r>
          </a:p>
        </p:txBody>
      </p:sp>
      <p:sp>
        <p:nvSpPr>
          <p:cNvPr id="63" name="Text"/>
          <p:cNvSpPr txBox="1"/>
          <p:nvPr/>
        </p:nvSpPr>
        <p:spPr>
          <a:xfrm>
            <a:off x="4890080" y="4057440"/>
            <a:ext cx="195000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50" dirty="0">
                <a:solidFill>
                  <a:srgbClr val="5B6478"/>
                </a:solidFill>
              </a:rPr>
              <a:t>Alibaba (China)</a:t>
            </a:r>
          </a:p>
        </p:txBody>
      </p:sp>
      <p:sp>
        <p:nvSpPr>
          <p:cNvPr id="64" name="Text"/>
          <p:cNvSpPr txBox="1"/>
          <p:nvPr/>
        </p:nvSpPr>
        <p:spPr>
          <a:xfrm>
            <a:off x="6840080" y="4057440"/>
            <a:ext cx="471184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50" dirty="0">
                <a:solidFill>
                  <a:srgbClr val="30363F"/>
                </a:solidFill>
              </a:rPr>
              <a:t>Schlägt in Benchmarks regelmäßig westliche Modelle – hervorragend für allgemeine und mehrsprachige Aufgaben.</a:t>
            </a:r>
          </a:p>
        </p:txBody>
      </p:sp>
      <p:sp>
        <p:nvSpPr>
          <p:cNvPr id="65" name="RowBg4"/>
          <p:cNvSpPr/>
          <p:nvPr/>
        </p:nvSpPr>
        <p:spPr>
          <a:xfrm>
            <a:off x="548640" y="4617440"/>
            <a:ext cx="11094720" cy="560000"/>
          </a:xfrm>
          <a:prstGeom prst="rect">
            <a:avLst/>
          </a:prstGeom>
          <a:solidFill>
            <a:srgbClr val="F2F5FA"/>
          </a:solidFill>
          <a:ln/>
        </p:spPr>
      </p:sp>
      <p:sp>
        <p:nvSpPr>
          <p:cNvPr id="66" name="Text"/>
          <p:cNvSpPr txBox="1"/>
          <p:nvPr/>
        </p:nvSpPr>
        <p:spPr>
          <a:xfrm>
            <a:off x="640080" y="4617440"/>
            <a:ext cx="250000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00" b="1" dirty="0">
                <a:solidFill>
                  <a:srgbClr val="0D1321"/>
                </a:solidFill>
              </a:rPr>
              <a:t>DeepSeek R1</a:t>
            </a:r>
          </a:p>
        </p:txBody>
      </p:sp>
      <p:sp>
        <p:nvSpPr>
          <p:cNvPr id="67" name="Text"/>
          <p:cNvSpPr txBox="1"/>
          <p:nvPr/>
        </p:nvSpPr>
        <p:spPr>
          <a:xfrm>
            <a:off x="3140080" y="4617440"/>
            <a:ext cx="175000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dirty="0">
                <a:solidFill>
                  <a:srgbClr val="3D6B63"/>
                </a:solidFill>
                <a:latin typeface="Courier New" pitchFamily="34" charset="0"/>
              </a:rPr>
              <a:t>deepseek-r1:70b</a:t>
            </a:r>
          </a:p>
        </p:txBody>
      </p:sp>
      <p:sp>
        <p:nvSpPr>
          <p:cNvPr id="68" name="Text"/>
          <p:cNvSpPr txBox="1"/>
          <p:nvPr/>
        </p:nvSpPr>
        <p:spPr>
          <a:xfrm>
            <a:off x="4890080" y="4617440"/>
            <a:ext cx="195000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50" dirty="0">
                <a:solidFill>
                  <a:srgbClr val="5B6478"/>
                </a:solidFill>
              </a:rPr>
              <a:t>DeepSeek (China)</a:t>
            </a:r>
          </a:p>
        </p:txBody>
      </p:sp>
      <p:sp>
        <p:nvSpPr>
          <p:cNvPr id="69" name="Text"/>
          <p:cNvSpPr txBox="1"/>
          <p:nvPr/>
        </p:nvSpPr>
        <p:spPr>
          <a:xfrm>
            <a:off x="6840080" y="4617440"/>
            <a:ext cx="471184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50" dirty="0">
                <a:solidFill>
                  <a:srgbClr val="30363F"/>
                </a:solidFill>
              </a:rPr>
              <a:t>Reasoning-Modell mit interner </a:t>
            </a:r>
            <a:r>
              <a:rPr lang="de-DE" sz="1050">
                <a:solidFill>
                  <a:srgbClr val="30363F"/>
                </a:solidFill>
              </a:rPr>
              <a:t>Denkkette </a:t>
            </a:r>
            <a:r>
              <a:rPr lang="de-DE" sz="1050" smtClean="0">
                <a:solidFill>
                  <a:srgbClr val="30363F"/>
                </a:solidFill>
              </a:rPr>
              <a:t>(</a:t>
            </a:r>
            <a:r>
              <a:rPr lang="de-DE" sz="1050"/>
              <a:t>Open-Source-Antwort auf </a:t>
            </a:r>
            <a:r>
              <a:rPr lang="de-DE" sz="1050" smtClean="0"/>
              <a:t>o1/o3 von OpenAI</a:t>
            </a:r>
            <a:r>
              <a:rPr lang="de-DE" sz="1050" smtClean="0">
                <a:solidFill>
                  <a:srgbClr val="30363F"/>
                </a:solidFill>
              </a:rPr>
              <a:t>) </a:t>
            </a:r>
            <a:r>
              <a:rPr lang="de-DE" sz="1050" dirty="0">
                <a:solidFill>
                  <a:srgbClr val="30363F"/>
                </a:solidFill>
              </a:rPr>
              <a:t>– extrem stark in Mathe, Logik und Programmierung.</a:t>
            </a:r>
          </a:p>
        </p:txBody>
      </p:sp>
      <p:sp>
        <p:nvSpPr>
          <p:cNvPr id="70" name="Text"/>
          <p:cNvSpPr txBox="1"/>
          <p:nvPr/>
        </p:nvSpPr>
        <p:spPr>
          <a:xfrm>
            <a:off x="640080" y="5177440"/>
            <a:ext cx="250000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00" b="1" dirty="0">
                <a:solidFill>
                  <a:srgbClr val="0D1321"/>
                </a:solidFill>
              </a:rPr>
              <a:t>Qwen3 Coder</a:t>
            </a:r>
          </a:p>
        </p:txBody>
      </p:sp>
      <p:sp>
        <p:nvSpPr>
          <p:cNvPr id="71" name="Text"/>
          <p:cNvSpPr txBox="1"/>
          <p:nvPr/>
        </p:nvSpPr>
        <p:spPr>
          <a:xfrm>
            <a:off x="3140080" y="5177440"/>
            <a:ext cx="175000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dirty="0">
                <a:solidFill>
                  <a:srgbClr val="3D6B63"/>
                </a:solidFill>
                <a:latin typeface="Courier New" pitchFamily="34" charset="0"/>
              </a:rPr>
              <a:t>qwen3-coder:30b</a:t>
            </a:r>
          </a:p>
        </p:txBody>
      </p:sp>
      <p:sp>
        <p:nvSpPr>
          <p:cNvPr id="72" name="Text"/>
          <p:cNvSpPr txBox="1"/>
          <p:nvPr/>
        </p:nvSpPr>
        <p:spPr>
          <a:xfrm>
            <a:off x="4890080" y="5177440"/>
            <a:ext cx="195000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50" dirty="0">
                <a:solidFill>
                  <a:srgbClr val="5B6478"/>
                </a:solidFill>
              </a:rPr>
              <a:t>Alibaba (China)</a:t>
            </a:r>
          </a:p>
        </p:txBody>
      </p:sp>
      <p:sp>
        <p:nvSpPr>
          <p:cNvPr id="73" name="Text"/>
          <p:cNvSpPr txBox="1"/>
          <p:nvPr/>
        </p:nvSpPr>
        <p:spPr>
          <a:xfrm>
            <a:off x="6840080" y="5177440"/>
            <a:ext cx="471184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50" dirty="0">
                <a:solidFill>
                  <a:srgbClr val="30363F"/>
                </a:solidFill>
              </a:rPr>
              <a:t>Führendes lokales Modell für Programmierassistenz – Code-Generierung, Bugfixing, große Codebases.</a:t>
            </a:r>
          </a:p>
        </p:txBody>
      </p:sp>
      <p:sp>
        <p:nvSpPr>
          <p:cNvPr id="74" name="RowBg6"/>
          <p:cNvSpPr/>
          <p:nvPr/>
        </p:nvSpPr>
        <p:spPr>
          <a:xfrm>
            <a:off x="548640" y="5737440"/>
            <a:ext cx="11094720" cy="560000"/>
          </a:xfrm>
          <a:prstGeom prst="rect">
            <a:avLst/>
          </a:prstGeom>
          <a:solidFill>
            <a:srgbClr val="F2F5FA"/>
          </a:solidFill>
          <a:ln/>
        </p:spPr>
      </p:sp>
      <p:sp>
        <p:nvSpPr>
          <p:cNvPr id="75" name="Text"/>
          <p:cNvSpPr txBox="1"/>
          <p:nvPr/>
        </p:nvSpPr>
        <p:spPr>
          <a:xfrm>
            <a:off x="640080" y="5737440"/>
            <a:ext cx="250000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00" b="1" dirty="0">
                <a:solidFill>
                  <a:srgbClr val="0D1321"/>
                </a:solidFill>
              </a:rPr>
              <a:t>Phi-4</a:t>
            </a:r>
          </a:p>
        </p:txBody>
      </p:sp>
      <p:sp>
        <p:nvSpPr>
          <p:cNvPr id="76" name="Text"/>
          <p:cNvSpPr txBox="1"/>
          <p:nvPr/>
        </p:nvSpPr>
        <p:spPr>
          <a:xfrm>
            <a:off x="3140080" y="5737440"/>
            <a:ext cx="175000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dirty="0">
                <a:solidFill>
                  <a:srgbClr val="3D6B63"/>
                </a:solidFill>
                <a:latin typeface="Courier New" pitchFamily="34" charset="0"/>
              </a:rPr>
              <a:t>phi4:14b</a:t>
            </a:r>
          </a:p>
        </p:txBody>
      </p:sp>
      <p:sp>
        <p:nvSpPr>
          <p:cNvPr id="77" name="Text"/>
          <p:cNvSpPr txBox="1"/>
          <p:nvPr/>
        </p:nvSpPr>
        <p:spPr>
          <a:xfrm>
            <a:off x="4890080" y="5737440"/>
            <a:ext cx="195000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50" dirty="0">
                <a:solidFill>
                  <a:srgbClr val="5B6478"/>
                </a:solidFill>
              </a:rPr>
              <a:t>Microsoft (USA)</a:t>
            </a:r>
          </a:p>
        </p:txBody>
      </p:sp>
      <p:sp>
        <p:nvSpPr>
          <p:cNvPr id="78" name="Text"/>
          <p:cNvSpPr txBox="1"/>
          <p:nvPr/>
        </p:nvSpPr>
        <p:spPr>
          <a:xfrm>
            <a:off x="6840080" y="5737440"/>
            <a:ext cx="471184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50" dirty="0">
                <a:solidFill>
                  <a:srgbClr val="30363F"/>
                </a:solidFill>
              </a:rPr>
              <a:t>Kompakt und hochoptimiert – trotz geringerer Parameterzahl präzise bei wissenschaftlichen und logischen Aufgaben.</a:t>
            </a:r>
          </a:p>
        </p:txBody>
      </p:sp>
      <p:sp>
        <p:nvSpPr>
          <p:cNvPr id="79" name="Text 8"/>
          <p:cNvSpPr txBox="1"/>
          <p:nvPr/>
        </p:nvSpPr>
        <p:spPr>
          <a:xfrm>
            <a:off x="11274552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15975614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kern="0" spc="200">
                <a:solidFill>
                  <a:srgbClr val="FF6B4A"/>
                </a:solidFill>
                <a:ea typeface="Calibri" pitchFamily="34" charset="-122"/>
                <a:cs typeface="Calibri" pitchFamily="34" charset="-120"/>
              </a:rPr>
              <a:t>BLOCK 1 GRUNDLAGEN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Ollama REST-API: Die wichtigsten Endpunkte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dirty="0">
                <a:solidFill>
                  <a:srgbClr val="5B6478"/>
                </a:solidFill>
                <a:ea typeface="Calibri" pitchFamily="34" charset="-122"/>
                <a:cs typeface="Calibri" pitchFamily="34" charset="-120"/>
              </a:rPr>
              <a:t>Ollama stellt zwei Endpunkt-Familien bereit: native Endpunkte unter /api/* und OpenAI-kompatible Endpunkte unter /v1/* – für Tools, die eigentlich für die ChatGPT-API geschrieben </a:t>
            </a:r>
            <a:r>
              <a:rPr lang="en-US" sz="1300">
                <a:solidFill>
                  <a:srgbClr val="5B6478"/>
                </a:solidFill>
                <a:ea typeface="Calibri" pitchFamily="34" charset="-122"/>
                <a:cs typeface="Calibri" pitchFamily="34" charset="-120"/>
              </a:rPr>
              <a:t>wurden. </a:t>
            </a:r>
            <a:r>
              <a:rPr lang="en-US" sz="1300" smtClean="0">
                <a:solidFill>
                  <a:srgbClr val="5B6478"/>
                </a:solidFill>
                <a:ea typeface="Calibri" pitchFamily="34" charset="-122"/>
                <a:cs typeface="Calibri" pitchFamily="34" charset="-120"/>
              </a:rPr>
              <a:t>Aufruf </a:t>
            </a:r>
            <a:r>
              <a:rPr lang="en-US" sz="1300">
                <a:solidFill>
                  <a:srgbClr val="5B6478"/>
                </a:solidFill>
                <a:ea typeface="Calibri" pitchFamily="34" charset="-122"/>
                <a:cs typeface="Calibri" pitchFamily="34" charset="-120"/>
              </a:rPr>
              <a:t>z.B. </a:t>
            </a:r>
            <a:r>
              <a:rPr lang="en-US" sz="1300" smtClean="0">
                <a:solidFill>
                  <a:srgbClr val="5B6478"/>
                </a:solidFill>
                <a:ea typeface="Calibri" pitchFamily="34" charset="-122"/>
                <a:cs typeface="Calibri" pitchFamily="34" charset="-120"/>
              </a:rPr>
              <a:t>mit: </a:t>
            </a:r>
          </a:p>
          <a:p>
            <a:r>
              <a:rPr lang="en-US" sz="1300" b="1" smtClean="0">
                <a:solidFill>
                  <a:srgbClr val="5B6478"/>
                </a:solidFill>
                <a:ea typeface="Calibri" pitchFamily="34" charset="-122"/>
                <a:cs typeface="Calibri" pitchFamily="34" charset="-120"/>
              </a:rPr>
              <a:t>curl </a:t>
            </a:r>
            <a:r>
              <a:rPr lang="en-US" sz="1300" b="1">
                <a:solidFill>
                  <a:srgbClr val="5B6478"/>
                </a:solidFill>
                <a:ea typeface="Calibri" pitchFamily="34" charset="-122"/>
                <a:cs typeface="Calibri" pitchFamily="34" charset="-120"/>
              </a:rPr>
              <a:t>-s "http://localhost:11434/api/show" -H 'Content-Type: application/json' -d "{\"model\":\"myaniu/qwen2.5-1m:14b</a:t>
            </a:r>
            <a:r>
              <a:rPr lang="en-US" sz="1300" b="1" smtClean="0">
                <a:solidFill>
                  <a:srgbClr val="5B6478"/>
                </a:solidFill>
                <a:ea typeface="Calibri" pitchFamily="34" charset="-122"/>
                <a:cs typeface="Calibri" pitchFamily="34" charset="-120"/>
              </a:rPr>
              <a:t>\"}</a:t>
            </a:r>
            <a:r>
              <a:rPr lang="en-US" sz="1300" smtClean="0">
                <a:solidFill>
                  <a:srgbClr val="5B6478"/>
                </a:solidFill>
                <a:ea typeface="Calibri" pitchFamily="34" charset="-122"/>
                <a:cs typeface="Calibri" pitchFamily="34" charset="-120"/>
              </a:rPr>
              <a:t>"</a:t>
            </a:r>
            <a:endParaRPr lang="en-US" sz="1300" dirty="0">
              <a:solidFill>
                <a:srgbClr val="5B6478"/>
              </a:solidFill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41" name="Text 39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5B6478"/>
                </a:solidFill>
                <a:ea typeface="Calibri" pitchFamily="34" charset="-122"/>
                <a:cs typeface="Calibri" pitchFamily="34" charset="-120"/>
              </a:rPr>
              <a:t>OLLAMA PERFORMANCE TUNING · iGPU</a:t>
            </a:r>
            <a:endParaRPr lang="en-US" sz="900" dirty="0">
              <a:solidFill>
                <a:prstClr val="black"/>
              </a:solidFill>
            </a:endParaRPr>
          </a:p>
        </p:txBody>
      </p:sp>
      <p:sp>
        <p:nvSpPr>
          <p:cNvPr id="42" name="Text"/>
          <p:cNvSpPr txBox="1"/>
          <p:nvPr/>
        </p:nvSpPr>
        <p:spPr>
          <a:xfrm>
            <a:off x="620080" y="2105736"/>
            <a:ext cx="1100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50" b="1" spc="100" dirty="0">
                <a:solidFill>
                  <a:srgbClr val="FF6B4A"/>
                </a:solidFill>
              </a:rPr>
              <a:t>TEXT- &amp; INFERENZ-ENDPUNKTE</a:t>
            </a:r>
          </a:p>
        </p:txBody>
      </p:sp>
      <p:sp>
        <p:nvSpPr>
          <p:cNvPr id="43" name="RowBg0"/>
          <p:cNvSpPr/>
          <p:nvPr/>
        </p:nvSpPr>
        <p:spPr>
          <a:xfrm>
            <a:off x="528640" y="2352624"/>
            <a:ext cx="11094720" cy="279552"/>
          </a:xfrm>
          <a:prstGeom prst="rect">
            <a:avLst/>
          </a:prstGeom>
          <a:solidFill>
            <a:srgbClr val="F2F5FA"/>
          </a:solidFill>
          <a:ln/>
        </p:spPr>
      </p:sp>
      <p:sp>
        <p:nvSpPr>
          <p:cNvPr id="44" name="Text"/>
          <p:cNvSpPr txBox="1"/>
          <p:nvPr/>
        </p:nvSpPr>
        <p:spPr>
          <a:xfrm>
            <a:off x="620080" y="2352624"/>
            <a:ext cx="2800000" cy="2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b="1" dirty="0">
                <a:solidFill>
                  <a:srgbClr val="0D1321"/>
                </a:solidFill>
                <a:latin typeface="Courier New" pitchFamily="34" charset="0"/>
              </a:rPr>
              <a:t>POST /api/chat</a:t>
            </a:r>
          </a:p>
        </p:txBody>
      </p:sp>
      <p:sp>
        <p:nvSpPr>
          <p:cNvPr id="45" name="Text"/>
          <p:cNvSpPr txBox="1"/>
          <p:nvPr/>
        </p:nvSpPr>
        <p:spPr>
          <a:xfrm>
            <a:off x="3440080" y="2352624"/>
            <a:ext cx="8091840" cy="2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dirty="0">
                <a:solidFill>
                  <a:srgbClr val="30363F"/>
                </a:solidFill>
              </a:rPr>
              <a:t>Strukturierte Konversation über ein messages-Array (System-/User-/Assistant-Rollen).</a:t>
            </a:r>
          </a:p>
        </p:txBody>
      </p:sp>
      <p:sp>
        <p:nvSpPr>
          <p:cNvPr id="46" name="Text"/>
          <p:cNvSpPr txBox="1"/>
          <p:nvPr/>
        </p:nvSpPr>
        <p:spPr>
          <a:xfrm>
            <a:off x="620080" y="2632176"/>
            <a:ext cx="2800000" cy="2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b="1" dirty="0">
                <a:solidFill>
                  <a:srgbClr val="0D1321"/>
                </a:solidFill>
                <a:latin typeface="Courier New" pitchFamily="34" charset="0"/>
              </a:rPr>
              <a:t>POST /api/embed</a:t>
            </a:r>
          </a:p>
        </p:txBody>
      </p:sp>
      <p:sp>
        <p:nvSpPr>
          <p:cNvPr id="47" name="Text"/>
          <p:cNvSpPr txBox="1"/>
          <p:nvPr/>
        </p:nvSpPr>
        <p:spPr>
          <a:xfrm>
            <a:off x="3440080" y="2632176"/>
            <a:ext cx="8091840" cy="2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dirty="0">
                <a:solidFill>
                  <a:srgbClr val="30363F"/>
                </a:solidFill>
              </a:rPr>
              <a:t>Erzeugt Vektor-Embeddings aus Text – Basis für eigene Wissensdatenbanken (RAG).</a:t>
            </a:r>
          </a:p>
        </p:txBody>
      </p:sp>
      <p:sp>
        <p:nvSpPr>
          <p:cNvPr id="48" name="Text"/>
          <p:cNvSpPr txBox="1"/>
          <p:nvPr/>
        </p:nvSpPr>
        <p:spPr>
          <a:xfrm>
            <a:off x="620080" y="2911728"/>
            <a:ext cx="1100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50" b="1" spc="100" dirty="0">
                <a:solidFill>
                  <a:srgbClr val="00D9C0"/>
                </a:solidFill>
              </a:rPr>
              <a:t>MODELLVERWALTUNG</a:t>
            </a:r>
          </a:p>
        </p:txBody>
      </p:sp>
      <p:sp>
        <p:nvSpPr>
          <p:cNvPr id="49" name="RowBg2"/>
          <p:cNvSpPr/>
          <p:nvPr/>
        </p:nvSpPr>
        <p:spPr>
          <a:xfrm>
            <a:off x="528640" y="3158616"/>
            <a:ext cx="11094720" cy="279552"/>
          </a:xfrm>
          <a:prstGeom prst="rect">
            <a:avLst/>
          </a:prstGeom>
          <a:solidFill>
            <a:srgbClr val="F2F5FA"/>
          </a:solidFill>
          <a:ln/>
        </p:spPr>
      </p:sp>
      <p:sp>
        <p:nvSpPr>
          <p:cNvPr id="50" name="Text"/>
          <p:cNvSpPr txBox="1"/>
          <p:nvPr/>
        </p:nvSpPr>
        <p:spPr>
          <a:xfrm>
            <a:off x="620080" y="3158616"/>
            <a:ext cx="2800000" cy="2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b="1" dirty="0">
                <a:solidFill>
                  <a:srgbClr val="0D1321"/>
                </a:solidFill>
                <a:latin typeface="Courier New" pitchFamily="34" charset="0"/>
              </a:rPr>
              <a:t>GET /api/tags</a:t>
            </a:r>
          </a:p>
        </p:txBody>
      </p:sp>
      <p:sp>
        <p:nvSpPr>
          <p:cNvPr id="51" name="Text"/>
          <p:cNvSpPr txBox="1"/>
          <p:nvPr/>
        </p:nvSpPr>
        <p:spPr>
          <a:xfrm>
            <a:off x="3440080" y="3158616"/>
            <a:ext cx="8091840" cy="2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dirty="0">
                <a:solidFill>
                  <a:srgbClr val="30363F"/>
                </a:solidFill>
              </a:rPr>
              <a:t>Listet alle lokal installierten, einsatzbereiten Modelle auf.</a:t>
            </a:r>
          </a:p>
        </p:txBody>
      </p:sp>
      <p:sp>
        <p:nvSpPr>
          <p:cNvPr id="52" name="Text"/>
          <p:cNvSpPr txBox="1"/>
          <p:nvPr/>
        </p:nvSpPr>
        <p:spPr>
          <a:xfrm>
            <a:off x="620080" y="3438168"/>
            <a:ext cx="2800000" cy="2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b="1" dirty="0">
                <a:solidFill>
                  <a:srgbClr val="0D1321"/>
                </a:solidFill>
                <a:latin typeface="Courier New" pitchFamily="34" charset="0"/>
              </a:rPr>
              <a:t>POST /api/show</a:t>
            </a:r>
          </a:p>
        </p:txBody>
      </p:sp>
      <p:sp>
        <p:nvSpPr>
          <p:cNvPr id="53" name="Text"/>
          <p:cNvSpPr txBox="1"/>
          <p:nvPr/>
        </p:nvSpPr>
        <p:spPr>
          <a:xfrm>
            <a:off x="3440080" y="3438168"/>
            <a:ext cx="8091840" cy="2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dirty="0">
                <a:solidFill>
                  <a:srgbClr val="30363F"/>
                </a:solidFill>
              </a:rPr>
              <a:t>Zeigt System-Prompt, Lizenz und Architektur eines installierten Modells.</a:t>
            </a:r>
          </a:p>
        </p:txBody>
      </p:sp>
      <p:sp>
        <p:nvSpPr>
          <p:cNvPr id="54" name="RowBg4"/>
          <p:cNvSpPr/>
          <p:nvPr/>
        </p:nvSpPr>
        <p:spPr>
          <a:xfrm>
            <a:off x="528640" y="3717720"/>
            <a:ext cx="11094720" cy="279552"/>
          </a:xfrm>
          <a:prstGeom prst="rect">
            <a:avLst/>
          </a:prstGeom>
          <a:solidFill>
            <a:srgbClr val="F2F5FA"/>
          </a:solidFill>
          <a:ln/>
        </p:spPr>
      </p:sp>
      <p:sp>
        <p:nvSpPr>
          <p:cNvPr id="55" name="Text"/>
          <p:cNvSpPr txBox="1"/>
          <p:nvPr/>
        </p:nvSpPr>
        <p:spPr>
          <a:xfrm>
            <a:off x="620080" y="3717720"/>
            <a:ext cx="2800000" cy="2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b="1" dirty="0">
                <a:solidFill>
                  <a:srgbClr val="0D1321"/>
                </a:solidFill>
                <a:latin typeface="Courier New" pitchFamily="34" charset="0"/>
              </a:rPr>
              <a:t>GET /api/ps</a:t>
            </a:r>
          </a:p>
        </p:txBody>
      </p:sp>
      <p:sp>
        <p:nvSpPr>
          <p:cNvPr id="56" name="Text"/>
          <p:cNvSpPr txBox="1"/>
          <p:nvPr/>
        </p:nvSpPr>
        <p:spPr>
          <a:xfrm>
            <a:off x="3440080" y="3717720"/>
            <a:ext cx="8091840" cy="2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dirty="0">
                <a:solidFill>
                  <a:srgbClr val="30363F"/>
                </a:solidFill>
              </a:rPr>
              <a:t>Zeigt, welche Modelle gerade im RAM/VRAM geladen sind.</a:t>
            </a:r>
          </a:p>
        </p:txBody>
      </p:sp>
      <p:sp>
        <p:nvSpPr>
          <p:cNvPr id="57" name="Text"/>
          <p:cNvSpPr txBox="1"/>
          <p:nvPr/>
        </p:nvSpPr>
        <p:spPr>
          <a:xfrm>
            <a:off x="620080" y="3997272"/>
            <a:ext cx="2800000" cy="2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b="1" dirty="0">
                <a:solidFill>
                  <a:srgbClr val="0D1321"/>
                </a:solidFill>
                <a:latin typeface="Courier New" pitchFamily="34" charset="0"/>
              </a:rPr>
              <a:t>POST /api/pull</a:t>
            </a:r>
          </a:p>
        </p:txBody>
      </p:sp>
      <p:sp>
        <p:nvSpPr>
          <p:cNvPr id="58" name="Text"/>
          <p:cNvSpPr txBox="1"/>
          <p:nvPr/>
        </p:nvSpPr>
        <p:spPr>
          <a:xfrm>
            <a:off x="3440080" y="3997272"/>
            <a:ext cx="8091840" cy="2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dirty="0">
                <a:solidFill>
                  <a:srgbClr val="30363F"/>
                </a:solidFill>
              </a:rPr>
              <a:t>Lädt ein Modell aus der Ollama-Bibliothek im Hintergrund herunter.</a:t>
            </a:r>
          </a:p>
        </p:txBody>
      </p:sp>
      <p:sp>
        <p:nvSpPr>
          <p:cNvPr id="59" name="RowBg6"/>
          <p:cNvSpPr/>
          <p:nvPr/>
        </p:nvSpPr>
        <p:spPr>
          <a:xfrm>
            <a:off x="528640" y="4276824"/>
            <a:ext cx="11094720" cy="279552"/>
          </a:xfrm>
          <a:prstGeom prst="rect">
            <a:avLst/>
          </a:prstGeom>
          <a:solidFill>
            <a:srgbClr val="F2F5FA"/>
          </a:solidFill>
          <a:ln/>
        </p:spPr>
      </p:sp>
      <p:sp>
        <p:nvSpPr>
          <p:cNvPr id="60" name="Text"/>
          <p:cNvSpPr txBox="1"/>
          <p:nvPr/>
        </p:nvSpPr>
        <p:spPr>
          <a:xfrm>
            <a:off x="620080" y="4276824"/>
            <a:ext cx="2800000" cy="2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b="1" dirty="0">
                <a:solidFill>
                  <a:srgbClr val="0D1321"/>
                </a:solidFill>
                <a:latin typeface="Courier New" pitchFamily="34" charset="0"/>
              </a:rPr>
              <a:t>POST /api/push</a:t>
            </a:r>
          </a:p>
        </p:txBody>
      </p:sp>
      <p:sp>
        <p:nvSpPr>
          <p:cNvPr id="61" name="Text"/>
          <p:cNvSpPr txBox="1"/>
          <p:nvPr/>
        </p:nvSpPr>
        <p:spPr>
          <a:xfrm>
            <a:off x="3440080" y="4276824"/>
            <a:ext cx="8091840" cy="2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dirty="0">
                <a:solidFill>
                  <a:srgbClr val="30363F"/>
                </a:solidFill>
              </a:rPr>
              <a:t>Lädt ein selbst erstelltes Modell (Modelfile) in die Bibliothek hoch.</a:t>
            </a:r>
          </a:p>
        </p:txBody>
      </p:sp>
      <p:sp>
        <p:nvSpPr>
          <p:cNvPr id="62" name="Text"/>
          <p:cNvSpPr txBox="1"/>
          <p:nvPr/>
        </p:nvSpPr>
        <p:spPr>
          <a:xfrm>
            <a:off x="620080" y="4556376"/>
            <a:ext cx="2800000" cy="2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b="1" dirty="0">
                <a:solidFill>
                  <a:srgbClr val="0D1321"/>
                </a:solidFill>
                <a:latin typeface="Courier New" pitchFamily="34" charset="0"/>
              </a:rPr>
              <a:t>POST /api/create</a:t>
            </a:r>
          </a:p>
        </p:txBody>
      </p:sp>
      <p:sp>
        <p:nvSpPr>
          <p:cNvPr id="63" name="Text"/>
          <p:cNvSpPr txBox="1"/>
          <p:nvPr/>
        </p:nvSpPr>
        <p:spPr>
          <a:xfrm>
            <a:off x="3440080" y="4556376"/>
            <a:ext cx="8091840" cy="2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dirty="0">
                <a:solidFill>
                  <a:srgbClr val="30363F"/>
                </a:solidFill>
              </a:rPr>
              <a:t>Erstellt ein neues Modell aus einem lokalen Modelfile.</a:t>
            </a:r>
          </a:p>
        </p:txBody>
      </p:sp>
      <p:sp>
        <p:nvSpPr>
          <p:cNvPr id="64" name="RowBg8"/>
          <p:cNvSpPr/>
          <p:nvPr/>
        </p:nvSpPr>
        <p:spPr>
          <a:xfrm>
            <a:off x="528640" y="4835928"/>
            <a:ext cx="11094720" cy="279552"/>
          </a:xfrm>
          <a:prstGeom prst="rect">
            <a:avLst/>
          </a:prstGeom>
          <a:solidFill>
            <a:srgbClr val="F2F5FA"/>
          </a:solidFill>
          <a:ln/>
        </p:spPr>
      </p:sp>
      <p:sp>
        <p:nvSpPr>
          <p:cNvPr id="65" name="Text"/>
          <p:cNvSpPr txBox="1"/>
          <p:nvPr/>
        </p:nvSpPr>
        <p:spPr>
          <a:xfrm>
            <a:off x="620080" y="4835928"/>
            <a:ext cx="2800000" cy="2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b="1" dirty="0">
                <a:solidFill>
                  <a:srgbClr val="0D1321"/>
                </a:solidFill>
                <a:latin typeface="Courier New" pitchFamily="34" charset="0"/>
              </a:rPr>
              <a:t>POST /api/copy</a:t>
            </a:r>
          </a:p>
        </p:txBody>
      </p:sp>
      <p:sp>
        <p:nvSpPr>
          <p:cNvPr id="66" name="Text"/>
          <p:cNvSpPr txBox="1"/>
          <p:nvPr/>
        </p:nvSpPr>
        <p:spPr>
          <a:xfrm>
            <a:off x="3440080" y="4835928"/>
            <a:ext cx="8091840" cy="2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dirty="0">
                <a:solidFill>
                  <a:srgbClr val="30363F"/>
                </a:solidFill>
              </a:rPr>
              <a:t>Dupliziert ein lokales Modell unter neuem Namen.</a:t>
            </a:r>
          </a:p>
        </p:txBody>
      </p:sp>
      <p:sp>
        <p:nvSpPr>
          <p:cNvPr id="67" name="Text"/>
          <p:cNvSpPr txBox="1"/>
          <p:nvPr/>
        </p:nvSpPr>
        <p:spPr>
          <a:xfrm>
            <a:off x="620080" y="5115480"/>
            <a:ext cx="2800000" cy="2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b="1" dirty="0">
                <a:solidFill>
                  <a:srgbClr val="0D1321"/>
                </a:solidFill>
                <a:latin typeface="Courier New" pitchFamily="34" charset="0"/>
              </a:rPr>
              <a:t>DELETE /api/delete</a:t>
            </a:r>
          </a:p>
        </p:txBody>
      </p:sp>
      <p:sp>
        <p:nvSpPr>
          <p:cNvPr id="68" name="Text"/>
          <p:cNvSpPr txBox="1"/>
          <p:nvPr/>
        </p:nvSpPr>
        <p:spPr>
          <a:xfrm>
            <a:off x="3440080" y="5115480"/>
            <a:ext cx="8091840" cy="2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dirty="0">
                <a:solidFill>
                  <a:srgbClr val="30363F"/>
                </a:solidFill>
              </a:rPr>
              <a:t>Löscht ein lokales Modell und gibt Festplattenplatz frei.</a:t>
            </a:r>
          </a:p>
        </p:txBody>
      </p:sp>
      <p:sp>
        <p:nvSpPr>
          <p:cNvPr id="69" name="Text"/>
          <p:cNvSpPr txBox="1"/>
          <p:nvPr/>
        </p:nvSpPr>
        <p:spPr>
          <a:xfrm>
            <a:off x="620080" y="5395032"/>
            <a:ext cx="1100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50" b="1" spc="100" dirty="0">
                <a:solidFill>
                  <a:srgbClr val="9AA3C0"/>
                </a:solidFill>
              </a:rPr>
              <a:t>OPENAI-KOMPATIBILITÄT (/v1/*)</a:t>
            </a:r>
          </a:p>
        </p:txBody>
      </p:sp>
      <p:sp>
        <p:nvSpPr>
          <p:cNvPr id="70" name="RowBg10"/>
          <p:cNvSpPr/>
          <p:nvPr/>
        </p:nvSpPr>
        <p:spPr>
          <a:xfrm>
            <a:off x="528640" y="5641920"/>
            <a:ext cx="11094720" cy="279552"/>
          </a:xfrm>
          <a:prstGeom prst="rect">
            <a:avLst/>
          </a:prstGeom>
          <a:solidFill>
            <a:srgbClr val="F2F5FA"/>
          </a:solidFill>
          <a:ln/>
        </p:spPr>
      </p:sp>
      <p:sp>
        <p:nvSpPr>
          <p:cNvPr id="71" name="Text"/>
          <p:cNvSpPr txBox="1"/>
          <p:nvPr/>
        </p:nvSpPr>
        <p:spPr>
          <a:xfrm>
            <a:off x="620080" y="5641920"/>
            <a:ext cx="2800000" cy="2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b="1" dirty="0">
                <a:solidFill>
                  <a:srgbClr val="0D1321"/>
                </a:solidFill>
                <a:latin typeface="Courier New" pitchFamily="34" charset="0"/>
              </a:rPr>
              <a:t>POST /v1/chat/completions</a:t>
            </a:r>
          </a:p>
        </p:txBody>
      </p:sp>
      <p:sp>
        <p:nvSpPr>
          <p:cNvPr id="72" name="Text"/>
          <p:cNvSpPr txBox="1"/>
          <p:nvPr/>
        </p:nvSpPr>
        <p:spPr>
          <a:xfrm>
            <a:off x="3440080" y="5641920"/>
            <a:ext cx="8091840" cy="2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dirty="0">
                <a:solidFill>
                  <a:srgbClr val="30363F"/>
                </a:solidFill>
              </a:rPr>
              <a:t>Verhält sich exakt wie die OpenAI-Chat-API – bestehende Tools laufen ohne Codeänderung.</a:t>
            </a:r>
          </a:p>
        </p:txBody>
      </p:sp>
      <p:sp>
        <p:nvSpPr>
          <p:cNvPr id="73" name="Text"/>
          <p:cNvSpPr txBox="1"/>
          <p:nvPr/>
        </p:nvSpPr>
        <p:spPr>
          <a:xfrm>
            <a:off x="620080" y="5921472"/>
            <a:ext cx="2800000" cy="2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b="1" dirty="0">
                <a:solidFill>
                  <a:srgbClr val="0D1321"/>
                </a:solidFill>
                <a:latin typeface="Courier New" pitchFamily="34" charset="0"/>
              </a:rPr>
              <a:t>POST /v1/embeddings</a:t>
            </a:r>
          </a:p>
        </p:txBody>
      </p:sp>
      <p:sp>
        <p:nvSpPr>
          <p:cNvPr id="74" name="Text"/>
          <p:cNvSpPr txBox="1"/>
          <p:nvPr/>
        </p:nvSpPr>
        <p:spPr>
          <a:xfrm>
            <a:off x="3440080" y="5921472"/>
            <a:ext cx="8091840" cy="2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dirty="0">
                <a:solidFill>
                  <a:srgbClr val="30363F"/>
                </a:solidFill>
              </a:rPr>
              <a:t>OpenAI-kompatibler Embedding-Endpunkt, gleiche Request-/Response-Struktur.</a:t>
            </a:r>
          </a:p>
        </p:txBody>
      </p:sp>
      <p:sp>
        <p:nvSpPr>
          <p:cNvPr id="75" name="RowBg12"/>
          <p:cNvSpPr/>
          <p:nvPr/>
        </p:nvSpPr>
        <p:spPr>
          <a:xfrm>
            <a:off x="528640" y="6201024"/>
            <a:ext cx="11094720" cy="279552"/>
          </a:xfrm>
          <a:prstGeom prst="rect">
            <a:avLst/>
          </a:prstGeom>
          <a:solidFill>
            <a:srgbClr val="F2F5FA"/>
          </a:solidFill>
          <a:ln/>
        </p:spPr>
      </p:sp>
      <p:sp>
        <p:nvSpPr>
          <p:cNvPr id="76" name="Text"/>
          <p:cNvSpPr txBox="1"/>
          <p:nvPr/>
        </p:nvSpPr>
        <p:spPr>
          <a:xfrm>
            <a:off x="620080" y="6201024"/>
            <a:ext cx="2800000" cy="2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b="1" dirty="0">
                <a:solidFill>
                  <a:srgbClr val="0D1321"/>
                </a:solidFill>
                <a:latin typeface="Courier New" pitchFamily="34" charset="0"/>
              </a:rPr>
              <a:t>GET /v1/models</a:t>
            </a:r>
          </a:p>
        </p:txBody>
      </p:sp>
      <p:sp>
        <p:nvSpPr>
          <p:cNvPr id="77" name="Text"/>
          <p:cNvSpPr txBox="1"/>
          <p:nvPr/>
        </p:nvSpPr>
        <p:spPr>
          <a:xfrm>
            <a:off x="3440080" y="6201024"/>
            <a:ext cx="8091840" cy="2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dirty="0">
                <a:solidFill>
                  <a:srgbClr val="30363F"/>
                </a:solidFill>
              </a:rPr>
              <a:t>Listet die lokalen Modelle im OpenAI-Format auf.</a:t>
            </a:r>
          </a:p>
        </p:txBody>
      </p:sp>
      <p:sp>
        <p:nvSpPr>
          <p:cNvPr id="78" name="Text 8"/>
          <p:cNvSpPr txBox="1"/>
          <p:nvPr/>
        </p:nvSpPr>
        <p:spPr>
          <a:xfrm>
            <a:off x="11274552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9509028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3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00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2 VON 4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78308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Verständnis der Verarbeitung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40080" y="2880360"/>
            <a:ext cx="2377440" cy="0"/>
          </a:xfrm>
          <a:prstGeom prst="line">
            <a:avLst/>
          </a:prstGeom>
          <a:noFill/>
          <a:ln w="25400">
            <a:solidFill>
              <a:srgbClr val="00D9C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3246120"/>
            <a:ext cx="420624" cy="420624"/>
          </a:xfrm>
          <a:prstGeom prst="ellipse">
            <a:avLst/>
          </a:prstGeom>
          <a:solidFill>
            <a:srgbClr val="17213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32461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D9C0"/>
                </a:solidFill>
                <a:latin typeface="Arial" pitchFamily="34" charset="0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32278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4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Kontextfenster: Wie viel Text passt gleichzeitig hinein?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813048"/>
            <a:ext cx="420624" cy="420624"/>
          </a:xfrm>
          <a:prstGeom prst="ellipse">
            <a:avLst/>
          </a:prstGeom>
          <a:solidFill>
            <a:srgbClr val="17213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71779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D9C0"/>
                </a:solidFill>
                <a:latin typeface="Arial" pitchFamily="34" charset="0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670935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>
                <a:solidFill>
                  <a:schemeClr val="bg1">
                    <a:lumMod val="95000"/>
                  </a:schemeClr>
                </a:solidFill>
                <a:ea typeface="Arial" pitchFamily="34" charset="-122"/>
                <a:cs typeface="Arial" pitchFamily="34" charset="-120"/>
              </a:rPr>
              <a:t>Praxistest: Ein Geheimwort am Ende eines langen Textes</a:t>
            </a:r>
            <a:endParaRPr lang="en-US" sz="15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1" name="Shape 9"/>
          <p:cNvSpPr/>
          <p:nvPr/>
        </p:nvSpPr>
        <p:spPr>
          <a:xfrm>
            <a:off x="640080" y="4379976"/>
            <a:ext cx="420624" cy="420624"/>
          </a:xfrm>
          <a:prstGeom prst="ellipse">
            <a:avLst/>
          </a:prstGeom>
          <a:solidFill>
            <a:srgbClr val="17213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30555" y="4160901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D9C0"/>
                </a:solidFill>
                <a:latin typeface="Arial" pitchFamily="34" charset="0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4123563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>
                <a:solidFill>
                  <a:schemeClr val="bg1">
                    <a:lumMod val="95000"/>
                  </a:schemeClr>
                </a:solidFill>
                <a:ea typeface="Arial" pitchFamily="34" charset="-122"/>
                <a:cs typeface="Arial" pitchFamily="34" charset="-120"/>
              </a:rPr>
              <a:t>CPU, RAM, VRAM, iGPU, NPU – die Hardware hinter der KI</a:t>
            </a:r>
            <a:endParaRPr lang="en-US" sz="16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4" name="Shape 12"/>
          <p:cNvSpPr/>
          <p:nvPr/>
        </p:nvSpPr>
        <p:spPr>
          <a:xfrm>
            <a:off x="9052560" y="4480560"/>
            <a:ext cx="2743200" cy="1828800"/>
          </a:xfrm>
          <a:prstGeom prst="roundRect">
            <a:avLst>
              <a:gd name="adj" fmla="val 6000"/>
            </a:avLst>
          </a:prstGeom>
          <a:solidFill>
            <a:srgbClr val="17213D"/>
          </a:solidFill>
          <a:ln w="12700">
            <a:solidFill>
              <a:srgbClr val="00D9C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464040" y="4160520"/>
            <a:ext cx="0" cy="36576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464040" y="6263640"/>
            <a:ext cx="0" cy="41148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012680" y="4160520"/>
            <a:ext cx="0" cy="36576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012680" y="6263640"/>
            <a:ext cx="0" cy="41148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561320" y="4160520"/>
            <a:ext cx="0" cy="36576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561320" y="6263640"/>
            <a:ext cx="0" cy="41148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109960" y="4160520"/>
            <a:ext cx="0" cy="36576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109960" y="6263640"/>
            <a:ext cx="0" cy="41148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464040" y="4800600"/>
            <a:ext cx="1920240" cy="1188720"/>
          </a:xfrm>
          <a:prstGeom prst="roundRect">
            <a:avLst>
              <a:gd name="adj" fmla="val 4615"/>
            </a:avLst>
          </a:prstGeom>
          <a:solidFill>
            <a:srgbClr val="121A33"/>
          </a:solidFill>
          <a:ln w="9525">
            <a:solidFill>
              <a:srgbClr val="00D9C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464040" y="480060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iGPU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PERFORMANCE TUNING · iGPU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1274552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27" name="Text 10"/>
          <p:cNvSpPr txBox="1"/>
          <p:nvPr/>
        </p:nvSpPr>
        <p:spPr>
          <a:xfrm>
            <a:off x="620268" y="460933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D9C0"/>
                </a:solidFill>
                <a:latin typeface="Arial" pitchFamily="34" charset="0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Text 11"/>
          <p:cNvSpPr txBox="1"/>
          <p:nvPr/>
        </p:nvSpPr>
        <p:spPr>
          <a:xfrm>
            <a:off x="1253490" y="4589526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4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NVIDIA-GPU vs. Apple Silicon vs. AMD-iGPU</a:t>
            </a:r>
            <a:endParaRPr lang="en-US" sz="1500" dirty="0"/>
          </a:p>
        </p:txBody>
      </p:sp>
      <p:sp>
        <p:nvSpPr>
          <p:cNvPr id="29" name="Text 10"/>
          <p:cNvSpPr txBox="1"/>
          <p:nvPr/>
        </p:nvSpPr>
        <p:spPr>
          <a:xfrm>
            <a:off x="611505" y="5056251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D9C0"/>
                </a:solidFill>
                <a:latin typeface="Arial" pitchFamily="34" charset="0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0" name="Text 11"/>
          <p:cNvSpPr txBox="1"/>
          <p:nvPr/>
        </p:nvSpPr>
        <p:spPr>
          <a:xfrm>
            <a:off x="1253490" y="502920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500">
                <a:solidFill>
                  <a:schemeClr val="bg1">
                    <a:lumMod val="95000"/>
                  </a:schemeClr>
                </a:solidFill>
              </a:rPr>
              <a:t>Speicherbandbreite</a:t>
            </a:r>
            <a:r>
              <a:rPr lang="en-US" sz="1500">
                <a:solidFill>
                  <a:schemeClr val="bg1">
                    <a:lumMod val="95000"/>
                  </a:schemeClr>
                </a:solidFill>
                <a:ea typeface="Arial" pitchFamily="34" charset="-122"/>
                <a:cs typeface="Arial" pitchFamily="34" charset="-120"/>
              </a:rPr>
              <a:t> als Flaschenhals</a:t>
            </a:r>
            <a:endParaRPr lang="en-US" sz="1500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smtClean="0">
                <a:solidFill>
                  <a:srgbClr val="00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</a:t>
            </a:r>
            <a:r>
              <a:rPr lang="en-US" sz="1300" b="1" kern="0" spc="200" dirty="0">
                <a:solidFill>
                  <a:srgbClr val="00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VERARBEITUNG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Kontextfenster: Wie viel Text passt gleichzeitig hinein?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„Context Length“ legt fest, wie viele Tokens die KI gleichzeitig „im Blick“ hat. Ollama wählt sie automatisch anhand des </a:t>
            </a:r>
            <a:r>
              <a:rPr lang="en-US" sz="135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verfügbaren </a:t>
            </a:r>
            <a:r>
              <a:rPr lang="en-US" sz="1350" smtClean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VRAM </a:t>
            </a:r>
          </a:p>
          <a:p>
            <a:pPr marL="0" indent="0">
              <a:buNone/>
            </a:pPr>
            <a:r>
              <a:rPr lang="en-US" sz="1350" smtClean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Abhängigkeit von der Modellgröße, Quantisierung, Token-to-Wort-Verhältnis und KV-Cache.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3520440" cy="2468880"/>
          </a:xfrm>
          <a:prstGeom prst="roundRect">
            <a:avLst>
              <a:gd name="adj" fmla="val 3704"/>
            </a:avLst>
          </a:prstGeom>
          <a:solidFill>
            <a:srgbClr val="F2F5F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23774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</a:t>
            </a:r>
            <a:r>
              <a:rPr lang="en-US" sz="1250" b="1" smtClean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GB </a:t>
            </a:r>
            <a:r>
              <a:rPr lang="en-US" sz="125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VRAM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83464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4k Kontext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61188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3.000 Wörter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97680" y="2139315"/>
            <a:ext cx="3520440" cy="2468880"/>
          </a:xfrm>
          <a:prstGeom prst="roundRect">
            <a:avLst>
              <a:gd name="adj" fmla="val 3704"/>
            </a:avLst>
          </a:prstGeom>
          <a:solidFill>
            <a:srgbClr val="F2F5F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26280" y="23774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smtClean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26–52 GB </a:t>
            </a:r>
            <a:r>
              <a:rPr lang="en-US" sz="125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VRAM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526280" y="283464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32k Kontext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361188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deutlich mehr Spielraum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46720" y="2148840"/>
            <a:ext cx="3520440" cy="2468880"/>
          </a:xfrm>
          <a:prstGeom prst="roundRect">
            <a:avLst>
              <a:gd name="adj" fmla="val 3704"/>
            </a:avLst>
          </a:prstGeom>
          <a:solidFill>
            <a:srgbClr val="0D132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75320" y="23774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00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</a:t>
            </a:r>
            <a:r>
              <a:rPr lang="en-US" sz="1250" b="1" smtClean="0">
                <a:solidFill>
                  <a:srgbClr val="00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 GB </a:t>
            </a:r>
            <a:r>
              <a:rPr lang="en-US" sz="1250" b="1" dirty="0">
                <a:solidFill>
                  <a:srgbClr val="00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VRAM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275320" y="283464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256k Kontext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8275320" y="361188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ganze Dokumente auf einmal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4846320"/>
            <a:ext cx="11064240" cy="1371600"/>
          </a:xfrm>
          <a:prstGeom prst="roundRect">
            <a:avLst>
              <a:gd name="adj" fmla="val 6667"/>
            </a:avLst>
          </a:prstGeom>
          <a:solidFill>
            <a:srgbClr val="E7ECF5"/>
          </a:solidFill>
          <a:ln/>
        </p:spPr>
      </p:sp>
      <p:sp>
        <p:nvSpPr>
          <p:cNvPr id="18" name="Shape 16"/>
          <p:cNvSpPr/>
          <p:nvPr/>
        </p:nvSpPr>
        <p:spPr>
          <a:xfrm>
            <a:off x="822960" y="5266182"/>
            <a:ext cx="502920" cy="502920"/>
          </a:xfrm>
          <a:prstGeom prst="ellipse">
            <a:avLst/>
          </a:prstGeom>
          <a:solidFill>
            <a:srgbClr val="0D132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13435" y="526618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D9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1554480" y="5050155"/>
            <a:ext cx="9692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D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Faustregel: Ein Token entspricht im Durchschnitt etwa 4 Zeichen oder drei Viertel eines Wortes.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PERFORMANCE TUNING · iGPU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1274552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smtClean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smtClean="0">
                <a:solidFill>
                  <a:srgbClr val="00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</a:t>
            </a:r>
            <a:r>
              <a:rPr lang="en-US" sz="1300" b="1" kern="0" spc="200" dirty="0">
                <a:solidFill>
                  <a:srgbClr val="00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VERARBEITUNG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Praxistest: Ein Geheimwort am Ende eines langen Textes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62074"/>
            <a:ext cx="10607040" cy="329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Testtext mit einem versteckten Codewort ganz am Ende prüft, ob die KI wirklich den kompletten Kontext verarbeitet.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762125"/>
            <a:ext cx="7040880" cy="4501515"/>
          </a:xfrm>
          <a:prstGeom prst="roundRect">
            <a:avLst>
              <a:gd name="adj" fmla="val 1758"/>
            </a:avLst>
          </a:prstGeom>
          <a:solidFill>
            <a:srgbClr val="0A0E1A"/>
          </a:solidFill>
          <a:ln/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94944" y="1916811"/>
            <a:ext cx="91440" cy="91440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7" name="Shape 5"/>
          <p:cNvSpPr/>
          <p:nvPr/>
        </p:nvSpPr>
        <p:spPr>
          <a:xfrm>
            <a:off x="896112" y="1916811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8" name="Shape 6"/>
          <p:cNvSpPr/>
          <p:nvPr/>
        </p:nvSpPr>
        <p:spPr>
          <a:xfrm>
            <a:off x="1097280" y="1916811"/>
            <a:ext cx="91440" cy="91440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2174367"/>
            <a:ext cx="6638544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A93B5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# Schritt 1: kurzer Text (60 Zeilen) + Codewort</a:t>
            </a:r>
            <a:endParaRPr lang="en-US" sz="1100" dirty="0">
              <a:latin typeface="Consolas" panose="020B0609020204030204" pitchFamily="49" charset="0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110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yes </a:t>
            </a:r>
            <a:r>
              <a:rPr lang="en-US" sz="1100" smtClean="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“This is a long text for the AI test" </a:t>
            </a:r>
            <a:r>
              <a:rPr lang="en-US" sz="1100" dirty="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| head -n 60 </a:t>
            </a:r>
            <a:r>
              <a:rPr lang="en-US" sz="110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&gt; </a:t>
            </a:r>
            <a:r>
              <a:rPr lang="en-US" sz="1100" smtClean="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ki-test.txt</a:t>
            </a:r>
            <a:endParaRPr lang="en-US" sz="1100" dirty="0">
              <a:solidFill>
                <a:srgbClr val="00D9C0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$ echo "GEHEIMWORT: ANANASSAFT" &gt;&gt; ki-test.txt</a:t>
            </a:r>
            <a:endParaRPr lang="en-US" sz="1100" dirty="0">
              <a:solidFill>
                <a:srgbClr val="00D9C0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10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1100" smtClean="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docker exec –it ollama_container ollama run llama3.1:8b “Lies den follgenden Text aufmerksam durch. Ganz am Ende steht ein geheimes Codewort nach dem Wort ‘GEHEIMWORT:’. Nenne mir nur dieses eine Codewort und absolut nichts anderes! Hier ist der Text: $(cat ki-test.txt)” --verbose</a:t>
            </a:r>
            <a:endParaRPr lang="en-US" sz="1100" dirty="0">
              <a:solidFill>
                <a:srgbClr val="00D9C0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ANANASSAFT</a:t>
            </a:r>
            <a:endParaRPr lang="en-US" sz="1100" dirty="0">
              <a:solidFill>
                <a:srgbClr val="00D9C0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15000"/>
              </a:lnSpc>
              <a:buNone/>
            </a:pPr>
            <a:endParaRPr lang="en-US" sz="1100" dirty="0">
              <a:latin typeface="Consolas" panose="020B0609020204030204" pitchFamily="49" charset="0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A93B5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# Schritt 2: gleicher Test mit 600 Zeilen</a:t>
            </a:r>
            <a:endParaRPr lang="en-US" sz="1100" dirty="0">
              <a:latin typeface="Consolas" panose="020B0609020204030204" pitchFamily="49" charset="0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$ yes "...Testtext..." | head -n 600 &gt; ki-test.txt</a:t>
            </a:r>
            <a:endParaRPr lang="en-US" sz="1100" dirty="0">
              <a:solidFill>
                <a:srgbClr val="00D9C0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$ echo "GEHEIMWORT: ANANASSAFT" &gt;&gt; ki-test.txt</a:t>
            </a:r>
            <a:endParaRPr lang="en-US" sz="1100" dirty="0">
              <a:solidFill>
                <a:srgbClr val="00D9C0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$ ollama run llama3.2:latest "..." --verbose</a:t>
            </a:r>
            <a:endParaRPr lang="en-US" sz="1100" dirty="0">
              <a:solidFill>
                <a:srgbClr val="00D9C0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A93B5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# Standardkontext (4k) reicht nicht mehr zuverlässig</a:t>
            </a:r>
            <a:endParaRPr lang="en-US" sz="1100" dirty="0">
              <a:latin typeface="Consolas" panose="020B0609020204030204" pitchFamily="49" charset="0"/>
            </a:endParaRPr>
          </a:p>
          <a:p>
            <a:pPr marL="0" indent="0">
              <a:lnSpc>
                <a:spcPct val="115000"/>
              </a:lnSpc>
              <a:buNone/>
            </a:pPr>
            <a:endParaRPr lang="en-US" sz="1100" dirty="0">
              <a:latin typeface="Consolas" panose="020B0609020204030204" pitchFamily="49" charset="0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A93B5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# Schritt 3: Kontext auf 16k erhöhen</a:t>
            </a:r>
            <a:endParaRPr lang="en-US" sz="1100" dirty="0">
              <a:latin typeface="Consolas" panose="020B0609020204030204" pitchFamily="49" charset="0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docker-compose.yml:</a:t>
            </a:r>
            <a:endParaRPr lang="en-US" sz="1100" dirty="0">
              <a:solidFill>
                <a:srgbClr val="00D9C0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  OLLAMA_CONTEXT_LENGTH=16384</a:t>
            </a:r>
            <a:endParaRPr lang="en-US" sz="1100" dirty="0">
              <a:solidFill>
                <a:srgbClr val="00D9C0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$ docker compose up -d --force-recreate ollama</a:t>
            </a:r>
            <a:endParaRPr lang="en-US" sz="1100" dirty="0">
              <a:solidFill>
                <a:srgbClr val="00D9C0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A93B5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# -&gt; Codewort wird wieder zuverlässig gefunden</a:t>
            </a:r>
            <a:endParaRPr lang="en-US" sz="1100" dirty="0">
              <a:latin typeface="Consolas" panose="020B0609020204030204" pitchFamily="49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7818120" y="1762125"/>
            <a:ext cx="3794760" cy="4501515"/>
          </a:xfrm>
          <a:prstGeom prst="roundRect">
            <a:avLst>
              <a:gd name="adj" fmla="val 2410"/>
            </a:avLst>
          </a:prstGeom>
          <a:solidFill>
            <a:srgbClr val="0D132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092440" y="23317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9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zeigt der Test?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092440" y="2788920"/>
            <a:ext cx="3291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D7D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 kurzen Texten liefert schon der Standardkontext (4k) zuverlässig das richtige Codewort.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092440" y="3931920"/>
            <a:ext cx="3200400" cy="0"/>
          </a:xfrm>
          <a:prstGeom prst="line">
            <a:avLst/>
          </a:prstGeom>
          <a:noFill/>
          <a:ln w="12700">
            <a:solidFill>
              <a:srgbClr val="2A365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92440" y="4114800"/>
            <a:ext cx="3291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D7D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Wächst der Text über die eingestellte Kontextgröße hinaus, muss diese aktiv erhöht werden – sonst gehen Informationen am Anfang des Textes verloren.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PERFORMANCE TUNING · iGPU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1274552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smtClean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smtClean="0">
                <a:solidFill>
                  <a:srgbClr val="00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</a:t>
            </a:r>
            <a:r>
              <a:rPr lang="en-US" sz="1300" b="1" kern="0" spc="200" dirty="0">
                <a:solidFill>
                  <a:srgbClr val="00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VERARBEITUNG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CPU, RAM</a:t>
            </a:r>
            <a:r>
              <a:rPr lang="en-US" sz="3000" b="1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r>
              <a:rPr lang="en-US" sz="3000" b="1" smtClean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VRAM, iGPU, NPU </a:t>
            </a:r>
            <a:r>
              <a:rPr lang="en-US" sz="30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die Hardware hinter der KI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95425"/>
            <a:ext cx="5257800" cy="2471616"/>
          </a:xfrm>
          <a:prstGeom prst="roundRect">
            <a:avLst>
              <a:gd name="adj" fmla="val 5128"/>
            </a:avLst>
          </a:prstGeom>
          <a:solidFill>
            <a:srgbClr val="F2F5FA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724025"/>
            <a:ext cx="502920" cy="502920"/>
          </a:xfrm>
          <a:prstGeom prst="ellipse">
            <a:avLst/>
          </a:prstGeom>
          <a:solidFill>
            <a:srgbClr val="FF6B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724025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1678305"/>
            <a:ext cx="4114800" cy="6318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21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Wenige, vielseitige Kerne – rechnet sequenziell und ist für die riesigen Matrixmultiplikationen einer KI vergleichsweise langsam.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17245" y="2430585"/>
            <a:ext cx="502920" cy="502920"/>
          </a:xfrm>
          <a:prstGeom prst="ellipse">
            <a:avLst/>
          </a:prstGeom>
          <a:solidFill>
            <a:srgbClr val="0D132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17245" y="2430585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D9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1508760" y="2452810"/>
            <a:ext cx="4114800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21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Tausende einfache, </a:t>
            </a:r>
            <a:r>
              <a:rPr lang="en-US" sz="1250">
                <a:solidFill>
                  <a:srgbClr val="121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parallele </a:t>
            </a:r>
            <a:r>
              <a:rPr lang="en-US" sz="1250" smtClean="0">
                <a:solidFill>
                  <a:srgbClr val="121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Rechenkerne </a:t>
            </a:r>
            <a:r>
              <a:rPr lang="en-US" sz="1250" dirty="0">
                <a:solidFill>
                  <a:srgbClr val="121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ideal für genau die Matrixoperationen, aus denen ein Sprachmodell besteht.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571500" y="5463099"/>
            <a:ext cx="5257800" cy="10347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iGPU-Sonderfall: AMD-CPUs, die auf G, U, HS oder H enden (sowie fast alle Notebook-CPUs), haben eine integrierte GPU. Bei Intel gilt das für fast alle Modelle – außer bei einem „F“ im Namen (z. B. i5-12400F).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1466165"/>
            <a:ext cx="5445603" cy="2134285"/>
          </a:xfrm>
          <a:prstGeom prst="roundRect">
            <a:avLst>
              <a:gd name="adj" fmla="val 4211"/>
            </a:avLst>
          </a:prstGeom>
          <a:solidFill>
            <a:srgbClr val="0A0E1A"/>
          </a:solidFill>
          <a:ln/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231987" y="1603716"/>
            <a:ext cx="91440" cy="91440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15" name="Shape 13"/>
          <p:cNvSpPr/>
          <p:nvPr/>
        </p:nvSpPr>
        <p:spPr>
          <a:xfrm>
            <a:off x="6433155" y="1603716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16" name="Shape 14"/>
          <p:cNvSpPr/>
          <p:nvPr/>
        </p:nvSpPr>
        <p:spPr>
          <a:xfrm>
            <a:off x="6634323" y="1603716"/>
            <a:ext cx="91440" cy="91440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286851" y="1812386"/>
            <a:ext cx="52852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$ lscpu | grep "Model name"</a:t>
            </a:r>
            <a:endParaRPr lang="en-US" sz="1200" dirty="0">
              <a:solidFill>
                <a:srgbClr val="00D9C0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Model name: AMD Ryzen 7 5825U with </a:t>
            </a:r>
            <a:r>
              <a:rPr lang="en-US" sz="120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Radeon </a:t>
            </a:r>
            <a:r>
              <a:rPr lang="en-US" sz="1200" smtClean="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Graphics</a:t>
            </a:r>
          </a:p>
          <a:p>
            <a:pPr marL="0" indent="0">
              <a:lnSpc>
                <a:spcPct val="115000"/>
              </a:lnSpc>
              <a:buNone/>
            </a:pPr>
            <a:endParaRPr lang="en-US" sz="1200" dirty="0">
              <a:solidFill>
                <a:srgbClr val="00D9C0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$ sudo dmesg | grep -i -E "vram|gtt"</a:t>
            </a:r>
            <a:endParaRPr lang="en-US" sz="1200" dirty="0">
              <a:solidFill>
                <a:srgbClr val="00D9C0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VRAM: 512M ready   |   GTT: 15755M (≈15,4 GB</a:t>
            </a:r>
            <a:r>
              <a:rPr lang="en-US" sz="120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) </a:t>
            </a:r>
            <a:r>
              <a:rPr lang="en-US" sz="1200" smtClean="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ready</a:t>
            </a:r>
          </a:p>
          <a:p>
            <a:pPr marL="0" indent="0">
              <a:lnSpc>
                <a:spcPct val="115000"/>
              </a:lnSpc>
              <a:buNone/>
            </a:pPr>
            <a:endParaRPr lang="en-US" sz="1200" dirty="0">
              <a:solidFill>
                <a:schemeClr val="bg2"/>
              </a:solidFill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GTT = Graphics Translation Table: RAM-Anteil, den</a:t>
            </a:r>
            <a:endParaRPr lang="en-US" sz="1200" dirty="0">
              <a:solidFill>
                <a:schemeClr val="bg2">
                  <a:lumMod val="50000"/>
                </a:schemeClr>
              </a:solidFill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sich die iGPU zusätzlich zum kleinen VRAM leihen darf</a:t>
            </a:r>
            <a:endParaRPr lang="en-US" sz="12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18" name="Text 1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PERFORMANCE TUNING · iGPU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1274552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smtClean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35040" y="3699362"/>
            <a:ext cx="5433581" cy="28385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Shape 7"/>
          <p:cNvSpPr/>
          <p:nvPr/>
        </p:nvSpPr>
        <p:spPr>
          <a:xfrm>
            <a:off x="817830" y="3078234"/>
            <a:ext cx="502920" cy="502920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/>
        </p:spPr>
      </p:sp>
      <p:sp>
        <p:nvSpPr>
          <p:cNvPr id="22" name="Text 8"/>
          <p:cNvSpPr txBox="1"/>
          <p:nvPr/>
        </p:nvSpPr>
        <p:spPr>
          <a:xfrm>
            <a:off x="823935" y="30916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r>
              <a:rPr lang="en-US" sz="1000" b="1" smtClean="0">
                <a:latin typeface="Arial" pitchFamily="34" charset="0"/>
                <a:ea typeface="Arial" pitchFamily="34" charset="-122"/>
                <a:cs typeface="Arial" pitchFamily="34" charset="-120"/>
              </a:rPr>
              <a:t>PU</a:t>
            </a:r>
            <a:endParaRPr lang="en-US" sz="1000" dirty="0"/>
          </a:p>
        </p:txBody>
      </p:sp>
      <p:sp>
        <p:nvSpPr>
          <p:cNvPr id="23" name="Text 9"/>
          <p:cNvSpPr txBox="1"/>
          <p:nvPr/>
        </p:nvSpPr>
        <p:spPr>
          <a:xfrm>
            <a:off x="1508760" y="3077257"/>
            <a:ext cx="4114800" cy="588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de-DE" sz="1250">
                <a:solidFill>
                  <a:srgbClr val="121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Hochspezialisierte, fest verdrahtete Rechenschaltkreise – führt Matrixoperationen extrem parallel und direkt auf der Hardware aus.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smtClean="0">
                <a:solidFill>
                  <a:srgbClr val="00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</a:t>
            </a:r>
            <a:r>
              <a:rPr lang="en-US" sz="1300" b="1" kern="0" spc="200" dirty="0">
                <a:solidFill>
                  <a:srgbClr val="00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VERARBEITUNG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NVIDIA-GPU vs. Apple Silicon vs. AMD-iGPU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880360" y="1691640"/>
            <a:ext cx="3108960" cy="502920"/>
          </a:xfrm>
          <a:prstGeom prst="roundRect">
            <a:avLst>
              <a:gd name="adj" fmla="val 10909"/>
            </a:avLst>
          </a:prstGeom>
          <a:solidFill>
            <a:srgbClr val="0D132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2880360" y="16916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dGPU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080760" y="1691640"/>
            <a:ext cx="3108960" cy="502920"/>
          </a:xfrm>
          <a:prstGeom prst="roundRect">
            <a:avLst>
              <a:gd name="adj" fmla="val 10909"/>
            </a:avLst>
          </a:prstGeom>
          <a:solidFill>
            <a:srgbClr val="00D9C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080760" y="16916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Silicon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9281160" y="1691640"/>
            <a:ext cx="2514600" cy="502920"/>
          </a:xfrm>
          <a:prstGeom prst="roundRect">
            <a:avLst>
              <a:gd name="adj" fmla="val 10909"/>
            </a:avLst>
          </a:prstGeom>
          <a:solidFill>
            <a:srgbClr val="FF6B4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281160" y="169164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AMD-iGPU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331720"/>
            <a:ext cx="11247120" cy="777240"/>
          </a:xfrm>
          <a:prstGeom prst="rect">
            <a:avLst/>
          </a:prstGeom>
          <a:solidFill>
            <a:srgbClr val="F2F5F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233172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Speicher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017520" y="233172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21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Getrennt: RAM + VRAM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217920" y="233172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21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</a:t>
            </a:r>
            <a:r>
              <a:rPr lang="en-US" sz="1150">
                <a:solidFill>
                  <a:srgbClr val="121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</a:t>
            </a:r>
            <a:r>
              <a:rPr lang="en-US" sz="1150" smtClean="0">
                <a:solidFill>
                  <a:srgbClr val="121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 Basis der LPDDR5X, direkt auf dem Prozessor-Chip (SoC – System on a Chip) verlötet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9418320" y="233172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21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Nutzt GTT-Bereich im System-RAM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310896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Datentransport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017520" y="310896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21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Kopieren über PCIe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310896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21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Direkter Zugriff, kein Kopieren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9418320" y="310896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50" dirty="0">
                <a:solidFill>
                  <a:srgbClr val="121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Direkter Zugriff </a:t>
            </a:r>
            <a:r>
              <a:rPr lang="en-US" sz="1150">
                <a:solidFill>
                  <a:srgbClr val="121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 </a:t>
            </a:r>
            <a:r>
              <a:rPr lang="en-US" sz="1150" smtClean="0">
                <a:solidFill>
                  <a:srgbClr val="121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ROCm / Vulkan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3886200"/>
            <a:ext cx="11247120" cy="777240"/>
          </a:xfrm>
          <a:prstGeom prst="rect">
            <a:avLst/>
          </a:prstGeom>
          <a:solidFill>
            <a:srgbClr val="F2F5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5800" y="388620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Flaschenhals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3017520" y="388620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50" dirty="0">
                <a:solidFill>
                  <a:srgbClr val="121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VRAM-Größe </a:t>
            </a:r>
            <a:r>
              <a:rPr lang="en-US" sz="1150">
                <a:solidFill>
                  <a:srgbClr val="121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begrenzt </a:t>
            </a:r>
            <a:r>
              <a:rPr lang="en-US" sz="1150" smtClean="0">
                <a:solidFill>
                  <a:srgbClr val="121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Modell, </a:t>
            </a:r>
            <a:r>
              <a:rPr lang="de-DE" sz="1200"/>
              <a:t>PCIe-Nadelöhr bei RAM-Auslagerung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217920" y="388620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21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Freier RAM wird dynamisch geteilt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9418320" y="388620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21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Geteilte RAM-Bandbreite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66344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Bandbreite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3017520" y="466344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21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300+ GB/s (GDDR6)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6217920" y="466344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00" smtClean="0"/>
              <a:t>M3</a:t>
            </a:r>
            <a:r>
              <a:rPr lang="de-DE" sz="1100"/>
              <a:t>, M4, M6 - 100 bis 120 GB/s </a:t>
            </a:r>
          </a:p>
          <a:p>
            <a:r>
              <a:rPr lang="de-DE" sz="1100"/>
              <a:t>M3 Pro, M4 Pro, M5 Pro – 150 bis 307 GB/s </a:t>
            </a:r>
          </a:p>
          <a:p>
            <a:r>
              <a:rPr lang="de-DE" sz="1100"/>
              <a:t>M3 Max, M4 Max, M5 Max – 400 bis 614 GB/s </a:t>
            </a:r>
          </a:p>
          <a:p>
            <a:r>
              <a:rPr lang="pt-BR" sz="1100"/>
              <a:t>M3 Ultra, M5 Ultra – 800 bis 1,2 TB/s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9418320" y="466344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21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</a:t>
            </a:r>
            <a:r>
              <a:rPr lang="en-US" sz="1150">
                <a:solidFill>
                  <a:srgbClr val="121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</a:t>
            </a:r>
            <a:r>
              <a:rPr lang="en-US" sz="1150" smtClean="0">
                <a:solidFill>
                  <a:srgbClr val="121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100+ GB/s (DDR4 bis LPDDR5x)</a:t>
            </a:r>
          </a:p>
        </p:txBody>
      </p:sp>
      <p:sp>
        <p:nvSpPr>
          <p:cNvPr id="28" name="Shape 26"/>
          <p:cNvSpPr/>
          <p:nvPr/>
        </p:nvSpPr>
        <p:spPr>
          <a:xfrm>
            <a:off x="548640" y="5440680"/>
            <a:ext cx="11247120" cy="777240"/>
          </a:xfrm>
          <a:prstGeom prst="rect">
            <a:avLst/>
          </a:prstGeom>
          <a:solidFill>
            <a:srgbClr val="F2F5F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85800" y="544068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3017520" y="544068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21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Hoher Verbrauch, sehr stark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6217920" y="544068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21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 effizient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9418320" y="544068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21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Effizient, aber begrenzt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PERFORMANCE TUNING · iGPU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1274552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smtClean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3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smtClean="0">
                <a:solidFill>
                  <a:srgbClr val="00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</a:t>
            </a:r>
            <a:r>
              <a:rPr lang="en-US" sz="1300" b="1" kern="0" spc="200" dirty="0">
                <a:solidFill>
                  <a:srgbClr val="00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VERARBEITUNG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3200" b="1">
                <a:solidFill>
                  <a:schemeClr val="bg1"/>
                </a:solidFill>
              </a:rPr>
              <a:t>Speicherbandbreite</a:t>
            </a:r>
            <a:r>
              <a:rPr lang="en-US" sz="3000" b="1" smtClean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bei dedizierten Grafikkarten (dGPU)</a:t>
            </a:r>
            <a:endParaRPr lang="en-US" sz="3000" dirty="0"/>
          </a:p>
        </p:txBody>
      </p:sp>
      <p:graphicFrame>
        <p:nvGraphicFramePr>
          <p:cNvPr id="4" name="Chart 0"/>
          <p:cNvGraphicFramePr/>
          <p:nvPr>
            <p:extLst>
              <p:ext uri="{D42A27DB-BD31-4B8C-83A1-F6EECF244321}">
                <p14:modId xmlns:p14="http://schemas.microsoft.com/office/powerpoint/2010/main" val="2260430161"/>
              </p:ext>
            </p:extLst>
          </p:nvPr>
        </p:nvGraphicFramePr>
        <p:xfrm>
          <a:off x="548639" y="1737360"/>
          <a:ext cx="11431564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9550790" y="1628774"/>
            <a:ext cx="2109372" cy="3052953"/>
          </a:xfrm>
          <a:prstGeom prst="roundRect">
            <a:avLst>
              <a:gd name="adj" fmla="val 2410"/>
            </a:avLst>
          </a:prstGeom>
          <a:solidFill>
            <a:srgbClr val="17213D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10051804" y="1717128"/>
            <a:ext cx="18667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D9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Faustregel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9692640" y="2347100"/>
            <a:ext cx="1810512" cy="161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dirty="0">
                <a:solidFill>
                  <a:srgbClr val="D7D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größer </a:t>
            </a:r>
            <a:r>
              <a:rPr lang="en-US" sz="1300">
                <a:solidFill>
                  <a:srgbClr val="D7D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</a:t>
            </a:r>
            <a:r>
              <a:rPr lang="en-US" sz="1300" smtClean="0">
                <a:solidFill>
                  <a:srgbClr val="D7D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Modell-anteil</a:t>
            </a:r>
            <a:r>
              <a:rPr lang="en-US" sz="1300" dirty="0">
                <a:solidFill>
                  <a:srgbClr val="D7D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der </a:t>
            </a:r>
            <a:r>
              <a:rPr lang="en-US" sz="1300">
                <a:solidFill>
                  <a:srgbClr val="D7D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 </a:t>
            </a:r>
            <a:r>
              <a:rPr lang="de-DE" sz="1300">
                <a:solidFill>
                  <a:srgbClr val="D7D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langsamem System-RAM (DDR) statt schnellem Grafikspeicher (GDDR</a:t>
            </a:r>
            <a:r>
              <a:rPr lang="de-DE" sz="1300" smtClean="0">
                <a:solidFill>
                  <a:srgbClr val="D7D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</a:t>
            </a:r>
            <a:r>
              <a:rPr lang="en-US" sz="1300" smtClean="0">
                <a:solidFill>
                  <a:srgbClr val="D7D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bedient </a:t>
            </a:r>
            <a:r>
              <a:rPr lang="en-US" sz="1300" dirty="0">
                <a:solidFill>
                  <a:srgbClr val="D7D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wird, desto stärker bricht die Geschwindigkeit ein.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9883577" y="4263309"/>
            <a:ext cx="1476717" cy="0"/>
          </a:xfrm>
          <a:prstGeom prst="line">
            <a:avLst/>
          </a:prstGeom>
          <a:noFill/>
          <a:ln w="12700">
            <a:solidFill>
              <a:srgbClr val="2A365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PERFORMANCE TUNING · iGPU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274552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smtClean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12" name="Shape 5"/>
          <p:cNvSpPr/>
          <p:nvPr/>
        </p:nvSpPr>
        <p:spPr>
          <a:xfrm>
            <a:off x="9867117" y="2186859"/>
            <a:ext cx="1476717" cy="0"/>
          </a:xfrm>
          <a:prstGeom prst="line">
            <a:avLst/>
          </a:prstGeom>
          <a:noFill/>
          <a:ln w="12700">
            <a:solidFill>
              <a:srgbClr val="2A365C"/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kern="0" spc="200">
                <a:solidFill>
                  <a:srgbClr val="00D9C0"/>
                </a:solidFill>
                <a:ea typeface="Calibri" pitchFamily="34" charset="-122"/>
                <a:cs typeface="Calibri" pitchFamily="34" charset="-120"/>
              </a:rPr>
              <a:t>BLOCK 2 VERARBEITUNG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Speichertechnologien im Vergleich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dirty="0">
                <a:solidFill>
                  <a:srgbClr val="5B6478"/>
                </a:solidFill>
                <a:ea typeface="Calibri" pitchFamily="34" charset="-122"/>
                <a:cs typeface="Calibri" pitchFamily="34" charset="-120"/>
              </a:rPr>
              <a:t>RAM-Technologien unterscheiden sich grundlegend in Architektur, Einsatzzweck und Speicherbandbreite – genau daran liegt es, wenn die iGPU bei sehr langem Kontext (z. B. 1 Mio. Tokens) einknickt.</a:t>
            </a:r>
          </a:p>
        </p:txBody>
      </p:sp>
      <p:sp>
        <p:nvSpPr>
          <p:cNvPr id="41" name="Text 39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5B6478"/>
                </a:solidFill>
                <a:ea typeface="Calibri" pitchFamily="34" charset="-122"/>
                <a:cs typeface="Calibri" pitchFamily="34" charset="-120"/>
              </a:rPr>
              <a:t>OLLAMA PERFORMANCE TUNING · iGPU</a:t>
            </a:r>
            <a:endParaRPr lang="en-US" sz="900" dirty="0">
              <a:solidFill>
                <a:prstClr val="black"/>
              </a:solidFill>
            </a:endParaRPr>
          </a:p>
        </p:txBody>
      </p:sp>
      <p:sp>
        <p:nvSpPr>
          <p:cNvPr id="42" name="TblHeaderBg"/>
          <p:cNvSpPr/>
          <p:nvPr/>
        </p:nvSpPr>
        <p:spPr>
          <a:xfrm>
            <a:off x="548640" y="1965960"/>
            <a:ext cx="11094720" cy="370000"/>
          </a:xfrm>
          <a:prstGeom prst="roundRect">
            <a:avLst>
              <a:gd name="adj" fmla="val 8000"/>
            </a:avLst>
          </a:prstGeom>
          <a:solidFill>
            <a:srgbClr val="0D1321"/>
          </a:solidFill>
          <a:ln/>
        </p:spPr>
      </p:sp>
      <p:sp>
        <p:nvSpPr>
          <p:cNvPr id="43" name="Text"/>
          <p:cNvSpPr txBox="1"/>
          <p:nvPr/>
        </p:nvSpPr>
        <p:spPr>
          <a:xfrm>
            <a:off x="640080" y="1965960"/>
            <a:ext cx="1700000" cy="3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50" b="1" dirty="0">
                <a:solidFill>
                  <a:srgbClr val="FFFFFF"/>
                </a:solidFill>
                <a:latin typeface="Arial" pitchFamily="34" charset="0"/>
              </a:rPr>
              <a:t>Speichertyp</a:t>
            </a:r>
          </a:p>
        </p:txBody>
      </p:sp>
      <p:sp>
        <p:nvSpPr>
          <p:cNvPr id="44" name="Text"/>
          <p:cNvSpPr txBox="1"/>
          <p:nvPr/>
        </p:nvSpPr>
        <p:spPr>
          <a:xfrm>
            <a:off x="2340080" y="1965960"/>
            <a:ext cx="3000000" cy="3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50" b="1" dirty="0">
                <a:solidFill>
                  <a:srgbClr val="FFFFFF"/>
                </a:solidFill>
                <a:latin typeface="Arial" pitchFamily="34" charset="0"/>
              </a:rPr>
              <a:t>Primärer Einsatzzweck</a:t>
            </a:r>
          </a:p>
        </p:txBody>
      </p:sp>
      <p:sp>
        <p:nvSpPr>
          <p:cNvPr id="45" name="Text"/>
          <p:cNvSpPr txBox="1"/>
          <p:nvPr/>
        </p:nvSpPr>
        <p:spPr>
          <a:xfrm>
            <a:off x="5340080" y="1965960"/>
            <a:ext cx="1900000" cy="3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50" b="1" dirty="0">
                <a:solidFill>
                  <a:srgbClr val="FFFFFF"/>
                </a:solidFill>
                <a:latin typeface="Arial" pitchFamily="34" charset="0"/>
              </a:rPr>
              <a:t>Bandbreite</a:t>
            </a:r>
          </a:p>
        </p:txBody>
      </p:sp>
      <p:sp>
        <p:nvSpPr>
          <p:cNvPr id="46" name="Text"/>
          <p:cNvSpPr txBox="1"/>
          <p:nvPr/>
        </p:nvSpPr>
        <p:spPr>
          <a:xfrm>
            <a:off x="7240080" y="1965960"/>
            <a:ext cx="4311840" cy="3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50" b="1" dirty="0">
                <a:solidFill>
                  <a:srgbClr val="FFFFFF"/>
                </a:solidFill>
                <a:latin typeface="Arial" pitchFamily="34" charset="0"/>
              </a:rPr>
              <a:t>Hauptmerkmal</a:t>
            </a:r>
          </a:p>
        </p:txBody>
      </p:sp>
      <p:sp>
        <p:nvSpPr>
          <p:cNvPr id="47" name="TblRowBg0"/>
          <p:cNvSpPr/>
          <p:nvPr/>
        </p:nvSpPr>
        <p:spPr>
          <a:xfrm>
            <a:off x="548640" y="2335960"/>
            <a:ext cx="11094720" cy="480000"/>
          </a:xfrm>
          <a:prstGeom prst="rect">
            <a:avLst/>
          </a:prstGeom>
          <a:solidFill>
            <a:srgbClr val="F2F5FA"/>
          </a:solidFill>
          <a:ln/>
        </p:spPr>
      </p:sp>
      <p:sp>
        <p:nvSpPr>
          <p:cNvPr id="48" name="Text"/>
          <p:cNvSpPr txBox="1"/>
          <p:nvPr/>
        </p:nvSpPr>
        <p:spPr>
          <a:xfrm>
            <a:off x="640080" y="2335960"/>
            <a:ext cx="1700000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50" b="1" dirty="0">
                <a:solidFill>
                  <a:srgbClr val="0D1321"/>
                </a:solidFill>
              </a:rPr>
              <a:t>DDR4 / DDR5</a:t>
            </a:r>
          </a:p>
        </p:txBody>
      </p:sp>
      <p:sp>
        <p:nvSpPr>
          <p:cNvPr id="49" name="Text"/>
          <p:cNvSpPr txBox="1"/>
          <p:nvPr/>
        </p:nvSpPr>
        <p:spPr>
          <a:xfrm>
            <a:off x="2340080" y="2335960"/>
            <a:ext cx="3000000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dirty="0">
                <a:solidFill>
                  <a:srgbClr val="30363F"/>
                </a:solidFill>
              </a:rPr>
              <a:t>Arbeitsspeicher (Desktop-PC, Server, Mini-PC)</a:t>
            </a:r>
          </a:p>
        </p:txBody>
      </p:sp>
      <p:sp>
        <p:nvSpPr>
          <p:cNvPr id="50" name="Text"/>
          <p:cNvSpPr txBox="1"/>
          <p:nvPr/>
        </p:nvSpPr>
        <p:spPr>
          <a:xfrm>
            <a:off x="5340080" y="2335960"/>
            <a:ext cx="1900000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b="1" dirty="0">
                <a:solidFill>
                  <a:srgbClr val="1F7A6C"/>
                </a:solidFill>
              </a:rPr>
              <a:t>ca. 25–90 GB/s</a:t>
            </a:r>
          </a:p>
        </p:txBody>
      </p:sp>
      <p:sp>
        <p:nvSpPr>
          <p:cNvPr id="51" name="Text"/>
          <p:cNvSpPr txBox="1"/>
          <p:nvPr/>
        </p:nvSpPr>
        <p:spPr>
          <a:xfrm>
            <a:off x="7240080" y="2335960"/>
            <a:ext cx="4311840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950" dirty="0">
                <a:solidFill>
                  <a:srgbClr val="5B6478"/>
                </a:solidFill>
              </a:rPr>
              <a:t>Steckbar (DIMM/SO-DIMM). Optimiert auf niedrige Latenz statt maximaler Bandbreite.</a:t>
            </a:r>
          </a:p>
        </p:txBody>
      </p:sp>
      <p:sp>
        <p:nvSpPr>
          <p:cNvPr id="52" name="Text"/>
          <p:cNvSpPr txBox="1"/>
          <p:nvPr/>
        </p:nvSpPr>
        <p:spPr>
          <a:xfrm>
            <a:off x="640080" y="2815960"/>
            <a:ext cx="1700000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50" b="1" dirty="0">
                <a:solidFill>
                  <a:srgbClr val="0D1321"/>
                </a:solidFill>
              </a:rPr>
              <a:t>LPDDR5 / 5x</a:t>
            </a:r>
          </a:p>
        </p:txBody>
      </p:sp>
      <p:sp>
        <p:nvSpPr>
          <p:cNvPr id="53" name="Text"/>
          <p:cNvSpPr txBox="1"/>
          <p:nvPr/>
        </p:nvSpPr>
        <p:spPr>
          <a:xfrm>
            <a:off x="2340080" y="2815960"/>
            <a:ext cx="3000000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dirty="0">
                <a:solidFill>
                  <a:srgbClr val="30363F"/>
                </a:solidFill>
              </a:rPr>
              <a:t>Smartphones, Tablets, dünne Laptops</a:t>
            </a:r>
          </a:p>
        </p:txBody>
      </p:sp>
      <p:sp>
        <p:nvSpPr>
          <p:cNvPr id="54" name="Text"/>
          <p:cNvSpPr txBox="1"/>
          <p:nvPr/>
        </p:nvSpPr>
        <p:spPr>
          <a:xfrm>
            <a:off x="5340080" y="2815960"/>
            <a:ext cx="1900000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b="1" dirty="0">
                <a:solidFill>
                  <a:srgbClr val="1F7A6C"/>
                </a:solidFill>
              </a:rPr>
              <a:t>ca. 50–120 GB/s</a:t>
            </a:r>
          </a:p>
        </p:txBody>
      </p:sp>
      <p:sp>
        <p:nvSpPr>
          <p:cNvPr id="55" name="Text"/>
          <p:cNvSpPr txBox="1"/>
          <p:nvPr/>
        </p:nvSpPr>
        <p:spPr>
          <a:xfrm>
            <a:off x="7240080" y="2815960"/>
            <a:ext cx="4311840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950" dirty="0">
                <a:solidFill>
                  <a:srgbClr val="5B6478"/>
                </a:solidFill>
              </a:rPr>
              <a:t>"Low Power" – fest verlötet, stromsparend, etwas höhere Latenz als DDR5.</a:t>
            </a:r>
          </a:p>
        </p:txBody>
      </p:sp>
      <p:sp>
        <p:nvSpPr>
          <p:cNvPr id="56" name="TblRowBg2"/>
          <p:cNvSpPr/>
          <p:nvPr/>
        </p:nvSpPr>
        <p:spPr>
          <a:xfrm>
            <a:off x="548640" y="3295960"/>
            <a:ext cx="11094720" cy="480000"/>
          </a:xfrm>
          <a:prstGeom prst="rect">
            <a:avLst/>
          </a:prstGeom>
          <a:solidFill>
            <a:srgbClr val="F2F5FA"/>
          </a:solidFill>
          <a:ln/>
        </p:spPr>
      </p:sp>
      <p:sp>
        <p:nvSpPr>
          <p:cNvPr id="57" name="Text"/>
          <p:cNvSpPr txBox="1"/>
          <p:nvPr/>
        </p:nvSpPr>
        <p:spPr>
          <a:xfrm>
            <a:off x="640080" y="3295960"/>
            <a:ext cx="1700000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50" b="1" dirty="0">
                <a:solidFill>
                  <a:srgbClr val="0D1321"/>
                </a:solidFill>
              </a:rPr>
              <a:t>GDDR6 / 6X</a:t>
            </a:r>
          </a:p>
        </p:txBody>
      </p:sp>
      <p:sp>
        <p:nvSpPr>
          <p:cNvPr id="58" name="Text"/>
          <p:cNvSpPr txBox="1"/>
          <p:nvPr/>
        </p:nvSpPr>
        <p:spPr>
          <a:xfrm>
            <a:off x="2340080" y="3295960"/>
            <a:ext cx="3000000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dirty="0">
                <a:solidFill>
                  <a:srgbClr val="30363F"/>
                </a:solidFill>
              </a:rPr>
              <a:t>Grafikkarten (VRAM), Spielekonsolen</a:t>
            </a:r>
          </a:p>
        </p:txBody>
      </p:sp>
      <p:sp>
        <p:nvSpPr>
          <p:cNvPr id="59" name="Text"/>
          <p:cNvSpPr txBox="1"/>
          <p:nvPr/>
        </p:nvSpPr>
        <p:spPr>
          <a:xfrm>
            <a:off x="5340080" y="3295960"/>
            <a:ext cx="1900000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b="1" dirty="0">
                <a:solidFill>
                  <a:srgbClr val="1F7A6C"/>
                </a:solidFill>
              </a:rPr>
              <a:t>ca. 500–1.000+ GB/s</a:t>
            </a:r>
          </a:p>
        </p:txBody>
      </p:sp>
      <p:sp>
        <p:nvSpPr>
          <p:cNvPr id="60" name="Text"/>
          <p:cNvSpPr txBox="1"/>
          <p:nvPr/>
        </p:nvSpPr>
        <p:spPr>
          <a:xfrm>
            <a:off x="7240080" y="3295960"/>
            <a:ext cx="4311840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950" dirty="0">
                <a:solidFill>
                  <a:srgbClr val="5B6478"/>
                </a:solidFill>
              </a:rPr>
              <a:t>"Graphics" – massive Bandbreite für Texturen &amp; KI-Gewichte. Stromhungrig &amp; heiß.</a:t>
            </a:r>
          </a:p>
        </p:txBody>
      </p:sp>
      <p:sp>
        <p:nvSpPr>
          <p:cNvPr id="61" name="Text"/>
          <p:cNvSpPr txBox="1"/>
          <p:nvPr/>
        </p:nvSpPr>
        <p:spPr>
          <a:xfrm>
            <a:off x="640080" y="3775960"/>
            <a:ext cx="1700000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50" b="1" dirty="0">
                <a:solidFill>
                  <a:srgbClr val="0D1321"/>
                </a:solidFill>
              </a:rPr>
              <a:t>HBM (3 / 4)</a:t>
            </a:r>
          </a:p>
        </p:txBody>
      </p:sp>
      <p:sp>
        <p:nvSpPr>
          <p:cNvPr id="62" name="Text"/>
          <p:cNvSpPr txBox="1"/>
          <p:nvPr/>
        </p:nvSpPr>
        <p:spPr>
          <a:xfrm>
            <a:off x="2340080" y="3775960"/>
            <a:ext cx="3000000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dirty="0">
                <a:solidFill>
                  <a:srgbClr val="30363F"/>
                </a:solidFill>
              </a:rPr>
              <a:t>High-End-KI-Beschleuniger (NVIDIA H100, AMD MI300)</a:t>
            </a:r>
          </a:p>
        </p:txBody>
      </p:sp>
      <p:sp>
        <p:nvSpPr>
          <p:cNvPr id="63" name="Text"/>
          <p:cNvSpPr txBox="1"/>
          <p:nvPr/>
        </p:nvSpPr>
        <p:spPr>
          <a:xfrm>
            <a:off x="5340080" y="3775960"/>
            <a:ext cx="1900000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b="1" dirty="0">
                <a:solidFill>
                  <a:srgbClr val="1F7A6C"/>
                </a:solidFill>
              </a:rPr>
              <a:t>ca. 2.000–4.900+ GB/s</a:t>
            </a:r>
          </a:p>
        </p:txBody>
      </p:sp>
      <p:sp>
        <p:nvSpPr>
          <p:cNvPr id="64" name="Text"/>
          <p:cNvSpPr txBox="1"/>
          <p:nvPr/>
        </p:nvSpPr>
        <p:spPr>
          <a:xfrm>
            <a:off x="7240080" y="3775960"/>
            <a:ext cx="4311840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950" dirty="0">
                <a:solidFill>
                  <a:srgbClr val="5B6478"/>
                </a:solidFill>
              </a:rPr>
              <a:t>Vertikal gestapelt, direkt am Chip. Leistungsmaximum – extrem teuer.</a:t>
            </a:r>
          </a:p>
        </p:txBody>
      </p:sp>
      <p:sp>
        <p:nvSpPr>
          <p:cNvPr id="65" name="Text"/>
          <p:cNvSpPr txBox="1"/>
          <p:nvPr/>
        </p:nvSpPr>
        <p:spPr>
          <a:xfrm>
            <a:off x="548640" y="4455960"/>
            <a:ext cx="1109472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250" b="1" dirty="0">
                <a:solidFill>
                  <a:srgbClr val="12172B"/>
                </a:solidFill>
              </a:rPr>
              <a:t>Bauformen: Wo sitzt der Speicher?</a:t>
            </a:r>
          </a:p>
        </p:txBody>
      </p:sp>
      <p:sp>
        <p:nvSpPr>
          <p:cNvPr id="66" name="Card0"/>
          <p:cNvSpPr/>
          <p:nvPr/>
        </p:nvSpPr>
        <p:spPr>
          <a:xfrm>
            <a:off x="548640" y="4775960"/>
            <a:ext cx="2670810" cy="1762000"/>
          </a:xfrm>
          <a:prstGeom prst="rect">
            <a:avLst/>
          </a:prstGeom>
          <a:solidFill>
            <a:srgbClr val="F2F5FA"/>
          </a:solidFill>
          <a:ln/>
        </p:spPr>
      </p:sp>
      <p:sp>
        <p:nvSpPr>
          <p:cNvPr id="67" name="Text"/>
          <p:cNvSpPr txBox="1"/>
          <p:nvPr/>
        </p:nvSpPr>
        <p:spPr>
          <a:xfrm>
            <a:off x="708640" y="4935960"/>
            <a:ext cx="2350810" cy="144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de-DE" sz="1400" b="1" dirty="0">
                <a:solidFill>
                  <a:srgbClr val="1F7A6C"/>
                </a:solidFill>
              </a:rPr>
              <a:t>DIMM</a:t>
            </a:r>
          </a:p>
          <a:p>
            <a:r>
              <a:rPr lang="de-DE" sz="950" b="1" dirty="0">
                <a:solidFill>
                  <a:srgbClr val="5B6478"/>
                </a:solidFill>
              </a:rPr>
              <a:t>Desktop-RAM</a:t>
            </a:r>
          </a:p>
          <a:p>
            <a:r>
              <a:rPr lang="de-DE" sz="950" dirty="0">
                <a:solidFill>
                  <a:srgbClr val="30363F"/>
                </a:solidFill>
              </a:rPr>
              <a:t>Klassischer, langer Riegel für Desktop-PCs. Leicht austausch- und aufrüstbar.</a:t>
            </a:r>
          </a:p>
        </p:txBody>
      </p:sp>
      <p:sp>
        <p:nvSpPr>
          <p:cNvPr id="68" name="Card1"/>
          <p:cNvSpPr/>
          <p:nvPr/>
        </p:nvSpPr>
        <p:spPr>
          <a:xfrm>
            <a:off x="3356610" y="4775960"/>
            <a:ext cx="2670810" cy="1762000"/>
          </a:xfrm>
          <a:prstGeom prst="rect">
            <a:avLst/>
          </a:prstGeom>
          <a:solidFill>
            <a:srgbClr val="F2F5FA"/>
          </a:solidFill>
          <a:ln/>
        </p:spPr>
      </p:sp>
      <p:sp>
        <p:nvSpPr>
          <p:cNvPr id="69" name="Text"/>
          <p:cNvSpPr txBox="1"/>
          <p:nvPr/>
        </p:nvSpPr>
        <p:spPr>
          <a:xfrm>
            <a:off x="3516610" y="4935960"/>
            <a:ext cx="2350810" cy="144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de-DE" sz="1400" b="1" dirty="0">
                <a:solidFill>
                  <a:srgbClr val="1F7A6C"/>
                </a:solidFill>
              </a:rPr>
              <a:t>SO-DIMM</a:t>
            </a:r>
          </a:p>
          <a:p>
            <a:r>
              <a:rPr lang="de-DE" sz="950" b="1" dirty="0">
                <a:solidFill>
                  <a:srgbClr val="5B6478"/>
                </a:solidFill>
              </a:rPr>
              <a:t>Laptop-RAM</a:t>
            </a:r>
          </a:p>
          <a:p>
            <a:r>
              <a:rPr lang="de-DE" sz="950" dirty="0">
                <a:solidFill>
                  <a:srgbClr val="30363F"/>
                </a:solidFill>
              </a:rPr>
              <a:t>Halbe Länge, in Laptops &amp; Mini-PCs. Aufrüstbar (24–64 GB), teilt sich aber die magere RAM-Bandbreite.</a:t>
            </a:r>
          </a:p>
        </p:txBody>
      </p:sp>
      <p:sp>
        <p:nvSpPr>
          <p:cNvPr id="70" name="Card2"/>
          <p:cNvSpPr/>
          <p:nvPr/>
        </p:nvSpPr>
        <p:spPr>
          <a:xfrm>
            <a:off x="6164580" y="4775960"/>
            <a:ext cx="2670810" cy="1762000"/>
          </a:xfrm>
          <a:prstGeom prst="rect">
            <a:avLst/>
          </a:prstGeom>
          <a:solidFill>
            <a:srgbClr val="F2F5FA"/>
          </a:solidFill>
          <a:ln/>
        </p:spPr>
      </p:sp>
      <p:sp>
        <p:nvSpPr>
          <p:cNvPr id="71" name="Text"/>
          <p:cNvSpPr txBox="1"/>
          <p:nvPr/>
        </p:nvSpPr>
        <p:spPr>
          <a:xfrm>
            <a:off x="6324580" y="4935960"/>
            <a:ext cx="2350810" cy="144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de-DE" sz="1400" b="1" dirty="0">
                <a:solidFill>
                  <a:srgbClr val="1F7A6C"/>
                </a:solidFill>
              </a:rPr>
              <a:t>LPDDR</a:t>
            </a:r>
          </a:p>
          <a:p>
            <a:r>
              <a:rPr lang="de-DE" sz="950" b="1" dirty="0">
                <a:solidFill>
                  <a:srgbClr val="5B6478"/>
                </a:solidFill>
              </a:rPr>
              <a:t>Fest verlötet / On-Board</a:t>
            </a:r>
          </a:p>
          <a:p>
            <a:r>
              <a:rPr lang="de-DE" sz="950" dirty="0">
                <a:solidFill>
                  <a:srgbClr val="30363F"/>
                </a:solidFill>
              </a:rPr>
              <a:t>Chips direkt auf der Platine neben der CPU. Kürzere Signalwege → höhere Taktraten (bis 8533 MHz), spürbarer iGPU-Boost.</a:t>
            </a:r>
          </a:p>
        </p:txBody>
      </p:sp>
      <p:sp>
        <p:nvSpPr>
          <p:cNvPr id="72" name="Card3"/>
          <p:cNvSpPr/>
          <p:nvPr/>
        </p:nvSpPr>
        <p:spPr>
          <a:xfrm>
            <a:off x="8972550" y="4775960"/>
            <a:ext cx="2670810" cy="1762000"/>
          </a:xfrm>
          <a:prstGeom prst="rect">
            <a:avLst/>
          </a:prstGeom>
          <a:solidFill>
            <a:srgbClr val="F2F5FA"/>
          </a:solidFill>
          <a:ln/>
        </p:spPr>
      </p:sp>
      <p:sp>
        <p:nvSpPr>
          <p:cNvPr id="73" name="Text"/>
          <p:cNvSpPr txBox="1"/>
          <p:nvPr/>
        </p:nvSpPr>
        <p:spPr>
          <a:xfrm>
            <a:off x="9132550" y="4935960"/>
            <a:ext cx="2350810" cy="144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de-DE" sz="1400" b="1" dirty="0">
                <a:solidFill>
                  <a:srgbClr val="1F7A6C"/>
                </a:solidFill>
              </a:rPr>
              <a:t>CAMM2</a:t>
            </a:r>
          </a:p>
          <a:p>
            <a:r>
              <a:rPr lang="de-DE" sz="950" b="1" dirty="0">
                <a:solidFill>
                  <a:srgbClr val="5B6478"/>
                </a:solidFill>
              </a:rPr>
              <a:t>Der neue Standard</a:t>
            </a:r>
          </a:p>
          <a:p>
            <a:r>
              <a:rPr lang="de-DE" sz="950" dirty="0">
                <a:solidFill>
                  <a:srgbClr val="30363F"/>
                </a:solidFill>
              </a:rPr>
              <a:t>Flaches, schraubbares Modul. Vereint LPDDR5x-Tempo &amp; Effizienz mit Austauschbarkeit.</a:t>
            </a:r>
          </a:p>
        </p:txBody>
      </p:sp>
      <p:sp>
        <p:nvSpPr>
          <p:cNvPr id="38" name="Text 8"/>
          <p:cNvSpPr txBox="1"/>
          <p:nvPr/>
        </p:nvSpPr>
        <p:spPr>
          <a:xfrm>
            <a:off x="11274552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smtClean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8141811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kern="0" spc="200" smtClean="0">
                <a:solidFill>
                  <a:srgbClr val="00D9C0"/>
                </a:solidFill>
                <a:ea typeface="Calibri" pitchFamily="34" charset="-122"/>
                <a:cs typeface="Calibri" pitchFamily="34" charset="-120"/>
              </a:rPr>
              <a:t>BLOCK 2 VERARBEITUNG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Speicherbandbreite berechnen: Der Dual-Channel-Check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dirty="0">
                <a:solidFill>
                  <a:srgbClr val="5B6478"/>
                </a:solidFill>
                <a:ea typeface="Calibri" pitchFamily="34" charset="-122"/>
                <a:cs typeface="Calibri" pitchFamily="34" charset="-120"/>
              </a:rPr>
              <a:t>Ein Blick in dmidecode verrät nicht nur, wie viel RAM verbaut ist, sondern auch, wie schnell er tatsächlich angebunden ist.</a:t>
            </a:r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6675120" cy="2788920"/>
          </a:xfrm>
          <a:prstGeom prst="roundRect">
            <a:avLst>
              <a:gd name="adj" fmla="val 2623"/>
            </a:avLst>
          </a:prstGeom>
          <a:solidFill>
            <a:srgbClr val="0A0E1A"/>
          </a:solidFill>
          <a:ln/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94944" y="2139696"/>
            <a:ext cx="91440" cy="91440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7" name="Shape 5"/>
          <p:cNvSpPr/>
          <p:nvPr/>
        </p:nvSpPr>
        <p:spPr>
          <a:xfrm>
            <a:off x="896112" y="2139696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8" name="Shape 6"/>
          <p:cNvSpPr/>
          <p:nvPr/>
        </p:nvSpPr>
        <p:spPr>
          <a:xfrm>
            <a:off x="1097280" y="2139696"/>
            <a:ext cx="91440" cy="91440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2359152"/>
            <a:ext cx="7174992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5000"/>
              </a:lnSpc>
            </a:pPr>
            <a:r>
              <a:rPr lang="en-US" sz="125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sudo dmidecode --type 17 | \</a:t>
            </a:r>
          </a:p>
          <a:p>
            <a:pPr>
              <a:lnSpc>
                <a:spcPct val="115000"/>
              </a:lnSpc>
            </a:pPr>
            <a:r>
              <a:rPr lang="en-US" sz="125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grep -E "Type:|Speed:|Size:|Locator:"</a:t>
            </a:r>
          </a:p>
          <a:p>
            <a:pPr>
              <a:lnSpc>
                <a:spcPct val="115000"/>
              </a:lnSpc>
            </a:pPr>
            <a:r>
              <a:rPr lang="en-US" sz="125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</a:p>
          <a:p>
            <a:pPr>
              <a:lnSpc>
                <a:spcPct val="115000"/>
              </a:lnSpc>
            </a:pPr>
            <a:r>
              <a:rPr lang="en-US" sz="1250">
                <a:solidFill>
                  <a:srgbClr val="8A93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DIMM 0 – Bank Locator: P0 CHANNEL A</a:t>
            </a:r>
          </a:p>
          <a:p>
            <a:pPr>
              <a:lnSpc>
                <a:spcPct val="115000"/>
              </a:lnSpc>
            </a:pPr>
            <a:r>
              <a:rPr lang="en-US" sz="125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Size: 16 GB      Locator: DIMM 0</a:t>
            </a:r>
          </a:p>
          <a:p>
            <a:pPr>
              <a:lnSpc>
                <a:spcPct val="115000"/>
              </a:lnSpc>
            </a:pPr>
            <a:r>
              <a:rPr lang="en-US" sz="125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 DDR4       Speed: 2667 MT/s</a:t>
            </a:r>
          </a:p>
          <a:p>
            <a:pPr>
              <a:lnSpc>
                <a:spcPct val="115000"/>
              </a:lnSpc>
            </a:pPr>
            <a:r>
              <a:rPr lang="en-US" sz="125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</a:p>
          <a:p>
            <a:pPr>
              <a:lnSpc>
                <a:spcPct val="115000"/>
              </a:lnSpc>
            </a:pPr>
            <a:r>
              <a:rPr lang="en-US" sz="1250">
                <a:solidFill>
                  <a:srgbClr val="8A93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DIMM 0 – Bank Locator: P0 CHANNEL B</a:t>
            </a:r>
          </a:p>
          <a:p>
            <a:pPr>
              <a:lnSpc>
                <a:spcPct val="115000"/>
              </a:lnSpc>
            </a:pPr>
            <a:r>
              <a:rPr lang="en-US" sz="125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Size: 16 GB      Locator: DIMM 0</a:t>
            </a:r>
          </a:p>
          <a:p>
            <a:pPr>
              <a:lnSpc>
                <a:spcPct val="115000"/>
              </a:lnSpc>
            </a:pPr>
            <a:r>
              <a:rPr lang="en-US" sz="125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 DDR4       Speed: 2667 MT/s</a:t>
            </a:r>
          </a:p>
        </p:txBody>
      </p:sp>
      <p:sp>
        <p:nvSpPr>
          <p:cNvPr id="10" name="Shape 8"/>
          <p:cNvSpPr/>
          <p:nvPr/>
        </p:nvSpPr>
        <p:spPr>
          <a:xfrm>
            <a:off x="548640" y="4983480"/>
            <a:ext cx="6675120" cy="1280160"/>
          </a:xfrm>
          <a:prstGeom prst="roundRect">
            <a:avLst>
              <a:gd name="adj" fmla="val 7143"/>
            </a:avLst>
          </a:prstGeom>
          <a:solidFill>
            <a:srgbClr val="F2F5F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5102352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42,67 GB/s</a:t>
            </a:r>
          </a:p>
        </p:txBody>
      </p:sp>
      <p:sp>
        <p:nvSpPr>
          <p:cNvPr id="12" name="Text 10"/>
          <p:cNvSpPr txBox="1"/>
          <p:nvPr/>
        </p:nvSpPr>
        <p:spPr>
          <a:xfrm>
            <a:off x="777240" y="5669280"/>
            <a:ext cx="6217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5B6478"/>
                </a:solidFill>
                <a:ea typeface="Calibri" pitchFamily="34" charset="-122"/>
                <a:cs typeface="Calibri" pitchFamily="34" charset="-120"/>
              </a:rPr>
              <a:t>Speicherbandbreite (DDR4-2667, Dual-Channel)</a:t>
            </a:r>
          </a:p>
        </p:txBody>
      </p:sp>
      <p:sp>
        <p:nvSpPr>
          <p:cNvPr id="13" name="Shape 11"/>
          <p:cNvSpPr/>
          <p:nvPr/>
        </p:nvSpPr>
        <p:spPr>
          <a:xfrm>
            <a:off x="7452360" y="2011680"/>
            <a:ext cx="4160520" cy="4251960"/>
          </a:xfrm>
          <a:prstGeom prst="roundRect">
            <a:avLst>
              <a:gd name="adj" fmla="val 2198"/>
            </a:avLst>
          </a:prstGeom>
          <a:solidFill>
            <a:srgbClr val="0D132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0" y="2212848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dirty="0">
                <a:solidFill>
                  <a:srgbClr val="00D9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die Ausgabe verrät</a:t>
            </a:r>
          </a:p>
        </p:txBody>
      </p:sp>
      <p:sp>
        <p:nvSpPr>
          <p:cNvPr id="15" name="Text 13"/>
          <p:cNvSpPr txBox="1"/>
          <p:nvPr/>
        </p:nvSpPr>
        <p:spPr>
          <a:xfrm>
            <a:off x="7680960" y="2606040"/>
            <a:ext cx="3703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D7DCEE"/>
                </a:solidFill>
                <a:ea typeface="Calibri" pitchFamily="34" charset="-122"/>
                <a:cs typeface="Calibri" pitchFamily="34" charset="-120"/>
              </a:rPr>
              <a:t>Zwei Speicherriegel, je ein Kanal – das bestimmt Kapazität und Tempo des gesamten Systems.</a:t>
            </a:r>
          </a:p>
        </p:txBody>
      </p:sp>
      <p:sp>
        <p:nvSpPr>
          <p:cNvPr id="16" name="Shape 14"/>
          <p:cNvSpPr/>
          <p:nvPr/>
        </p:nvSpPr>
        <p:spPr>
          <a:xfrm>
            <a:off x="7680960" y="3703320"/>
            <a:ext cx="3566160" cy="0"/>
          </a:xfrm>
          <a:prstGeom prst="line">
            <a:avLst/>
          </a:prstGeom>
          <a:noFill/>
          <a:ln w="12700">
            <a:solidFill>
              <a:srgbClr val="2A365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680960" y="388620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50" dirty="0">
                <a:solidFill>
                  <a:srgbClr val="9AA3C0"/>
                </a:solidFill>
                <a:ea typeface="Calibri" pitchFamily="34" charset="-122"/>
                <a:cs typeface="Calibri" pitchFamily="34" charset="-120"/>
              </a:rPr>
              <a:t>•  2× 16 GB = 32 GB RAM insgesamt, nicht 24 GB – die Differenz reserviert die iGPU im BIOS als VRAM</a:t>
            </a:r>
          </a:p>
        </p:txBody>
      </p:sp>
      <p:sp>
        <p:nvSpPr>
          <p:cNvPr id="18" name="Text 16"/>
          <p:cNvSpPr txBox="1"/>
          <p:nvPr/>
        </p:nvSpPr>
        <p:spPr>
          <a:xfrm>
            <a:off x="7680960" y="4507992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50" dirty="0">
                <a:solidFill>
                  <a:srgbClr val="9AA3C0"/>
                </a:solidFill>
                <a:ea typeface="Calibri" pitchFamily="34" charset="-122"/>
                <a:cs typeface="Calibri" pitchFamily="34" charset="-120"/>
              </a:rPr>
              <a:t>•  CHANNEL A + CHANNEL B belegt → optimaler Dual-Channel-Modus, doppelte Bandbreite ggü. Single-Channel</a:t>
            </a:r>
          </a:p>
        </p:txBody>
      </p:sp>
      <p:sp>
        <p:nvSpPr>
          <p:cNvPr id="19" name="Text 17"/>
          <p:cNvSpPr txBox="1"/>
          <p:nvPr/>
        </p:nvSpPr>
        <p:spPr>
          <a:xfrm>
            <a:off x="7680960" y="5129784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50" dirty="0">
                <a:solidFill>
                  <a:srgbClr val="9AA3C0"/>
                </a:solidFill>
                <a:ea typeface="Calibri" pitchFamily="34" charset="-122"/>
                <a:cs typeface="Calibri" pitchFamily="34" charset="-120"/>
              </a:rPr>
              <a:t>•  DDR4, 2667 MT/s → (2667 × 64 Bit × 2 Kanäle) / 8 = 42,67 GB/s</a:t>
            </a:r>
          </a:p>
        </p:txBody>
      </p:sp>
      <p:sp>
        <p:nvSpPr>
          <p:cNvPr id="20" name="Text 18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9AA3C0"/>
                </a:solidFill>
                <a:ea typeface="Calibri" pitchFamily="34" charset="-122"/>
                <a:cs typeface="Calibri" pitchFamily="34" charset="-120"/>
              </a:rPr>
              <a:t>OLLAMA PERFORMANCE TUNING · iGPU</a:t>
            </a:r>
            <a:endParaRPr lang="en-US" sz="900" dirty="0">
              <a:solidFill>
                <a:prstClr val="black"/>
              </a:solidFill>
            </a:endParaRPr>
          </a:p>
        </p:txBody>
      </p:sp>
      <p:sp>
        <p:nvSpPr>
          <p:cNvPr id="21" name="Text 8"/>
          <p:cNvSpPr txBox="1"/>
          <p:nvPr/>
        </p:nvSpPr>
        <p:spPr>
          <a:xfrm>
            <a:off x="11274552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smtClean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3954329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3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00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3 VON 4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78308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Optimierung des Mini-PCs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40080" y="2880360"/>
            <a:ext cx="2377440" cy="0"/>
          </a:xfrm>
          <a:prstGeom prst="line">
            <a:avLst/>
          </a:prstGeom>
          <a:noFill/>
          <a:ln w="25400">
            <a:solidFill>
              <a:srgbClr val="00D9C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9605" y="3122295"/>
            <a:ext cx="420624" cy="420624"/>
          </a:xfrm>
          <a:prstGeom prst="ellipse">
            <a:avLst/>
          </a:prstGeom>
          <a:solidFill>
            <a:srgbClr val="17213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9605" y="3122295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D9C0"/>
                </a:solidFill>
                <a:latin typeface="Arial" pitchFamily="34" charset="0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43965" y="3104007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4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Vulkan: Die iGPU für lokale KI nutzen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9605" y="3584448"/>
            <a:ext cx="420624" cy="420624"/>
          </a:xfrm>
          <a:prstGeom prst="ellipse">
            <a:avLst/>
          </a:prstGeom>
          <a:solidFill>
            <a:srgbClr val="17213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9605" y="35844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D9C0"/>
                </a:solidFill>
                <a:latin typeface="Arial" pitchFamily="34" charset="0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243965" y="35661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4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KI-Geschwindigkeit messen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9605" y="4027551"/>
            <a:ext cx="420624" cy="420624"/>
          </a:xfrm>
          <a:prstGeom prst="ellipse">
            <a:avLst/>
          </a:prstGeom>
          <a:solidFill>
            <a:srgbClr val="17213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9605" y="4027551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00D9C0"/>
                </a:solidFill>
                <a:latin typeface="Arial" pitchFamily="34" charset="0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243965" y="4009263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4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Modelfile-Konfiguration</a:t>
            </a:r>
            <a:r>
              <a:rPr lang="en-US" sz="1500">
                <a:solidFill>
                  <a:srgbClr val="E4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500" smtClean="0">
                <a:solidFill>
                  <a:srgbClr val="E4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 setzt sich durch ?</a:t>
            </a:r>
            <a:endParaRPr lang="en-US" sz="1500" dirty="0">
              <a:solidFill>
                <a:srgbClr val="E4E8F5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9605" y="4470654"/>
            <a:ext cx="420624" cy="420624"/>
          </a:xfrm>
          <a:prstGeom prst="ellipse">
            <a:avLst/>
          </a:prstGeom>
          <a:solidFill>
            <a:srgbClr val="17213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9605" y="447065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00D9C0"/>
                </a:solidFill>
                <a:latin typeface="Arial" pitchFamily="34" charset="0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243965" y="4452366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smtClean="0">
                <a:solidFill>
                  <a:srgbClr val="E4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docker-compose.yml: Ollama-Service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49605" y="4913757"/>
            <a:ext cx="420624" cy="420624"/>
          </a:xfrm>
          <a:prstGeom prst="ellipse">
            <a:avLst/>
          </a:prstGeom>
          <a:solidFill>
            <a:srgbClr val="17213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9605" y="4913757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00D9C0"/>
                </a:solidFill>
                <a:latin typeface="Arial" pitchFamily="34" charset="0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243965" y="501929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dirty="0">
                <a:solidFill>
                  <a:schemeClr val="bg1">
                    <a:lumMod val="95000"/>
                  </a:schemeClr>
                </a:solidFill>
                <a:ea typeface="Calibri" pitchFamily="34" charset="-122"/>
                <a:cs typeface="Calibri" pitchFamily="34" charset="-120"/>
              </a:rPr>
              <a:t>docker-compose.yml</a:t>
            </a:r>
            <a:r>
              <a:rPr lang="en-US" sz="1500">
                <a:solidFill>
                  <a:schemeClr val="bg1">
                    <a:lumMod val="95000"/>
                  </a:schemeClr>
                </a:solidFill>
                <a:ea typeface="Calibri" pitchFamily="34" charset="-122"/>
                <a:cs typeface="Calibri" pitchFamily="34" charset="-120"/>
              </a:rPr>
              <a:t>: </a:t>
            </a:r>
            <a:r>
              <a:rPr lang="en-US" sz="1600">
                <a:solidFill>
                  <a:schemeClr val="bg1">
                    <a:lumMod val="85000"/>
                  </a:schemeClr>
                </a:solidFill>
                <a:ea typeface="Arial" pitchFamily="34" charset="-122"/>
                <a:cs typeface="Arial" pitchFamily="34" charset="-120"/>
              </a:rPr>
              <a:t>Berechtigungen &amp; Kern-Variablen</a:t>
            </a:r>
          </a:p>
          <a:p>
            <a:pPr marL="0" indent="0">
              <a:buNone/>
            </a:pPr>
            <a:endParaRPr lang="en-US" sz="1500" dirty="0">
              <a:solidFill>
                <a:srgbClr val="E4E8F5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8795385" y="661035"/>
            <a:ext cx="2743200" cy="1828800"/>
          </a:xfrm>
          <a:prstGeom prst="roundRect">
            <a:avLst>
              <a:gd name="adj" fmla="val 6000"/>
            </a:avLst>
          </a:prstGeom>
          <a:solidFill>
            <a:srgbClr val="17213D"/>
          </a:solidFill>
          <a:ln w="12700">
            <a:solidFill>
              <a:srgbClr val="00D9C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206865" y="340995"/>
            <a:ext cx="0" cy="36576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206865" y="2444115"/>
            <a:ext cx="0" cy="41148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755505" y="340995"/>
            <a:ext cx="0" cy="36576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755505" y="2444115"/>
            <a:ext cx="0" cy="41148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304145" y="340995"/>
            <a:ext cx="0" cy="36576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304145" y="2444115"/>
            <a:ext cx="0" cy="41148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852785" y="340995"/>
            <a:ext cx="0" cy="36576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852785" y="2444115"/>
            <a:ext cx="0" cy="41148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206865" y="981075"/>
            <a:ext cx="1920240" cy="1188720"/>
          </a:xfrm>
          <a:prstGeom prst="roundRect">
            <a:avLst>
              <a:gd name="adj" fmla="val 4615"/>
            </a:avLst>
          </a:prstGeom>
          <a:solidFill>
            <a:srgbClr val="121A33"/>
          </a:solidFill>
          <a:ln w="9525">
            <a:solidFill>
              <a:srgbClr val="00D9C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206865" y="981075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iGPU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PERFORMANCE TUNING · iGPU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11274552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smtClean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34" name="Shape 15"/>
          <p:cNvSpPr/>
          <p:nvPr/>
        </p:nvSpPr>
        <p:spPr>
          <a:xfrm>
            <a:off x="633412" y="5360289"/>
            <a:ext cx="420624" cy="420624"/>
          </a:xfrm>
          <a:prstGeom prst="ellipse">
            <a:avLst/>
          </a:prstGeom>
          <a:solidFill>
            <a:srgbClr val="17213D"/>
          </a:solidFill>
          <a:ln/>
        </p:spPr>
      </p:sp>
      <p:sp>
        <p:nvSpPr>
          <p:cNvPr id="35" name="Text 16"/>
          <p:cNvSpPr txBox="1"/>
          <p:nvPr/>
        </p:nvSpPr>
        <p:spPr>
          <a:xfrm>
            <a:off x="633412" y="5360289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00D9C0"/>
                </a:solidFill>
                <a:latin typeface="Arial" pitchFamily="34" charset="0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36" name="Text 17"/>
          <p:cNvSpPr txBox="1"/>
          <p:nvPr/>
        </p:nvSpPr>
        <p:spPr>
          <a:xfrm>
            <a:off x="1227772" y="5456682"/>
            <a:ext cx="4570095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dirty="0">
                <a:solidFill>
                  <a:schemeClr val="bg1">
                    <a:lumMod val="95000"/>
                  </a:schemeClr>
                </a:solidFill>
                <a:ea typeface="Calibri" pitchFamily="34" charset="-122"/>
                <a:cs typeface="Calibri" pitchFamily="34" charset="-120"/>
              </a:rPr>
              <a:t>docker-compose.yml</a:t>
            </a:r>
            <a:r>
              <a:rPr lang="en-US" sz="1500">
                <a:solidFill>
                  <a:schemeClr val="bg1">
                    <a:lumMod val="95000"/>
                  </a:schemeClr>
                </a:solidFill>
                <a:ea typeface="Calibri" pitchFamily="34" charset="-122"/>
                <a:cs typeface="Calibri" pitchFamily="34" charset="-120"/>
              </a:rPr>
              <a:t>: </a:t>
            </a:r>
            <a:r>
              <a:rPr lang="en-US" sz="1600" smtClean="0">
                <a:solidFill>
                  <a:schemeClr val="bg1">
                    <a:lumMod val="85000"/>
                  </a:schemeClr>
                </a:solidFill>
                <a:ea typeface="Calibri" pitchFamily="34" charset="-122"/>
                <a:cs typeface="Arial" pitchFamily="34" charset="-120"/>
              </a:rPr>
              <a:t>Weitere Variablen</a:t>
            </a:r>
            <a:endParaRPr lang="en-US" sz="1600">
              <a:solidFill>
                <a:schemeClr val="bg1">
                  <a:lumMod val="85000"/>
                </a:schemeClr>
              </a:solidFill>
              <a:ea typeface="Arial" pitchFamily="34" charset="-122"/>
              <a:cs typeface="Arial" pitchFamily="34" charset="-120"/>
            </a:endParaRPr>
          </a:p>
          <a:p>
            <a:pPr marL="0" indent="0">
              <a:buNone/>
            </a:pPr>
            <a:endParaRPr lang="en-US" sz="1500" dirty="0">
              <a:solidFill>
                <a:srgbClr val="E4E8F5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37" name="Shape 15"/>
          <p:cNvSpPr/>
          <p:nvPr/>
        </p:nvSpPr>
        <p:spPr>
          <a:xfrm>
            <a:off x="633412" y="5798439"/>
            <a:ext cx="420624" cy="420624"/>
          </a:xfrm>
          <a:prstGeom prst="ellipse">
            <a:avLst/>
          </a:prstGeom>
          <a:solidFill>
            <a:srgbClr val="17213D"/>
          </a:solidFill>
          <a:ln/>
        </p:spPr>
      </p:sp>
      <p:sp>
        <p:nvSpPr>
          <p:cNvPr id="38" name="Text 16"/>
          <p:cNvSpPr txBox="1"/>
          <p:nvPr/>
        </p:nvSpPr>
        <p:spPr>
          <a:xfrm>
            <a:off x="633412" y="5798439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00D9C0"/>
                </a:solidFill>
                <a:latin typeface="Arial" pitchFamily="34" charset="0"/>
                <a:cs typeface="Arial" pitchFamily="34" charset="-120"/>
              </a:rPr>
              <a:t>7</a:t>
            </a:r>
            <a:endParaRPr lang="en-US" sz="1300" dirty="0"/>
          </a:p>
        </p:txBody>
      </p:sp>
      <p:sp>
        <p:nvSpPr>
          <p:cNvPr id="39" name="Text 17"/>
          <p:cNvSpPr txBox="1"/>
          <p:nvPr/>
        </p:nvSpPr>
        <p:spPr>
          <a:xfrm>
            <a:off x="1227772" y="5894832"/>
            <a:ext cx="4570095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>
                <a:solidFill>
                  <a:schemeClr val="bg1">
                    <a:lumMod val="85000"/>
                  </a:schemeClr>
                </a:solidFill>
                <a:ea typeface="Arial" pitchFamily="34" charset="-122"/>
                <a:cs typeface="Arial" pitchFamily="34" charset="-120"/>
              </a:rPr>
              <a:t>Modelfile: Basismodell, System-Rolle &amp; Prompt-Format</a:t>
            </a:r>
          </a:p>
          <a:p>
            <a:pPr marL="0" indent="0">
              <a:buNone/>
            </a:pPr>
            <a:endParaRPr lang="en-US" sz="1500" dirty="0">
              <a:solidFill>
                <a:srgbClr val="E4E8F5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40" name="Shape 3"/>
          <p:cNvSpPr/>
          <p:nvPr/>
        </p:nvSpPr>
        <p:spPr>
          <a:xfrm>
            <a:off x="6383655" y="3122295"/>
            <a:ext cx="420624" cy="420624"/>
          </a:xfrm>
          <a:prstGeom prst="ellipse">
            <a:avLst/>
          </a:prstGeom>
          <a:solidFill>
            <a:srgbClr val="17213D"/>
          </a:solidFill>
          <a:ln/>
        </p:spPr>
      </p:sp>
      <p:sp>
        <p:nvSpPr>
          <p:cNvPr id="41" name="Text 4"/>
          <p:cNvSpPr txBox="1"/>
          <p:nvPr/>
        </p:nvSpPr>
        <p:spPr>
          <a:xfrm>
            <a:off x="6383655" y="3122295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D9C0"/>
                </a:solidFill>
                <a:latin typeface="Arial" pitchFamily="34" charset="0"/>
                <a:cs typeface="Arial" pitchFamily="34" charset="-120"/>
              </a:rPr>
              <a:t>8</a:t>
            </a:r>
            <a:endParaRPr lang="en-US" sz="1300" dirty="0"/>
          </a:p>
        </p:txBody>
      </p:sp>
      <p:sp>
        <p:nvSpPr>
          <p:cNvPr id="42" name="Text 5"/>
          <p:cNvSpPr txBox="1"/>
          <p:nvPr/>
        </p:nvSpPr>
        <p:spPr>
          <a:xfrm>
            <a:off x="6978015" y="3104007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4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Vulkan: Die iGPU für lokale KI nutzen</a:t>
            </a:r>
            <a:endParaRPr lang="en-US" sz="1500" dirty="0"/>
          </a:p>
        </p:txBody>
      </p:sp>
      <p:sp>
        <p:nvSpPr>
          <p:cNvPr id="43" name="Shape 6"/>
          <p:cNvSpPr/>
          <p:nvPr/>
        </p:nvSpPr>
        <p:spPr>
          <a:xfrm>
            <a:off x="6383655" y="3584448"/>
            <a:ext cx="420624" cy="420624"/>
          </a:xfrm>
          <a:prstGeom prst="ellipse">
            <a:avLst/>
          </a:prstGeom>
          <a:solidFill>
            <a:srgbClr val="17213D"/>
          </a:solidFill>
          <a:ln/>
        </p:spPr>
      </p:sp>
      <p:sp>
        <p:nvSpPr>
          <p:cNvPr id="44" name="Text 7"/>
          <p:cNvSpPr txBox="1"/>
          <p:nvPr/>
        </p:nvSpPr>
        <p:spPr>
          <a:xfrm>
            <a:off x="6383655" y="35844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D9C0"/>
                </a:solidFill>
                <a:latin typeface="Arial" pitchFamily="34" charset="0"/>
                <a:cs typeface="Arial" pitchFamily="34" charset="-120"/>
              </a:rPr>
              <a:t>9</a:t>
            </a:r>
            <a:endParaRPr lang="en-US" sz="1300" dirty="0"/>
          </a:p>
        </p:txBody>
      </p:sp>
      <p:sp>
        <p:nvSpPr>
          <p:cNvPr id="45" name="Text 8"/>
          <p:cNvSpPr txBox="1"/>
          <p:nvPr/>
        </p:nvSpPr>
        <p:spPr>
          <a:xfrm>
            <a:off x="6978015" y="35661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4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KI-Geschwindigkeit messen</a:t>
            </a:r>
            <a:endParaRPr lang="en-US" sz="1500" dirty="0"/>
          </a:p>
        </p:txBody>
      </p:sp>
      <p:sp>
        <p:nvSpPr>
          <p:cNvPr id="46" name="Shape 9"/>
          <p:cNvSpPr/>
          <p:nvPr/>
        </p:nvSpPr>
        <p:spPr>
          <a:xfrm>
            <a:off x="6383655" y="4027551"/>
            <a:ext cx="420624" cy="420624"/>
          </a:xfrm>
          <a:prstGeom prst="ellipse">
            <a:avLst/>
          </a:prstGeom>
          <a:solidFill>
            <a:srgbClr val="17213D"/>
          </a:solidFill>
          <a:ln/>
        </p:spPr>
      </p:sp>
      <p:sp>
        <p:nvSpPr>
          <p:cNvPr id="47" name="Text 10"/>
          <p:cNvSpPr txBox="1"/>
          <p:nvPr/>
        </p:nvSpPr>
        <p:spPr>
          <a:xfrm>
            <a:off x="6383655" y="4027551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smtClean="0">
                <a:solidFill>
                  <a:srgbClr val="00D9C0"/>
                </a:solidFill>
                <a:latin typeface="Arial" pitchFamily="34" charset="0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8" name="Text 11"/>
          <p:cNvSpPr txBox="1"/>
          <p:nvPr/>
        </p:nvSpPr>
        <p:spPr>
          <a:xfrm>
            <a:off x="6978015" y="4009263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4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Modelfile-Konfiguration</a:t>
            </a:r>
            <a:r>
              <a:rPr lang="en-US" sz="1500">
                <a:solidFill>
                  <a:srgbClr val="E4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500" smtClean="0">
                <a:solidFill>
                  <a:srgbClr val="E4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 setzt sich durch ?</a:t>
            </a:r>
            <a:endParaRPr lang="en-US" sz="1500" dirty="0">
              <a:solidFill>
                <a:srgbClr val="E4E8F5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49" name="Shape 12"/>
          <p:cNvSpPr/>
          <p:nvPr/>
        </p:nvSpPr>
        <p:spPr>
          <a:xfrm>
            <a:off x="6383655" y="4470654"/>
            <a:ext cx="420624" cy="420624"/>
          </a:xfrm>
          <a:prstGeom prst="ellipse">
            <a:avLst/>
          </a:prstGeom>
          <a:solidFill>
            <a:srgbClr val="17213D"/>
          </a:solidFill>
          <a:ln/>
        </p:spPr>
      </p:sp>
      <p:sp>
        <p:nvSpPr>
          <p:cNvPr id="50" name="Text 13"/>
          <p:cNvSpPr txBox="1"/>
          <p:nvPr/>
        </p:nvSpPr>
        <p:spPr>
          <a:xfrm>
            <a:off x="6383655" y="447065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smtClean="0">
                <a:solidFill>
                  <a:srgbClr val="00D9C0"/>
                </a:solidFill>
                <a:latin typeface="Arial" pitchFamily="34" charset="0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51" name="Text 14"/>
          <p:cNvSpPr txBox="1"/>
          <p:nvPr/>
        </p:nvSpPr>
        <p:spPr>
          <a:xfrm>
            <a:off x="6978015" y="4452366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smtClean="0">
                <a:solidFill>
                  <a:srgbClr val="E4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docker-compose.yml: Ollama-Service</a:t>
            </a:r>
            <a:endParaRPr lang="en-US" sz="1500" dirty="0"/>
          </a:p>
        </p:txBody>
      </p:sp>
      <p:sp>
        <p:nvSpPr>
          <p:cNvPr id="52" name="Shape 15"/>
          <p:cNvSpPr/>
          <p:nvPr/>
        </p:nvSpPr>
        <p:spPr>
          <a:xfrm>
            <a:off x="6383655" y="4913757"/>
            <a:ext cx="420624" cy="420624"/>
          </a:xfrm>
          <a:prstGeom prst="ellipse">
            <a:avLst/>
          </a:prstGeom>
          <a:solidFill>
            <a:srgbClr val="17213D"/>
          </a:solidFill>
          <a:ln/>
        </p:spPr>
      </p:sp>
      <p:sp>
        <p:nvSpPr>
          <p:cNvPr id="53" name="Text 16"/>
          <p:cNvSpPr txBox="1"/>
          <p:nvPr/>
        </p:nvSpPr>
        <p:spPr>
          <a:xfrm>
            <a:off x="6383655" y="4913757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smtClean="0">
                <a:solidFill>
                  <a:srgbClr val="00D9C0"/>
                </a:solidFill>
                <a:latin typeface="Arial" pitchFamily="34" charset="0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54" name="Text 17"/>
          <p:cNvSpPr txBox="1"/>
          <p:nvPr/>
        </p:nvSpPr>
        <p:spPr>
          <a:xfrm>
            <a:off x="6978015" y="501929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dirty="0">
                <a:solidFill>
                  <a:schemeClr val="bg1">
                    <a:lumMod val="95000"/>
                  </a:schemeClr>
                </a:solidFill>
                <a:ea typeface="Calibri" pitchFamily="34" charset="-122"/>
                <a:cs typeface="Calibri" pitchFamily="34" charset="-120"/>
              </a:rPr>
              <a:t>docker-compose.yml</a:t>
            </a:r>
            <a:r>
              <a:rPr lang="en-US" sz="1500">
                <a:solidFill>
                  <a:schemeClr val="bg1">
                    <a:lumMod val="95000"/>
                  </a:schemeClr>
                </a:solidFill>
                <a:ea typeface="Calibri" pitchFamily="34" charset="-122"/>
                <a:cs typeface="Calibri" pitchFamily="34" charset="-120"/>
              </a:rPr>
              <a:t>: </a:t>
            </a:r>
            <a:r>
              <a:rPr lang="en-US" sz="1600">
                <a:solidFill>
                  <a:schemeClr val="bg1">
                    <a:lumMod val="85000"/>
                  </a:schemeClr>
                </a:solidFill>
                <a:ea typeface="Arial" pitchFamily="34" charset="-122"/>
                <a:cs typeface="Arial" pitchFamily="34" charset="-120"/>
              </a:rPr>
              <a:t>Berechtigungen &amp; Kern-Variablen</a:t>
            </a:r>
          </a:p>
          <a:p>
            <a:pPr marL="0" indent="0">
              <a:buNone/>
            </a:pPr>
            <a:endParaRPr lang="en-US" sz="1500" dirty="0">
              <a:solidFill>
                <a:srgbClr val="E4E8F5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55" name="Shape 15"/>
          <p:cNvSpPr/>
          <p:nvPr/>
        </p:nvSpPr>
        <p:spPr>
          <a:xfrm>
            <a:off x="6367462" y="5360289"/>
            <a:ext cx="420624" cy="420624"/>
          </a:xfrm>
          <a:prstGeom prst="ellipse">
            <a:avLst/>
          </a:prstGeom>
          <a:solidFill>
            <a:srgbClr val="17213D"/>
          </a:solidFill>
          <a:ln/>
        </p:spPr>
      </p:sp>
      <p:sp>
        <p:nvSpPr>
          <p:cNvPr id="56" name="Text 16"/>
          <p:cNvSpPr txBox="1"/>
          <p:nvPr/>
        </p:nvSpPr>
        <p:spPr>
          <a:xfrm>
            <a:off x="6367462" y="5360289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smtClean="0">
                <a:solidFill>
                  <a:srgbClr val="00D9C0"/>
                </a:solidFill>
                <a:latin typeface="Arial" pitchFamily="34" charset="0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57" name="Text 17"/>
          <p:cNvSpPr txBox="1"/>
          <p:nvPr/>
        </p:nvSpPr>
        <p:spPr>
          <a:xfrm>
            <a:off x="6961822" y="5456682"/>
            <a:ext cx="4570095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dirty="0">
                <a:solidFill>
                  <a:schemeClr val="bg1">
                    <a:lumMod val="95000"/>
                  </a:schemeClr>
                </a:solidFill>
                <a:ea typeface="Calibri" pitchFamily="34" charset="-122"/>
                <a:cs typeface="Calibri" pitchFamily="34" charset="-120"/>
              </a:rPr>
              <a:t>docker-compose.yml</a:t>
            </a:r>
            <a:r>
              <a:rPr lang="en-US" sz="1500">
                <a:solidFill>
                  <a:schemeClr val="bg1">
                    <a:lumMod val="95000"/>
                  </a:schemeClr>
                </a:solidFill>
                <a:ea typeface="Calibri" pitchFamily="34" charset="-122"/>
                <a:cs typeface="Calibri" pitchFamily="34" charset="-120"/>
              </a:rPr>
              <a:t>: </a:t>
            </a:r>
            <a:r>
              <a:rPr lang="en-US" sz="1600" smtClean="0">
                <a:solidFill>
                  <a:schemeClr val="bg1">
                    <a:lumMod val="85000"/>
                  </a:schemeClr>
                </a:solidFill>
                <a:ea typeface="Calibri" pitchFamily="34" charset="-122"/>
                <a:cs typeface="Arial" pitchFamily="34" charset="-120"/>
              </a:rPr>
              <a:t>Weitere Variablen</a:t>
            </a:r>
            <a:endParaRPr lang="en-US" sz="1600">
              <a:solidFill>
                <a:schemeClr val="bg1">
                  <a:lumMod val="85000"/>
                </a:schemeClr>
              </a:solidFill>
              <a:ea typeface="Arial" pitchFamily="34" charset="-122"/>
              <a:cs typeface="Arial" pitchFamily="34" charset="-120"/>
            </a:endParaRPr>
          </a:p>
          <a:p>
            <a:pPr marL="0" indent="0">
              <a:buNone/>
            </a:pPr>
            <a:endParaRPr lang="en-US" sz="1500" dirty="0">
              <a:solidFill>
                <a:srgbClr val="E4E8F5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58" name="Shape 15"/>
          <p:cNvSpPr/>
          <p:nvPr/>
        </p:nvSpPr>
        <p:spPr>
          <a:xfrm>
            <a:off x="6367462" y="5798439"/>
            <a:ext cx="420624" cy="420624"/>
          </a:xfrm>
          <a:prstGeom prst="ellipse">
            <a:avLst/>
          </a:prstGeom>
          <a:solidFill>
            <a:srgbClr val="17213D"/>
          </a:solidFill>
          <a:ln/>
        </p:spPr>
      </p:sp>
      <p:sp>
        <p:nvSpPr>
          <p:cNvPr id="59" name="Text 16"/>
          <p:cNvSpPr txBox="1"/>
          <p:nvPr/>
        </p:nvSpPr>
        <p:spPr>
          <a:xfrm>
            <a:off x="6367462" y="5798439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smtClean="0">
                <a:solidFill>
                  <a:srgbClr val="00D9C0"/>
                </a:solidFill>
                <a:latin typeface="Arial" pitchFamily="34" charset="0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60" name="Text 17"/>
          <p:cNvSpPr txBox="1"/>
          <p:nvPr/>
        </p:nvSpPr>
        <p:spPr>
          <a:xfrm>
            <a:off x="6961822" y="5894832"/>
            <a:ext cx="4570095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>
                <a:solidFill>
                  <a:schemeClr val="bg1">
                    <a:lumMod val="85000"/>
                  </a:schemeClr>
                </a:solidFill>
                <a:ea typeface="Arial" pitchFamily="34" charset="-122"/>
                <a:cs typeface="Arial" pitchFamily="34" charset="-120"/>
              </a:rPr>
              <a:t>Modelfile: Basismodell, System-Rolle &amp; Prompt-Format</a:t>
            </a:r>
          </a:p>
          <a:p>
            <a:pPr marL="0" indent="0">
              <a:buNone/>
            </a:pPr>
            <a:endParaRPr lang="en-US" sz="1500" dirty="0">
              <a:solidFill>
                <a:srgbClr val="E4E8F5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3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smtClean="0">
                <a:solidFill>
                  <a:srgbClr val="00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</a:t>
            </a:r>
            <a:r>
              <a:rPr lang="en-US" sz="1300" b="1" kern="0" spc="200" dirty="0">
                <a:solidFill>
                  <a:srgbClr val="00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OPTIMIERUNG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Vulkan: die Brücke zur iGPU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00D9C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60020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E4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für performante 2D-/3D-Grafik – steuert im Hintergrund Millionen Geräte an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2971800"/>
            <a:ext cx="457200" cy="457200"/>
          </a:xfrm>
          <a:prstGeom prst="ellipse">
            <a:avLst/>
          </a:prstGeom>
          <a:solidFill>
            <a:srgbClr val="00D9C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2971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274320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E4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Erkennt den GTT-Bereich und lädt das KI-Modell in den geteilten RAM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40080" y="4114800"/>
            <a:ext cx="457200" cy="457200"/>
          </a:xfrm>
          <a:prstGeom prst="ellipse">
            <a:avLst/>
          </a:prstGeom>
          <a:solidFill>
            <a:srgbClr val="00D9C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393192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E4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Aktiviert die Grafikkerne der iGPU – genau deshalb ist Vulkan bei AMD-iGPUs so interessant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40080" y="5394960"/>
            <a:ext cx="6537960" cy="1051560"/>
          </a:xfrm>
          <a:prstGeom prst="roundRect">
            <a:avLst>
              <a:gd name="adj" fmla="val 8696"/>
            </a:avLst>
          </a:prstGeom>
          <a:solidFill>
            <a:srgbClr val="1721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8680" y="5394960"/>
            <a:ext cx="6080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Ohne Vulkan sieht Ollama zwar die Hardware, nutzt aber nur die CPU – der Großteil der Rechenleistung der iGPU bleibt ungenutzt.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680960" y="1828800"/>
            <a:ext cx="3931920" cy="4617720"/>
          </a:xfrm>
          <a:prstGeom prst="roundRect">
            <a:avLst>
              <a:gd name="adj" fmla="val 2326"/>
            </a:avLst>
          </a:prstGeom>
          <a:solidFill>
            <a:srgbClr val="17213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955280" y="20574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9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braucht Zugriff auf: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0" y="2514600"/>
            <a:ext cx="338328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/dev/dri
</a:t>
            </a:r>
            <a:endParaRPr lang="en-US" sz="1300" dirty="0"/>
          </a:p>
          <a:p>
            <a:pPr marL="0" indent="0">
              <a:buNone/>
            </a:pPr>
            <a:r>
              <a:rPr lang="en-US" sz="1250" dirty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Öffnet dem Container die Tür zur Grafikeinheit (Vulkan-Zugriff).
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/dev/kfd
</a:t>
            </a:r>
            <a:endParaRPr lang="en-US" sz="1300" dirty="0"/>
          </a:p>
          <a:p>
            <a:pPr marL="0" indent="0">
              <a:buNone/>
            </a:pPr>
            <a:r>
              <a:rPr lang="en-US" sz="1250" dirty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AMDs Spezialtür für Compute-Aufgaben – direkte Kommunikation mit dem Prozessorkern für Berechnungen.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PERFORMANCE TUNING · iGPU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1274552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smtClean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smtClean="0">
                <a:solidFill>
                  <a:srgbClr val="00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</a:t>
            </a:r>
            <a:r>
              <a:rPr lang="en-US" sz="1300" b="1" kern="0" spc="200" dirty="0">
                <a:solidFill>
                  <a:srgbClr val="00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OPTIMIERUNG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KI-Geschwindigkeit messen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400" smtClean="0">
                <a:solidFill>
                  <a:schemeClr val="tx1">
                    <a:lumMod val="65000"/>
                    <a:lumOff val="35000"/>
                  </a:schemeClr>
                </a:solidFill>
              </a:rPr>
              <a:t>Die Anzahl der Parameter in Llama3.1:8b ist hoch im Vergleich zu Llama3.2 und sollte verwendet werden für </a:t>
            </a:r>
            <a:r>
              <a:rPr lang="de-DE" sz="1400">
                <a:solidFill>
                  <a:schemeClr val="tx1">
                    <a:lumMod val="65000"/>
                    <a:lumOff val="35000"/>
                  </a:schemeClr>
                </a:solidFill>
              </a:rPr>
              <a:t>Komplexe, mehrsprachige Übersetzungen (Nuancen), Tiefes Fach- und Faktenwissen (Deep Knowledge), Programmierung und Code-Generierung und Komplexe Logik und mehrstufige Workflows (Reasoning</a:t>
            </a:r>
            <a:r>
              <a:rPr lang="de-DE" sz="1400"/>
              <a:t>)</a:t>
            </a:r>
            <a:endParaRPr lang="en-US" sz="13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5" name="Chart 0"/>
          <p:cNvGraphicFramePr/>
          <p:nvPr>
            <p:extLst>
              <p:ext uri="{D42A27DB-BD31-4B8C-83A1-F6EECF244321}">
                <p14:modId xmlns:p14="http://schemas.microsoft.com/office/powerpoint/2010/main" val="1670398605"/>
              </p:ext>
            </p:extLst>
          </p:nvPr>
        </p:nvGraphicFramePr>
        <p:xfrm>
          <a:off x="548640" y="2148840"/>
          <a:ext cx="630936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7178040" y="2148840"/>
            <a:ext cx="4434840" cy="1828800"/>
          </a:xfrm>
          <a:prstGeom prst="roundRect">
            <a:avLst>
              <a:gd name="adj" fmla="val 5000"/>
            </a:avLst>
          </a:prstGeom>
          <a:solidFill>
            <a:srgbClr val="0D132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639908" y="2303145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00D9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~2×</a:t>
            </a:r>
            <a:endParaRPr lang="en-US" sz="4400" dirty="0"/>
          </a:p>
        </p:txBody>
      </p:sp>
      <p:sp>
        <p:nvSpPr>
          <p:cNvPr id="8" name="Text 5"/>
          <p:cNvSpPr txBox="1"/>
          <p:nvPr/>
        </p:nvSpPr>
        <p:spPr>
          <a:xfrm>
            <a:off x="8296304" y="306324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7D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schneller mit llama3.2:latest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D7D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 direkten Codewort-Test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178040" y="4160520"/>
            <a:ext cx="4434840" cy="2103120"/>
          </a:xfrm>
          <a:prstGeom prst="roundRect">
            <a:avLst>
              <a:gd name="adj" fmla="val 4348"/>
            </a:avLst>
          </a:prstGeom>
          <a:solidFill>
            <a:srgbClr val="F2F5F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336184" y="4235156"/>
            <a:ext cx="3931920" cy="9144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b="1">
                <a:solidFill>
                  <a:srgbClr val="0D1321"/>
                </a:solidFill>
                <a:latin typeface="Consolas" panose="020B0609020204030204" pitchFamily="49" charset="0"/>
                <a:ea typeface="Arial" pitchFamily="34" charset="-122"/>
                <a:cs typeface="Arial" pitchFamily="34" charset="-120"/>
              </a:rPr>
              <a:t>$ docker exec -it ollama_container ollama run llama3.1:8b "Lies den folgenden Text aufmerksam durch. Ganz am Ende steht ein geheimes Codewort nach dem Wort 'GEHEIMWORT:'. Nenne mir NUR dieses eine Codewort und absolut nichts anderes! Hier ist der Text: $(cat ki-test.txt)" --verbose</a:t>
            </a:r>
            <a:endParaRPr lang="en-US" sz="900" dirty="0">
              <a:latin typeface="Consolas" panose="020B0609020204030204" pitchFamily="49" charset="0"/>
            </a:endParaRPr>
          </a:p>
        </p:txBody>
      </p:sp>
      <p:sp>
        <p:nvSpPr>
          <p:cNvPr id="11" name="Text 8"/>
          <p:cNvSpPr txBox="1"/>
          <p:nvPr/>
        </p:nvSpPr>
        <p:spPr>
          <a:xfrm>
            <a:off x="7336184" y="5149557"/>
            <a:ext cx="2675324" cy="10894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eval rate</a:t>
            </a:r>
            <a:r>
              <a:rPr lang="en-US" sz="1000" b="1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endParaRPr lang="en-US" sz="1000" b="1" smtClean="0">
              <a:solidFill>
                <a:srgbClr val="5B647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100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zeigt, wie schnell der Eingabetext eingelesen wird.</a:t>
            </a:r>
            <a:endParaRPr lang="en-US" sz="1000" dirty="0"/>
          </a:p>
          <a:p>
            <a:pPr marL="0" indent="0">
              <a:buNone/>
            </a:pPr>
            <a:endParaRPr lang="en-US" sz="1000" b="1" smtClean="0">
              <a:solidFill>
                <a:srgbClr val="5B647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b="1" smtClean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 </a:t>
            </a:r>
            <a:r>
              <a:rPr lang="en-US" sz="1000" b="1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</a:t>
            </a:r>
            <a:r>
              <a:rPr lang="en-US" sz="100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endParaRPr lang="en-US" sz="1000" smtClean="0">
              <a:solidFill>
                <a:srgbClr val="5B647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de-DE" sz="1000">
                <a:solidFill>
                  <a:schemeClr val="tx1">
                    <a:lumMod val="65000"/>
                    <a:lumOff val="35000"/>
                  </a:schemeClr>
                </a:solidFill>
              </a:rPr>
              <a:t>Die Generierungsgeschwindigkeit (Eval Rate) zeigt, wie viele Tokens das Modell pro Sekunde ausgibt.</a:t>
            </a:r>
            <a:endParaRPr lang="en-US" sz="10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2" name="Text 9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PERFORMANCE TUNING · iGPU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11274552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smtClean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smtClean="0">
                <a:solidFill>
                  <a:srgbClr val="00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</a:t>
            </a:r>
            <a:r>
              <a:rPr lang="en-US" sz="1300" b="1" kern="0" spc="200" dirty="0">
                <a:solidFill>
                  <a:srgbClr val="00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OPTIMIERUNG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Modelfile-Konfiguration: Wer setzt sich durch?</a:t>
            </a:r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1188720"/>
          </a:xfrm>
          <a:prstGeom prst="roundRect">
            <a:avLst>
              <a:gd name="adj" fmla="val 7692"/>
            </a:avLst>
          </a:prstGeom>
          <a:solidFill>
            <a:srgbClr val="0D1321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810512"/>
            <a:ext cx="3566160" cy="548640"/>
          </a:xfrm>
          <a:prstGeom prst="roundRect">
            <a:avLst>
              <a:gd name="adj" fmla="val 10000"/>
            </a:avLst>
          </a:prstGeom>
          <a:solidFill>
            <a:srgbClr val="17213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810512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 &gt; MODELFILE &gt; COMPOSE</a:t>
            </a:r>
          </a:p>
        </p:txBody>
      </p:sp>
      <p:sp>
        <p:nvSpPr>
          <p:cNvPr id="7" name="Text 5"/>
          <p:cNvSpPr txBox="1"/>
          <p:nvPr/>
        </p:nvSpPr>
        <p:spPr>
          <a:xfrm>
            <a:off x="4572000" y="1600200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4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Wert in der API-Anfrage sticht das Modelfile immer aus. Das Modelfile dient als Fallback – hier hinterlegst du die optimalen Werte als globale Standardwerte.</a:t>
            </a:r>
          </a:p>
        </p:txBody>
      </p:sp>
      <p:sp>
        <p:nvSpPr>
          <p:cNvPr id="8" name="Text 6"/>
          <p:cNvSpPr txBox="1"/>
          <p:nvPr/>
        </p:nvSpPr>
        <p:spPr>
          <a:xfrm>
            <a:off x="548640" y="3063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 wird der Wert tatsächlich gesetzt?</a:t>
            </a:r>
          </a:p>
        </p:txBody>
      </p:sp>
      <p:sp>
        <p:nvSpPr>
          <p:cNvPr id="9" name="Shape 7"/>
          <p:cNvSpPr/>
          <p:nvPr/>
        </p:nvSpPr>
        <p:spPr>
          <a:xfrm>
            <a:off x="548640" y="3429000"/>
            <a:ext cx="11064240" cy="512064"/>
          </a:xfrm>
          <a:prstGeom prst="roundRect">
            <a:avLst>
              <a:gd name="adj" fmla="val 12500"/>
            </a:avLst>
          </a:prstGeom>
          <a:solidFill>
            <a:srgbClr val="F2F5F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3429000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n8n Node Einstellungen</a:t>
            </a:r>
          </a:p>
        </p:txBody>
      </p:sp>
      <p:sp>
        <p:nvSpPr>
          <p:cNvPr id="11" name="Text 9"/>
          <p:cNvSpPr txBox="1"/>
          <p:nvPr/>
        </p:nvSpPr>
        <p:spPr>
          <a:xfrm>
            <a:off x="3657600" y="3429000"/>
            <a:ext cx="5852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Wird zur Laufzeit jeder Anfrage mitgeschickt – sticht IMMER alle anderen Werte aus</a:t>
            </a:r>
          </a:p>
        </p:txBody>
      </p:sp>
      <p:sp>
        <p:nvSpPr>
          <p:cNvPr id="12" name="Shape 10"/>
          <p:cNvSpPr/>
          <p:nvPr/>
        </p:nvSpPr>
        <p:spPr>
          <a:xfrm>
            <a:off x="9646920" y="3502152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00D9C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646920" y="350215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Höchste Prio</a:t>
            </a:r>
          </a:p>
        </p:txBody>
      </p:sp>
      <p:sp>
        <p:nvSpPr>
          <p:cNvPr id="14" name="Shape 12"/>
          <p:cNvSpPr/>
          <p:nvPr/>
        </p:nvSpPr>
        <p:spPr>
          <a:xfrm>
            <a:off x="548640" y="4005072"/>
            <a:ext cx="11064240" cy="512064"/>
          </a:xfrm>
          <a:prstGeom prst="roundRect">
            <a:avLst>
              <a:gd name="adj" fmla="val 12500"/>
            </a:avLst>
          </a:prstGeom>
          <a:solidFill>
            <a:srgbClr val="F2F5F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1520" y="4005072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Modelfile</a:t>
            </a:r>
          </a:p>
        </p:txBody>
      </p:sp>
      <p:sp>
        <p:nvSpPr>
          <p:cNvPr id="16" name="Text 14"/>
          <p:cNvSpPr txBox="1"/>
          <p:nvPr/>
        </p:nvSpPr>
        <p:spPr>
          <a:xfrm>
            <a:off x="3657600" y="4005072"/>
            <a:ext cx="5852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Standardwert des Modells – greift, wenn die Anfrage selbst nichts vorgibt</a:t>
            </a:r>
          </a:p>
        </p:txBody>
      </p:sp>
      <p:sp>
        <p:nvSpPr>
          <p:cNvPr id="17" name="Shape 15"/>
          <p:cNvSpPr/>
          <p:nvPr/>
        </p:nvSpPr>
        <p:spPr>
          <a:xfrm>
            <a:off x="9646920" y="4078224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FF6B4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646920" y="4078224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</a:t>
            </a:r>
          </a:p>
        </p:txBody>
      </p:sp>
      <p:sp>
        <p:nvSpPr>
          <p:cNvPr id="19" name="Shape 17"/>
          <p:cNvSpPr/>
          <p:nvPr/>
        </p:nvSpPr>
        <p:spPr>
          <a:xfrm>
            <a:off x="548640" y="4581144"/>
            <a:ext cx="11064240" cy="512064"/>
          </a:xfrm>
          <a:prstGeom prst="roundRect">
            <a:avLst>
              <a:gd name="adj" fmla="val 12500"/>
            </a:avLst>
          </a:prstGeom>
          <a:solidFill>
            <a:srgbClr val="F2F5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31520" y="4581144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docker-compose.yml</a:t>
            </a:r>
          </a:p>
        </p:txBody>
      </p:sp>
      <p:sp>
        <p:nvSpPr>
          <p:cNvPr id="21" name="Text 19"/>
          <p:cNvSpPr txBox="1"/>
          <p:nvPr/>
        </p:nvSpPr>
        <p:spPr>
          <a:xfrm>
            <a:off x="3657600" y="4581144"/>
            <a:ext cx="5852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globale Server-Deckel – harte Obergrenze für alle Modelle im Container</a:t>
            </a:r>
          </a:p>
        </p:txBody>
      </p:sp>
      <p:sp>
        <p:nvSpPr>
          <p:cNvPr id="22" name="Shape 20"/>
          <p:cNvSpPr/>
          <p:nvPr/>
        </p:nvSpPr>
        <p:spPr>
          <a:xfrm>
            <a:off x="9646920" y="4654296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9AA3C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646920" y="4654296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Deckel</a:t>
            </a:r>
          </a:p>
        </p:txBody>
      </p:sp>
      <p:sp>
        <p:nvSpPr>
          <p:cNvPr id="24" name="Shape 22"/>
          <p:cNvSpPr/>
          <p:nvPr/>
        </p:nvSpPr>
        <p:spPr>
          <a:xfrm>
            <a:off x="548640" y="5157216"/>
            <a:ext cx="11064240" cy="512064"/>
          </a:xfrm>
          <a:prstGeom prst="roundRect">
            <a:avLst>
              <a:gd name="adj" fmla="val 12500"/>
            </a:avLst>
          </a:prstGeom>
          <a:solidFill>
            <a:srgbClr val="F2F5F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31520" y="5157216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Praxis-Regel</a:t>
            </a:r>
          </a:p>
        </p:txBody>
      </p:sp>
      <p:sp>
        <p:nvSpPr>
          <p:cNvPr id="26" name="Text 24"/>
          <p:cNvSpPr txBox="1"/>
          <p:nvPr/>
        </p:nvSpPr>
        <p:spPr>
          <a:xfrm>
            <a:off x="3657600" y="5157216"/>
            <a:ext cx="5852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Optimale Werte als globalen Standard im Modelfile hinterlegen, Ausnahmen gezielt per n8n-Node überschreiben</a:t>
            </a:r>
          </a:p>
        </p:txBody>
      </p:sp>
      <p:sp>
        <p:nvSpPr>
          <p:cNvPr id="27" name="Shape 25"/>
          <p:cNvSpPr/>
          <p:nvPr/>
        </p:nvSpPr>
        <p:spPr>
          <a:xfrm>
            <a:off x="9646920" y="5230368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00D9C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646920" y="523036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Empfehlung</a:t>
            </a:r>
          </a:p>
        </p:txBody>
      </p:sp>
      <p:sp>
        <p:nvSpPr>
          <p:cNvPr id="34" name="Text 32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PERFORMANCE TUNING · iGPU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11274552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smtClean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kern="0" spc="200" smtClean="0">
                <a:solidFill>
                  <a:srgbClr val="00D9C0"/>
                </a:solidFill>
                <a:ea typeface="Calibri" pitchFamily="34" charset="-122"/>
                <a:cs typeface="Calibri" pitchFamily="34" charset="-120"/>
              </a:rPr>
              <a:t>BLOCK </a:t>
            </a:r>
            <a:r>
              <a:rPr lang="en-US" sz="1300" b="1" kern="0" spc="200" dirty="0">
                <a:solidFill>
                  <a:srgbClr val="00D9C0"/>
                </a:solidFill>
                <a:ea typeface="Calibri" pitchFamily="34" charset="-122"/>
                <a:cs typeface="Calibri" pitchFamily="34" charset="-120"/>
              </a:rPr>
              <a:t>3 OPTIMIERUNG</a:t>
            </a:r>
            <a:endParaRPr lang="en-US" sz="1300" dirty="0">
              <a:solidFill>
                <a:prstClr val="black"/>
              </a:solidFill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docker-compose.yml</a:t>
            </a:r>
            <a:r>
              <a:rPr lang="en-US" sz="3000" b="1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</a:t>
            </a:r>
            <a:r>
              <a:rPr lang="en-US" sz="3000" b="1" smtClean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Ollama-Service</a:t>
            </a:r>
            <a:endParaRPr lang="en-US" sz="3000" b="1" dirty="0">
              <a:solidFill>
                <a:srgbClr val="1217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1188720"/>
          </a:xfrm>
          <a:prstGeom prst="roundRect">
            <a:avLst>
              <a:gd name="adj" fmla="val 7692"/>
            </a:avLst>
          </a:prstGeom>
          <a:solidFill>
            <a:srgbClr val="0D1321"/>
          </a:solidFill>
          <a:ln/>
        </p:spPr>
      </p:sp>
      <p:sp>
        <p:nvSpPr>
          <p:cNvPr id="5" name="Shape 3"/>
          <p:cNvSpPr/>
          <p:nvPr/>
        </p:nvSpPr>
        <p:spPr>
          <a:xfrm>
            <a:off x="815340" y="1916049"/>
            <a:ext cx="3566160" cy="548640"/>
          </a:xfrm>
          <a:prstGeom prst="roundRect">
            <a:avLst>
              <a:gd name="adj" fmla="val 10000"/>
            </a:avLst>
          </a:prstGeom>
          <a:solidFill>
            <a:srgbClr val="17213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929765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image: ollama/ollama:latest</a:t>
            </a:r>
          </a:p>
        </p:txBody>
      </p:sp>
      <p:sp>
        <p:nvSpPr>
          <p:cNvPr id="7" name="Text 5"/>
          <p:cNvSpPr txBox="1"/>
          <p:nvPr/>
        </p:nvSpPr>
        <p:spPr>
          <a:xfrm>
            <a:off x="4572000" y="1600200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dirty="0">
                <a:solidFill>
                  <a:srgbClr val="E4E8F5"/>
                </a:solidFill>
                <a:ea typeface="Calibri" pitchFamily="34" charset="-122"/>
                <a:cs typeface="Calibri" pitchFamily="34" charset="-120"/>
              </a:rPr>
              <a:t>Der Container läuft als eigener Service – Port, Volumes und Geräte-Zugriffe werden hier zentral für alle Modelle festgelegt.</a:t>
            </a:r>
          </a:p>
        </p:txBody>
      </p:sp>
      <p:sp>
        <p:nvSpPr>
          <p:cNvPr id="8" name="Text 6"/>
          <p:cNvSpPr txBox="1"/>
          <p:nvPr/>
        </p:nvSpPr>
        <p:spPr>
          <a:xfrm>
            <a:off x="548640" y="292989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wichtigsten Bausteine des Service-Blocks</a:t>
            </a:r>
          </a:p>
        </p:txBody>
      </p:sp>
      <p:sp>
        <p:nvSpPr>
          <p:cNvPr id="9" name="Shape 7"/>
          <p:cNvSpPr/>
          <p:nvPr/>
        </p:nvSpPr>
        <p:spPr>
          <a:xfrm>
            <a:off x="548640" y="3429000"/>
            <a:ext cx="11064240" cy="512064"/>
          </a:xfrm>
          <a:prstGeom prst="roundRect">
            <a:avLst>
              <a:gd name="adj" fmla="val 12500"/>
            </a:avLst>
          </a:prstGeom>
          <a:solidFill>
            <a:srgbClr val="F2F5F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48200" y="3429000"/>
            <a:ext cx="488632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50" dirty="0">
                <a:solidFill>
                  <a:srgbClr val="5B6478"/>
                </a:solidFill>
                <a:ea typeface="Calibri" pitchFamily="34" charset="-122"/>
                <a:cs typeface="Calibri" pitchFamily="34" charset="-120"/>
              </a:rPr>
              <a:t>Veröffentlicht die Ollama-API auf dem Standard-Port des Hosts</a:t>
            </a:r>
          </a:p>
        </p:txBody>
      </p:sp>
      <p:sp>
        <p:nvSpPr>
          <p:cNvPr id="12" name="Shape 10"/>
          <p:cNvSpPr/>
          <p:nvPr/>
        </p:nvSpPr>
        <p:spPr>
          <a:xfrm>
            <a:off x="9646920" y="3502152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00D9C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646920" y="350215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0D1321"/>
                </a:solidFill>
                <a:ea typeface="Calibri" pitchFamily="34" charset="-122"/>
                <a:cs typeface="Calibri" pitchFamily="34" charset="-120"/>
              </a:rPr>
              <a:t>Pflicht</a:t>
            </a:r>
          </a:p>
        </p:txBody>
      </p:sp>
      <p:sp>
        <p:nvSpPr>
          <p:cNvPr id="14" name="Shape 12"/>
          <p:cNvSpPr/>
          <p:nvPr/>
        </p:nvSpPr>
        <p:spPr>
          <a:xfrm>
            <a:off x="548640" y="4005072"/>
            <a:ext cx="11064240" cy="512064"/>
          </a:xfrm>
          <a:prstGeom prst="roundRect">
            <a:avLst>
              <a:gd name="adj" fmla="val 12500"/>
            </a:avLst>
          </a:prstGeom>
          <a:solidFill>
            <a:srgbClr val="F2F5F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657725" y="4005072"/>
            <a:ext cx="522922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50" dirty="0">
                <a:solidFill>
                  <a:srgbClr val="5B6478"/>
                </a:solidFill>
                <a:ea typeface="Calibri" pitchFamily="34" charset="-122"/>
                <a:cs typeface="Calibri" pitchFamily="34" charset="-120"/>
              </a:rPr>
              <a:t>Speichert Modelle &amp; Modelfiles dauerhaft außerhalb </a:t>
            </a:r>
            <a:r>
              <a:rPr lang="en-US" sz="1150">
                <a:solidFill>
                  <a:srgbClr val="5B6478"/>
                </a:solidFill>
                <a:ea typeface="Calibri" pitchFamily="34" charset="-122"/>
                <a:cs typeface="Calibri" pitchFamily="34" charset="-120"/>
              </a:rPr>
              <a:t>des </a:t>
            </a:r>
            <a:r>
              <a:rPr lang="en-US" sz="1150" smtClean="0">
                <a:solidFill>
                  <a:srgbClr val="5B6478"/>
                </a:solidFill>
                <a:ea typeface="Calibri" pitchFamily="34" charset="-122"/>
                <a:cs typeface="Calibri" pitchFamily="34" charset="-120"/>
              </a:rPr>
              <a:t>Containers0</a:t>
            </a:r>
            <a:endParaRPr lang="en-US" sz="1150" dirty="0">
              <a:solidFill>
                <a:srgbClr val="5B6478"/>
              </a:solidFill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9646920" y="4078224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00D9C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646920" y="4078224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0D1321"/>
                </a:solidFill>
                <a:ea typeface="Calibri" pitchFamily="34" charset="-122"/>
                <a:cs typeface="Calibri" pitchFamily="34" charset="-120"/>
              </a:rPr>
              <a:t>Pflicht</a:t>
            </a:r>
          </a:p>
        </p:txBody>
      </p:sp>
      <p:sp>
        <p:nvSpPr>
          <p:cNvPr id="19" name="Shape 17"/>
          <p:cNvSpPr/>
          <p:nvPr/>
        </p:nvSpPr>
        <p:spPr>
          <a:xfrm>
            <a:off x="548640" y="4581144"/>
            <a:ext cx="11064240" cy="512064"/>
          </a:xfrm>
          <a:prstGeom prst="roundRect">
            <a:avLst>
              <a:gd name="adj" fmla="val 12500"/>
            </a:avLst>
          </a:prstGeom>
          <a:solidFill>
            <a:srgbClr val="F2F5F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676775" y="4581144"/>
            <a:ext cx="46863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50" dirty="0">
                <a:solidFill>
                  <a:srgbClr val="5B6478"/>
                </a:solidFill>
                <a:ea typeface="Calibri" pitchFamily="34" charset="-122"/>
                <a:cs typeface="Calibri" pitchFamily="34" charset="-120"/>
              </a:rPr>
              <a:t>Gibt der iGPU direkten Hardware-Zugriff für Vulkan-Beschleunigung</a:t>
            </a:r>
          </a:p>
        </p:txBody>
      </p:sp>
      <p:sp>
        <p:nvSpPr>
          <p:cNvPr id="22" name="Shape 20"/>
          <p:cNvSpPr/>
          <p:nvPr/>
        </p:nvSpPr>
        <p:spPr>
          <a:xfrm>
            <a:off x="9646920" y="4654296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00D9C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646920" y="4654296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ea typeface="Calibri" pitchFamily="34" charset="-122"/>
                <a:cs typeface="Calibri" pitchFamily="34" charset="-120"/>
              </a:rPr>
              <a:t>Pflicht</a:t>
            </a:r>
          </a:p>
        </p:txBody>
      </p:sp>
      <p:sp>
        <p:nvSpPr>
          <p:cNvPr id="24" name="Shape 22"/>
          <p:cNvSpPr/>
          <p:nvPr/>
        </p:nvSpPr>
        <p:spPr>
          <a:xfrm>
            <a:off x="548640" y="5157216"/>
            <a:ext cx="11064240" cy="512064"/>
          </a:xfrm>
          <a:prstGeom prst="roundRect">
            <a:avLst>
              <a:gd name="adj" fmla="val 12500"/>
            </a:avLst>
          </a:prstGeom>
          <a:solidFill>
            <a:srgbClr val="F2F5F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31520" y="5157216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200" b="1" dirty="0">
              <a:solidFill>
                <a:srgbClr val="00D9C0"/>
              </a:solidFill>
              <a:latin typeface="Consolas" panose="020B0609020204030204" pitchFamily="49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6" name="Text 24"/>
          <p:cNvSpPr txBox="1"/>
          <p:nvPr/>
        </p:nvSpPr>
        <p:spPr>
          <a:xfrm>
            <a:off x="4705350" y="515721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50" dirty="0">
                <a:solidFill>
                  <a:srgbClr val="5B6478"/>
                </a:solidFill>
                <a:ea typeface="Calibri" pitchFamily="34" charset="-122"/>
                <a:cs typeface="Calibri" pitchFamily="34" charset="-120"/>
              </a:rPr>
              <a:t>Fügt den Container zu den render-/video-Gruppen des Hosts hinzu</a:t>
            </a:r>
          </a:p>
        </p:txBody>
      </p:sp>
      <p:sp>
        <p:nvSpPr>
          <p:cNvPr id="27" name="Shape 25"/>
          <p:cNvSpPr/>
          <p:nvPr/>
        </p:nvSpPr>
        <p:spPr>
          <a:xfrm>
            <a:off x="9646920" y="5230368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FF6B4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646920" y="523036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ea typeface="Calibri" pitchFamily="34" charset="-122"/>
                <a:cs typeface="Calibri" pitchFamily="34" charset="-120"/>
              </a:rPr>
              <a:t>Wichtig</a:t>
            </a:r>
          </a:p>
        </p:txBody>
      </p:sp>
      <p:sp>
        <p:nvSpPr>
          <p:cNvPr id="29" name="Shape 27"/>
          <p:cNvSpPr/>
          <p:nvPr/>
        </p:nvSpPr>
        <p:spPr>
          <a:xfrm>
            <a:off x="548640" y="5733288"/>
            <a:ext cx="11064240" cy="512064"/>
          </a:xfrm>
          <a:prstGeom prst="roundRect">
            <a:avLst>
              <a:gd name="adj" fmla="val 12500"/>
            </a:avLst>
          </a:prstGeom>
          <a:solidFill>
            <a:srgbClr val="F2F5FA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714875" y="5733288"/>
            <a:ext cx="45339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50" dirty="0">
                <a:solidFill>
                  <a:srgbClr val="5B6478"/>
                </a:solidFill>
                <a:ea typeface="Calibri" pitchFamily="34" charset="-122"/>
                <a:cs typeface="Calibri" pitchFamily="34" charset="-120"/>
              </a:rPr>
              <a:t>Startet den Container nach Absturz oder Host-Neustart automatisch neu</a:t>
            </a:r>
          </a:p>
        </p:txBody>
      </p:sp>
      <p:sp>
        <p:nvSpPr>
          <p:cNvPr id="32" name="Shape 30"/>
          <p:cNvSpPr/>
          <p:nvPr/>
        </p:nvSpPr>
        <p:spPr>
          <a:xfrm>
            <a:off x="9646920" y="5806440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9AA3C0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9646920" y="580644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0D1321"/>
                </a:solidFill>
                <a:ea typeface="Calibri" pitchFamily="34" charset="-122"/>
                <a:cs typeface="Calibri" pitchFamily="34" charset="-120"/>
              </a:rPr>
              <a:t>Empfohlen</a:t>
            </a:r>
          </a:p>
        </p:txBody>
      </p:sp>
      <p:sp>
        <p:nvSpPr>
          <p:cNvPr id="34" name="Text 32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5B6478"/>
                </a:solidFill>
                <a:ea typeface="Calibri" pitchFamily="34" charset="-122"/>
                <a:cs typeface="Calibri" pitchFamily="34" charset="-120"/>
              </a:rPr>
              <a:t>OLLAMA PERFORMANCE TUNING · iGPU</a:t>
            </a:r>
            <a:endParaRPr lang="en-US" sz="900" dirty="0">
              <a:solidFill>
                <a:prstClr val="black"/>
              </a:solidFill>
            </a:endParaRPr>
          </a:p>
        </p:txBody>
      </p:sp>
      <p:sp>
        <p:nvSpPr>
          <p:cNvPr id="35" name="Text 33"/>
          <p:cNvSpPr txBox="1"/>
          <p:nvPr/>
        </p:nvSpPr>
        <p:spPr>
          <a:xfrm>
            <a:off x="11274552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900" dirty="0">
                <a:solidFill>
                  <a:srgbClr val="5B6478"/>
                </a:solidFill>
                <a:ea typeface="Calibri" pitchFamily="34" charset="-122"/>
                <a:cs typeface="Calibri" pitchFamily="34" charset="-120"/>
              </a:rPr>
              <a:t>23</a:t>
            </a:r>
            <a:endParaRPr lang="en-US" sz="900" dirty="0">
              <a:solidFill>
                <a:prstClr val="black"/>
              </a:solidFill>
            </a:endParaRPr>
          </a:p>
        </p:txBody>
      </p:sp>
      <p:sp>
        <p:nvSpPr>
          <p:cNvPr id="37" name="Shape 3"/>
          <p:cNvSpPr/>
          <p:nvPr/>
        </p:nvSpPr>
        <p:spPr>
          <a:xfrm>
            <a:off x="574357" y="3404235"/>
            <a:ext cx="3566160" cy="548640"/>
          </a:xfrm>
          <a:prstGeom prst="roundRect">
            <a:avLst>
              <a:gd name="adj" fmla="val 10000"/>
            </a:avLst>
          </a:prstGeom>
          <a:solidFill>
            <a:srgbClr val="17213D"/>
          </a:solidFill>
          <a:ln/>
        </p:spPr>
      </p:sp>
      <p:sp>
        <p:nvSpPr>
          <p:cNvPr id="38" name="Text 4"/>
          <p:cNvSpPr txBox="1"/>
          <p:nvPr/>
        </p:nvSpPr>
        <p:spPr>
          <a:xfrm>
            <a:off x="583882" y="3404235"/>
            <a:ext cx="35566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 algn="ctr"/>
            <a:r>
              <a:rPr lang="en-US" sz="1200" b="1">
                <a:solidFill>
                  <a:srgbClr val="00D9C0"/>
                </a:solidFill>
                <a:latin typeface="Courier New" panose="02070309020205020404" pitchFamily="49" charset="0"/>
                <a:ea typeface="Arial" pitchFamily="34" charset="-122"/>
                <a:cs typeface="Courier New" panose="02070309020205020404" pitchFamily="49" charset="0"/>
              </a:rPr>
              <a:t>ports: "11434:11434"</a:t>
            </a:r>
            <a:endParaRPr lang="en-US" sz="1200" b="1" dirty="0">
              <a:solidFill>
                <a:srgbClr val="00D9C0"/>
              </a:solidFill>
              <a:latin typeface="Courier New" panose="02070309020205020404" pitchFamily="49" charset="0"/>
              <a:ea typeface="Arial" pitchFamily="34" charset="-122"/>
              <a:cs typeface="Courier New" panose="02070309020205020404" pitchFamily="49" charset="0"/>
            </a:endParaRPr>
          </a:p>
        </p:txBody>
      </p:sp>
      <p:sp>
        <p:nvSpPr>
          <p:cNvPr id="39" name="Shape 3"/>
          <p:cNvSpPr/>
          <p:nvPr/>
        </p:nvSpPr>
        <p:spPr>
          <a:xfrm>
            <a:off x="555307" y="5713095"/>
            <a:ext cx="3566160" cy="548640"/>
          </a:xfrm>
          <a:prstGeom prst="roundRect">
            <a:avLst>
              <a:gd name="adj" fmla="val 10000"/>
            </a:avLst>
          </a:prstGeom>
          <a:solidFill>
            <a:srgbClr val="17213D"/>
          </a:solidFill>
          <a:ln/>
        </p:spPr>
      </p:sp>
      <p:sp>
        <p:nvSpPr>
          <p:cNvPr id="40" name="Text 4"/>
          <p:cNvSpPr txBox="1"/>
          <p:nvPr/>
        </p:nvSpPr>
        <p:spPr>
          <a:xfrm>
            <a:off x="564832" y="5713095"/>
            <a:ext cx="35566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>
                <a:solidFill>
                  <a:srgbClr val="00D9C0"/>
                </a:solidFill>
                <a:latin typeface="Courier New" panose="02070309020205020404" pitchFamily="49" charset="0"/>
                <a:ea typeface="Arial" pitchFamily="34" charset="-122"/>
                <a:cs typeface="Courier New" panose="02070309020205020404" pitchFamily="49" charset="0"/>
              </a:rPr>
              <a:t>restart: unless-stopped</a:t>
            </a:r>
            <a:endParaRPr lang="en-US" sz="1200" b="1" dirty="0">
              <a:solidFill>
                <a:srgbClr val="00D9C0"/>
              </a:solidFill>
              <a:latin typeface="Courier New" panose="02070309020205020404" pitchFamily="49" charset="0"/>
              <a:ea typeface="Arial" pitchFamily="34" charset="-122"/>
              <a:cs typeface="Courier New" panose="02070309020205020404" pitchFamily="49" charset="0"/>
            </a:endParaRPr>
          </a:p>
        </p:txBody>
      </p:sp>
      <p:sp>
        <p:nvSpPr>
          <p:cNvPr id="41" name="Shape 3"/>
          <p:cNvSpPr/>
          <p:nvPr/>
        </p:nvSpPr>
        <p:spPr>
          <a:xfrm>
            <a:off x="577215" y="3989070"/>
            <a:ext cx="3566160" cy="548640"/>
          </a:xfrm>
          <a:prstGeom prst="roundRect">
            <a:avLst>
              <a:gd name="adj" fmla="val 10000"/>
            </a:avLst>
          </a:prstGeom>
          <a:solidFill>
            <a:srgbClr val="17213D"/>
          </a:solidFill>
          <a:ln/>
        </p:spPr>
      </p:sp>
      <p:sp>
        <p:nvSpPr>
          <p:cNvPr id="42" name="Text 4"/>
          <p:cNvSpPr txBox="1"/>
          <p:nvPr/>
        </p:nvSpPr>
        <p:spPr>
          <a:xfrm>
            <a:off x="586740" y="3989070"/>
            <a:ext cx="35566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>
                <a:solidFill>
                  <a:srgbClr val="00D9C0"/>
                </a:solidFill>
                <a:latin typeface="Courier New" panose="02070309020205020404" pitchFamily="49" charset="0"/>
                <a:ea typeface="Arial" pitchFamily="34" charset="-122"/>
                <a:cs typeface="Courier New" panose="02070309020205020404" pitchFamily="49" charset="0"/>
              </a:rPr>
              <a:t>volumes: ./ollama_data:/root/.ollama</a:t>
            </a:r>
            <a:endParaRPr lang="en-US" sz="1200" b="1" dirty="0">
              <a:solidFill>
                <a:srgbClr val="00D9C0"/>
              </a:solidFill>
              <a:latin typeface="Courier New" panose="02070309020205020404" pitchFamily="49" charset="0"/>
              <a:ea typeface="Arial" pitchFamily="34" charset="-122"/>
              <a:cs typeface="Courier New" panose="02070309020205020404" pitchFamily="49" charset="0"/>
            </a:endParaRPr>
          </a:p>
        </p:txBody>
      </p:sp>
      <p:sp>
        <p:nvSpPr>
          <p:cNvPr id="43" name="Shape 3"/>
          <p:cNvSpPr/>
          <p:nvPr/>
        </p:nvSpPr>
        <p:spPr>
          <a:xfrm>
            <a:off x="564832" y="4560570"/>
            <a:ext cx="3566160" cy="548640"/>
          </a:xfrm>
          <a:prstGeom prst="roundRect">
            <a:avLst>
              <a:gd name="adj" fmla="val 10000"/>
            </a:avLst>
          </a:prstGeom>
          <a:solidFill>
            <a:srgbClr val="17213D"/>
          </a:solidFill>
          <a:ln/>
        </p:spPr>
      </p:sp>
      <p:sp>
        <p:nvSpPr>
          <p:cNvPr id="44" name="Text 4"/>
          <p:cNvSpPr txBox="1"/>
          <p:nvPr/>
        </p:nvSpPr>
        <p:spPr>
          <a:xfrm>
            <a:off x="574357" y="4560570"/>
            <a:ext cx="35566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>
                <a:solidFill>
                  <a:srgbClr val="00D9C0"/>
                </a:solidFill>
                <a:latin typeface="Courier New" panose="02070309020205020404" pitchFamily="49" charset="0"/>
                <a:ea typeface="Arial" pitchFamily="34" charset="-122"/>
                <a:cs typeface="Courier New" panose="02070309020205020404" pitchFamily="49" charset="0"/>
              </a:rPr>
              <a:t>devices: /dev/dri, /dev/kfd</a:t>
            </a:r>
            <a:endParaRPr lang="en-US" sz="1200" b="1" dirty="0">
              <a:solidFill>
                <a:srgbClr val="00D9C0"/>
              </a:solidFill>
              <a:latin typeface="Courier New" panose="02070309020205020404" pitchFamily="49" charset="0"/>
              <a:ea typeface="Arial" pitchFamily="34" charset="-122"/>
              <a:cs typeface="Courier New" panose="02070309020205020404" pitchFamily="49" charset="0"/>
            </a:endParaRPr>
          </a:p>
        </p:txBody>
      </p:sp>
      <p:sp>
        <p:nvSpPr>
          <p:cNvPr id="45" name="Shape 3"/>
          <p:cNvSpPr/>
          <p:nvPr/>
        </p:nvSpPr>
        <p:spPr>
          <a:xfrm>
            <a:off x="555307" y="5132070"/>
            <a:ext cx="3566160" cy="548640"/>
          </a:xfrm>
          <a:prstGeom prst="roundRect">
            <a:avLst>
              <a:gd name="adj" fmla="val 10000"/>
            </a:avLst>
          </a:prstGeom>
          <a:solidFill>
            <a:srgbClr val="17213D"/>
          </a:solidFill>
          <a:ln/>
        </p:spPr>
      </p:sp>
      <p:sp>
        <p:nvSpPr>
          <p:cNvPr id="46" name="Text 4"/>
          <p:cNvSpPr txBox="1"/>
          <p:nvPr/>
        </p:nvSpPr>
        <p:spPr>
          <a:xfrm>
            <a:off x="564832" y="5132070"/>
            <a:ext cx="35566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>
                <a:solidFill>
                  <a:srgbClr val="00D9C0"/>
                </a:solidFill>
                <a:latin typeface="Courier New" panose="02070309020205020404" pitchFamily="49" charset="0"/>
                <a:ea typeface="Arial" pitchFamily="34" charset="-122"/>
                <a:cs typeface="Courier New" panose="02070309020205020404" pitchFamily="49" charset="0"/>
              </a:rPr>
              <a:t>group_add: "44", "993"</a:t>
            </a:r>
            <a:endParaRPr lang="en-US" sz="1200" b="1" dirty="0">
              <a:solidFill>
                <a:srgbClr val="00D9C0"/>
              </a:solidFill>
              <a:latin typeface="Courier New" panose="02070309020205020404" pitchFamily="49" charset="0"/>
              <a:ea typeface="Arial" pitchFamily="34" charset="-122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883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kern="0" spc="200" smtClean="0">
                <a:solidFill>
                  <a:srgbClr val="00D9C0"/>
                </a:solidFill>
                <a:ea typeface="Calibri" pitchFamily="34" charset="-122"/>
                <a:cs typeface="Calibri" pitchFamily="34" charset="-120"/>
              </a:rPr>
              <a:t>BLOCK 3 OPTIMIERUNG</a:t>
            </a:r>
            <a:endParaRPr lang="en-US" sz="1300" dirty="0">
              <a:solidFill>
                <a:prstClr val="black"/>
              </a:solidFill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docker-compose.yml: Berechtigungen &amp; Kern-Variablen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dirty="0">
                <a:solidFill>
                  <a:srgbClr val="5B6478"/>
                </a:solidFill>
                <a:ea typeface="Calibri" pitchFamily="34" charset="-122"/>
                <a:cs typeface="Calibri" pitchFamily="34" charset="-120"/>
              </a:rPr>
              <a:t>Neben Geräten und Gruppen-Berechtigungen sorgen diese Einstellungen dafür, dass Ollama die iGPU überhaupt zuverlässig nutzen kann.</a:t>
            </a:r>
          </a:p>
        </p:txBody>
      </p:sp>
      <p:sp>
        <p:nvSpPr>
          <p:cNvPr id="5" name="Text 3"/>
          <p:cNvSpPr txBox="1"/>
          <p:nvPr/>
        </p:nvSpPr>
        <p:spPr>
          <a:xfrm>
            <a:off x="596265" y="199263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100" dirty="0">
                <a:solidFill>
                  <a:schemeClr val="accent2"/>
                </a:solidFill>
                <a:ea typeface="Calibri" pitchFamily="34" charset="-122"/>
                <a:cs typeface="Calibri" pitchFamily="34" charset="-120"/>
              </a:rPr>
              <a:t>DOCKER-COMPOSE-EBENE</a:t>
            </a:r>
          </a:p>
        </p:txBody>
      </p:sp>
      <p:sp>
        <p:nvSpPr>
          <p:cNvPr id="6" name="Shape 4"/>
          <p:cNvSpPr/>
          <p:nvPr/>
        </p:nvSpPr>
        <p:spPr>
          <a:xfrm>
            <a:off x="596265" y="2312670"/>
            <a:ext cx="5394960" cy="1600200"/>
          </a:xfrm>
          <a:prstGeom prst="roundRect">
            <a:avLst>
              <a:gd name="adj" fmla="val 5714"/>
            </a:avLst>
          </a:prstGeom>
          <a:solidFill>
            <a:srgbClr val="F2F5FA"/>
          </a:solidFill>
          <a:ln/>
        </p:spPr>
      </p:sp>
      <p:sp>
        <p:nvSpPr>
          <p:cNvPr id="7" name="Shape 5"/>
          <p:cNvSpPr/>
          <p:nvPr/>
        </p:nvSpPr>
        <p:spPr>
          <a:xfrm>
            <a:off x="779145" y="2495550"/>
            <a:ext cx="3931920" cy="384048"/>
          </a:xfrm>
          <a:prstGeom prst="roundRect">
            <a:avLst>
              <a:gd name="adj" fmla="val 14286"/>
            </a:avLst>
          </a:prstGeom>
          <a:solidFill>
            <a:srgbClr val="0D132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9145" y="249555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ipc: host</a:t>
            </a:r>
          </a:p>
        </p:txBody>
      </p:sp>
      <p:sp>
        <p:nvSpPr>
          <p:cNvPr id="9" name="Text 7"/>
          <p:cNvSpPr txBox="1"/>
          <p:nvPr/>
        </p:nvSpPr>
        <p:spPr>
          <a:xfrm>
            <a:off x="779145" y="299847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50" dirty="0">
                <a:solidFill>
                  <a:srgbClr val="12172B"/>
                </a:solidFill>
                <a:ea typeface="Calibri" pitchFamily="34" charset="-122"/>
                <a:cs typeface="Calibri" pitchFamily="34" charset="-120"/>
              </a:rPr>
              <a:t>Container teilt den IPC-Namespace mit dem Host – nötig, damit GPU-Treiber Shared Memory zwischen Prozessen nutzen können</a:t>
            </a:r>
          </a:p>
        </p:txBody>
      </p:sp>
      <p:sp>
        <p:nvSpPr>
          <p:cNvPr id="10" name="Shape 8"/>
          <p:cNvSpPr/>
          <p:nvPr/>
        </p:nvSpPr>
        <p:spPr>
          <a:xfrm>
            <a:off x="596265" y="4095750"/>
            <a:ext cx="5394960" cy="1600200"/>
          </a:xfrm>
          <a:prstGeom prst="roundRect">
            <a:avLst>
              <a:gd name="adj" fmla="val 5714"/>
            </a:avLst>
          </a:prstGeom>
          <a:solidFill>
            <a:srgbClr val="F2F5FA"/>
          </a:solidFill>
          <a:ln/>
        </p:spPr>
      </p:sp>
      <p:sp>
        <p:nvSpPr>
          <p:cNvPr id="11" name="Shape 9"/>
          <p:cNvSpPr/>
          <p:nvPr/>
        </p:nvSpPr>
        <p:spPr>
          <a:xfrm>
            <a:off x="779145" y="4278629"/>
            <a:ext cx="3931920" cy="988695"/>
          </a:xfrm>
          <a:prstGeom prst="roundRect">
            <a:avLst>
              <a:gd name="adj" fmla="val 14286"/>
            </a:avLst>
          </a:prstGeom>
          <a:solidFill>
            <a:srgbClr val="0D132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979295" y="4450080"/>
            <a:ext cx="1876425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ulimits</a:t>
            </a:r>
            <a:r>
              <a:rPr lang="en-US" sz="1200" b="1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endParaRPr lang="en-US" sz="1200" b="1" smtClean="0">
              <a:solidFill>
                <a:srgbClr val="00D9C0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r>
              <a:rPr lang="en-US" sz="1200" b="1" smtClean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memlock:</a:t>
            </a:r>
          </a:p>
          <a:p>
            <a:r>
              <a:rPr lang="en-US" sz="1200" b="1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b="1" smtClean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soft: </a:t>
            </a:r>
            <a:r>
              <a:rPr lang="en-US" sz="1200" b="1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r>
              <a:rPr lang="en-US" sz="1200" b="1" smtClean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</a:p>
          <a:p>
            <a:r>
              <a:rPr lang="en-US" sz="1200" b="1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b="1" smtClean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hard: -1</a:t>
            </a:r>
            <a:endParaRPr lang="en-US" sz="1200" b="1" dirty="0">
              <a:solidFill>
                <a:srgbClr val="00D9C0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779145" y="5133975"/>
            <a:ext cx="493776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50" dirty="0">
                <a:solidFill>
                  <a:srgbClr val="12172B"/>
                </a:solidFill>
                <a:ea typeface="Calibri" pitchFamily="34" charset="-122"/>
                <a:cs typeface="Calibri" pitchFamily="34" charset="-120"/>
              </a:rPr>
              <a:t>Hebt das Limit für gesperrten (nicht auslagerbaren) Speicher auf, damit der Treiber genug GPU-Speicher reservieren kann</a:t>
            </a:r>
          </a:p>
        </p:txBody>
      </p:sp>
      <p:sp>
        <p:nvSpPr>
          <p:cNvPr id="14" name="Text 12"/>
          <p:cNvSpPr txBox="1"/>
          <p:nvPr/>
        </p:nvSpPr>
        <p:spPr>
          <a:xfrm>
            <a:off x="6196965" y="1983105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100" dirty="0">
                <a:solidFill>
                  <a:schemeClr val="accent2"/>
                </a:solidFill>
                <a:ea typeface="Calibri" pitchFamily="34" charset="-122"/>
                <a:cs typeface="Calibri" pitchFamily="34" charset="-120"/>
              </a:rPr>
              <a:t>OLLAMA-UMGEBUNGSVARIABLEN</a:t>
            </a:r>
          </a:p>
        </p:txBody>
      </p:sp>
      <p:sp>
        <p:nvSpPr>
          <p:cNvPr id="15" name="Shape 13"/>
          <p:cNvSpPr/>
          <p:nvPr/>
        </p:nvSpPr>
        <p:spPr>
          <a:xfrm>
            <a:off x="6196965" y="2303145"/>
            <a:ext cx="5394960" cy="800100"/>
          </a:xfrm>
          <a:prstGeom prst="roundRect">
            <a:avLst>
              <a:gd name="adj" fmla="val 8696"/>
            </a:avLst>
          </a:prstGeom>
          <a:solidFill>
            <a:srgbClr val="E7ECF5"/>
          </a:solidFill>
          <a:ln/>
        </p:spPr>
      </p:sp>
      <p:sp>
        <p:nvSpPr>
          <p:cNvPr id="16" name="Shape 14"/>
          <p:cNvSpPr/>
          <p:nvPr/>
        </p:nvSpPr>
        <p:spPr>
          <a:xfrm>
            <a:off x="6379845" y="2440305"/>
            <a:ext cx="4206240" cy="347472"/>
          </a:xfrm>
          <a:prstGeom prst="roundRect">
            <a:avLst>
              <a:gd name="adj" fmla="val 15789"/>
            </a:avLst>
          </a:prstGeom>
          <a:solidFill>
            <a:srgbClr val="0D132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379845" y="2440305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OLLAMA_VULKAN=1</a:t>
            </a:r>
          </a:p>
        </p:txBody>
      </p:sp>
      <p:sp>
        <p:nvSpPr>
          <p:cNvPr id="18" name="Text 16"/>
          <p:cNvSpPr txBox="1"/>
          <p:nvPr/>
        </p:nvSpPr>
        <p:spPr>
          <a:xfrm>
            <a:off x="6379845" y="2813685"/>
            <a:ext cx="50292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12172B"/>
                </a:solidFill>
                <a:ea typeface="Calibri" pitchFamily="34" charset="-122"/>
                <a:cs typeface="Calibri" pitchFamily="34" charset="-120"/>
              </a:rPr>
              <a:t>Aktiviert das </a:t>
            </a:r>
            <a:r>
              <a:rPr lang="en-US" sz="1100">
                <a:solidFill>
                  <a:srgbClr val="12172B"/>
                </a:solidFill>
                <a:ea typeface="Calibri" pitchFamily="34" charset="-122"/>
                <a:cs typeface="Calibri" pitchFamily="34" charset="-120"/>
              </a:rPr>
              <a:t>Vulkan-Backend </a:t>
            </a:r>
            <a:r>
              <a:rPr lang="en-US" sz="1100" smtClean="0">
                <a:solidFill>
                  <a:srgbClr val="12172B"/>
                </a:solidFill>
                <a:ea typeface="Calibri" pitchFamily="34" charset="-122"/>
                <a:cs typeface="Calibri" pitchFamily="34" charset="-120"/>
              </a:rPr>
              <a:t>, </a:t>
            </a:r>
            <a:r>
              <a:rPr lang="en-US" sz="1100" dirty="0">
                <a:solidFill>
                  <a:srgbClr val="12172B"/>
                </a:solidFill>
                <a:ea typeface="Calibri" pitchFamily="34" charset="-122"/>
                <a:cs typeface="Calibri" pitchFamily="34" charset="-120"/>
              </a:rPr>
              <a:t>über die Ollama die iGPU überhaupt anspricht</a:t>
            </a:r>
          </a:p>
        </p:txBody>
      </p:sp>
      <p:sp>
        <p:nvSpPr>
          <p:cNvPr id="19" name="Shape 17"/>
          <p:cNvSpPr/>
          <p:nvPr/>
        </p:nvSpPr>
        <p:spPr>
          <a:xfrm>
            <a:off x="6196965" y="3200400"/>
            <a:ext cx="5394960" cy="1343025"/>
          </a:xfrm>
          <a:prstGeom prst="roundRect">
            <a:avLst>
              <a:gd name="adj" fmla="val 8696"/>
            </a:avLst>
          </a:prstGeom>
          <a:solidFill>
            <a:srgbClr val="E7ECF5"/>
          </a:solidFill>
          <a:ln/>
        </p:spPr>
      </p:sp>
      <p:sp>
        <p:nvSpPr>
          <p:cNvPr id="20" name="Shape 18"/>
          <p:cNvSpPr/>
          <p:nvPr/>
        </p:nvSpPr>
        <p:spPr>
          <a:xfrm>
            <a:off x="6379845" y="3343275"/>
            <a:ext cx="4206240" cy="347472"/>
          </a:xfrm>
          <a:prstGeom prst="roundRect">
            <a:avLst>
              <a:gd name="adj" fmla="val 15789"/>
            </a:avLst>
          </a:prstGeom>
          <a:solidFill>
            <a:srgbClr val="0D132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379845" y="3343275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OLLAMA_FLASH_ATTENTION=1</a:t>
            </a:r>
          </a:p>
        </p:txBody>
      </p:sp>
      <p:sp>
        <p:nvSpPr>
          <p:cNvPr id="22" name="Text 20"/>
          <p:cNvSpPr txBox="1"/>
          <p:nvPr/>
        </p:nvSpPr>
        <p:spPr>
          <a:xfrm>
            <a:off x="6379845" y="38785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00"/>
              <a:t>zerlegt diese Aufgaben stattdessen in winzige Blöcke, sodass sie direkt im ultraschnellen Speicher des Grafikchips verarbeitet werden. Dadurch wird der ständige Zugriff auf den DDR4-RAM während der Berechnung verhindert, was die Verarbeitungsgeschwindigkeit erhöht und den Arbeitsspeicher spürbar</a:t>
            </a:r>
            <a:endParaRPr lang="en-US" sz="1100" dirty="0">
              <a:solidFill>
                <a:srgbClr val="12172B"/>
              </a:solidFill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196965" y="4652010"/>
            <a:ext cx="5394960" cy="1051560"/>
          </a:xfrm>
          <a:prstGeom prst="roundRect">
            <a:avLst>
              <a:gd name="adj" fmla="val 8696"/>
            </a:avLst>
          </a:prstGeom>
          <a:solidFill>
            <a:srgbClr val="E7ECF5"/>
          </a:solidFill>
          <a:ln/>
        </p:spPr>
      </p:sp>
      <p:sp>
        <p:nvSpPr>
          <p:cNvPr id="24" name="Shape 22"/>
          <p:cNvSpPr/>
          <p:nvPr/>
        </p:nvSpPr>
        <p:spPr>
          <a:xfrm>
            <a:off x="6379845" y="4789170"/>
            <a:ext cx="4206240" cy="347472"/>
          </a:xfrm>
          <a:prstGeom prst="roundRect">
            <a:avLst>
              <a:gd name="adj" fmla="val 15789"/>
            </a:avLst>
          </a:prstGeom>
          <a:solidFill>
            <a:srgbClr val="0D132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379845" y="478917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OLLAMA_KV_CACHE_TYPE=q4_0</a:t>
            </a:r>
          </a:p>
        </p:txBody>
      </p:sp>
      <p:sp>
        <p:nvSpPr>
          <p:cNvPr id="26" name="Text 24"/>
          <p:cNvSpPr txBox="1"/>
          <p:nvPr/>
        </p:nvSpPr>
        <p:spPr>
          <a:xfrm>
            <a:off x="6379845" y="520065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12172B"/>
                </a:solidFill>
                <a:ea typeface="Calibri" pitchFamily="34" charset="-122"/>
                <a:cs typeface="Calibri" pitchFamily="34" charset="-120"/>
              </a:rPr>
              <a:t>Quantisiert den KV-Cache global für den Container – reduziert den Speicherbedarf </a:t>
            </a:r>
            <a:r>
              <a:rPr lang="en-US" sz="1100">
                <a:solidFill>
                  <a:srgbClr val="12172B"/>
                </a:solidFill>
                <a:ea typeface="Calibri" pitchFamily="34" charset="-122"/>
                <a:cs typeface="Calibri" pitchFamily="34" charset="-120"/>
              </a:rPr>
              <a:t>um </a:t>
            </a:r>
            <a:r>
              <a:rPr lang="en-US" sz="1100" smtClean="0">
                <a:solidFill>
                  <a:srgbClr val="12172B"/>
                </a:solidFill>
                <a:ea typeface="Calibri" pitchFamily="34" charset="-122"/>
                <a:cs typeface="Calibri" pitchFamily="34" charset="-120"/>
              </a:rPr>
              <a:t>bis zu </a:t>
            </a:r>
            <a:r>
              <a:rPr lang="en-US" sz="1100" dirty="0">
                <a:solidFill>
                  <a:srgbClr val="12172B"/>
                </a:solidFill>
                <a:ea typeface="Calibri" pitchFamily="34" charset="-122"/>
                <a:cs typeface="Calibri" pitchFamily="34" charset="-120"/>
              </a:rPr>
              <a:t>72%</a:t>
            </a:r>
          </a:p>
        </p:txBody>
      </p:sp>
      <p:sp>
        <p:nvSpPr>
          <p:cNvPr id="27" name="Text 25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5B6478"/>
                </a:solidFill>
                <a:ea typeface="Calibri" pitchFamily="34" charset="-122"/>
                <a:cs typeface="Calibri" pitchFamily="34" charset="-120"/>
              </a:rPr>
              <a:t>OLLAMA PERFORMANCE TUNING · iGPU</a:t>
            </a:r>
            <a:endParaRPr lang="en-US" sz="900" dirty="0">
              <a:solidFill>
                <a:prstClr val="black"/>
              </a:solidFill>
            </a:endParaRPr>
          </a:p>
        </p:txBody>
      </p:sp>
      <p:sp>
        <p:nvSpPr>
          <p:cNvPr id="28" name="Text 26"/>
          <p:cNvSpPr txBox="1"/>
          <p:nvPr/>
        </p:nvSpPr>
        <p:spPr>
          <a:xfrm>
            <a:off x="11274552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900" dirty="0">
                <a:solidFill>
                  <a:srgbClr val="5B6478"/>
                </a:solidFill>
                <a:ea typeface="Calibri" pitchFamily="34" charset="-122"/>
                <a:cs typeface="Calibri" pitchFamily="34" charset="-120"/>
              </a:rPr>
              <a:t>24</a:t>
            </a:r>
            <a:endParaRPr lang="en-US" sz="900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482733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kern="0" spc="200">
                <a:solidFill>
                  <a:srgbClr val="00D9C0"/>
                </a:solidFill>
                <a:ea typeface="Calibri" pitchFamily="34" charset="-122"/>
                <a:cs typeface="Calibri" pitchFamily="34" charset="-120"/>
              </a:rPr>
              <a:t>BLOCK 3 OPTIMIERUNG</a:t>
            </a:r>
            <a:endParaRPr lang="en-US" sz="1300" dirty="0">
              <a:solidFill>
                <a:prstClr val="black"/>
              </a:solidFill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docker-compose.yml: </a:t>
            </a:r>
            <a:r>
              <a:rPr lang="en-US" sz="3000" b="1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Weitere </a:t>
            </a:r>
            <a:r>
              <a:rPr lang="en-US" sz="3000" b="1" smtClean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Variablen</a:t>
            </a:r>
            <a:endParaRPr lang="en-US" sz="3000" b="1" dirty="0">
              <a:solidFill>
                <a:srgbClr val="1217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285875"/>
            <a:ext cx="791908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dirty="0">
                <a:solidFill>
                  <a:srgbClr val="5B6478"/>
                </a:solidFill>
                <a:ea typeface="Calibri" pitchFamily="34" charset="-122"/>
                <a:cs typeface="Calibri" pitchFamily="34" charset="-120"/>
              </a:rPr>
              <a:t>Diese Variablen wirken global für den </a:t>
            </a:r>
            <a:r>
              <a:rPr lang="en-US" sz="1300">
                <a:solidFill>
                  <a:srgbClr val="5B6478"/>
                </a:solidFill>
                <a:ea typeface="Calibri" pitchFamily="34" charset="-122"/>
                <a:cs typeface="Calibri" pitchFamily="34" charset="-120"/>
              </a:rPr>
              <a:t>gesamten </a:t>
            </a:r>
            <a:r>
              <a:rPr lang="en-US" sz="1300" smtClean="0">
                <a:solidFill>
                  <a:srgbClr val="5B6478"/>
                </a:solidFill>
                <a:ea typeface="Calibri" pitchFamily="34" charset="-122"/>
                <a:cs typeface="Calibri" pitchFamily="34" charset="-120"/>
              </a:rPr>
              <a:t>Container.</a:t>
            </a:r>
            <a:endParaRPr lang="en-US" sz="1300" dirty="0">
              <a:solidFill>
                <a:srgbClr val="5B6478"/>
              </a:solidFill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1756410"/>
            <a:ext cx="7938134" cy="457200"/>
          </a:xfrm>
          <a:prstGeom prst="roundRect">
            <a:avLst>
              <a:gd name="adj" fmla="val 12000"/>
            </a:avLst>
          </a:prstGeom>
          <a:solidFill>
            <a:srgbClr val="0D132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75641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50" b="1" smtClean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Variable</a:t>
            </a:r>
            <a:endParaRPr lang="en-US" sz="1150" b="1" dirty="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2423160" y="175641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Wert</a:t>
            </a:r>
          </a:p>
        </p:txBody>
      </p:sp>
      <p:sp>
        <p:nvSpPr>
          <p:cNvPr id="8" name="Text 6"/>
          <p:cNvSpPr txBox="1"/>
          <p:nvPr/>
        </p:nvSpPr>
        <p:spPr>
          <a:xfrm>
            <a:off x="4206240" y="175641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Zweck</a:t>
            </a:r>
          </a:p>
        </p:txBody>
      </p:sp>
      <p:sp>
        <p:nvSpPr>
          <p:cNvPr id="9" name="Shape 7"/>
          <p:cNvSpPr/>
          <p:nvPr/>
        </p:nvSpPr>
        <p:spPr>
          <a:xfrm>
            <a:off x="548639" y="2213610"/>
            <a:ext cx="7938135" cy="621792"/>
          </a:xfrm>
          <a:prstGeom prst="rect">
            <a:avLst/>
          </a:prstGeom>
          <a:solidFill>
            <a:srgbClr val="F2F5F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794760" y="2213610"/>
            <a:ext cx="1691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50" dirty="0">
                <a:solidFill>
                  <a:srgbClr val="1217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</a:p>
        </p:txBody>
      </p:sp>
      <p:sp>
        <p:nvSpPr>
          <p:cNvPr id="12" name="Text 10"/>
          <p:cNvSpPr txBox="1"/>
          <p:nvPr/>
        </p:nvSpPr>
        <p:spPr>
          <a:xfrm>
            <a:off x="5234940" y="2213610"/>
            <a:ext cx="32423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ea typeface="Calibri" pitchFamily="34" charset="-122"/>
                <a:cs typeface="Calibri" pitchFamily="34" charset="-120"/>
              </a:rPr>
              <a:t>Schaltet die iGPU-Unterstützung im Container grundsätzlich frei</a:t>
            </a:r>
          </a:p>
        </p:txBody>
      </p:sp>
      <p:sp>
        <p:nvSpPr>
          <p:cNvPr id="15" name="Text 13"/>
          <p:cNvSpPr txBox="1"/>
          <p:nvPr/>
        </p:nvSpPr>
        <p:spPr>
          <a:xfrm>
            <a:off x="3794760" y="2835402"/>
            <a:ext cx="1691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50" dirty="0">
                <a:solidFill>
                  <a:srgbClr val="1217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</a:p>
        </p:txBody>
      </p:sp>
      <p:sp>
        <p:nvSpPr>
          <p:cNvPr id="16" name="Text 14"/>
          <p:cNvSpPr txBox="1"/>
          <p:nvPr/>
        </p:nvSpPr>
        <p:spPr>
          <a:xfrm>
            <a:off x="5234940" y="2835402"/>
            <a:ext cx="324230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ea typeface="Calibri" pitchFamily="34" charset="-122"/>
                <a:cs typeface="Calibri" pitchFamily="34" charset="-120"/>
              </a:rPr>
              <a:t>NUMA-Awareness für Systeme mit mehreren Speicher-/CPU-Knoten</a:t>
            </a:r>
          </a:p>
        </p:txBody>
      </p:sp>
      <p:sp>
        <p:nvSpPr>
          <p:cNvPr id="18" name="Shape 16"/>
          <p:cNvSpPr/>
          <p:nvPr/>
        </p:nvSpPr>
        <p:spPr>
          <a:xfrm>
            <a:off x="548639" y="3457194"/>
            <a:ext cx="7938136" cy="621792"/>
          </a:xfrm>
          <a:prstGeom prst="rect">
            <a:avLst/>
          </a:prstGeom>
          <a:solidFill>
            <a:srgbClr val="F2F5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804285" y="3457194"/>
            <a:ext cx="1691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50" dirty="0">
                <a:solidFill>
                  <a:srgbClr val="1217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</a:p>
        </p:txBody>
      </p:sp>
      <p:sp>
        <p:nvSpPr>
          <p:cNvPr id="21" name="Text 19"/>
          <p:cNvSpPr txBox="1"/>
          <p:nvPr/>
        </p:nvSpPr>
        <p:spPr>
          <a:xfrm>
            <a:off x="5225414" y="3457194"/>
            <a:ext cx="324230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ea typeface="Calibri" pitchFamily="34" charset="-122"/>
                <a:cs typeface="Calibri" pitchFamily="34" charset="-120"/>
              </a:rPr>
              <a:t>Begrenzt gleichzeitige Anfragen – kein paralleles Batching</a:t>
            </a:r>
          </a:p>
        </p:txBody>
      </p:sp>
      <p:sp>
        <p:nvSpPr>
          <p:cNvPr id="24" name="Text 22"/>
          <p:cNvSpPr txBox="1"/>
          <p:nvPr/>
        </p:nvSpPr>
        <p:spPr>
          <a:xfrm>
            <a:off x="3813810" y="4078986"/>
            <a:ext cx="1691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50" dirty="0">
                <a:solidFill>
                  <a:srgbClr val="1217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</a:p>
        </p:txBody>
      </p:sp>
      <p:sp>
        <p:nvSpPr>
          <p:cNvPr id="25" name="Text 23"/>
          <p:cNvSpPr txBox="1"/>
          <p:nvPr/>
        </p:nvSpPr>
        <p:spPr>
          <a:xfrm>
            <a:off x="5234939" y="4078986"/>
            <a:ext cx="324230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ea typeface="Calibri" pitchFamily="34" charset="-122"/>
                <a:cs typeface="Calibri" pitchFamily="34" charset="-120"/>
              </a:rPr>
              <a:t>Nur ein Modell gleichzeitig geladen</a:t>
            </a:r>
          </a:p>
        </p:txBody>
      </p:sp>
      <p:sp>
        <p:nvSpPr>
          <p:cNvPr id="31" name="Text 29"/>
          <p:cNvSpPr txBox="1"/>
          <p:nvPr/>
        </p:nvSpPr>
        <p:spPr>
          <a:xfrm>
            <a:off x="8839200" y="80695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kern="0" spc="100" smtClean="0">
                <a:ea typeface="Calibri" pitchFamily="34" charset="-122"/>
                <a:cs typeface="Calibri" pitchFamily="34" charset="-120"/>
              </a:rPr>
              <a:t>Inhalt der docker-compose.yml</a:t>
            </a:r>
            <a:endParaRPr lang="en-US" sz="1100" kern="0" spc="100" dirty="0"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8743949" y="1097280"/>
            <a:ext cx="3178303" cy="5440679"/>
          </a:xfrm>
          <a:prstGeom prst="roundRect">
            <a:avLst>
              <a:gd name="adj" fmla="val 2540"/>
            </a:avLst>
          </a:prstGeom>
          <a:solidFill>
            <a:srgbClr val="0A0E1A"/>
          </a:solidFill>
          <a:ln/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8966454" y="1328166"/>
            <a:ext cx="91440" cy="91440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34" name="Shape 32"/>
          <p:cNvSpPr/>
          <p:nvPr/>
        </p:nvSpPr>
        <p:spPr>
          <a:xfrm>
            <a:off x="9167622" y="1328166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35" name="Shape 33"/>
          <p:cNvSpPr/>
          <p:nvPr/>
        </p:nvSpPr>
        <p:spPr>
          <a:xfrm>
            <a:off x="9368790" y="1328166"/>
            <a:ext cx="91440" cy="91440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9015984" y="1538859"/>
            <a:ext cx="3048762" cy="49137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5000"/>
              </a:lnSpc>
            </a:pPr>
            <a:r>
              <a:rPr lang="en-US" sz="93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ollama:</a:t>
            </a:r>
          </a:p>
          <a:p>
            <a:pPr>
              <a:lnSpc>
                <a:spcPct val="115000"/>
              </a:lnSpc>
            </a:pPr>
            <a:r>
              <a:rPr lang="en-US" sz="93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image: ollama/ollama:latest</a:t>
            </a:r>
          </a:p>
          <a:p>
            <a:pPr>
              <a:lnSpc>
                <a:spcPct val="115000"/>
              </a:lnSpc>
            </a:pPr>
            <a:r>
              <a:rPr lang="en-US" sz="93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container_name: ollama_container</a:t>
            </a:r>
          </a:p>
          <a:p>
            <a:pPr>
              <a:lnSpc>
                <a:spcPct val="115000"/>
              </a:lnSpc>
            </a:pPr>
            <a:r>
              <a:rPr lang="en-US" sz="93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ports:</a:t>
            </a:r>
          </a:p>
          <a:p>
            <a:pPr>
              <a:lnSpc>
                <a:spcPct val="115000"/>
              </a:lnSpc>
            </a:pPr>
            <a:r>
              <a:rPr lang="en-US" sz="93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"11434:11434"</a:t>
            </a:r>
          </a:p>
          <a:p>
            <a:pPr>
              <a:lnSpc>
                <a:spcPct val="115000"/>
              </a:lnSpc>
            </a:pPr>
            <a:r>
              <a:rPr lang="en-US" sz="93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volumes:</a:t>
            </a:r>
          </a:p>
          <a:p>
            <a:pPr>
              <a:lnSpc>
                <a:spcPct val="115000"/>
              </a:lnSpc>
            </a:pPr>
            <a:r>
              <a:rPr lang="en-US" sz="93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./ollama_data:/root/.ollama</a:t>
            </a:r>
          </a:p>
          <a:p>
            <a:pPr>
              <a:lnSpc>
                <a:spcPct val="115000"/>
              </a:lnSpc>
            </a:pPr>
            <a:r>
              <a:rPr lang="en-US" sz="93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devices:</a:t>
            </a:r>
          </a:p>
          <a:p>
            <a:pPr>
              <a:lnSpc>
                <a:spcPct val="115000"/>
              </a:lnSpc>
            </a:pPr>
            <a:r>
              <a:rPr lang="en-US" sz="93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"/dev/dri"</a:t>
            </a:r>
          </a:p>
          <a:p>
            <a:pPr>
              <a:lnSpc>
                <a:spcPct val="115000"/>
              </a:lnSpc>
            </a:pPr>
            <a:r>
              <a:rPr lang="en-US" sz="93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"/dev/kfd"</a:t>
            </a:r>
          </a:p>
          <a:p>
            <a:pPr>
              <a:lnSpc>
                <a:spcPct val="115000"/>
              </a:lnSpc>
            </a:pPr>
            <a:r>
              <a:rPr lang="en-US" sz="93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group_add:</a:t>
            </a:r>
          </a:p>
          <a:p>
            <a:pPr>
              <a:lnSpc>
                <a:spcPct val="115000"/>
              </a:lnSpc>
            </a:pPr>
            <a:r>
              <a:rPr lang="en-US" sz="93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"44"</a:t>
            </a:r>
          </a:p>
          <a:p>
            <a:pPr>
              <a:lnSpc>
                <a:spcPct val="115000"/>
              </a:lnSpc>
            </a:pPr>
            <a:r>
              <a:rPr lang="en-US" sz="93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"993"</a:t>
            </a:r>
          </a:p>
          <a:p>
            <a:pPr>
              <a:lnSpc>
                <a:spcPct val="115000"/>
              </a:lnSpc>
            </a:pPr>
            <a:r>
              <a:rPr lang="en-US" sz="93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ipc: host</a:t>
            </a:r>
          </a:p>
          <a:p>
            <a:pPr>
              <a:lnSpc>
                <a:spcPct val="115000"/>
              </a:lnSpc>
            </a:pPr>
            <a:r>
              <a:rPr lang="en-US" sz="93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ulimits:</a:t>
            </a:r>
          </a:p>
          <a:p>
            <a:pPr>
              <a:lnSpc>
                <a:spcPct val="115000"/>
              </a:lnSpc>
            </a:pPr>
            <a:r>
              <a:rPr lang="en-US" sz="93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memlock:</a:t>
            </a:r>
          </a:p>
          <a:p>
            <a:pPr>
              <a:lnSpc>
                <a:spcPct val="115000"/>
              </a:lnSpc>
            </a:pPr>
            <a:r>
              <a:rPr lang="en-US" sz="93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soft: -1</a:t>
            </a:r>
          </a:p>
          <a:p>
            <a:pPr>
              <a:lnSpc>
                <a:spcPct val="115000"/>
              </a:lnSpc>
            </a:pPr>
            <a:r>
              <a:rPr lang="en-US" sz="93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hard: -1</a:t>
            </a:r>
          </a:p>
          <a:p>
            <a:pPr>
              <a:lnSpc>
                <a:spcPct val="115000"/>
              </a:lnSpc>
            </a:pPr>
            <a:r>
              <a:rPr lang="en-US" sz="93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environment:</a:t>
            </a:r>
          </a:p>
          <a:p>
            <a:pPr>
              <a:lnSpc>
                <a:spcPct val="115000"/>
              </a:lnSpc>
            </a:pPr>
            <a:r>
              <a:rPr lang="en-US" sz="93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OLLAMA_VULKAN=1</a:t>
            </a:r>
          </a:p>
          <a:p>
            <a:pPr>
              <a:lnSpc>
                <a:spcPct val="115000"/>
              </a:lnSpc>
            </a:pPr>
            <a:r>
              <a:rPr lang="en-US" sz="93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OLLAMA_IGPU_ENABLE=1</a:t>
            </a:r>
          </a:p>
          <a:p>
            <a:pPr>
              <a:lnSpc>
                <a:spcPct val="115000"/>
              </a:lnSpc>
            </a:pPr>
            <a:r>
              <a:rPr lang="en-US" sz="93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OLLAMA_NUMA=1</a:t>
            </a:r>
          </a:p>
          <a:p>
            <a:pPr>
              <a:lnSpc>
                <a:spcPct val="115000"/>
              </a:lnSpc>
            </a:pPr>
            <a:r>
              <a:rPr lang="en-US" sz="93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OLLAMA_FLASH_ATTENTION=1</a:t>
            </a:r>
          </a:p>
          <a:p>
            <a:pPr>
              <a:lnSpc>
                <a:spcPct val="115000"/>
              </a:lnSpc>
            </a:pPr>
            <a:r>
              <a:rPr lang="en-US" sz="93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OLLAMA_KV_CACHE_TYPE=q4_0</a:t>
            </a:r>
          </a:p>
          <a:p>
            <a:pPr>
              <a:lnSpc>
                <a:spcPct val="115000"/>
              </a:lnSpc>
            </a:pPr>
            <a:r>
              <a:rPr lang="en-US" sz="93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OLLAMA_NUM_PARALLEL=1</a:t>
            </a:r>
          </a:p>
          <a:p>
            <a:pPr>
              <a:lnSpc>
                <a:spcPct val="115000"/>
              </a:lnSpc>
            </a:pPr>
            <a:r>
              <a:rPr lang="en-US" sz="93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OLLAMA_MAX_LOADED_MODELS=1</a:t>
            </a:r>
          </a:p>
          <a:p>
            <a:pPr>
              <a:lnSpc>
                <a:spcPct val="115000"/>
              </a:lnSpc>
            </a:pPr>
            <a:r>
              <a:rPr lang="en-US" sz="93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OLLAMA_KEEP_ALIVE=-1</a:t>
            </a:r>
          </a:p>
          <a:p>
            <a:pPr>
              <a:lnSpc>
                <a:spcPct val="115000"/>
              </a:lnSpc>
            </a:pPr>
            <a:r>
              <a:rPr lang="en-US" sz="93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30" smtClean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#- </a:t>
            </a:r>
            <a:r>
              <a:rPr lang="en-US" sz="93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OLLAMA_CONTEXT_LENGTH=8192</a:t>
            </a:r>
          </a:p>
          <a:p>
            <a:pPr>
              <a:lnSpc>
                <a:spcPct val="115000"/>
              </a:lnSpc>
            </a:pPr>
            <a:r>
              <a:rPr lang="en-US" sz="930" smtClean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restart</a:t>
            </a:r>
            <a:r>
              <a:rPr lang="en-US" sz="93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unless-stopped</a:t>
            </a:r>
            <a:endParaRPr lang="en-US" sz="930">
              <a:solidFill>
                <a:srgbClr val="D7DCEE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</p:txBody>
      </p:sp>
      <p:sp>
        <p:nvSpPr>
          <p:cNvPr id="41" name="Text 39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5B6478"/>
                </a:solidFill>
                <a:ea typeface="Calibri" pitchFamily="34" charset="-122"/>
                <a:cs typeface="Calibri" pitchFamily="34" charset="-120"/>
              </a:rPr>
              <a:t>OLLAMA PERFORMANCE TUNING · iGPU</a:t>
            </a:r>
            <a:endParaRPr lang="en-US" sz="900" dirty="0">
              <a:solidFill>
                <a:prstClr val="black"/>
              </a:solidFill>
            </a:endParaRPr>
          </a:p>
        </p:txBody>
      </p:sp>
      <p:sp>
        <p:nvSpPr>
          <p:cNvPr id="42" name="Text 40"/>
          <p:cNvSpPr txBox="1"/>
          <p:nvPr/>
        </p:nvSpPr>
        <p:spPr>
          <a:xfrm>
            <a:off x="11741277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900" dirty="0">
                <a:solidFill>
                  <a:srgbClr val="5B6478"/>
                </a:solidFill>
                <a:ea typeface="Calibri" pitchFamily="34" charset="-122"/>
                <a:cs typeface="Calibri" pitchFamily="34" charset="-120"/>
              </a:rPr>
              <a:t>25</a:t>
            </a:r>
            <a:endParaRPr lang="en-US" sz="900" dirty="0">
              <a:solidFill>
                <a:prstClr val="black"/>
              </a:solidFill>
            </a:endParaRPr>
          </a:p>
        </p:txBody>
      </p:sp>
      <p:sp>
        <p:nvSpPr>
          <p:cNvPr id="43" name="Shape 16"/>
          <p:cNvSpPr/>
          <p:nvPr/>
        </p:nvSpPr>
        <p:spPr>
          <a:xfrm>
            <a:off x="558164" y="4685919"/>
            <a:ext cx="7928611" cy="621792"/>
          </a:xfrm>
          <a:prstGeom prst="rect">
            <a:avLst/>
          </a:prstGeom>
          <a:solidFill>
            <a:srgbClr val="F2F5FA"/>
          </a:solidFill>
          <a:ln/>
        </p:spPr>
      </p:sp>
      <p:sp>
        <p:nvSpPr>
          <p:cNvPr id="45" name="Text 18"/>
          <p:cNvSpPr txBox="1"/>
          <p:nvPr/>
        </p:nvSpPr>
        <p:spPr>
          <a:xfrm>
            <a:off x="3813810" y="4685919"/>
            <a:ext cx="1691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50" smtClean="0">
                <a:solidFill>
                  <a:srgbClr val="1217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</a:t>
            </a:r>
            <a:endParaRPr lang="en-US" sz="1250" dirty="0">
              <a:solidFill>
                <a:srgbClr val="12172B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</p:txBody>
      </p:sp>
      <p:sp>
        <p:nvSpPr>
          <p:cNvPr id="46" name="Text 19"/>
          <p:cNvSpPr txBox="1"/>
          <p:nvPr/>
        </p:nvSpPr>
        <p:spPr>
          <a:xfrm>
            <a:off x="5234939" y="4685919"/>
            <a:ext cx="3232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/>
            <a:r>
              <a:rPr lang="en-US" sz="1200">
                <a:ea typeface="Calibri" pitchFamily="34" charset="-122"/>
                <a:cs typeface="Calibri" pitchFamily="34" charset="-120"/>
              </a:rPr>
              <a:t>Hält das Modell dauerhaft im Speicher geladen – kein Neuladen bei jeder Anfrage, kostet aber permanent RAM/VRAM.</a:t>
            </a:r>
            <a:endParaRPr lang="en-US" sz="1200" dirty="0"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48" name="Text 22"/>
          <p:cNvSpPr txBox="1"/>
          <p:nvPr/>
        </p:nvSpPr>
        <p:spPr>
          <a:xfrm>
            <a:off x="4147185" y="5307711"/>
            <a:ext cx="98679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50" smtClean="0">
                <a:solidFill>
                  <a:srgbClr val="1217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11.0.0</a:t>
            </a:r>
            <a:endParaRPr lang="en-US" sz="1250" dirty="0">
              <a:solidFill>
                <a:srgbClr val="12172B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</p:txBody>
      </p:sp>
      <p:sp>
        <p:nvSpPr>
          <p:cNvPr id="49" name="Text 23"/>
          <p:cNvSpPr txBox="1"/>
          <p:nvPr/>
        </p:nvSpPr>
        <p:spPr>
          <a:xfrm>
            <a:off x="5225414" y="5307711"/>
            <a:ext cx="324230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200"/>
              <a:t>Täuscht </a:t>
            </a:r>
            <a:r>
              <a:rPr lang="de-DE" sz="1200" smtClean="0"/>
              <a:t>für Ollama eine </a:t>
            </a:r>
            <a:r>
              <a:rPr lang="de-DE" sz="1200"/>
              <a:t>offiziell unterstützte AMD-Grafikarchitektur vor, um die ROCm-Treiber zu </a:t>
            </a:r>
            <a:r>
              <a:rPr lang="de-DE" sz="1200" smtClean="0"/>
              <a:t>überlisten (funktioniert mit spez. Grafikkarten).</a:t>
            </a:r>
            <a:endParaRPr lang="en-US" sz="1200" dirty="0"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50" name="Shape 16"/>
          <p:cNvSpPr/>
          <p:nvPr/>
        </p:nvSpPr>
        <p:spPr>
          <a:xfrm>
            <a:off x="567689" y="5914644"/>
            <a:ext cx="7919086" cy="621792"/>
          </a:xfrm>
          <a:prstGeom prst="rect">
            <a:avLst/>
          </a:prstGeom>
          <a:solidFill>
            <a:srgbClr val="F2F5FA"/>
          </a:solidFill>
          <a:ln/>
        </p:spPr>
      </p:sp>
      <p:sp>
        <p:nvSpPr>
          <p:cNvPr id="52" name="Text 18"/>
          <p:cNvSpPr txBox="1"/>
          <p:nvPr/>
        </p:nvSpPr>
        <p:spPr>
          <a:xfrm>
            <a:off x="4175760" y="5914644"/>
            <a:ext cx="102489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50" dirty="0">
                <a:solidFill>
                  <a:srgbClr val="1217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</a:p>
        </p:txBody>
      </p:sp>
      <p:sp>
        <p:nvSpPr>
          <p:cNvPr id="53" name="Text 19"/>
          <p:cNvSpPr txBox="1"/>
          <p:nvPr/>
        </p:nvSpPr>
        <p:spPr>
          <a:xfrm>
            <a:off x="5234939" y="5914644"/>
            <a:ext cx="3232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/>
            <a:r>
              <a:rPr lang="de-DE" sz="1200"/>
              <a:t>Schaltet bestimmte mathematische Beschleunigungsbefehle (DP4A) im Vulkan-Treiber gezielt </a:t>
            </a:r>
            <a:r>
              <a:rPr lang="de-DE" sz="1200" smtClean="0"/>
              <a:t>ab (Prozessor Bug).</a:t>
            </a:r>
            <a:endParaRPr lang="en-US" sz="1200" dirty="0"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54" name="Shape 5"/>
          <p:cNvSpPr/>
          <p:nvPr/>
        </p:nvSpPr>
        <p:spPr>
          <a:xfrm>
            <a:off x="573406" y="2332482"/>
            <a:ext cx="3456623" cy="384048"/>
          </a:xfrm>
          <a:prstGeom prst="roundRect">
            <a:avLst>
              <a:gd name="adj" fmla="val 14286"/>
            </a:avLst>
          </a:prstGeom>
          <a:solidFill>
            <a:srgbClr val="0D1321"/>
          </a:solidFill>
          <a:ln/>
        </p:spPr>
      </p:sp>
      <p:sp>
        <p:nvSpPr>
          <p:cNvPr id="55" name="Text 6"/>
          <p:cNvSpPr txBox="1"/>
          <p:nvPr/>
        </p:nvSpPr>
        <p:spPr>
          <a:xfrm>
            <a:off x="563880" y="2332482"/>
            <a:ext cx="345662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smtClean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OLLAMA_IGPU_ENABLE</a:t>
            </a:r>
            <a:endParaRPr lang="en-US" sz="1200" b="1" dirty="0">
              <a:solidFill>
                <a:srgbClr val="00D9C0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</p:txBody>
      </p:sp>
      <p:sp>
        <p:nvSpPr>
          <p:cNvPr id="57" name="Shape 5"/>
          <p:cNvSpPr/>
          <p:nvPr/>
        </p:nvSpPr>
        <p:spPr>
          <a:xfrm>
            <a:off x="582932" y="2954274"/>
            <a:ext cx="3456623" cy="384048"/>
          </a:xfrm>
          <a:prstGeom prst="roundRect">
            <a:avLst>
              <a:gd name="adj" fmla="val 14286"/>
            </a:avLst>
          </a:prstGeom>
          <a:solidFill>
            <a:srgbClr val="0D1321"/>
          </a:solidFill>
          <a:ln/>
        </p:spPr>
      </p:sp>
      <p:sp>
        <p:nvSpPr>
          <p:cNvPr id="58" name="Text 6"/>
          <p:cNvSpPr txBox="1"/>
          <p:nvPr/>
        </p:nvSpPr>
        <p:spPr>
          <a:xfrm>
            <a:off x="573406" y="2954274"/>
            <a:ext cx="345662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smtClean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OLLAMA_NUM</a:t>
            </a:r>
            <a:endParaRPr lang="en-US" sz="1200" b="1" dirty="0">
              <a:solidFill>
                <a:srgbClr val="00D9C0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</p:txBody>
      </p:sp>
      <p:sp>
        <p:nvSpPr>
          <p:cNvPr id="59" name="Shape 5"/>
          <p:cNvSpPr/>
          <p:nvPr/>
        </p:nvSpPr>
        <p:spPr>
          <a:xfrm>
            <a:off x="582932" y="3576066"/>
            <a:ext cx="3456623" cy="384048"/>
          </a:xfrm>
          <a:prstGeom prst="roundRect">
            <a:avLst>
              <a:gd name="adj" fmla="val 14286"/>
            </a:avLst>
          </a:prstGeom>
          <a:solidFill>
            <a:srgbClr val="0D1321"/>
          </a:solidFill>
          <a:ln/>
        </p:spPr>
      </p:sp>
      <p:sp>
        <p:nvSpPr>
          <p:cNvPr id="60" name="Text 6"/>
          <p:cNvSpPr txBox="1"/>
          <p:nvPr/>
        </p:nvSpPr>
        <p:spPr>
          <a:xfrm>
            <a:off x="573406" y="3576066"/>
            <a:ext cx="345662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smtClean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OLLAMA_NUM_PARALLEL</a:t>
            </a:r>
            <a:endParaRPr lang="en-US" sz="1200" b="1" dirty="0">
              <a:solidFill>
                <a:srgbClr val="00D9C0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</p:txBody>
      </p:sp>
      <p:sp>
        <p:nvSpPr>
          <p:cNvPr id="61" name="Shape 5"/>
          <p:cNvSpPr/>
          <p:nvPr/>
        </p:nvSpPr>
        <p:spPr>
          <a:xfrm>
            <a:off x="592457" y="4197858"/>
            <a:ext cx="3456623" cy="384048"/>
          </a:xfrm>
          <a:prstGeom prst="roundRect">
            <a:avLst>
              <a:gd name="adj" fmla="val 14286"/>
            </a:avLst>
          </a:prstGeom>
          <a:solidFill>
            <a:srgbClr val="0D1321"/>
          </a:solidFill>
          <a:ln/>
        </p:spPr>
      </p:sp>
      <p:sp>
        <p:nvSpPr>
          <p:cNvPr id="62" name="Text 6"/>
          <p:cNvSpPr txBox="1"/>
          <p:nvPr/>
        </p:nvSpPr>
        <p:spPr>
          <a:xfrm>
            <a:off x="582931" y="4197858"/>
            <a:ext cx="345662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smtClean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OLLAMA_MAX_LOADED_MODELS</a:t>
            </a:r>
            <a:endParaRPr lang="en-US" sz="1200" b="1" dirty="0">
              <a:solidFill>
                <a:srgbClr val="00D9C0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</p:txBody>
      </p:sp>
      <p:sp>
        <p:nvSpPr>
          <p:cNvPr id="63" name="Shape 5"/>
          <p:cNvSpPr/>
          <p:nvPr/>
        </p:nvSpPr>
        <p:spPr>
          <a:xfrm>
            <a:off x="592456" y="4792980"/>
            <a:ext cx="3456623" cy="384048"/>
          </a:xfrm>
          <a:prstGeom prst="roundRect">
            <a:avLst>
              <a:gd name="adj" fmla="val 14286"/>
            </a:avLst>
          </a:prstGeom>
          <a:solidFill>
            <a:srgbClr val="0D1321"/>
          </a:solidFill>
          <a:ln/>
        </p:spPr>
      </p:sp>
      <p:sp>
        <p:nvSpPr>
          <p:cNvPr id="64" name="Text 6"/>
          <p:cNvSpPr txBox="1"/>
          <p:nvPr/>
        </p:nvSpPr>
        <p:spPr>
          <a:xfrm>
            <a:off x="582930" y="4792980"/>
            <a:ext cx="345662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smtClean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OLLAMA_KEEP_ALIVE</a:t>
            </a:r>
            <a:endParaRPr lang="en-US" sz="1200" b="1" dirty="0">
              <a:solidFill>
                <a:srgbClr val="00D9C0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</p:txBody>
      </p:sp>
      <p:sp>
        <p:nvSpPr>
          <p:cNvPr id="65" name="Shape 5"/>
          <p:cNvSpPr/>
          <p:nvPr/>
        </p:nvSpPr>
        <p:spPr>
          <a:xfrm>
            <a:off x="581978" y="5426583"/>
            <a:ext cx="3456623" cy="384048"/>
          </a:xfrm>
          <a:prstGeom prst="roundRect">
            <a:avLst>
              <a:gd name="adj" fmla="val 14286"/>
            </a:avLst>
          </a:prstGeom>
          <a:solidFill>
            <a:srgbClr val="0D1321"/>
          </a:solidFill>
          <a:ln/>
        </p:spPr>
      </p:sp>
      <p:sp>
        <p:nvSpPr>
          <p:cNvPr id="66" name="Text 6"/>
          <p:cNvSpPr txBox="1"/>
          <p:nvPr/>
        </p:nvSpPr>
        <p:spPr>
          <a:xfrm>
            <a:off x="572452" y="5426583"/>
            <a:ext cx="345662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smtClean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HSA_OVERRIDE_GFX_VERSION</a:t>
            </a:r>
            <a:endParaRPr lang="en-US" sz="1200" b="1" dirty="0">
              <a:solidFill>
                <a:srgbClr val="00D9C0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</p:txBody>
      </p:sp>
      <p:sp>
        <p:nvSpPr>
          <p:cNvPr id="67" name="Shape 5"/>
          <p:cNvSpPr/>
          <p:nvPr/>
        </p:nvSpPr>
        <p:spPr>
          <a:xfrm>
            <a:off x="582932" y="6033516"/>
            <a:ext cx="3456623" cy="384048"/>
          </a:xfrm>
          <a:prstGeom prst="roundRect">
            <a:avLst>
              <a:gd name="adj" fmla="val 14286"/>
            </a:avLst>
          </a:prstGeom>
          <a:solidFill>
            <a:srgbClr val="0D1321"/>
          </a:solidFill>
          <a:ln/>
        </p:spPr>
      </p:sp>
      <p:sp>
        <p:nvSpPr>
          <p:cNvPr id="68" name="Text 6"/>
          <p:cNvSpPr txBox="1"/>
          <p:nvPr/>
        </p:nvSpPr>
        <p:spPr>
          <a:xfrm>
            <a:off x="573406" y="6033516"/>
            <a:ext cx="345662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smtClean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GGML_VK_DISABLE_INTEGER_DOT_PRODUCT</a:t>
            </a:r>
            <a:endParaRPr lang="en-US" sz="1200" b="1" dirty="0">
              <a:solidFill>
                <a:srgbClr val="00D9C0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7878409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smtClean="0">
                <a:solidFill>
                  <a:srgbClr val="00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</a:t>
            </a:r>
            <a:r>
              <a:rPr lang="en-US" sz="1300" b="1" kern="0" spc="200" dirty="0">
                <a:solidFill>
                  <a:srgbClr val="00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OPTIMIERUNG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Modelfile: Basismodell, System-Rolle &amp; Prompt-Format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legt das Basismodell fest, SYSTEM definiert die permanente Rolle der KI und TEMPLATE bestimmt das exakte Prompt-Format – die Grundstruktur jeder Modelfile-Konfiguration.</a:t>
            </a:r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6309360" cy="3739662"/>
          </a:xfrm>
          <a:prstGeom prst="roundRect">
            <a:avLst>
              <a:gd name="adj" fmla="val 2254"/>
            </a:avLst>
          </a:prstGeom>
          <a:solidFill>
            <a:srgbClr val="0A0E1A"/>
          </a:solidFill>
          <a:ln/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94944" y="2414016"/>
            <a:ext cx="91440" cy="91440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7" name="Shape 5"/>
          <p:cNvSpPr/>
          <p:nvPr/>
        </p:nvSpPr>
        <p:spPr>
          <a:xfrm>
            <a:off x="896112" y="2414016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8" name="Shape 6"/>
          <p:cNvSpPr/>
          <p:nvPr/>
        </p:nvSpPr>
        <p:spPr>
          <a:xfrm>
            <a:off x="1097280" y="2414016"/>
            <a:ext cx="91440" cy="91440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2633471"/>
            <a:ext cx="5907024" cy="326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5000"/>
              </a:lnSpc>
            </a:pPr>
            <a:r>
              <a:rPr lang="en-US" sz="120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cat Modelfile</a:t>
            </a:r>
          </a:p>
          <a:p>
            <a:pPr>
              <a:lnSpc>
                <a:spcPct val="115000"/>
              </a:lnSpc>
            </a:pPr>
            <a:r>
              <a:rPr lang="en-US" sz="120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qwen2.5:14b</a:t>
            </a:r>
          </a:p>
          <a:p>
            <a:pPr>
              <a:lnSpc>
                <a:spcPct val="115000"/>
              </a:lnSpc>
            </a:pPr>
            <a:r>
              <a:rPr lang="en-US" sz="120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</a:p>
          <a:p>
            <a:pPr>
              <a:lnSpc>
                <a:spcPct val="115000"/>
              </a:lnSpc>
            </a:pPr>
            <a:r>
              <a:rPr lang="en-US" sz="120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 """</a:t>
            </a:r>
          </a:p>
          <a:p>
            <a:pPr>
              <a:lnSpc>
                <a:spcPct val="115000"/>
              </a:lnSpc>
            </a:pPr>
            <a:r>
              <a:rPr lang="en-US" sz="120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 bist ein hochpräzises, sachliches</a:t>
            </a:r>
          </a:p>
          <a:p>
            <a:pPr>
              <a:lnSpc>
                <a:spcPct val="115000"/>
              </a:lnSpc>
            </a:pPr>
            <a:r>
              <a:rPr lang="en-US" sz="120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KI-Modell. Du extrahierst Fakten exakt</a:t>
            </a:r>
          </a:p>
          <a:p>
            <a:pPr>
              <a:lnSpc>
                <a:spcPct val="115000"/>
              </a:lnSpc>
            </a:pPr>
            <a:r>
              <a:rPr lang="en-US" sz="120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und halluzinierst nicht.</a:t>
            </a:r>
          </a:p>
          <a:p>
            <a:pPr>
              <a:lnSpc>
                <a:spcPct val="115000"/>
              </a:lnSpc>
            </a:pPr>
            <a:r>
              <a:rPr lang="en-US" sz="120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"""</a:t>
            </a:r>
          </a:p>
          <a:p>
            <a:pPr>
              <a:lnSpc>
                <a:spcPct val="115000"/>
              </a:lnSpc>
            </a:pPr>
            <a:r>
              <a:rPr lang="en-US" sz="120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</a:p>
          <a:p>
            <a:pPr>
              <a:lnSpc>
                <a:spcPct val="115000"/>
              </a:lnSpc>
            </a:pPr>
            <a:r>
              <a:rPr lang="en-US" sz="120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"""</a:t>
            </a:r>
          </a:p>
          <a:p>
            <a:pPr>
              <a:lnSpc>
                <a:spcPct val="115000"/>
              </a:lnSpc>
            </a:pPr>
            <a:r>
              <a:rPr lang="en-US" sz="120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 if .System }}&lt;|im_start|&gt;system</a:t>
            </a:r>
          </a:p>
          <a:p>
            <a:pPr>
              <a:lnSpc>
                <a:spcPct val="115000"/>
              </a:lnSpc>
            </a:pPr>
            <a:r>
              <a:rPr lang="en-US" sz="120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 .System }}&lt;|im_end|&gt;{{ end }}</a:t>
            </a:r>
          </a:p>
          <a:p>
            <a:pPr>
              <a:lnSpc>
                <a:spcPct val="115000"/>
              </a:lnSpc>
            </a:pPr>
            <a:r>
              <a:rPr lang="en-US" sz="120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&lt;|im_start|&gt;assistant ...</a:t>
            </a:r>
          </a:p>
          <a:p>
            <a:pPr>
              <a:lnSpc>
                <a:spcPct val="115000"/>
              </a:lnSpc>
            </a:pPr>
            <a:r>
              <a:rPr lang="en-US" sz="120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"""</a:t>
            </a:r>
          </a:p>
        </p:txBody>
      </p:sp>
      <p:sp>
        <p:nvSpPr>
          <p:cNvPr id="10" name="Shape 8"/>
          <p:cNvSpPr/>
          <p:nvPr/>
        </p:nvSpPr>
        <p:spPr>
          <a:xfrm>
            <a:off x="7086600" y="2286000"/>
            <a:ext cx="4572000" cy="3739662"/>
          </a:xfrm>
          <a:prstGeom prst="roundRect">
            <a:avLst>
              <a:gd name="adj" fmla="val 2817"/>
            </a:avLst>
          </a:prstGeom>
          <a:solidFill>
            <a:srgbClr val="F2F5F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315200" y="24688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drei Bausteine der Modelfile</a:t>
            </a:r>
          </a:p>
        </p:txBody>
      </p:sp>
      <p:sp>
        <p:nvSpPr>
          <p:cNvPr id="12" name="Text 10"/>
          <p:cNvSpPr txBox="1"/>
          <p:nvPr/>
        </p:nvSpPr>
        <p:spPr>
          <a:xfrm>
            <a:off x="7315200" y="2880360"/>
            <a:ext cx="1005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6B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</a:p>
        </p:txBody>
      </p:sp>
      <p:sp>
        <p:nvSpPr>
          <p:cNvPr id="13" name="Text 11"/>
          <p:cNvSpPr txBox="1"/>
          <p:nvPr/>
        </p:nvSpPr>
        <p:spPr>
          <a:xfrm>
            <a:off x="8321040" y="288036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21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– Basismodell (Pflichtfeld)</a:t>
            </a:r>
          </a:p>
        </p:txBody>
      </p:sp>
      <p:sp>
        <p:nvSpPr>
          <p:cNvPr id="14" name="Text 12"/>
          <p:cNvSpPr txBox="1"/>
          <p:nvPr/>
        </p:nvSpPr>
        <p:spPr>
          <a:xfrm>
            <a:off x="7315200" y="3593592"/>
            <a:ext cx="1005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6B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</a:p>
        </p:txBody>
      </p:sp>
      <p:sp>
        <p:nvSpPr>
          <p:cNvPr id="15" name="Text 13"/>
          <p:cNvSpPr txBox="1"/>
          <p:nvPr/>
        </p:nvSpPr>
        <p:spPr>
          <a:xfrm>
            <a:off x="8321040" y="3593592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21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– permanente Rolle/Identität</a:t>
            </a:r>
          </a:p>
        </p:txBody>
      </p:sp>
      <p:sp>
        <p:nvSpPr>
          <p:cNvPr id="16" name="Text 14"/>
          <p:cNvSpPr txBox="1"/>
          <p:nvPr/>
        </p:nvSpPr>
        <p:spPr>
          <a:xfrm>
            <a:off x="7315200" y="4306824"/>
            <a:ext cx="1005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6B4A"/>
                </a:solidFill>
                <a:latin typeface="Arial" pitchFamily="34" charset="0"/>
                <a:cs typeface="Arial" pitchFamily="34" charset="-120"/>
              </a:rPr>
              <a:t>3</a:t>
            </a:r>
          </a:p>
        </p:txBody>
      </p:sp>
      <p:sp>
        <p:nvSpPr>
          <p:cNvPr id="17" name="Text 15"/>
          <p:cNvSpPr txBox="1"/>
          <p:nvPr/>
        </p:nvSpPr>
        <p:spPr>
          <a:xfrm>
            <a:off x="8321040" y="4306824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21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– exaktes Prompt-Format (Go-Syntax)</a:t>
            </a:r>
          </a:p>
        </p:txBody>
      </p:sp>
      <p:sp>
        <p:nvSpPr>
          <p:cNvPr id="18" name="Shape 16"/>
          <p:cNvSpPr/>
          <p:nvPr/>
        </p:nvSpPr>
        <p:spPr>
          <a:xfrm>
            <a:off x="7315200" y="5065776"/>
            <a:ext cx="4023360" cy="0"/>
          </a:xfrm>
          <a:prstGeom prst="line">
            <a:avLst/>
          </a:prstGeom>
          <a:noFill/>
          <a:ln w="12700">
            <a:solidFill>
              <a:srgbClr val="D5DBE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60920" y="5121890"/>
            <a:ext cx="4023360" cy="721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FROM ist Pflicht; SYSTEM und TEMPLATE sind optional, aber entscheidend für Tonalität und Formatstabilität. Zusätzliche MESSAGE-Paare liefern Few-Shot-Beispiele.</a:t>
            </a:r>
          </a:p>
        </p:txBody>
      </p:sp>
      <p:sp>
        <p:nvSpPr>
          <p:cNvPr id="20" name="Text 18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PERFORMANCE TUNING · iGPU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274552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kern="0" spc="200">
                <a:solidFill>
                  <a:srgbClr val="00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3 OPTIMIERUNG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39" y="685800"/>
            <a:ext cx="11519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Modelfile</a:t>
            </a:r>
            <a:r>
              <a:rPr lang="en-US" sz="3000" b="1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</a:t>
            </a:r>
            <a:r>
              <a:rPr lang="en-US" sz="3000" b="1" smtClean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</a:t>
            </a:r>
            <a:r>
              <a:rPr lang="en-US" sz="3000" b="1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gegen </a:t>
            </a:r>
            <a:r>
              <a:rPr lang="en-US" sz="3000" b="1" smtClean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Halluzinationen &amp; Wiederholungen</a:t>
            </a:r>
            <a:endParaRPr lang="en-US" sz="3000" b="1" dirty="0">
              <a:solidFill>
                <a:srgbClr val="1217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Diese Parameter steuern, wie kreativ oder faktentreu das Modell </a:t>
            </a:r>
            <a:r>
              <a:rPr lang="en-US" sz="130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antwortet – optimiert für </a:t>
            </a:r>
            <a:r>
              <a:rPr lang="en-US" sz="1300" smtClean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 </a:t>
            </a:r>
            <a:r>
              <a:rPr lang="en-US" sz="130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qwen2.5:14b.</a:t>
            </a:r>
            <a:endParaRPr lang="en-US" sz="1300" dirty="0">
              <a:solidFill>
                <a:srgbClr val="5B647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5518785" cy="457200"/>
          </a:xfrm>
          <a:prstGeom prst="roundRect">
            <a:avLst>
              <a:gd name="adj" fmla="val 12000"/>
            </a:avLst>
          </a:prstGeom>
          <a:solidFill>
            <a:srgbClr val="0D132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96596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smtClean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(Halluzinationen)</a:t>
            </a:r>
            <a:endParaRPr lang="en-US" sz="1150" b="1" dirty="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2594610" y="196596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Wert</a:t>
            </a:r>
          </a:p>
        </p:txBody>
      </p:sp>
      <p:sp>
        <p:nvSpPr>
          <p:cNvPr id="8" name="Text 6"/>
          <p:cNvSpPr txBox="1"/>
          <p:nvPr/>
        </p:nvSpPr>
        <p:spPr>
          <a:xfrm>
            <a:off x="3891915" y="1965960"/>
            <a:ext cx="90868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Wirkung</a:t>
            </a:r>
          </a:p>
        </p:txBody>
      </p:sp>
      <p:sp>
        <p:nvSpPr>
          <p:cNvPr id="9" name="Shape 7"/>
          <p:cNvSpPr/>
          <p:nvPr/>
        </p:nvSpPr>
        <p:spPr>
          <a:xfrm>
            <a:off x="554355" y="2423160"/>
            <a:ext cx="5513070" cy="797814"/>
          </a:xfrm>
          <a:prstGeom prst="rect">
            <a:avLst/>
          </a:prstGeom>
          <a:solidFill>
            <a:srgbClr val="F2F5F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613660" y="2480310"/>
            <a:ext cx="701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smtClean="0">
                <a:solidFill>
                  <a:srgbClr val="1217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0.7</a:t>
            </a:r>
            <a:endParaRPr lang="en-US" sz="1250" dirty="0">
              <a:solidFill>
                <a:srgbClr val="12172B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3355655" y="2514981"/>
            <a:ext cx="2727961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200" b="1"/>
              <a:t>Zufallsgenerator</a:t>
            </a:r>
            <a:endParaRPr lang="en-US" sz="1200" b="1" smtClean="0">
              <a:solidFill>
                <a:srgbClr val="0D132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200" smtClean="0">
                <a:solidFill>
                  <a:srgbClr val="0D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Niedrigere Werte machen die KI berechenbarer und fokussierter, höhere Werte experimentierfreudiger</a:t>
            </a:r>
            <a:endParaRPr lang="en-US" sz="1200" dirty="0">
              <a:solidFill>
                <a:srgbClr val="0D132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2623185" y="3206877"/>
            <a:ext cx="701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smtClean="0">
                <a:solidFill>
                  <a:srgbClr val="1217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0.8</a:t>
            </a:r>
            <a:endParaRPr lang="en-US" sz="1250" dirty="0">
              <a:solidFill>
                <a:srgbClr val="12172B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3371849" y="3225546"/>
            <a:ext cx="269557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smtClean="0">
                <a:latin typeface="Calibri" pitchFamily="34" charset="0"/>
                <a:ea typeface="Calibri" pitchFamily="34" charset="-122"/>
                <a:cs typeface="Calibri" pitchFamily="34" charset="-120"/>
              </a:rPr>
              <a:t>Themen-Filter</a:t>
            </a:r>
          </a:p>
          <a:p>
            <a:pPr marL="0" indent="0">
              <a:buNone/>
            </a:pPr>
            <a:r>
              <a:rPr lang="en-US" sz="1200" smtClean="0">
                <a:latin typeface="Calibri" pitchFamily="34" charset="0"/>
                <a:ea typeface="Calibri" pitchFamily="34" charset="-122"/>
                <a:cs typeface="Calibri" pitchFamily="34" charset="-120"/>
              </a:rPr>
              <a:t>Lässt die KI nur aus dem Pool der 80% wahrscheinlichsten Wörter wählen.</a:t>
            </a:r>
            <a:endParaRPr lang="en-US" sz="1200" dirty="0"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548640" y="3838194"/>
            <a:ext cx="5518785" cy="621792"/>
          </a:xfrm>
          <a:prstGeom prst="rect">
            <a:avLst/>
          </a:prstGeom>
          <a:solidFill>
            <a:srgbClr val="F2F5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2727960" y="3838194"/>
            <a:ext cx="60579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217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r>
              <a:rPr lang="en-US" sz="1250" smtClean="0">
                <a:solidFill>
                  <a:srgbClr val="1217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50" dirty="0">
              <a:solidFill>
                <a:srgbClr val="12172B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</p:txBody>
      </p:sp>
      <p:sp>
        <p:nvSpPr>
          <p:cNvPr id="21" name="Text 19"/>
          <p:cNvSpPr txBox="1"/>
          <p:nvPr/>
        </p:nvSpPr>
        <p:spPr>
          <a:xfrm>
            <a:off x="3371850" y="3838194"/>
            <a:ext cx="269557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smtClean="0">
                <a:solidFill>
                  <a:srgbClr val="0D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Wortschatz-Bremse</a:t>
            </a:r>
          </a:p>
          <a:p>
            <a:pPr marL="0" indent="0">
              <a:buNone/>
            </a:pPr>
            <a:r>
              <a:rPr lang="en-US" sz="1200" smtClean="0">
                <a:solidFill>
                  <a:srgbClr val="0D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Begrenzt die Auswahl bei jedem Schritt strikt auf die 20 besten Wörter</a:t>
            </a:r>
            <a:endParaRPr lang="en-US" sz="1200" dirty="0">
              <a:solidFill>
                <a:srgbClr val="0D132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24" name="Text 22"/>
          <p:cNvSpPr txBox="1"/>
          <p:nvPr/>
        </p:nvSpPr>
        <p:spPr>
          <a:xfrm>
            <a:off x="2546985" y="4526661"/>
            <a:ext cx="777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217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0.05</a:t>
            </a:r>
          </a:p>
        </p:txBody>
      </p:sp>
      <p:sp>
        <p:nvSpPr>
          <p:cNvPr id="25" name="Text 23"/>
          <p:cNvSpPr txBox="1"/>
          <p:nvPr/>
        </p:nvSpPr>
        <p:spPr>
          <a:xfrm>
            <a:off x="3381375" y="4526661"/>
            <a:ext cx="243268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smtClean="0">
                <a:solidFill>
                  <a:srgbClr val="0D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Qualitätsfilter</a:t>
            </a:r>
          </a:p>
          <a:p>
            <a:pPr marL="0" indent="0">
              <a:buNone/>
            </a:pPr>
            <a:r>
              <a:rPr lang="en-US" sz="1200" smtClean="0">
                <a:solidFill>
                  <a:srgbClr val="0D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Sortiert unlogische Wörter aus, die weniger als 5% Wahrscheinlichkeit haben.</a:t>
            </a:r>
            <a:endParaRPr lang="en-US" sz="1200" dirty="0">
              <a:solidFill>
                <a:srgbClr val="0D132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41" name="Text 39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PERFORMANCE TUNING · iGPU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11274552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43" name="Shape 16"/>
          <p:cNvSpPr/>
          <p:nvPr/>
        </p:nvSpPr>
        <p:spPr>
          <a:xfrm>
            <a:off x="6235065" y="5662803"/>
            <a:ext cx="5674995" cy="804672"/>
          </a:xfrm>
          <a:prstGeom prst="rect">
            <a:avLst/>
          </a:prstGeom>
          <a:solidFill>
            <a:srgbClr val="F2F5FA"/>
          </a:solidFill>
          <a:ln/>
        </p:spPr>
      </p:sp>
      <p:sp>
        <p:nvSpPr>
          <p:cNvPr id="45" name="Text 18"/>
          <p:cNvSpPr txBox="1"/>
          <p:nvPr/>
        </p:nvSpPr>
        <p:spPr>
          <a:xfrm>
            <a:off x="8338185" y="5758053"/>
            <a:ext cx="68199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smtClean="0">
                <a:solidFill>
                  <a:srgbClr val="1217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</a:t>
            </a:r>
            <a:endParaRPr lang="en-US" sz="1250" dirty="0">
              <a:solidFill>
                <a:srgbClr val="12172B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</p:txBody>
      </p:sp>
      <p:sp>
        <p:nvSpPr>
          <p:cNvPr id="46" name="Text 19"/>
          <p:cNvSpPr txBox="1"/>
          <p:nvPr/>
        </p:nvSpPr>
        <p:spPr>
          <a:xfrm>
            <a:off x="9067800" y="5756148"/>
            <a:ext cx="268605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smtClean="0">
                <a:solidFill>
                  <a:srgbClr val="0D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Not-Ausschalter</a:t>
            </a:r>
          </a:p>
          <a:p>
            <a:pPr marL="0" indent="0">
              <a:buNone/>
            </a:pPr>
            <a:r>
              <a:rPr lang="en-US" sz="1200" smtClean="0">
                <a:solidFill>
                  <a:srgbClr val="0D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Schneidet die Antwort nicht ab, sondern schreibt bis zum Ende.</a:t>
            </a:r>
            <a:endParaRPr lang="en-US" sz="1200" dirty="0">
              <a:solidFill>
                <a:srgbClr val="0D132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49" name="Shape 5"/>
          <p:cNvSpPr/>
          <p:nvPr/>
        </p:nvSpPr>
        <p:spPr>
          <a:xfrm>
            <a:off x="565310" y="2608707"/>
            <a:ext cx="1718785" cy="384048"/>
          </a:xfrm>
          <a:prstGeom prst="roundRect">
            <a:avLst>
              <a:gd name="adj" fmla="val 14286"/>
            </a:avLst>
          </a:prstGeom>
          <a:solidFill>
            <a:srgbClr val="0D1321"/>
          </a:solidFill>
          <a:ln/>
        </p:spPr>
      </p:sp>
      <p:sp>
        <p:nvSpPr>
          <p:cNvPr id="50" name="Text 6"/>
          <p:cNvSpPr txBox="1"/>
          <p:nvPr/>
        </p:nvSpPr>
        <p:spPr>
          <a:xfrm>
            <a:off x="555784" y="2608707"/>
            <a:ext cx="172831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smtClean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temperature</a:t>
            </a:r>
            <a:endParaRPr lang="en-US" sz="1200" b="1" dirty="0">
              <a:solidFill>
                <a:srgbClr val="00D9C0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</p:txBody>
      </p:sp>
      <p:sp>
        <p:nvSpPr>
          <p:cNvPr id="51" name="Shape 5"/>
          <p:cNvSpPr/>
          <p:nvPr/>
        </p:nvSpPr>
        <p:spPr>
          <a:xfrm>
            <a:off x="563881" y="3325749"/>
            <a:ext cx="1718785" cy="384048"/>
          </a:xfrm>
          <a:prstGeom prst="roundRect">
            <a:avLst>
              <a:gd name="adj" fmla="val 14286"/>
            </a:avLst>
          </a:prstGeom>
          <a:solidFill>
            <a:srgbClr val="0D1321"/>
          </a:solidFill>
          <a:ln/>
        </p:spPr>
      </p:sp>
      <p:sp>
        <p:nvSpPr>
          <p:cNvPr id="52" name="Text 6"/>
          <p:cNvSpPr txBox="1"/>
          <p:nvPr/>
        </p:nvSpPr>
        <p:spPr>
          <a:xfrm>
            <a:off x="554355" y="3325749"/>
            <a:ext cx="172831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smtClean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top_p</a:t>
            </a:r>
            <a:endParaRPr lang="en-US" sz="1200" b="1" dirty="0">
              <a:solidFill>
                <a:srgbClr val="00D9C0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</p:txBody>
      </p:sp>
      <p:sp>
        <p:nvSpPr>
          <p:cNvPr id="53" name="Shape 5"/>
          <p:cNvSpPr/>
          <p:nvPr/>
        </p:nvSpPr>
        <p:spPr>
          <a:xfrm>
            <a:off x="544832" y="3957066"/>
            <a:ext cx="1718785" cy="384048"/>
          </a:xfrm>
          <a:prstGeom prst="roundRect">
            <a:avLst>
              <a:gd name="adj" fmla="val 14286"/>
            </a:avLst>
          </a:prstGeom>
          <a:solidFill>
            <a:srgbClr val="0D1321"/>
          </a:solidFill>
          <a:ln/>
        </p:spPr>
      </p:sp>
      <p:sp>
        <p:nvSpPr>
          <p:cNvPr id="54" name="Text 6"/>
          <p:cNvSpPr txBox="1"/>
          <p:nvPr/>
        </p:nvSpPr>
        <p:spPr>
          <a:xfrm>
            <a:off x="535306" y="3957066"/>
            <a:ext cx="172831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smtClean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top_k</a:t>
            </a:r>
            <a:endParaRPr lang="en-US" sz="1200" b="1" dirty="0">
              <a:solidFill>
                <a:srgbClr val="00D9C0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</p:txBody>
      </p:sp>
      <p:sp>
        <p:nvSpPr>
          <p:cNvPr id="55" name="Shape 5"/>
          <p:cNvSpPr/>
          <p:nvPr/>
        </p:nvSpPr>
        <p:spPr>
          <a:xfrm>
            <a:off x="551022" y="4645533"/>
            <a:ext cx="1718785" cy="384048"/>
          </a:xfrm>
          <a:prstGeom prst="roundRect">
            <a:avLst>
              <a:gd name="adj" fmla="val 14286"/>
            </a:avLst>
          </a:prstGeom>
          <a:solidFill>
            <a:srgbClr val="0D1321"/>
          </a:solidFill>
          <a:ln/>
        </p:spPr>
      </p:sp>
      <p:sp>
        <p:nvSpPr>
          <p:cNvPr id="56" name="Text 6"/>
          <p:cNvSpPr txBox="1"/>
          <p:nvPr/>
        </p:nvSpPr>
        <p:spPr>
          <a:xfrm>
            <a:off x="541496" y="4645533"/>
            <a:ext cx="172831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smtClean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min_p</a:t>
            </a:r>
            <a:endParaRPr lang="en-US" sz="1200" b="1" dirty="0">
              <a:solidFill>
                <a:srgbClr val="00D9C0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</p:txBody>
      </p:sp>
      <p:sp>
        <p:nvSpPr>
          <p:cNvPr id="57" name="Shape 5"/>
          <p:cNvSpPr/>
          <p:nvPr/>
        </p:nvSpPr>
        <p:spPr>
          <a:xfrm>
            <a:off x="6245544" y="5876925"/>
            <a:ext cx="1718785" cy="384048"/>
          </a:xfrm>
          <a:prstGeom prst="roundRect">
            <a:avLst>
              <a:gd name="adj" fmla="val 14286"/>
            </a:avLst>
          </a:prstGeom>
          <a:solidFill>
            <a:srgbClr val="0D1321"/>
          </a:solidFill>
          <a:ln/>
        </p:spPr>
      </p:sp>
      <p:sp>
        <p:nvSpPr>
          <p:cNvPr id="58" name="Text 6"/>
          <p:cNvSpPr txBox="1"/>
          <p:nvPr/>
        </p:nvSpPr>
        <p:spPr>
          <a:xfrm>
            <a:off x="6250307" y="5876925"/>
            <a:ext cx="172831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smtClean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num_predict</a:t>
            </a:r>
            <a:endParaRPr lang="en-US" sz="1200" b="1" dirty="0">
              <a:solidFill>
                <a:srgbClr val="00D9C0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</p:txBody>
      </p:sp>
      <p:sp>
        <p:nvSpPr>
          <p:cNvPr id="59" name="Shape 3"/>
          <p:cNvSpPr/>
          <p:nvPr/>
        </p:nvSpPr>
        <p:spPr>
          <a:xfrm>
            <a:off x="6216015" y="1975485"/>
            <a:ext cx="5694045" cy="457200"/>
          </a:xfrm>
          <a:prstGeom prst="roundRect">
            <a:avLst>
              <a:gd name="adj" fmla="val 12000"/>
            </a:avLst>
          </a:prstGeom>
          <a:solidFill>
            <a:srgbClr val="0D1321"/>
          </a:solidFill>
          <a:ln/>
        </p:spPr>
      </p:sp>
      <p:sp>
        <p:nvSpPr>
          <p:cNvPr id="60" name="Text 4"/>
          <p:cNvSpPr txBox="1"/>
          <p:nvPr/>
        </p:nvSpPr>
        <p:spPr>
          <a:xfrm>
            <a:off x="6307455" y="1975485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smtClean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(Wiederholungen)</a:t>
            </a:r>
            <a:endParaRPr lang="en-US" sz="1150" b="1" dirty="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1" name="Text 5"/>
          <p:cNvSpPr txBox="1"/>
          <p:nvPr/>
        </p:nvSpPr>
        <p:spPr>
          <a:xfrm>
            <a:off x="8433435" y="1975485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Wert</a:t>
            </a:r>
          </a:p>
        </p:txBody>
      </p:sp>
      <p:sp>
        <p:nvSpPr>
          <p:cNvPr id="62" name="Text 6"/>
          <p:cNvSpPr txBox="1"/>
          <p:nvPr/>
        </p:nvSpPr>
        <p:spPr>
          <a:xfrm>
            <a:off x="9559290" y="1975485"/>
            <a:ext cx="90868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Wirkung</a:t>
            </a:r>
          </a:p>
        </p:txBody>
      </p:sp>
      <p:sp>
        <p:nvSpPr>
          <p:cNvPr id="63" name="Shape 7"/>
          <p:cNvSpPr/>
          <p:nvPr/>
        </p:nvSpPr>
        <p:spPr>
          <a:xfrm>
            <a:off x="6221730" y="2432685"/>
            <a:ext cx="5688330" cy="774192"/>
          </a:xfrm>
          <a:prstGeom prst="rect">
            <a:avLst/>
          </a:prstGeom>
          <a:solidFill>
            <a:srgbClr val="F2F5FA"/>
          </a:solidFill>
          <a:ln/>
        </p:spPr>
      </p:sp>
      <p:sp>
        <p:nvSpPr>
          <p:cNvPr id="64" name="Text 9"/>
          <p:cNvSpPr txBox="1"/>
          <p:nvPr/>
        </p:nvSpPr>
        <p:spPr>
          <a:xfrm>
            <a:off x="8423910" y="2508885"/>
            <a:ext cx="701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smtClean="0">
                <a:solidFill>
                  <a:srgbClr val="1217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0.4</a:t>
            </a:r>
            <a:endParaRPr lang="en-US" sz="1250" dirty="0">
              <a:solidFill>
                <a:srgbClr val="12172B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</p:txBody>
      </p:sp>
      <p:sp>
        <p:nvSpPr>
          <p:cNvPr id="65" name="Text 10"/>
          <p:cNvSpPr txBox="1"/>
          <p:nvPr/>
        </p:nvSpPr>
        <p:spPr>
          <a:xfrm>
            <a:off x="9102090" y="2499360"/>
            <a:ext cx="262966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smtClean="0">
                <a:solidFill>
                  <a:srgbClr val="0D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Themen-Wechsel</a:t>
            </a:r>
          </a:p>
          <a:p>
            <a:pPr marL="0" indent="0">
              <a:buNone/>
            </a:pPr>
            <a:r>
              <a:rPr lang="en-US" sz="1200" smtClean="0">
                <a:solidFill>
                  <a:srgbClr val="0D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Zwingt die KI, neue Begriffe und Konzepte einzubringen, statt auf alten Phrasen herumzureiten.</a:t>
            </a:r>
            <a:endParaRPr lang="en-US" sz="1200" dirty="0">
              <a:solidFill>
                <a:srgbClr val="0D132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66" name="Text 13"/>
          <p:cNvSpPr txBox="1"/>
          <p:nvPr/>
        </p:nvSpPr>
        <p:spPr>
          <a:xfrm>
            <a:off x="8423910" y="3216402"/>
            <a:ext cx="701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smtClean="0">
                <a:solidFill>
                  <a:srgbClr val="1217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1.05</a:t>
            </a:r>
            <a:endParaRPr lang="en-US" sz="1250" dirty="0">
              <a:solidFill>
                <a:srgbClr val="12172B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</p:txBody>
      </p:sp>
      <p:sp>
        <p:nvSpPr>
          <p:cNvPr id="67" name="Text 14"/>
          <p:cNvSpPr txBox="1"/>
          <p:nvPr/>
        </p:nvSpPr>
        <p:spPr>
          <a:xfrm>
            <a:off x="9124950" y="3206496"/>
            <a:ext cx="27851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smtClean="0">
                <a:latin typeface="Calibri" pitchFamily="34" charset="0"/>
                <a:ea typeface="Calibri" pitchFamily="34" charset="-122"/>
                <a:cs typeface="Calibri" pitchFamily="34" charset="-120"/>
              </a:rPr>
              <a:t>Wort-Sperre</a:t>
            </a:r>
          </a:p>
          <a:p>
            <a:pPr marL="0" indent="0">
              <a:buNone/>
            </a:pPr>
            <a:r>
              <a:rPr lang="en-US" sz="1200" smtClean="0">
                <a:latin typeface="Calibri" pitchFamily="34" charset="0"/>
                <a:ea typeface="Calibri" pitchFamily="34" charset="-122"/>
                <a:cs typeface="Calibri" pitchFamily="34" charset="-120"/>
              </a:rPr>
              <a:t>Bestraft direkte Wort- und Phrasenwiederholungen im generierten Text</a:t>
            </a:r>
            <a:endParaRPr lang="en-US" sz="1200" dirty="0"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68" name="Shape 16"/>
          <p:cNvSpPr/>
          <p:nvPr/>
        </p:nvSpPr>
        <p:spPr>
          <a:xfrm>
            <a:off x="6216015" y="3838193"/>
            <a:ext cx="5694045" cy="807339"/>
          </a:xfrm>
          <a:prstGeom prst="rect">
            <a:avLst/>
          </a:prstGeom>
          <a:solidFill>
            <a:srgbClr val="F2F5FA"/>
          </a:solidFill>
          <a:ln/>
        </p:spPr>
      </p:sp>
      <p:sp>
        <p:nvSpPr>
          <p:cNvPr id="69" name="Text 18"/>
          <p:cNvSpPr txBox="1"/>
          <p:nvPr/>
        </p:nvSpPr>
        <p:spPr>
          <a:xfrm>
            <a:off x="8519160" y="3914394"/>
            <a:ext cx="60579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smtClean="0">
                <a:solidFill>
                  <a:srgbClr val="1217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64</a:t>
            </a:r>
            <a:endParaRPr lang="en-US" sz="1250" dirty="0">
              <a:solidFill>
                <a:srgbClr val="12172B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</p:txBody>
      </p:sp>
      <p:sp>
        <p:nvSpPr>
          <p:cNvPr id="70" name="Text 19"/>
          <p:cNvSpPr txBox="1"/>
          <p:nvPr/>
        </p:nvSpPr>
        <p:spPr>
          <a:xfrm>
            <a:off x="9124950" y="3914394"/>
            <a:ext cx="27851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smtClean="0">
                <a:solidFill>
                  <a:srgbClr val="0D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Kurzzeitgedächnis</a:t>
            </a:r>
          </a:p>
          <a:p>
            <a:pPr marL="0" indent="0">
              <a:buNone/>
            </a:pPr>
            <a:r>
              <a:rPr lang="en-US" sz="1200" smtClean="0">
                <a:solidFill>
                  <a:srgbClr val="0D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Legt fest, wie viele Wörter (Tokens) die KI rückwirkend im Blick behält, um Wiederholungen zu prüfen.</a:t>
            </a:r>
            <a:endParaRPr lang="en-US" sz="1200" dirty="0">
              <a:solidFill>
                <a:srgbClr val="0D132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73" name="Shape 16"/>
          <p:cNvSpPr/>
          <p:nvPr/>
        </p:nvSpPr>
        <p:spPr>
          <a:xfrm>
            <a:off x="6216015" y="4710303"/>
            <a:ext cx="5694045" cy="864870"/>
          </a:xfrm>
          <a:prstGeom prst="rect">
            <a:avLst/>
          </a:prstGeom>
          <a:solidFill>
            <a:srgbClr val="F2F5FA"/>
          </a:solidFill>
          <a:ln/>
        </p:spPr>
      </p:sp>
      <p:sp>
        <p:nvSpPr>
          <p:cNvPr id="75" name="Text 19"/>
          <p:cNvSpPr txBox="1"/>
          <p:nvPr/>
        </p:nvSpPr>
        <p:spPr>
          <a:xfrm>
            <a:off x="6419850" y="4698873"/>
            <a:ext cx="5137784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200" b="1"/>
              <a:t>Das Zusammenspiel:</a:t>
            </a:r>
            <a:r>
              <a:rPr lang="de-DE" sz="1200"/>
              <a:t/>
            </a:r>
            <a:br>
              <a:rPr lang="de-DE" sz="1200"/>
            </a:br>
            <a:r>
              <a:rPr lang="de-DE" sz="1200"/>
              <a:t>Größeres Gedächtnis (repeat_last_n) + stärkere Strafe (repeat_penalty) = maximaler Schutz vor Wiederholungen.</a:t>
            </a:r>
            <a:endParaRPr lang="en-US" sz="1200" dirty="0">
              <a:solidFill>
                <a:schemeClr val="tx1">
                  <a:lumMod val="95000"/>
                  <a:lumOff val="5000"/>
                </a:schemeClr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76" name="Shape 5"/>
          <p:cNvSpPr/>
          <p:nvPr/>
        </p:nvSpPr>
        <p:spPr>
          <a:xfrm>
            <a:off x="6232685" y="2627757"/>
            <a:ext cx="1718785" cy="384048"/>
          </a:xfrm>
          <a:prstGeom prst="roundRect">
            <a:avLst>
              <a:gd name="adj" fmla="val 14286"/>
            </a:avLst>
          </a:prstGeom>
          <a:solidFill>
            <a:srgbClr val="0D1321"/>
          </a:solidFill>
          <a:ln/>
        </p:spPr>
      </p:sp>
      <p:sp>
        <p:nvSpPr>
          <p:cNvPr id="77" name="Text 6"/>
          <p:cNvSpPr txBox="1"/>
          <p:nvPr/>
        </p:nvSpPr>
        <p:spPr>
          <a:xfrm>
            <a:off x="6223159" y="2627757"/>
            <a:ext cx="172831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smtClean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presence_penalty</a:t>
            </a:r>
            <a:endParaRPr lang="en-US" sz="1200" b="1" dirty="0">
              <a:solidFill>
                <a:srgbClr val="00D9C0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</p:txBody>
      </p:sp>
      <p:sp>
        <p:nvSpPr>
          <p:cNvPr id="78" name="Shape 5"/>
          <p:cNvSpPr/>
          <p:nvPr/>
        </p:nvSpPr>
        <p:spPr>
          <a:xfrm>
            <a:off x="6231256" y="3335274"/>
            <a:ext cx="1718785" cy="384048"/>
          </a:xfrm>
          <a:prstGeom prst="roundRect">
            <a:avLst>
              <a:gd name="adj" fmla="val 14286"/>
            </a:avLst>
          </a:prstGeom>
          <a:solidFill>
            <a:srgbClr val="0D1321"/>
          </a:solidFill>
          <a:ln/>
        </p:spPr>
      </p:sp>
      <p:sp>
        <p:nvSpPr>
          <p:cNvPr id="79" name="Text 6"/>
          <p:cNvSpPr txBox="1"/>
          <p:nvPr/>
        </p:nvSpPr>
        <p:spPr>
          <a:xfrm>
            <a:off x="6221730" y="3335274"/>
            <a:ext cx="172831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smtClean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repeat_penalty</a:t>
            </a:r>
            <a:endParaRPr lang="en-US" sz="1200" b="1" dirty="0">
              <a:solidFill>
                <a:srgbClr val="00D9C0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</p:txBody>
      </p:sp>
      <p:sp>
        <p:nvSpPr>
          <p:cNvPr id="80" name="Shape 5"/>
          <p:cNvSpPr/>
          <p:nvPr/>
        </p:nvSpPr>
        <p:spPr>
          <a:xfrm>
            <a:off x="6212207" y="4033266"/>
            <a:ext cx="1718785" cy="384048"/>
          </a:xfrm>
          <a:prstGeom prst="roundRect">
            <a:avLst>
              <a:gd name="adj" fmla="val 14286"/>
            </a:avLst>
          </a:prstGeom>
          <a:solidFill>
            <a:srgbClr val="0D1321"/>
          </a:solidFill>
          <a:ln/>
        </p:spPr>
      </p:sp>
      <p:sp>
        <p:nvSpPr>
          <p:cNvPr id="81" name="Text 6"/>
          <p:cNvSpPr txBox="1"/>
          <p:nvPr/>
        </p:nvSpPr>
        <p:spPr>
          <a:xfrm>
            <a:off x="6202681" y="4033266"/>
            <a:ext cx="172831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smtClean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repeat_last_n</a:t>
            </a:r>
            <a:endParaRPr lang="en-US" sz="1200" b="1" dirty="0">
              <a:solidFill>
                <a:srgbClr val="00D9C0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kern="0" spc="200">
                <a:solidFill>
                  <a:srgbClr val="00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3 OPTIMIERUNG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39" y="685800"/>
            <a:ext cx="11519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Modelfile</a:t>
            </a:r>
            <a:r>
              <a:rPr lang="en-US" sz="3000" b="1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</a:t>
            </a:r>
            <a:r>
              <a:rPr lang="en-US" sz="3000" b="1" smtClean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Hardware &amp; Speicher im Detail</a:t>
            </a:r>
            <a:endParaRPr lang="en-US" sz="3000" b="1" dirty="0">
              <a:solidFill>
                <a:srgbClr val="1217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Diese Parameter bestimmen den Arbeitsspeicher-Hebel und die Hardware-Zuteilung zwischen CPU und iGPU</a:t>
            </a:r>
            <a:r>
              <a:rPr lang="en-US" sz="1400" smtClean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>
              <a:solidFill>
                <a:srgbClr val="5B647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5518785" cy="457200"/>
          </a:xfrm>
          <a:prstGeom prst="roundRect">
            <a:avLst>
              <a:gd name="adj" fmla="val 12000"/>
            </a:avLst>
          </a:prstGeom>
          <a:solidFill>
            <a:srgbClr val="0D132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96596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smtClean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(Kontext &amp; GPU´-Zuteilung)</a:t>
            </a:r>
            <a:endParaRPr lang="en-US" sz="1150" b="1" dirty="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2594610" y="196596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Wert</a:t>
            </a:r>
          </a:p>
        </p:txBody>
      </p:sp>
      <p:sp>
        <p:nvSpPr>
          <p:cNvPr id="8" name="Text 6"/>
          <p:cNvSpPr txBox="1"/>
          <p:nvPr/>
        </p:nvSpPr>
        <p:spPr>
          <a:xfrm>
            <a:off x="3891915" y="1965960"/>
            <a:ext cx="90868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Wirkung</a:t>
            </a:r>
          </a:p>
        </p:txBody>
      </p:sp>
      <p:sp>
        <p:nvSpPr>
          <p:cNvPr id="9" name="Shape 7"/>
          <p:cNvSpPr/>
          <p:nvPr/>
        </p:nvSpPr>
        <p:spPr>
          <a:xfrm>
            <a:off x="554355" y="2423160"/>
            <a:ext cx="5513070" cy="797814"/>
          </a:xfrm>
          <a:prstGeom prst="rect">
            <a:avLst/>
          </a:prstGeom>
          <a:solidFill>
            <a:srgbClr val="F2F5F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613660" y="2508885"/>
            <a:ext cx="701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smtClean="0">
                <a:solidFill>
                  <a:srgbClr val="1217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8192</a:t>
            </a:r>
            <a:endParaRPr lang="en-US" sz="1250" dirty="0">
              <a:solidFill>
                <a:srgbClr val="12172B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3355655" y="2514981"/>
            <a:ext cx="2727961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200" smtClean="0"/>
              <a:t>Setzt die Größe des Kontextfensters </a:t>
            </a:r>
            <a:endParaRPr lang="en-US" sz="1200" dirty="0">
              <a:solidFill>
                <a:srgbClr val="0D132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2623185" y="3206877"/>
            <a:ext cx="701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smtClean="0">
                <a:solidFill>
                  <a:srgbClr val="1217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</a:t>
            </a:r>
            <a:endParaRPr lang="en-US" sz="1250" dirty="0">
              <a:solidFill>
                <a:srgbClr val="12172B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3371849" y="3225546"/>
            <a:ext cx="269557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smtClean="0">
                <a:latin typeface="Calibri" pitchFamily="34" charset="0"/>
                <a:ea typeface="Calibri" pitchFamily="34" charset="-122"/>
                <a:cs typeface="Calibri" pitchFamily="34" charset="-120"/>
              </a:rPr>
              <a:t>-1 verschiebt Schichten dynamisch auf die GPU (Auto-Erkennung), 0 = reine CPU, +1 = feste GPU-Schichten</a:t>
            </a:r>
            <a:endParaRPr lang="en-US" sz="1200" dirty="0"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41" name="Text 39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PERFORMANCE TUNING · iGPU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11274552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49" name="Shape 5"/>
          <p:cNvSpPr/>
          <p:nvPr/>
        </p:nvSpPr>
        <p:spPr>
          <a:xfrm>
            <a:off x="565310" y="2608707"/>
            <a:ext cx="1718785" cy="384048"/>
          </a:xfrm>
          <a:prstGeom prst="roundRect">
            <a:avLst>
              <a:gd name="adj" fmla="val 14286"/>
            </a:avLst>
          </a:prstGeom>
          <a:solidFill>
            <a:srgbClr val="0D1321"/>
          </a:solidFill>
          <a:ln/>
        </p:spPr>
      </p:sp>
      <p:sp>
        <p:nvSpPr>
          <p:cNvPr id="50" name="Text 6"/>
          <p:cNvSpPr txBox="1"/>
          <p:nvPr/>
        </p:nvSpPr>
        <p:spPr>
          <a:xfrm>
            <a:off x="555784" y="2608707"/>
            <a:ext cx="172831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smtClean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num_ctx</a:t>
            </a:r>
            <a:endParaRPr lang="en-US" sz="1200" b="1" dirty="0">
              <a:solidFill>
                <a:srgbClr val="00D9C0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</p:txBody>
      </p:sp>
      <p:sp>
        <p:nvSpPr>
          <p:cNvPr id="51" name="Shape 5"/>
          <p:cNvSpPr/>
          <p:nvPr/>
        </p:nvSpPr>
        <p:spPr>
          <a:xfrm>
            <a:off x="563881" y="3325749"/>
            <a:ext cx="1718785" cy="384048"/>
          </a:xfrm>
          <a:prstGeom prst="roundRect">
            <a:avLst>
              <a:gd name="adj" fmla="val 14286"/>
            </a:avLst>
          </a:prstGeom>
          <a:solidFill>
            <a:srgbClr val="0D1321"/>
          </a:solidFill>
          <a:ln/>
        </p:spPr>
      </p:sp>
      <p:sp>
        <p:nvSpPr>
          <p:cNvPr id="52" name="Text 6"/>
          <p:cNvSpPr txBox="1"/>
          <p:nvPr/>
        </p:nvSpPr>
        <p:spPr>
          <a:xfrm>
            <a:off x="554355" y="3325749"/>
            <a:ext cx="172831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smtClean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num_gpu</a:t>
            </a:r>
            <a:endParaRPr lang="en-US" sz="1200" b="1" dirty="0">
              <a:solidFill>
                <a:srgbClr val="00D9C0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</p:txBody>
      </p:sp>
      <p:sp>
        <p:nvSpPr>
          <p:cNvPr id="59" name="Shape 3"/>
          <p:cNvSpPr/>
          <p:nvPr/>
        </p:nvSpPr>
        <p:spPr>
          <a:xfrm>
            <a:off x="6216015" y="1975485"/>
            <a:ext cx="5694045" cy="457200"/>
          </a:xfrm>
          <a:prstGeom prst="roundRect">
            <a:avLst>
              <a:gd name="adj" fmla="val 12000"/>
            </a:avLst>
          </a:prstGeom>
          <a:solidFill>
            <a:srgbClr val="0D1321"/>
          </a:solidFill>
          <a:ln/>
        </p:spPr>
      </p:sp>
      <p:sp>
        <p:nvSpPr>
          <p:cNvPr id="60" name="Text 4"/>
          <p:cNvSpPr txBox="1"/>
          <p:nvPr/>
        </p:nvSpPr>
        <p:spPr>
          <a:xfrm>
            <a:off x="6307455" y="1975485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smtClean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(CPU-Kerne)</a:t>
            </a:r>
            <a:endParaRPr lang="en-US" sz="1150" b="1" dirty="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1" name="Text 5"/>
          <p:cNvSpPr txBox="1"/>
          <p:nvPr/>
        </p:nvSpPr>
        <p:spPr>
          <a:xfrm>
            <a:off x="8433435" y="1975485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Wert</a:t>
            </a:r>
          </a:p>
        </p:txBody>
      </p:sp>
      <p:sp>
        <p:nvSpPr>
          <p:cNvPr id="62" name="Text 6"/>
          <p:cNvSpPr txBox="1"/>
          <p:nvPr/>
        </p:nvSpPr>
        <p:spPr>
          <a:xfrm>
            <a:off x="9559290" y="1975485"/>
            <a:ext cx="90868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Wirkung</a:t>
            </a:r>
          </a:p>
        </p:txBody>
      </p:sp>
      <p:sp>
        <p:nvSpPr>
          <p:cNvPr id="63" name="Shape 7"/>
          <p:cNvSpPr/>
          <p:nvPr/>
        </p:nvSpPr>
        <p:spPr>
          <a:xfrm>
            <a:off x="6221730" y="2432685"/>
            <a:ext cx="5688330" cy="774192"/>
          </a:xfrm>
          <a:prstGeom prst="rect">
            <a:avLst/>
          </a:prstGeom>
          <a:solidFill>
            <a:srgbClr val="F2F5FA"/>
          </a:solidFill>
          <a:ln/>
        </p:spPr>
      </p:sp>
      <p:sp>
        <p:nvSpPr>
          <p:cNvPr id="64" name="Text 9"/>
          <p:cNvSpPr txBox="1"/>
          <p:nvPr/>
        </p:nvSpPr>
        <p:spPr>
          <a:xfrm>
            <a:off x="8423910" y="2508885"/>
            <a:ext cx="701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1217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250" dirty="0">
              <a:solidFill>
                <a:srgbClr val="12172B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</p:txBody>
      </p:sp>
      <p:sp>
        <p:nvSpPr>
          <p:cNvPr id="65" name="Text 10"/>
          <p:cNvSpPr txBox="1"/>
          <p:nvPr/>
        </p:nvSpPr>
        <p:spPr>
          <a:xfrm>
            <a:off x="9102090" y="2499360"/>
            <a:ext cx="262966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smtClean="0">
                <a:solidFill>
                  <a:srgbClr val="0D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CPU-Kerne für Berechnungen, falls Arbeit auf die CPU ausgelagert wird.</a:t>
            </a:r>
            <a:endParaRPr lang="en-US" sz="1200" dirty="0">
              <a:solidFill>
                <a:srgbClr val="0D132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66" name="Text 13"/>
          <p:cNvSpPr txBox="1"/>
          <p:nvPr/>
        </p:nvSpPr>
        <p:spPr>
          <a:xfrm>
            <a:off x="8423910" y="3216402"/>
            <a:ext cx="701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smtClean="0">
                <a:solidFill>
                  <a:srgbClr val="1217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</a:t>
            </a:r>
            <a:endParaRPr lang="en-US" sz="1250" dirty="0">
              <a:solidFill>
                <a:srgbClr val="12172B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</p:txBody>
      </p:sp>
      <p:sp>
        <p:nvSpPr>
          <p:cNvPr id="67" name="Text 14"/>
          <p:cNvSpPr txBox="1"/>
          <p:nvPr/>
        </p:nvSpPr>
        <p:spPr>
          <a:xfrm>
            <a:off x="9124950" y="3206496"/>
            <a:ext cx="27851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smtClean="0">
                <a:latin typeface="Calibri" pitchFamily="34" charset="0"/>
                <a:ea typeface="Calibri" pitchFamily="34" charset="-122"/>
                <a:cs typeface="Calibri" pitchFamily="34" charset="-120"/>
              </a:rPr>
              <a:t>Fixiert den Zufallswert für identische Antworten beim Testen.</a:t>
            </a:r>
            <a:endParaRPr lang="en-US" sz="1200" dirty="0"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76" name="Shape 5"/>
          <p:cNvSpPr/>
          <p:nvPr/>
        </p:nvSpPr>
        <p:spPr>
          <a:xfrm>
            <a:off x="6232685" y="2627757"/>
            <a:ext cx="1718785" cy="384048"/>
          </a:xfrm>
          <a:prstGeom prst="roundRect">
            <a:avLst>
              <a:gd name="adj" fmla="val 14286"/>
            </a:avLst>
          </a:prstGeom>
          <a:solidFill>
            <a:srgbClr val="0D1321"/>
          </a:solidFill>
          <a:ln/>
        </p:spPr>
      </p:sp>
      <p:sp>
        <p:nvSpPr>
          <p:cNvPr id="77" name="Text 6"/>
          <p:cNvSpPr txBox="1"/>
          <p:nvPr/>
        </p:nvSpPr>
        <p:spPr>
          <a:xfrm>
            <a:off x="6223159" y="2627757"/>
            <a:ext cx="172831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smtClean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num_thread</a:t>
            </a:r>
            <a:endParaRPr lang="en-US" sz="1200" b="1" dirty="0">
              <a:solidFill>
                <a:srgbClr val="00D9C0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</p:txBody>
      </p:sp>
      <p:sp>
        <p:nvSpPr>
          <p:cNvPr id="78" name="Shape 5"/>
          <p:cNvSpPr/>
          <p:nvPr/>
        </p:nvSpPr>
        <p:spPr>
          <a:xfrm>
            <a:off x="6231256" y="3335274"/>
            <a:ext cx="1718785" cy="384048"/>
          </a:xfrm>
          <a:prstGeom prst="roundRect">
            <a:avLst>
              <a:gd name="adj" fmla="val 14286"/>
            </a:avLst>
          </a:prstGeom>
          <a:solidFill>
            <a:srgbClr val="0D1321"/>
          </a:solidFill>
          <a:ln/>
        </p:spPr>
      </p:sp>
      <p:sp>
        <p:nvSpPr>
          <p:cNvPr id="79" name="Text 6"/>
          <p:cNvSpPr txBox="1"/>
          <p:nvPr/>
        </p:nvSpPr>
        <p:spPr>
          <a:xfrm>
            <a:off x="6221730" y="3335274"/>
            <a:ext cx="172831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smtClean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seed</a:t>
            </a:r>
            <a:endParaRPr lang="en-US" sz="1200" b="1" dirty="0">
              <a:solidFill>
                <a:srgbClr val="00D9C0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9000746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smtClean="0">
                <a:solidFill>
                  <a:srgbClr val="00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</a:t>
            </a:r>
            <a:r>
              <a:rPr lang="en-US" sz="1300" b="1" kern="0" spc="200" dirty="0">
                <a:solidFill>
                  <a:srgbClr val="00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OPTIMIERUNG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Modelfile: Stopp-Sequenzen &amp; Few-Shot-Beispiele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Stop-Sequenzen erzwingen ein sauberes Ende der Antwort. MESSAGE-Paare geben dem Modell optional ein festes Beispielverhalten mit auf den Weg.</a:t>
            </a:r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6309360" cy="3739662"/>
          </a:xfrm>
          <a:prstGeom prst="roundRect">
            <a:avLst>
              <a:gd name="adj" fmla="val 2254"/>
            </a:avLst>
          </a:prstGeom>
          <a:solidFill>
            <a:srgbClr val="0A0E1A"/>
          </a:solidFill>
          <a:ln/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94944" y="2414016"/>
            <a:ext cx="91440" cy="91440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7" name="Shape 5"/>
          <p:cNvSpPr/>
          <p:nvPr/>
        </p:nvSpPr>
        <p:spPr>
          <a:xfrm>
            <a:off x="896112" y="2414016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8" name="Shape 6"/>
          <p:cNvSpPr/>
          <p:nvPr/>
        </p:nvSpPr>
        <p:spPr>
          <a:xfrm>
            <a:off x="1097280" y="2414016"/>
            <a:ext cx="91440" cy="91440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2633471"/>
            <a:ext cx="5907024" cy="326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5000"/>
              </a:lnSpc>
            </a:pPr>
            <a:r>
              <a:rPr lang="en-US" sz="120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cat Modelfile</a:t>
            </a:r>
          </a:p>
          <a:p>
            <a:pPr>
              <a:lnSpc>
                <a:spcPct val="115000"/>
              </a:lnSpc>
            </a:pPr>
            <a:r>
              <a:rPr lang="en-US" sz="120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PARAMETER stop "&lt;|im_start|&gt;"</a:t>
            </a:r>
          </a:p>
          <a:p>
            <a:pPr>
              <a:lnSpc>
                <a:spcPct val="115000"/>
              </a:lnSpc>
            </a:pPr>
            <a:r>
              <a:rPr lang="en-US" sz="120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PARAMETER stop "&lt;|im_end|&gt;"</a:t>
            </a:r>
          </a:p>
          <a:p>
            <a:pPr>
              <a:lnSpc>
                <a:spcPct val="115000"/>
              </a:lnSpc>
            </a:pPr>
            <a:r>
              <a:rPr lang="en-US" sz="120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PARAMETER stop "\n\n\n"</a:t>
            </a:r>
          </a:p>
          <a:p>
            <a:pPr>
              <a:lnSpc>
                <a:spcPct val="115000"/>
              </a:lnSpc>
            </a:pPr>
            <a:r>
              <a:rPr lang="en-US" sz="120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</a:p>
          <a:p>
            <a:pPr>
              <a:lnSpc>
                <a:spcPct val="115000"/>
              </a:lnSpc>
            </a:pPr>
            <a:r>
              <a:rPr lang="en-US" sz="120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MESSAGE user "Wie lautet die Hauptstadt</a:t>
            </a:r>
          </a:p>
          <a:p>
            <a:pPr>
              <a:lnSpc>
                <a:spcPct val="115000"/>
              </a:lnSpc>
            </a:pPr>
            <a:r>
              <a:rPr lang="en-US" sz="120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von Frankreich?"</a:t>
            </a:r>
          </a:p>
          <a:p>
            <a:pPr>
              <a:lnSpc>
                <a:spcPct val="115000"/>
              </a:lnSpc>
            </a:pPr>
            <a:r>
              <a:rPr lang="en-US" sz="120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MESSAGE assistant "Die Hauptstadt von</a:t>
            </a:r>
          </a:p>
          <a:p>
            <a:pPr>
              <a:lnSpc>
                <a:spcPct val="115000"/>
              </a:lnSpc>
            </a:pPr>
            <a:r>
              <a:rPr lang="en-US" sz="120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Frankreich ist Paris."</a:t>
            </a:r>
          </a:p>
        </p:txBody>
      </p:sp>
      <p:sp>
        <p:nvSpPr>
          <p:cNvPr id="10" name="Shape 8"/>
          <p:cNvSpPr/>
          <p:nvPr/>
        </p:nvSpPr>
        <p:spPr>
          <a:xfrm>
            <a:off x="7086600" y="2286000"/>
            <a:ext cx="4572000" cy="3739662"/>
          </a:xfrm>
          <a:prstGeom prst="roundRect">
            <a:avLst>
              <a:gd name="adj" fmla="val 2817"/>
            </a:avLst>
          </a:prstGeom>
          <a:solidFill>
            <a:srgbClr val="F2F5F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315200" y="24688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Stopp &amp; Few-Shot auf einen Blick</a:t>
            </a:r>
          </a:p>
        </p:txBody>
      </p:sp>
      <p:sp>
        <p:nvSpPr>
          <p:cNvPr id="12" name="Text 10"/>
          <p:cNvSpPr txBox="1"/>
          <p:nvPr/>
        </p:nvSpPr>
        <p:spPr>
          <a:xfrm>
            <a:off x="7315200" y="2880360"/>
            <a:ext cx="1005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6B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</a:p>
        </p:txBody>
      </p:sp>
      <p:sp>
        <p:nvSpPr>
          <p:cNvPr id="13" name="Text 11"/>
          <p:cNvSpPr txBox="1"/>
          <p:nvPr/>
        </p:nvSpPr>
        <p:spPr>
          <a:xfrm>
            <a:off x="8321040" y="288036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21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Stop-Sequenzen – verhindern Selbstgespräche &amp; Endlos-Output</a:t>
            </a:r>
          </a:p>
        </p:txBody>
      </p:sp>
      <p:sp>
        <p:nvSpPr>
          <p:cNvPr id="14" name="Text 12"/>
          <p:cNvSpPr txBox="1"/>
          <p:nvPr/>
        </p:nvSpPr>
        <p:spPr>
          <a:xfrm>
            <a:off x="7315200" y="3593592"/>
            <a:ext cx="1005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6B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</a:p>
        </p:txBody>
      </p:sp>
      <p:sp>
        <p:nvSpPr>
          <p:cNvPr id="15" name="Text 13"/>
          <p:cNvSpPr txBox="1"/>
          <p:nvPr/>
        </p:nvSpPr>
        <p:spPr>
          <a:xfrm>
            <a:off x="8321040" y="3593592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21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Few-Shot – MESSAGE-Paare zeigen das gewünschte Antwortformat</a:t>
            </a:r>
          </a:p>
        </p:txBody>
      </p:sp>
      <p:sp>
        <p:nvSpPr>
          <p:cNvPr id="16" name="Text 14"/>
          <p:cNvSpPr txBox="1"/>
          <p:nvPr/>
        </p:nvSpPr>
        <p:spPr>
          <a:xfrm>
            <a:off x="7315200" y="4306824"/>
            <a:ext cx="1005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6B4A"/>
                </a:solidFill>
                <a:latin typeface="Arial" pitchFamily="34" charset="0"/>
                <a:cs typeface="Arial" pitchFamily="34" charset="-120"/>
              </a:rPr>
              <a:t>3</a:t>
            </a:r>
          </a:p>
        </p:txBody>
      </p:sp>
      <p:sp>
        <p:nvSpPr>
          <p:cNvPr id="17" name="Text 15"/>
          <p:cNvSpPr txBox="1"/>
          <p:nvPr/>
        </p:nvSpPr>
        <p:spPr>
          <a:xfrm>
            <a:off x="8321040" y="4306824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21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– nur nötig, wenn das Standardverhalten nicht ausreicht</a:t>
            </a:r>
          </a:p>
        </p:txBody>
      </p:sp>
      <p:sp>
        <p:nvSpPr>
          <p:cNvPr id="18" name="Shape 16"/>
          <p:cNvSpPr/>
          <p:nvPr/>
        </p:nvSpPr>
        <p:spPr>
          <a:xfrm>
            <a:off x="7315200" y="5065776"/>
            <a:ext cx="4023360" cy="0"/>
          </a:xfrm>
          <a:prstGeom prst="line">
            <a:avLst/>
          </a:prstGeom>
          <a:noFill/>
          <a:ln w="12700">
            <a:solidFill>
              <a:srgbClr val="D5DBE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60920" y="5121890"/>
            <a:ext cx="4023360" cy="721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Ohne Stop-Sequenzen kann das Modell über das Ziel hinausschreiben oder mit sich selbst weiterreden. Few-Shot-Beispiele sind optional, verbessern aber die Formattreue bei komplexen Aufgaben.</a:t>
            </a:r>
          </a:p>
        </p:txBody>
      </p:sp>
      <p:sp>
        <p:nvSpPr>
          <p:cNvPr id="20" name="Text 18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PERFORMANCE TUNING · iGPU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274552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smtClean="0">
                <a:solidFill>
                  <a:srgbClr val="00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3 OPTIMIERUNG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GTT-Bereich manuell erweitern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Reicht der standardmäßige GTT-Bereich nicht aus, lässt sich die Obergrenze über einen Kernel-Parameter des amdgpu-Treibers anheben.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6675120" cy="2788920"/>
          </a:xfrm>
          <a:prstGeom prst="roundRect">
            <a:avLst>
              <a:gd name="adj" fmla="val 2623"/>
            </a:avLst>
          </a:prstGeom>
          <a:solidFill>
            <a:srgbClr val="0A0E1A"/>
          </a:solidFill>
          <a:ln/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94944" y="2139696"/>
            <a:ext cx="91440" cy="91440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7" name="Shape 5"/>
          <p:cNvSpPr/>
          <p:nvPr/>
        </p:nvSpPr>
        <p:spPr>
          <a:xfrm>
            <a:off x="896112" y="2139696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8" name="Shape 6"/>
          <p:cNvSpPr/>
          <p:nvPr/>
        </p:nvSpPr>
        <p:spPr>
          <a:xfrm>
            <a:off x="1097280" y="2139696"/>
            <a:ext cx="91440" cy="91440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2359152"/>
            <a:ext cx="7174992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93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Kernel-Parameter dauerhaft für amdgpu setzen</a:t>
            </a: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echo "options amdgpu gttsize=24000" | \</a:t>
            </a: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sudo tee /etc/modprobe.d/amdgpu-gtt.conf</a:t>
            </a: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93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Neustart, damit der Parameter geladen wird</a:t>
            </a: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reboot</a:t>
            </a: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93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Neue GTT-Obergrenze prüfen (in MB)</a:t>
            </a: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echo "$(( $(cat </a:t>
            </a:r>
            <a:r>
              <a:rPr lang="en-US" sz="125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r>
              <a:rPr lang="en-US" sz="1250" smtClean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sys/class/drm/card0/device/mem_info_gtt_total</a:t>
            </a:r>
            <a:r>
              <a:rPr lang="en-US" sz="125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</a:t>
            </a:r>
            <a:r>
              <a:rPr lang="en-US" sz="1250" smtClean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\</a:t>
            </a:r>
          </a:p>
          <a:p>
            <a:pPr marL="0" indent="0">
              <a:lnSpc>
                <a:spcPct val="115000"/>
              </a:lnSpc>
              <a:buNone/>
            </a:pPr>
            <a:r>
              <a:rPr lang="en-US" sz="125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50" smtClean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 </a:t>
            </a:r>
            <a:r>
              <a:rPr lang="en-US" sz="1250" dirty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1024 / 1024 )) MB"</a:t>
            </a: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7D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24000 MB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4983480"/>
            <a:ext cx="6675120" cy="1280160"/>
          </a:xfrm>
          <a:prstGeom prst="roundRect">
            <a:avLst>
              <a:gd name="adj" fmla="val 7143"/>
            </a:avLst>
          </a:prstGeom>
          <a:solidFill>
            <a:srgbClr val="F2F5F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5102352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24.000 MB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5669280"/>
            <a:ext cx="6217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neue GTT-Obergrenze nach dem Neustart (≈ 23,4 GiB)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452360" y="2011680"/>
            <a:ext cx="4160520" cy="4251960"/>
          </a:xfrm>
          <a:prstGeom prst="roundRect">
            <a:avLst>
              <a:gd name="adj" fmla="val 2198"/>
            </a:avLst>
          </a:prstGeom>
          <a:solidFill>
            <a:srgbClr val="0D132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0" y="2212848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D9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Zur Erinnerung (Kapitel 6)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0" y="2606040"/>
            <a:ext cx="3703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7D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GTT ist der RAM-Anteil, den sich die iGPU zusätzlich zum kleinen VRAM leihen darf. Der Kernel begrenzt diesen Bereich standardmäßig.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680960" y="3703320"/>
            <a:ext cx="3566160" cy="0"/>
          </a:xfrm>
          <a:prstGeom prst="line">
            <a:avLst/>
          </a:prstGeom>
          <a:noFill/>
          <a:ln w="12700">
            <a:solidFill>
              <a:srgbClr val="2A365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680960" y="388620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gttsize wird in MB angegeben (hier: 24.000 MB)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7680960" y="4507992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Der Wert sollte die BIOS-/UMA-Grenze nicht überschreiten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7680960" y="5129784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Ein Neustart ist zwingend nötig – der Parameter wird beim Booten geladen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PERFORMANCE TUNING · iGPU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274552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smtClean="0">
                <a:solidFill>
                  <a:srgbClr val="00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</a:t>
            </a:r>
            <a:r>
              <a:rPr lang="en-US" sz="1300" b="1" kern="0" spc="200" dirty="0">
                <a:solidFill>
                  <a:srgbClr val="00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OPTIMIERUNG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Prompt-Länge als versteckter Performance-Faktor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Gleiche Aufgabe, gleiches Modell: Ein aufgeblähter System-Prompt mit Anweisungen und Logs verlangsamt die Antwort erheblich – nicht die Antwortlänge ist entscheidend, sondern der Input.</a:t>
            </a:r>
            <a:endParaRPr lang="en-US" sz="13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548640" y="2240280"/>
          <a:ext cx="630936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7178040" y="2240280"/>
            <a:ext cx="4434840" cy="1874520"/>
          </a:xfrm>
          <a:prstGeom prst="roundRect">
            <a:avLst>
              <a:gd name="adj" fmla="val 4878"/>
            </a:avLst>
          </a:prstGeom>
          <a:solidFill>
            <a:srgbClr val="0D132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406640" y="23317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00D9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~2,8×</a:t>
            </a:r>
            <a:endParaRPr lang="en-US" sz="4200" dirty="0"/>
          </a:p>
        </p:txBody>
      </p:sp>
      <p:sp>
        <p:nvSpPr>
          <p:cNvPr id="8" name="Text 5"/>
          <p:cNvSpPr txBox="1"/>
          <p:nvPr/>
        </p:nvSpPr>
        <p:spPr>
          <a:xfrm>
            <a:off x="7406640" y="320040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7D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schneller allein durch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D7D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Entfernen von unnötigem Prompt-Text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178040" y="4297680"/>
            <a:ext cx="4434840" cy="1965960"/>
          </a:xfrm>
          <a:prstGeom prst="roundRect">
            <a:avLst>
              <a:gd name="adj" fmla="val 4651"/>
            </a:avLst>
          </a:prstGeom>
          <a:solidFill>
            <a:srgbClr val="F2F5F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406640" y="448056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Praxis-Tipp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406640" y="4846320"/>
            <a:ext cx="40233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Lange Systemanweisungen, unnötige Kontrolleingaben und riesige Logs im Prompt kosten mehr Zeit als viele Server-Optimierungen zusammen.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PERFORMANCE TUNING · iGPU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11274552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3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00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4 VON 4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78308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smtClean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 &amp; Tools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40080" y="2880360"/>
            <a:ext cx="2377440" cy="0"/>
          </a:xfrm>
          <a:prstGeom prst="line">
            <a:avLst/>
          </a:prstGeom>
          <a:noFill/>
          <a:ln w="25400">
            <a:solidFill>
              <a:srgbClr val="00D9C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3246120"/>
            <a:ext cx="420624" cy="420624"/>
          </a:xfrm>
          <a:prstGeom prst="ellipse">
            <a:avLst/>
          </a:prstGeom>
          <a:solidFill>
            <a:srgbClr val="17213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32461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00D9C0"/>
                </a:solidFill>
                <a:latin typeface="Arial" pitchFamily="34" charset="0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322783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smtClean="0">
                <a:solidFill>
                  <a:srgbClr val="E4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bestimmt die Leistung der lokalen KI?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698748"/>
            <a:ext cx="420624" cy="420624"/>
          </a:xfrm>
          <a:prstGeom prst="ellipse">
            <a:avLst/>
          </a:prstGeom>
          <a:solidFill>
            <a:srgbClr val="17213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6987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00D9C0"/>
                </a:solidFill>
                <a:latin typeface="Arial" pitchFamily="34" charset="0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680460"/>
            <a:ext cx="639508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>
                <a:solidFill>
                  <a:schemeClr val="bg1">
                    <a:lumMod val="95000"/>
                  </a:schemeClr>
                </a:solidFill>
                <a:ea typeface="Arial" pitchFamily="34" charset="-122"/>
                <a:cs typeface="Arial" pitchFamily="34" charset="-120"/>
              </a:rPr>
              <a:t>ollama-kv-info.sh: Modell, Kontext &amp; Start</a:t>
            </a:r>
            <a:endParaRPr lang="en-US" sz="15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1" name="Shape 9"/>
          <p:cNvSpPr/>
          <p:nvPr/>
        </p:nvSpPr>
        <p:spPr>
          <a:xfrm>
            <a:off x="9052560" y="4480560"/>
            <a:ext cx="2743200" cy="1828800"/>
          </a:xfrm>
          <a:prstGeom prst="roundRect">
            <a:avLst>
              <a:gd name="adj" fmla="val 6000"/>
            </a:avLst>
          </a:prstGeom>
          <a:solidFill>
            <a:srgbClr val="17213D"/>
          </a:solidFill>
          <a:ln w="12700">
            <a:solidFill>
              <a:srgbClr val="00D9C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464040" y="4160520"/>
            <a:ext cx="0" cy="36576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464040" y="6263640"/>
            <a:ext cx="0" cy="41148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012680" y="4160520"/>
            <a:ext cx="0" cy="36576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012680" y="6263640"/>
            <a:ext cx="0" cy="41148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561320" y="4160520"/>
            <a:ext cx="0" cy="36576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561320" y="6263640"/>
            <a:ext cx="0" cy="41148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109960" y="4160520"/>
            <a:ext cx="0" cy="36576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109960" y="6263640"/>
            <a:ext cx="0" cy="41148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464040" y="4800600"/>
            <a:ext cx="1920240" cy="1188720"/>
          </a:xfrm>
          <a:prstGeom prst="roundRect">
            <a:avLst>
              <a:gd name="adj" fmla="val 4615"/>
            </a:avLst>
          </a:prstGeom>
          <a:solidFill>
            <a:srgbClr val="121A33"/>
          </a:solidFill>
          <a:ln w="9525">
            <a:solidFill>
              <a:srgbClr val="00D9C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464040" y="480060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iGPU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PERFORMANCE TUNING · iGPU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274552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  <p:sp>
        <p:nvSpPr>
          <p:cNvPr id="24" name="Shape 6"/>
          <p:cNvSpPr/>
          <p:nvPr/>
        </p:nvSpPr>
        <p:spPr>
          <a:xfrm>
            <a:off x="630555" y="4146423"/>
            <a:ext cx="420624" cy="420624"/>
          </a:xfrm>
          <a:prstGeom prst="ellipse">
            <a:avLst/>
          </a:prstGeom>
          <a:solidFill>
            <a:srgbClr val="17213D"/>
          </a:solidFill>
          <a:ln/>
        </p:spPr>
      </p:sp>
      <p:sp>
        <p:nvSpPr>
          <p:cNvPr id="25" name="Text 7"/>
          <p:cNvSpPr txBox="1"/>
          <p:nvPr/>
        </p:nvSpPr>
        <p:spPr>
          <a:xfrm>
            <a:off x="630555" y="414642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smtClean="0">
                <a:solidFill>
                  <a:srgbClr val="00D9C0"/>
                </a:solidFill>
                <a:latin typeface="Arial" pitchFamily="34" charset="0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6" name="Text 8"/>
          <p:cNvSpPr txBox="1"/>
          <p:nvPr/>
        </p:nvSpPr>
        <p:spPr>
          <a:xfrm>
            <a:off x="1224915" y="4128135"/>
            <a:ext cx="639508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>
                <a:solidFill>
                  <a:schemeClr val="bg1">
                    <a:lumMod val="95000"/>
                  </a:schemeClr>
                </a:solidFill>
                <a:ea typeface="Arial" pitchFamily="34" charset="-122"/>
                <a:cs typeface="Arial" pitchFamily="34" charset="-120"/>
              </a:rPr>
              <a:t>ollama-kv-info.sh</a:t>
            </a:r>
            <a:r>
              <a:rPr lang="en-US" sz="1500" smtClean="0">
                <a:solidFill>
                  <a:schemeClr val="bg1">
                    <a:lumMod val="95000"/>
                  </a:schemeClr>
                </a:solidFill>
                <a:ea typeface="Arial" pitchFamily="34" charset="-122"/>
                <a:cs typeface="Arial" pitchFamily="34" charset="-120"/>
              </a:rPr>
              <a:t>: Speicher berechnen</a:t>
            </a:r>
            <a:endParaRPr lang="en-US" sz="15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27" name="Shape 6"/>
          <p:cNvSpPr/>
          <p:nvPr/>
        </p:nvSpPr>
        <p:spPr>
          <a:xfrm>
            <a:off x="621030" y="4594098"/>
            <a:ext cx="420624" cy="420624"/>
          </a:xfrm>
          <a:prstGeom prst="ellipse">
            <a:avLst/>
          </a:prstGeom>
          <a:solidFill>
            <a:srgbClr val="17213D"/>
          </a:solidFill>
          <a:ln/>
        </p:spPr>
      </p:sp>
      <p:sp>
        <p:nvSpPr>
          <p:cNvPr id="28" name="Text 7"/>
          <p:cNvSpPr txBox="1"/>
          <p:nvPr/>
        </p:nvSpPr>
        <p:spPr>
          <a:xfrm>
            <a:off x="621030" y="459409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smtClean="0">
                <a:solidFill>
                  <a:srgbClr val="00D9C0"/>
                </a:solidFill>
                <a:latin typeface="Arial" pitchFamily="34" charset="0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8"/>
          <p:cNvSpPr txBox="1"/>
          <p:nvPr/>
        </p:nvSpPr>
        <p:spPr>
          <a:xfrm>
            <a:off x="1215390" y="4575810"/>
            <a:ext cx="639508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>
                <a:solidFill>
                  <a:schemeClr val="bg1">
                    <a:lumMod val="95000"/>
                  </a:schemeClr>
                </a:solidFill>
                <a:ea typeface="Arial" pitchFamily="34" charset="-122"/>
                <a:cs typeface="Arial" pitchFamily="34" charset="-120"/>
              </a:rPr>
              <a:t>ollama-kv-info.sh</a:t>
            </a:r>
            <a:r>
              <a:rPr lang="en-US" sz="1500" smtClean="0">
                <a:solidFill>
                  <a:schemeClr val="bg1">
                    <a:lumMod val="95000"/>
                  </a:schemeClr>
                </a:solidFill>
                <a:ea typeface="Arial" pitchFamily="34" charset="-122"/>
                <a:cs typeface="Arial" pitchFamily="34" charset="-120"/>
              </a:rPr>
              <a:t>: Hardware &amp; Ampel-Status</a:t>
            </a:r>
            <a:endParaRPr lang="en-US" sz="15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30" name="Shape 6"/>
          <p:cNvSpPr/>
          <p:nvPr/>
        </p:nvSpPr>
        <p:spPr>
          <a:xfrm>
            <a:off x="611505" y="5041773"/>
            <a:ext cx="420624" cy="420624"/>
          </a:xfrm>
          <a:prstGeom prst="ellipse">
            <a:avLst/>
          </a:prstGeom>
          <a:solidFill>
            <a:srgbClr val="17213D"/>
          </a:solidFill>
          <a:ln/>
        </p:spPr>
      </p:sp>
      <p:sp>
        <p:nvSpPr>
          <p:cNvPr id="31" name="Text 7"/>
          <p:cNvSpPr txBox="1"/>
          <p:nvPr/>
        </p:nvSpPr>
        <p:spPr>
          <a:xfrm>
            <a:off x="611505" y="504177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smtClean="0">
                <a:solidFill>
                  <a:srgbClr val="00D9C0"/>
                </a:solidFill>
                <a:latin typeface="Arial" pitchFamily="34" charset="0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2" name="Text 8"/>
          <p:cNvSpPr txBox="1"/>
          <p:nvPr/>
        </p:nvSpPr>
        <p:spPr>
          <a:xfrm>
            <a:off x="1205865" y="5023485"/>
            <a:ext cx="639508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smtClean="0">
                <a:solidFill>
                  <a:schemeClr val="bg1">
                    <a:lumMod val="95000"/>
                  </a:schemeClr>
                </a:solidFill>
                <a:ea typeface="Arial" pitchFamily="34" charset="-122"/>
                <a:cs typeface="Arial" pitchFamily="34" charset="-120"/>
              </a:rPr>
              <a:t>n8n-Performance-Test-Tool: Aufbau der Pipeline</a:t>
            </a:r>
            <a:endParaRPr lang="en-US" sz="15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33" name="Shape 6"/>
          <p:cNvSpPr/>
          <p:nvPr/>
        </p:nvSpPr>
        <p:spPr>
          <a:xfrm>
            <a:off x="601980" y="5489448"/>
            <a:ext cx="420624" cy="420624"/>
          </a:xfrm>
          <a:prstGeom prst="ellipse">
            <a:avLst/>
          </a:prstGeom>
          <a:solidFill>
            <a:srgbClr val="17213D"/>
          </a:solidFill>
          <a:ln/>
        </p:spPr>
      </p:sp>
      <p:sp>
        <p:nvSpPr>
          <p:cNvPr id="34" name="Text 7"/>
          <p:cNvSpPr txBox="1"/>
          <p:nvPr/>
        </p:nvSpPr>
        <p:spPr>
          <a:xfrm>
            <a:off x="601980" y="54894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smtClean="0">
                <a:solidFill>
                  <a:srgbClr val="00D9C0"/>
                </a:solidFill>
                <a:latin typeface="Arial" pitchFamily="34" charset="0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35" name="Text 8"/>
          <p:cNvSpPr txBox="1"/>
          <p:nvPr/>
        </p:nvSpPr>
        <p:spPr>
          <a:xfrm>
            <a:off x="1196340" y="5471160"/>
            <a:ext cx="639508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smtClean="0">
                <a:solidFill>
                  <a:schemeClr val="bg1">
                    <a:lumMod val="95000"/>
                  </a:schemeClr>
                </a:solidFill>
                <a:cs typeface="Arial" pitchFamily="34" charset="-120"/>
              </a:rPr>
              <a:t>n8n-Performance-Test-Tool: Testarten &amp; Metriken </a:t>
            </a:r>
            <a:endParaRPr lang="en-US" sz="15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36" name="Shape 6"/>
          <p:cNvSpPr/>
          <p:nvPr/>
        </p:nvSpPr>
        <p:spPr>
          <a:xfrm>
            <a:off x="592455" y="5937123"/>
            <a:ext cx="420624" cy="420624"/>
          </a:xfrm>
          <a:prstGeom prst="ellipse">
            <a:avLst/>
          </a:prstGeom>
          <a:solidFill>
            <a:srgbClr val="17213D"/>
          </a:solidFill>
          <a:ln/>
        </p:spPr>
      </p:sp>
      <p:sp>
        <p:nvSpPr>
          <p:cNvPr id="37" name="Text 7"/>
          <p:cNvSpPr txBox="1"/>
          <p:nvPr/>
        </p:nvSpPr>
        <p:spPr>
          <a:xfrm>
            <a:off x="592455" y="593712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smtClean="0">
                <a:solidFill>
                  <a:srgbClr val="00D9C0"/>
                </a:solidFill>
                <a:latin typeface="Arial" pitchFamily="34" charset="0"/>
                <a:cs typeface="Arial" pitchFamily="34" charset="-120"/>
              </a:rPr>
              <a:t>7</a:t>
            </a:r>
            <a:endParaRPr lang="en-US" sz="1300" dirty="0"/>
          </a:p>
        </p:txBody>
      </p:sp>
      <p:sp>
        <p:nvSpPr>
          <p:cNvPr id="38" name="Text 8"/>
          <p:cNvSpPr txBox="1"/>
          <p:nvPr/>
        </p:nvSpPr>
        <p:spPr>
          <a:xfrm>
            <a:off x="1186815" y="5918835"/>
            <a:ext cx="639508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smtClean="0">
                <a:solidFill>
                  <a:schemeClr val="bg1">
                    <a:lumMod val="95000"/>
                  </a:schemeClr>
                </a:solidFill>
                <a:ea typeface="Arial" pitchFamily="34" charset="-122"/>
                <a:cs typeface="Arial" pitchFamily="34" charset="-120"/>
              </a:rPr>
              <a:t>n8n-Performance-Test-Tool: Testlogik</a:t>
            </a:r>
            <a:endParaRPr lang="en-US" sz="1500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D13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smtClean="0">
                <a:solidFill>
                  <a:srgbClr val="00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</a:t>
            </a:r>
            <a:r>
              <a:rPr lang="en-US" sz="1300" b="1" kern="0" spc="200" dirty="0">
                <a:solidFill>
                  <a:srgbClr val="00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ERGEBNIS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bestimmt die </a:t>
            </a:r>
            <a:r>
              <a:rPr lang="en-US" sz="30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Leistung </a:t>
            </a:r>
            <a:r>
              <a:rPr lang="en-US" sz="3000" b="1" smtClean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</a:t>
            </a: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lokalen KI?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84048" cy="384048"/>
          </a:xfrm>
          <a:prstGeom prst="ellipse">
            <a:avLst/>
          </a:prstGeom>
          <a:solidFill>
            <a:srgbClr val="00D9C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655064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Modell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4114800" y="1655064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9D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Größe und Architektur bestimmen Grundgeschwindigkeit und Speicherbedarf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2368296"/>
            <a:ext cx="384048" cy="384048"/>
          </a:xfrm>
          <a:prstGeom prst="ellipse">
            <a:avLst/>
          </a:prstGeom>
          <a:solidFill>
            <a:srgbClr val="00D9C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3682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2226945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Speicher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4114800" y="2226945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9D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Verfügbarer RAM entscheidet, </a:t>
            </a:r>
            <a:r>
              <a:rPr lang="en-US" sz="1150">
                <a:solidFill>
                  <a:srgbClr val="C9D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 </a:t>
            </a:r>
            <a:r>
              <a:rPr lang="en-US" sz="1150" smtClean="0">
                <a:solidFill>
                  <a:srgbClr val="C9D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Modell gestartet werden kann.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3044952"/>
            <a:ext cx="384048" cy="384048"/>
          </a:xfrm>
          <a:prstGeom prst="ellipse">
            <a:avLst/>
          </a:prstGeom>
          <a:solidFill>
            <a:srgbClr val="00D9C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044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2932176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Speicherbandbreite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4114800" y="2929128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9D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VRAM/GTT-Anbindung bestimmt, wie schnell Daten zur Recheneinheit gelangen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721608"/>
            <a:ext cx="384048" cy="384048"/>
          </a:xfrm>
          <a:prstGeom prst="ellipse">
            <a:avLst/>
          </a:prstGeom>
          <a:solidFill>
            <a:srgbClr val="00D9C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3721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43000" y="3589782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 / GPU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4114800" y="3589782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smtClean="0">
                <a:solidFill>
                  <a:srgbClr val="C9D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Nutzt Grafikkerne (GPU) für paralleles Rechnen – Schnittstellen wie Vulkan binden auch die schnelle  iGPU optimal ein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4398264"/>
            <a:ext cx="384048" cy="384048"/>
          </a:xfrm>
          <a:prstGeom prst="ellipse">
            <a:avLst/>
          </a:prstGeom>
          <a:solidFill>
            <a:srgbClr val="00D9C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8640" y="4398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143000" y="4275963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Kontextgröße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4114800" y="4275963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9D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Muss zum Anwendungsfall passen – zu klein verliert Information, zu groß kostet Ressourcen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8640" y="5074920"/>
            <a:ext cx="384048" cy="384048"/>
          </a:xfrm>
          <a:prstGeom prst="ellipse">
            <a:avLst/>
          </a:prstGeom>
          <a:solidFill>
            <a:srgbClr val="00D9C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48640" y="5074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143000" y="4943094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Prompt-Länge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4114800" y="4943094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9D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Kurze, gezielte Prompts sparen oft mehr Zeit als jede Hardware-Optimierung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48640" y="5751576"/>
            <a:ext cx="384048" cy="384048"/>
          </a:xfrm>
          <a:prstGeom prst="ellipse">
            <a:avLst/>
          </a:prstGeom>
          <a:solidFill>
            <a:srgbClr val="00D9C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48640" y="57515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1143000" y="5629275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Optimales Verhältnis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4114800" y="5629275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9D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 Ende zählt die Balance aus Geschwindigkeit, Speicherbedarf und Energieverbrauch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PERFORMANCE TUNING · iGPU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11274552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smtClean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ANHANG · SKRIPT ERKLÄRT (1/3)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ollama-kv-info.sh: Modell, Kontext &amp; Start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Bevor eine Testanfrage gestartet wird, ermittelt das Skript automatisch, welches Modell und welche Kontextgröße überhaupt sinnvoll sind.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475488" cy="475488"/>
          </a:xfrm>
          <a:prstGeom prst="ellipse">
            <a:avLst/>
          </a:prstGeom>
          <a:solidFill>
            <a:srgbClr val="0D132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21488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D9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997583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Modelle aus Ollama auflisten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1997583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list liefert Name und Größe jedes installierten Modells – direkt nummeriert zur Auswahl angezeigt.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971800"/>
            <a:ext cx="475488" cy="475488"/>
          </a:xfrm>
          <a:prstGeom prst="ellipse">
            <a:avLst/>
          </a:prstGeom>
          <a:solidFill>
            <a:srgbClr val="0D132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29718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D9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2820543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Modellgröße umrechnen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2820543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GB-, MB- oder TB-Angaben von Ollama werden einheitlich in GiB und GB umgerechnet, um sie später mit dem Speicherbudget zu vergleichen.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3794760"/>
            <a:ext cx="475488" cy="475488"/>
          </a:xfrm>
          <a:prstGeom prst="ellipse">
            <a:avLst/>
          </a:prstGeom>
          <a:solidFill>
            <a:srgbClr val="0D132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7947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D9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3643503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Maximale Kontextlänge abfragen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663440" y="3643503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Aufruf an die Ollama-API (/api/show) liefert llama.context_length – die tatsächliche Obergrenze des gewählten Modells.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4617720"/>
            <a:ext cx="475488" cy="475488"/>
          </a:xfrm>
          <a:prstGeom prst="ellipse">
            <a:avLst/>
          </a:prstGeom>
          <a:solidFill>
            <a:srgbClr val="0D132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46177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D9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280160" y="4466463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 passende Kontextgrößen anbieten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663440" y="4466463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den Standardgrößen 2k bis 128k werden nur die angezeigt, die das Modell auch unterstützt – plus das exakte Modellmaximum, falls größer.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48640" y="5440680"/>
            <a:ext cx="475488" cy="475488"/>
          </a:xfrm>
          <a:prstGeom prst="ellipse">
            <a:avLst/>
          </a:prstGeom>
          <a:solidFill>
            <a:srgbClr val="0D132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48640" y="54406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D9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280160" y="5289423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 starten &amp; Testanfrage senden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663440" y="5289423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neu starten, Log leeren, dann eine kurze Anfrage mit der gewählten Kontextgröße (num_ctx) über die API auslösen.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PERFORMANCE TUNING · iGPU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1274552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smtClean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ANHANG · SKRIPT ERKLÄRT (2/3)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ollama-kv-info.sh: Speicher berechnen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Nach der Testanfrage liest das Skript aus den Logs, wie viel Speicher der KV-Cache tatsächlich braucht – und vergleicht das mit der theoretischen Formel.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475488" cy="475488"/>
          </a:xfrm>
          <a:prstGeom prst="ellipse">
            <a:avLst/>
          </a:prstGeom>
          <a:solidFill>
            <a:srgbClr val="0D132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21488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D9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997583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KV-Cache-Zeile aus dem Log lesen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1997583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llama_kv_cache: size = ... liefert Datentyp (z. B. q8_0) sowie die tatsächliche K-, V- und Gesamtgröße in MiB.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971800"/>
            <a:ext cx="475488" cy="475488"/>
          </a:xfrm>
          <a:prstGeom prst="ellipse">
            <a:avLst/>
          </a:prstGeom>
          <a:solidFill>
            <a:srgbClr val="0D132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29718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D9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2820543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Bytes pro Wert bestimmen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2820543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case-Statement übersetzt den Datentyp in Bytes pro Wert – 2 für f16, 4 für f32, 1,0625 für q8_0, 0,5625 für q4_0/q4_1.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3794760"/>
            <a:ext cx="475488" cy="475488"/>
          </a:xfrm>
          <a:prstGeom prst="ellipse">
            <a:avLst/>
          </a:prstGeom>
          <a:solidFill>
            <a:srgbClr val="0D132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7947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D9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3643503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Theoretische Formel anwenden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663440" y="3643503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KV-Cache pro Slot = 2 × Layer × KV-Heads × Head-Dimension × Bytes × Kontextgröße, multipliziert mit der Anzahl paralleler Slots.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4617720"/>
            <a:ext cx="475488" cy="475488"/>
          </a:xfrm>
          <a:prstGeom prst="ellipse">
            <a:avLst/>
          </a:prstGeom>
          <a:solidFill>
            <a:srgbClr val="0D132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46177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D9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280160" y="4466463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Tatsächlichen Speicher gegenrechnen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663440" y="4466463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von Ollama geloggte Gesamtgröße wird in GiB umgerechnet und der Modellgröße hinzuaddiert – das ist der reale Speicherbedarf.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48640" y="5440680"/>
            <a:ext cx="475488" cy="475488"/>
          </a:xfrm>
          <a:prstGeom prst="ellipse">
            <a:avLst/>
          </a:prstGeom>
          <a:solidFill>
            <a:srgbClr val="0D132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48640" y="54406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D9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280160" y="5289423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Reservierungsfaktor bilden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663440" y="5289423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Tatsächlicher Speicher ÷ theoretischer Speicher zeigt, wie viel Ollama zusätzlich zur reinen Formel reserviert (Overhead, Puffer).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PERFORMANCE TUNING · iGPU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1274552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smtClean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ANHANG · SKRIPT ERKLÄRT (3/3)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ollama-kv-info.sh: Hardware &amp; Ampel-Status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Zum Schluss vergleicht das Skript reale Hardware-Werte mit dem berechneten Speicherbedarf und bewertet das Ergebnis mit einer Ampel.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457200" cy="457200"/>
          </a:xfrm>
          <a:prstGeom prst="ellipse">
            <a:avLst/>
          </a:prstGeom>
          <a:solidFill>
            <a:srgbClr val="0D132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D9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066544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System-RAM auslesen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2468880"/>
            <a:ext cx="6126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-b liefert Gesamt- und freien Arbeitsspeicher – Basis für den Vergleich mit dem berechneten Bedarf.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3154680"/>
            <a:ext cx="457200" cy="457200"/>
          </a:xfrm>
          <a:prstGeom prst="ellipse">
            <a:avLst/>
          </a:prstGeom>
          <a:solidFill>
            <a:srgbClr val="0D132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3154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D9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118104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VRAM &amp; GTT direkt vom Kernel lesen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520440"/>
            <a:ext cx="6126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Statt nur die Ollama-Logs auszuwerten, liest das Skript /sys/class/drm/.../mem_info_* – das zeigt die reale BIOS-/Kernel-Grenze.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4206240"/>
            <a:ext cx="457200" cy="457200"/>
          </a:xfrm>
          <a:prstGeom prst="ellipse">
            <a:avLst/>
          </a:prstGeom>
          <a:solidFill>
            <a:srgbClr val="0D132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206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D9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169664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Kernel-GTT mit Ollama-Speicher abgleichen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4572000"/>
            <a:ext cx="6126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Weicht der von Ollama erkannte Speicher spürbar vom Kernel-GTT ab, deutet das auf zusätzliche Reservierungen hin (z. B. Desktop/Compositor).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5257800"/>
            <a:ext cx="457200" cy="457200"/>
          </a:xfrm>
          <a:prstGeom prst="ellipse">
            <a:avLst/>
          </a:prstGeom>
          <a:solidFill>
            <a:srgbClr val="0D132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5257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D9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5221224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Speicherbudget bewerten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1234440" y="5623560"/>
            <a:ext cx="6126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 + KV-Cache werden sowohl gegen den von Ollama erkannten Speicher als auch gegen das gesamte System-RAM geprüft.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7680960" y="2103120"/>
            <a:ext cx="3931920" cy="4206240"/>
          </a:xfrm>
          <a:prstGeom prst="roundRect">
            <a:avLst>
              <a:gd name="adj" fmla="val 2326"/>
            </a:avLst>
          </a:prstGeom>
          <a:solidFill>
            <a:srgbClr val="0D132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909560" y="228600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Ampel-Status für das Speicherbudget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909560" y="2926080"/>
            <a:ext cx="1554480" cy="384048"/>
          </a:xfrm>
          <a:prstGeom prst="roundRect">
            <a:avLst>
              <a:gd name="adj" fmla="val 50000"/>
            </a:avLst>
          </a:prstGeom>
          <a:solidFill>
            <a:srgbClr val="00D9C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909560" y="29260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7909560" y="33832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D7D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80 % des von Ollama erkannten Speichers belegt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909560" y="3977640"/>
            <a:ext cx="1554480" cy="384048"/>
          </a:xfrm>
          <a:prstGeom prst="roundRect">
            <a:avLst>
              <a:gd name="adj" fmla="val 50000"/>
            </a:avLst>
          </a:prstGeom>
          <a:solidFill>
            <a:srgbClr val="FF6B4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909560" y="397764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WARNUNG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7909560" y="44348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D7D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80–99 % belegt – wird eng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909560" y="5029200"/>
            <a:ext cx="1554480" cy="384048"/>
          </a:xfrm>
          <a:prstGeom prst="roundRect">
            <a:avLst>
              <a:gd name="adj" fmla="val 50000"/>
            </a:avLst>
          </a:prstGeom>
          <a:solidFill>
            <a:srgbClr val="E5484D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909560" y="502920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KRITISCH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909560" y="548640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D7D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100 % – Budget überschritten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PERFORMANCE TUNING · iGPU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11274552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smtClean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ANHANG · N8N TEST-TOOL </a:t>
            </a:r>
            <a:r>
              <a:rPr lang="en-US" sz="1300" b="1" kern="0" spc="20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en-US" sz="1300" b="1" kern="0" spc="200" smtClean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1/3)</a:t>
            </a:r>
            <a:endParaRPr lang="en-US" sz="1300" b="1" kern="0" spc="200" dirty="0">
              <a:solidFill>
                <a:srgbClr val="FF6B4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n8n Performance-Test-Tool: Aufbau der Pipeline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n8n-Workflow simuliert reale RAG-Anfragen gegen Ollama und Qdrant und misst dabei Antwortzeit, Tokendurchsatz und Trefferquote – vollautomatisch und reproduzierbar.</a:t>
            </a:r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475488" cy="475488"/>
          </a:xfrm>
          <a:prstGeom prst="ellipse">
            <a:avLst/>
          </a:prstGeom>
          <a:solidFill>
            <a:srgbClr val="0D132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21488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D9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016633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Testdaten vorbereiten</a:t>
            </a:r>
          </a:p>
        </p:txBody>
      </p:sp>
      <p:sp>
        <p:nvSpPr>
          <p:cNvPr id="8" name="Text 6"/>
          <p:cNvSpPr txBox="1"/>
          <p:nvPr/>
        </p:nvSpPr>
        <p:spPr>
          <a:xfrm>
            <a:off x="4663440" y="2016633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Erzeugt synthetische "Memorys" (Fakten) und legt bei Bedarf automatisch eine frische Qdrant-Collection an, falls noch keine existiert.</a:t>
            </a:r>
          </a:p>
        </p:txBody>
      </p:sp>
      <p:sp>
        <p:nvSpPr>
          <p:cNvPr id="9" name="Shape 7"/>
          <p:cNvSpPr/>
          <p:nvPr/>
        </p:nvSpPr>
        <p:spPr>
          <a:xfrm>
            <a:off x="548640" y="2971800"/>
            <a:ext cx="475488" cy="475488"/>
          </a:xfrm>
          <a:prstGeom prst="ellipse">
            <a:avLst/>
          </a:prstGeom>
          <a:solidFill>
            <a:srgbClr val="0D132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29718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D9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2839593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Embeddings &amp; Vektor-Index befüllen</a:t>
            </a:r>
          </a:p>
        </p:txBody>
      </p:sp>
      <p:sp>
        <p:nvSpPr>
          <p:cNvPr id="12" name="Text 10"/>
          <p:cNvSpPr txBox="1"/>
          <p:nvPr/>
        </p:nvSpPr>
        <p:spPr>
          <a:xfrm>
            <a:off x="4663440" y="2839593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wandelt jede Memory in einen Embedding-Vektor um; Qdrant speichert sie als durchsuchbaren Bulk-Payload.</a:t>
            </a:r>
          </a:p>
        </p:txBody>
      </p:sp>
      <p:sp>
        <p:nvSpPr>
          <p:cNvPr id="13" name="Shape 11"/>
          <p:cNvSpPr/>
          <p:nvPr/>
        </p:nvSpPr>
        <p:spPr>
          <a:xfrm>
            <a:off x="548640" y="3794760"/>
            <a:ext cx="475488" cy="475488"/>
          </a:xfrm>
          <a:prstGeom prst="ellipse">
            <a:avLst/>
          </a:prstGeom>
          <a:solidFill>
            <a:srgbClr val="0D132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7947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D9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3662553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Kontext künstlich auffüllen</a:t>
            </a:r>
          </a:p>
        </p:txBody>
      </p:sp>
      <p:sp>
        <p:nvSpPr>
          <p:cNvPr id="16" name="Text 14"/>
          <p:cNvSpPr txBox="1"/>
          <p:nvPr/>
        </p:nvSpPr>
        <p:spPr>
          <a:xfrm>
            <a:off x="4663440" y="3662553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Fülltext-Datei wird bis zur gewünschten context_size aufgefüllt (fill_percentage) – die echten Fakten landen gezielt am Anfang, in der Mitte oder am Ende ("Lost in the Middle").</a:t>
            </a:r>
          </a:p>
        </p:txBody>
      </p:sp>
      <p:sp>
        <p:nvSpPr>
          <p:cNvPr id="17" name="Shape 15"/>
          <p:cNvSpPr/>
          <p:nvPr/>
        </p:nvSpPr>
        <p:spPr>
          <a:xfrm>
            <a:off x="548640" y="4617720"/>
            <a:ext cx="475488" cy="475488"/>
          </a:xfrm>
          <a:prstGeom prst="ellipse">
            <a:avLst/>
          </a:prstGeom>
          <a:solidFill>
            <a:srgbClr val="0D132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46177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D9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280160" y="4485513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Testfälle generieren &amp; abfragen</a:t>
            </a:r>
          </a:p>
        </p:txBody>
      </p:sp>
      <p:sp>
        <p:nvSpPr>
          <p:cNvPr id="20" name="Text 18"/>
          <p:cNvSpPr txBox="1"/>
          <p:nvPr/>
        </p:nvSpPr>
        <p:spPr>
          <a:xfrm>
            <a:off x="4663440" y="4485513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nach aktivierten Testarten entstehen Fragen mit erwarteter Antwort; optional holt Qdrant zuerst die relevantesten Memorys, bevor Ollama den finalen Prompt beantwortet.</a:t>
            </a:r>
          </a:p>
        </p:txBody>
      </p:sp>
      <p:sp>
        <p:nvSpPr>
          <p:cNvPr id="21" name="Shape 19"/>
          <p:cNvSpPr/>
          <p:nvPr/>
        </p:nvSpPr>
        <p:spPr>
          <a:xfrm>
            <a:off x="548640" y="5440680"/>
            <a:ext cx="475488" cy="475488"/>
          </a:xfrm>
          <a:prstGeom prst="ellipse">
            <a:avLst/>
          </a:prstGeom>
          <a:solidFill>
            <a:srgbClr val="0D132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48640" y="54406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D9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280160" y="5308473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Antwort messen &amp; auswerten</a:t>
            </a:r>
          </a:p>
        </p:txBody>
      </p:sp>
      <p:sp>
        <p:nvSpPr>
          <p:cNvPr id="24" name="Text 22"/>
          <p:cNvSpPr txBox="1"/>
          <p:nvPr/>
        </p:nvSpPr>
        <p:spPr>
          <a:xfrm>
            <a:off x="4663440" y="5308473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 Ollama-Antwort liefert Zeit- und Token-Statistiken; "Ergebnis bewerten" prüft die Korrektheit, "Benchmark auswerten" baut daraus eine fertige Ergebnistabelle.</a:t>
            </a:r>
          </a:p>
        </p:txBody>
      </p:sp>
      <p:sp>
        <p:nvSpPr>
          <p:cNvPr id="25" name="Text 23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PERFORMANCE TUNING · iGPU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1274552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smtClean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ANHANG · N8N TEST-TOOL </a:t>
            </a:r>
            <a:r>
              <a:rPr lang="en-US" sz="1300" b="1" kern="0" spc="20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en-US" sz="1300" b="1" kern="0" spc="200" smtClean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2/3)</a:t>
            </a:r>
            <a:endParaRPr lang="en-US" sz="1300" b="1" kern="0" spc="200" dirty="0">
              <a:solidFill>
                <a:srgbClr val="FF6B4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n8n Performance-Test-Tool: Testarten &amp; Metriken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Schalter pro Testart (Edit Fields) bestimmt, welche Qualitäts-Checks zusätzlich zum Standard-Retrieval laufen – jede Antwort liefert dabei exakte Performance-Kennzahlen.</a:t>
            </a:r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457200" cy="457200"/>
          </a:xfrm>
          <a:prstGeom prst="ellipse">
            <a:avLst/>
          </a:prstGeom>
          <a:solidFill>
            <a:srgbClr val="0D132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D9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066544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Standard-Retrieval &amp; Negation</a:t>
            </a:r>
          </a:p>
        </p:txBody>
      </p:sp>
      <p:sp>
        <p:nvSpPr>
          <p:cNvPr id="8" name="Text 6"/>
          <p:cNvSpPr txBox="1"/>
          <p:nvPr/>
        </p:nvSpPr>
        <p:spPr>
          <a:xfrm>
            <a:off x="1234440" y="2468880"/>
            <a:ext cx="6126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Prüft, ob Fakten korrekt gefunden werden – und ob das Modell bei fehlender Information ehrlich "Information fehlt" antwortet, statt zu halluzinieren.</a:t>
            </a:r>
          </a:p>
        </p:txBody>
      </p:sp>
      <p:sp>
        <p:nvSpPr>
          <p:cNvPr id="9" name="Shape 7"/>
          <p:cNvSpPr/>
          <p:nvPr/>
        </p:nvSpPr>
        <p:spPr>
          <a:xfrm>
            <a:off x="548640" y="3154680"/>
            <a:ext cx="457200" cy="457200"/>
          </a:xfrm>
          <a:prstGeom prst="ellipse">
            <a:avLst/>
          </a:prstGeom>
          <a:solidFill>
            <a:srgbClr val="0D132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3154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D9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118104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 &amp; Distraktoren ("Lost in the Middle")</a:t>
            </a:r>
          </a:p>
        </p:txBody>
      </p:sp>
      <p:sp>
        <p:nvSpPr>
          <p:cNvPr id="12" name="Text 10"/>
          <p:cNvSpPr txBox="1"/>
          <p:nvPr/>
        </p:nvSpPr>
        <p:spPr>
          <a:xfrm>
            <a:off x="1234440" y="3520440"/>
            <a:ext cx="6126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Dieselbe Frage wird mit dem Fakt am Anfang, in der Mitte und am Ende des Kontexts getestet – plus gezielt ähnliche, aber falsche Zahlen als Ablenkung.</a:t>
            </a:r>
          </a:p>
        </p:txBody>
      </p:sp>
      <p:sp>
        <p:nvSpPr>
          <p:cNvPr id="13" name="Shape 11"/>
          <p:cNvSpPr/>
          <p:nvPr/>
        </p:nvSpPr>
        <p:spPr>
          <a:xfrm>
            <a:off x="548640" y="4206240"/>
            <a:ext cx="457200" cy="457200"/>
          </a:xfrm>
          <a:prstGeom prst="ellipse">
            <a:avLst/>
          </a:prstGeom>
          <a:solidFill>
            <a:srgbClr val="0D132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206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D9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169664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Multi-Hop, Zusammenfassung &amp; Prompt-Injection</a:t>
            </a:r>
          </a:p>
        </p:txBody>
      </p:sp>
      <p:sp>
        <p:nvSpPr>
          <p:cNvPr id="16" name="Text 14"/>
          <p:cNvSpPr txBox="1"/>
          <p:nvPr/>
        </p:nvSpPr>
        <p:spPr>
          <a:xfrm>
            <a:off x="1234440" y="4572000"/>
            <a:ext cx="6126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Kombiniert mehrere Fakten zu einer Antwort, prüft die Abdeckung einer Zusammenfassung und testet, ob eine versteckte Anweisung im Kontext das Modell manipulieren kann.</a:t>
            </a:r>
          </a:p>
        </p:txBody>
      </p:sp>
      <p:sp>
        <p:nvSpPr>
          <p:cNvPr id="17" name="Shape 15"/>
          <p:cNvSpPr/>
          <p:nvPr/>
        </p:nvSpPr>
        <p:spPr>
          <a:xfrm>
            <a:off x="548640" y="5257800"/>
            <a:ext cx="457200" cy="457200"/>
          </a:xfrm>
          <a:prstGeom prst="ellipse">
            <a:avLst/>
          </a:prstGeom>
          <a:solidFill>
            <a:srgbClr val="0D132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5257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D9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5221224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Konsistenz, Format &amp; Paraphrasen</a:t>
            </a:r>
          </a:p>
        </p:txBody>
      </p:sp>
      <p:sp>
        <p:nvSpPr>
          <p:cNvPr id="20" name="Text 18"/>
          <p:cNvSpPr txBox="1"/>
          <p:nvPr/>
        </p:nvSpPr>
        <p:spPr>
          <a:xfrm>
            <a:off x="1234440" y="5623560"/>
            <a:ext cx="6126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Dieselbe Frage wird mehrfach und umformuliert gestellt – misst, ob Antwort und Format (max. 1 Satz, keine Floskeln) stabil bleiben.</a:t>
            </a:r>
          </a:p>
        </p:txBody>
      </p:sp>
      <p:sp>
        <p:nvSpPr>
          <p:cNvPr id="21" name="Shape 19"/>
          <p:cNvSpPr/>
          <p:nvPr/>
        </p:nvSpPr>
        <p:spPr>
          <a:xfrm>
            <a:off x="7680960" y="2103120"/>
            <a:ext cx="3931920" cy="4206240"/>
          </a:xfrm>
          <a:prstGeom prst="roundRect">
            <a:avLst>
              <a:gd name="adj" fmla="val 2326"/>
            </a:avLst>
          </a:prstGeom>
          <a:solidFill>
            <a:srgbClr val="0D132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909560" y="228600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Gemessene Kennzahlen pro Antwort</a:t>
            </a:r>
          </a:p>
        </p:txBody>
      </p:sp>
      <p:sp>
        <p:nvSpPr>
          <p:cNvPr id="23" name="Shape 21"/>
          <p:cNvSpPr/>
          <p:nvPr/>
        </p:nvSpPr>
        <p:spPr>
          <a:xfrm>
            <a:off x="7909560" y="2926080"/>
            <a:ext cx="1554480" cy="384048"/>
          </a:xfrm>
          <a:prstGeom prst="roundRect">
            <a:avLst>
              <a:gd name="adj" fmla="val 50000"/>
            </a:avLst>
          </a:prstGeom>
          <a:solidFill>
            <a:srgbClr val="00D9C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909560" y="29260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</a:t>
            </a:r>
          </a:p>
        </p:txBody>
      </p:sp>
      <p:sp>
        <p:nvSpPr>
          <p:cNvPr id="25" name="Text 23"/>
          <p:cNvSpPr txBox="1"/>
          <p:nvPr/>
        </p:nvSpPr>
        <p:spPr>
          <a:xfrm>
            <a:off x="7909560" y="33832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D7D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live_antwortzeit_ms = prompt_verarbeitung_ms + generierung_ms</a:t>
            </a:r>
          </a:p>
        </p:txBody>
      </p:sp>
      <p:sp>
        <p:nvSpPr>
          <p:cNvPr id="26" name="Shape 24"/>
          <p:cNvSpPr/>
          <p:nvPr/>
        </p:nvSpPr>
        <p:spPr>
          <a:xfrm>
            <a:off x="7909560" y="3977640"/>
            <a:ext cx="1554480" cy="384048"/>
          </a:xfrm>
          <a:prstGeom prst="roundRect">
            <a:avLst>
              <a:gd name="adj" fmla="val 50000"/>
            </a:avLst>
          </a:prstGeom>
          <a:solidFill>
            <a:srgbClr val="FF6B4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909560" y="397764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DURCHSATZ</a:t>
            </a:r>
          </a:p>
        </p:txBody>
      </p:sp>
      <p:sp>
        <p:nvSpPr>
          <p:cNvPr id="28" name="Text 26"/>
          <p:cNvSpPr txBox="1"/>
          <p:nvPr/>
        </p:nvSpPr>
        <p:spPr>
          <a:xfrm>
            <a:off x="7909560" y="44348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D7D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tokens_pro_sekunde aus eval_count / eval_duration der Ollama-Antwort</a:t>
            </a:r>
          </a:p>
        </p:txBody>
      </p:sp>
      <p:sp>
        <p:nvSpPr>
          <p:cNvPr id="29" name="Shape 27"/>
          <p:cNvSpPr/>
          <p:nvPr/>
        </p:nvSpPr>
        <p:spPr>
          <a:xfrm>
            <a:off x="7909560" y="5029200"/>
            <a:ext cx="1554480" cy="384048"/>
          </a:xfrm>
          <a:prstGeom prst="roundRect">
            <a:avLst>
              <a:gd name="adj" fmla="val 50000"/>
            </a:avLst>
          </a:prstGeom>
          <a:solidFill>
            <a:srgbClr val="9AA3C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909560" y="502920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KORREKTHEIT</a:t>
            </a:r>
          </a:p>
        </p:txBody>
      </p:sp>
      <p:sp>
        <p:nvSpPr>
          <p:cNvPr id="31" name="Text 29"/>
          <p:cNvSpPr txBox="1"/>
          <p:nvPr/>
        </p:nvSpPr>
        <p:spPr>
          <a:xfrm>
            <a:off x="7909560" y="548640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D7D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ergebnis_korrekt (JA/NEIN) je Testfall, plus Sonderfelder wie injection_ausgelöst oder format_eingehalten</a:t>
            </a:r>
          </a:p>
        </p:txBody>
      </p:sp>
      <p:sp>
        <p:nvSpPr>
          <p:cNvPr id="32" name="Text 30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PERFORMANCE TUNING · iGPU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11274552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smtClean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ANHANG · N8N </a:t>
            </a:r>
            <a:r>
              <a:rPr lang="en-US" sz="1300" b="1" kern="0" spc="20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TEST-TOOL </a:t>
            </a:r>
            <a:r>
              <a:rPr lang="en-US" sz="1300" b="1" kern="0" spc="200" smtClean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(3/3)</a:t>
            </a:r>
            <a:endParaRPr lang="en-US" sz="1300" b="1" kern="0" spc="200" dirty="0">
              <a:solidFill>
                <a:srgbClr val="FF6B4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n8n Performance-Test-Tool</a:t>
            </a:r>
            <a:r>
              <a:rPr lang="en-US" sz="3000" b="1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</a:t>
            </a:r>
            <a:r>
              <a:rPr lang="en-US" sz="3000" b="1" smtClean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Testlogik</a:t>
            </a:r>
            <a:endParaRPr lang="en-US" sz="3000" b="1" dirty="0">
              <a:solidFill>
                <a:srgbClr val="1217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371599"/>
            <a:ext cx="10789920" cy="14859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AutoNum type="arabicPeriod"/>
            </a:pPr>
            <a:r>
              <a:rPr lang="de-DE" sz="1100" b="1" smtClean="0"/>
              <a:t>Dynamische </a:t>
            </a:r>
            <a:r>
              <a:rPr lang="de-DE" sz="1100" b="1"/>
              <a:t>Teststeuerung (Edit Fields</a:t>
            </a:r>
            <a:r>
              <a:rPr lang="de-DE" sz="1100" b="1" smtClean="0"/>
              <a:t>) - </a:t>
            </a:r>
            <a:r>
              <a:rPr lang="de-DE" sz="1100" smtClean="0"/>
              <a:t>Der </a:t>
            </a:r>
            <a:r>
              <a:rPr lang="de-DE" sz="1100"/>
              <a:t>Workflow startet links oben. Über zentrale Schalter (boolesche Variablen) im Node Edit Fields wird vor dem Start exakt definiert, welche Pfade und Qualitäts-Checks aktiv sind. Das erlaubt modulare Tests ohne Code-Änderung</a:t>
            </a:r>
            <a:r>
              <a:rPr lang="de-DE" sz="1100" smtClean="0"/>
              <a:t>.</a:t>
            </a:r>
          </a:p>
          <a:p>
            <a:pPr marL="342900" indent="-342900">
              <a:buAutoNum type="arabicPeriod"/>
            </a:pPr>
            <a:r>
              <a:rPr lang="de-DE" sz="1100" b="1" smtClean="0"/>
              <a:t>Speicher- </a:t>
            </a:r>
            <a:r>
              <a:rPr lang="de-DE" sz="1100" b="1"/>
              <a:t>&amp; Vektor-Vorbereitung (Unterer Pfad</a:t>
            </a:r>
            <a:r>
              <a:rPr lang="de-DE" sz="1100" b="1" smtClean="0"/>
              <a:t>) - </a:t>
            </a:r>
            <a:r>
              <a:rPr lang="de-DE" sz="1100" smtClean="0"/>
              <a:t>Um </a:t>
            </a:r>
            <a:r>
              <a:rPr lang="de-DE" sz="1100"/>
              <a:t>saubere, vergleichbare Benchmarks zu garantieren, wird bei Bedarf die Test-Datenbank zurückgesetzt (Benchmark Memorys leeren) und über den Vektor-Speicher (Qdrant-Bulk-Payload) frisch </a:t>
            </a:r>
            <a:r>
              <a:rPr lang="de-DE" sz="1100" smtClean="0"/>
              <a:t>aufgebaut.</a:t>
            </a:r>
          </a:p>
          <a:p>
            <a:pPr marL="342900" indent="-342900">
              <a:buAutoNum type="arabicPeriod"/>
            </a:pPr>
            <a:r>
              <a:rPr lang="de-DE" sz="1100" b="1" smtClean="0"/>
              <a:t>Retrieval- </a:t>
            </a:r>
            <a:r>
              <a:rPr lang="de-DE" sz="1100" b="1"/>
              <a:t>&amp; Prompt-Pipeline (Mittlerer Pfad</a:t>
            </a:r>
            <a:r>
              <a:rPr lang="de-DE" sz="1100" b="1" smtClean="0"/>
              <a:t>) - </a:t>
            </a:r>
            <a:r>
              <a:rPr lang="de-DE" sz="1100" smtClean="0"/>
              <a:t>Die </a:t>
            </a:r>
            <a:r>
              <a:rPr lang="de-DE" sz="1100"/>
              <a:t>Testfragen werden eingelesen (Flitest Datei lesen), mit Kontext angereichert und über die Ollama-Embeddings in Qdrant gesucht. Aus diesen Vektor-Ergebnissen wird automatisiert der finale Benchmark-Prompt </a:t>
            </a:r>
            <a:r>
              <a:rPr lang="de-DE" sz="1100" smtClean="0"/>
              <a:t>zusammengesetzt.</a:t>
            </a:r>
            <a:endParaRPr lang="de-DE" sz="1100" b="1"/>
          </a:p>
          <a:p>
            <a:pPr marL="342900" indent="-342900">
              <a:buAutoNum type="arabicPeriod"/>
            </a:pPr>
            <a:r>
              <a:rPr lang="de-DE" sz="1100" b="1" smtClean="0"/>
              <a:t>Latenz-Messung </a:t>
            </a:r>
            <a:r>
              <a:rPr lang="de-DE" sz="1100" b="1"/>
              <a:t>&amp; Analyse (Rechter Pfad</a:t>
            </a:r>
            <a:r>
              <a:rPr lang="de-DE" sz="1100" b="1" smtClean="0"/>
              <a:t>) - </a:t>
            </a:r>
            <a:r>
              <a:rPr lang="de-DE" sz="1100" smtClean="0"/>
              <a:t>Sobald </a:t>
            </a:r>
            <a:r>
              <a:rPr lang="de-DE" sz="1100"/>
              <a:t>die Anfrage an die lokale KI übergeben wird, misst der Node Ollama-Antwort messen die exakten Zeiten (Latenz / Generierungsdauer). Danach wird die Antwort semantisch bewertet und im letzten Schritt für den Export ausgewertet.</a:t>
            </a:r>
            <a:endParaRPr lang="en-US" sz="1100" dirty="0">
              <a:solidFill>
                <a:srgbClr val="5B647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32" name="Text 30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PERFORMANCE TUNING · iGPU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11274552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9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639" y="2857500"/>
            <a:ext cx="10499347" cy="368045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47431844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D13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868680"/>
            <a:ext cx="2743200" cy="1828800"/>
          </a:xfrm>
          <a:prstGeom prst="roundRect">
            <a:avLst>
              <a:gd name="adj" fmla="val 6000"/>
            </a:avLst>
          </a:prstGeom>
          <a:solidFill>
            <a:srgbClr val="17213D"/>
          </a:solidFill>
          <a:ln w="12700">
            <a:solidFill>
              <a:srgbClr val="00D9C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281160" y="548640"/>
            <a:ext cx="0" cy="36576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281160" y="1118235"/>
            <a:ext cx="0" cy="41148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29800" y="548640"/>
            <a:ext cx="0" cy="36576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829800" y="2651760"/>
            <a:ext cx="0" cy="41148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378440" y="548640"/>
            <a:ext cx="0" cy="36576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378440" y="2651760"/>
            <a:ext cx="0" cy="41148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927080" y="548640"/>
            <a:ext cx="0" cy="36576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927080" y="2651760"/>
            <a:ext cx="0" cy="41148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281160" y="1188720"/>
            <a:ext cx="1920240" cy="1188720"/>
          </a:xfrm>
          <a:prstGeom prst="roundRect">
            <a:avLst>
              <a:gd name="adj" fmla="val 4615"/>
            </a:avLst>
          </a:prstGeom>
          <a:solidFill>
            <a:srgbClr val="121A33"/>
          </a:solidFill>
          <a:ln w="9525">
            <a:solidFill>
              <a:srgbClr val="00D9C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281160" y="118872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iGPU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23774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Vielen Dank!</a:t>
            </a:r>
            <a:endParaRPr lang="en-US" sz="4400" dirty="0"/>
          </a:p>
        </p:txBody>
      </p:sp>
      <p:sp>
        <p:nvSpPr>
          <p:cNvPr id="14" name="Shape 12"/>
          <p:cNvSpPr/>
          <p:nvPr/>
        </p:nvSpPr>
        <p:spPr>
          <a:xfrm>
            <a:off x="640080" y="3383280"/>
            <a:ext cx="2743200" cy="0"/>
          </a:xfrm>
          <a:prstGeom prst="line">
            <a:avLst/>
          </a:prstGeom>
          <a:noFill/>
          <a:ln w="25400">
            <a:solidFill>
              <a:srgbClr val="00D9C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35661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9D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Fragen zu Ollama, Vulkan oder iGPU-Tuning?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03504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Quelle: collabnix.com – Ollama Performance Tuning: GPU Optimization Techniques for Production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3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4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5453</Words>
  <Application>Microsoft Office PowerPoint</Application>
  <PresentationFormat>Benutzerdefiniert</PresentationFormat>
  <Paragraphs>885</Paragraphs>
  <Slides>38</Slides>
  <Notes>26</Notes>
  <HiddenSlides>0</HiddenSlides>
  <MMClips>0</MMClips>
  <ScaleCrop>false</ScaleCrop>
  <HeadingPairs>
    <vt:vector size="4" baseType="variant">
      <vt:variant>
        <vt:lpstr>Design</vt:lpstr>
      </vt:variant>
      <vt:variant>
        <vt:i4>5</vt:i4>
      </vt:variant>
      <vt:variant>
        <vt:lpstr>Folientitel</vt:lpstr>
      </vt:variant>
      <vt:variant>
        <vt:i4>38</vt:i4>
      </vt:variant>
    </vt:vector>
  </HeadingPairs>
  <TitlesOfParts>
    <vt:vector size="43" baseType="lpstr">
      <vt:lpstr>Office Theme</vt:lpstr>
      <vt:lpstr>1_Office Theme</vt:lpstr>
      <vt:lpstr>2_Office Theme</vt:lpstr>
      <vt:lpstr>3_Office Theme</vt:lpstr>
      <vt:lpstr>4_Office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Ralf</cp:lastModifiedBy>
  <cp:revision>75</cp:revision>
  <dcterms:created xsi:type="dcterms:W3CDTF">2026-09-10T21:06:57Z</dcterms:created>
  <dcterms:modified xsi:type="dcterms:W3CDTF">2026-09-23T21:01:29Z</dcterms:modified>
</cp:coreProperties>
</file>