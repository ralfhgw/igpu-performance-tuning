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5.xml" ContentType="application/vnd.openxmlformats-officedocument.drawingml.chart+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 id="2147483656" r:id="rId5"/>
  </p:sldMasterIdLst>
  <p:notesMasterIdLst>
    <p:notesMasterId r:id="rId37"/>
  </p:notesMasterIdLst>
  <p:sldIdLst>
    <p:sldId id="256" r:id="rId6"/>
    <p:sldId id="258" r:id="rId7"/>
    <p:sldId id="259" r:id="rId8"/>
    <p:sldId id="260" r:id="rId9"/>
    <p:sldId id="261" r:id="rId10"/>
    <p:sldId id="262" r:id="rId11"/>
    <p:sldId id="296" r:id="rId12"/>
    <p:sldId id="297" r:id="rId13"/>
    <p:sldId id="306" r:id="rId14"/>
    <p:sldId id="263" r:id="rId15"/>
    <p:sldId id="305" r:id="rId16"/>
    <p:sldId id="265" r:id="rId17"/>
    <p:sldId id="266" r:id="rId18"/>
    <p:sldId id="267" r:id="rId19"/>
    <p:sldId id="268" r:id="rId20"/>
    <p:sldId id="298" r:id="rId21"/>
    <p:sldId id="299" r:id="rId22"/>
    <p:sldId id="269" r:id="rId23"/>
    <p:sldId id="270" r:id="rId24"/>
    <p:sldId id="272" r:id="rId25"/>
    <p:sldId id="286" r:id="rId26"/>
    <p:sldId id="300" r:id="rId27"/>
    <p:sldId id="301" r:id="rId28"/>
    <p:sldId id="302" r:id="rId29"/>
    <p:sldId id="287" r:id="rId30"/>
    <p:sldId id="288" r:id="rId31"/>
    <p:sldId id="303" r:id="rId32"/>
    <p:sldId id="292" r:id="rId33"/>
    <p:sldId id="281" r:id="rId34"/>
    <p:sldId id="274" r:id="rId35"/>
    <p:sldId id="285"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6478"/>
    <a:srgbClr val="00D9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2274" y="-11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de-DE"/>
  <c:roundedCorners val="1"/>
  <c:style val="2"/>
  <c:chart>
    <c:title>
      <c:tx>
        <c:rich>
          <a:bodyPr/>
          <a:lstStyle/>
          <a:p>
            <a:pPr>
              <a:defRPr sz="1250" b="0" i="0" u="none" strike="noStrike">
                <a:solidFill>
                  <a:srgbClr val="12172B"/>
                </a:solidFill>
                <a:latin typeface="Arial"/>
              </a:defRPr>
            </a:pPr>
            <a:r>
              <a:rPr lang="de-DE" sz="1250" b="0" i="0" u="none" strike="noStrike">
                <a:solidFill>
                  <a:srgbClr val="12172B"/>
                </a:solidFill>
                <a:latin typeface="Arial"/>
              </a:rPr>
              <a:t>Gleicher </a:t>
            </a:r>
            <a:r>
              <a:rPr lang="de-DE" sz="1250" b="0" i="0" u="none" strike="noStrike" smtClean="0">
                <a:solidFill>
                  <a:srgbClr val="12172B"/>
                </a:solidFill>
                <a:latin typeface="Arial"/>
              </a:rPr>
              <a:t>Inhalt </a:t>
            </a:r>
            <a:r>
              <a:rPr lang="de-DE" sz="1250" b="0" i="0" u="none" strike="noStrike">
                <a:solidFill>
                  <a:srgbClr val="12172B"/>
                </a:solidFill>
                <a:latin typeface="Arial"/>
              </a:rPr>
              <a:t>– Tokens im Prompt</a:t>
            </a:r>
          </a:p>
        </c:rich>
      </c:tx>
      <c:layout>
        <c:manualLayout>
          <c:xMode val="edge"/>
          <c:yMode val="edge"/>
          <c:x val="0.24701313818823495"/>
          <c:y val="0.11627906976744186"/>
        </c:manualLayout>
      </c:layout>
      <c:overlay val="0"/>
    </c:title>
    <c:autoTitleDeleted val="0"/>
    <c:plotArea>
      <c:layout>
        <c:manualLayout>
          <c:layoutTarget val="inner"/>
          <c:xMode val="edge"/>
          <c:yMode val="edge"/>
          <c:x val="0.10522556568395755"/>
          <c:y val="0.25436071944495309"/>
          <c:w val="0.38417046935523103"/>
          <c:h val="0.67457984903049906"/>
        </c:manualLayout>
      </c:layout>
      <c:barChart>
        <c:barDir val="bar"/>
        <c:grouping val="clustered"/>
        <c:varyColors val="0"/>
        <c:ser>
          <c:idx val="0"/>
          <c:order val="0"/>
          <c:tx>
            <c:strRef>
              <c:f>Sheet1!$B$1</c:f>
              <c:strCache>
                <c:ptCount val="1"/>
                <c:pt idx="0">
                  <c:v>Prompt Eval Count</c:v>
                </c:pt>
              </c:strCache>
            </c:strRef>
          </c:tx>
          <c:spPr>
            <a:solidFill>
              <a:srgbClr val="FF6B4A"/>
            </a:solidFill>
            <a:effectLst/>
          </c:spPr>
          <c:invertIfNegative val="0"/>
          <c:dPt>
            <c:idx val="0"/>
            <c:invertIfNegative val="0"/>
            <c:bubble3D val="0"/>
          </c:dPt>
          <c:dPt>
            <c:idx val="1"/>
            <c:invertIfNegative val="0"/>
            <c:bubble3D val="0"/>
            <c:spPr>
              <a:solidFill>
                <a:srgbClr val="00D9C0"/>
              </a:solidFill>
              <a:effectLst/>
            </c:spPr>
          </c:dPt>
          <c:dLbls>
            <c:numFmt formatCode="#,##0" sourceLinked="0"/>
            <c:txPr>
              <a:bodyPr/>
              <a:lstStyle/>
              <a:p>
                <a:pPr>
                  <a:defRPr sz="1250" b="0" i="0" u="none" strike="noStrike">
                    <a:solidFill>
                      <a:srgbClr val="12172B"/>
                    </a:solidFill>
                    <a:latin typeface="Calibri"/>
                  </a:defRPr>
                </a:pPr>
                <a:endParaRPr lang="de-DE"/>
              </a:p>
            </c:txPr>
            <c:showLegendKey val="0"/>
            <c:showVal val="1"/>
            <c:showCatName val="0"/>
            <c:showSerName val="0"/>
            <c:showPercent val="0"/>
            <c:showBubbleSize val="0"/>
            <c:showLeaderLines val="0"/>
          </c:dLbls>
          <c:cat>
            <c:strRef>
              <c:f>Sheet1!$A$2:$A$3</c:f>
              <c:strCache>
                <c:ptCount val="2"/>
                <c:pt idx="0">
                  <c:v>de</c:v>
                </c:pt>
                <c:pt idx="1">
                  <c:v>en</c:v>
                </c:pt>
              </c:strCache>
            </c:strRef>
          </c:cat>
          <c:val>
            <c:numRef>
              <c:f>Sheet1!$B$2:$B$3</c:f>
              <c:numCache>
                <c:formatCode>General</c:formatCode>
                <c:ptCount val="2"/>
                <c:pt idx="0">
                  <c:v>362</c:v>
                </c:pt>
                <c:pt idx="1">
                  <c:v>239</c:v>
                </c:pt>
              </c:numCache>
            </c:numRef>
          </c:val>
        </c:ser>
        <c:dLbls>
          <c:showLegendKey val="0"/>
          <c:showVal val="1"/>
          <c:showCatName val="0"/>
          <c:showSerName val="0"/>
          <c:showPercent val="0"/>
          <c:showBubbleSize val="0"/>
        </c:dLbls>
        <c:gapWidth val="150"/>
        <c:axId val="128353408"/>
        <c:axId val="128356736"/>
      </c:barChart>
      <c:catAx>
        <c:axId val="128353408"/>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478"/>
                </a:solidFill>
                <a:latin typeface="Calibri"/>
              </a:defRPr>
            </a:pPr>
            <a:endParaRPr lang="de-DE"/>
          </a:p>
        </c:txPr>
        <c:crossAx val="128356736"/>
        <c:crosses val="autoZero"/>
        <c:auto val="1"/>
        <c:lblAlgn val="ctr"/>
        <c:lblOffset val="100"/>
        <c:noMultiLvlLbl val="1"/>
      </c:catAx>
      <c:valAx>
        <c:axId val="128356736"/>
        <c:scaling>
          <c:orientation val="minMax"/>
        </c:scaling>
        <c:delete val="1"/>
        <c:axPos val="b"/>
        <c:numFmt formatCode="General" sourceLinked="0"/>
        <c:majorTickMark val="out"/>
        <c:minorTickMark val="none"/>
        <c:tickLblPos val="low"/>
        <c:crossAx val="12835340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de-DE"/>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Anteil am VRAM (Beispiel, %)</c:v>
                </c:pt>
              </c:strCache>
            </c:strRef>
          </c:tx>
          <c:dPt>
            <c:idx val="0"/>
            <c:bubble3D val="0"/>
            <c:spPr>
              <a:solidFill>
                <a:srgbClr val="0D1321"/>
              </a:solidFill>
              <a:ln w="19050">
                <a:solidFill>
                  <a:srgbClr val="FFFFFF"/>
                </a:solidFill>
              </a:ln>
            </c:spPr>
          </c:dPt>
          <c:dPt>
            <c:idx val="1"/>
            <c:bubble3D val="0"/>
            <c:spPr>
              <a:solidFill>
                <a:srgbClr val="00D9C0"/>
              </a:solidFill>
              <a:ln w="19050">
                <a:solidFill>
                  <a:srgbClr val="FFFFFF"/>
                </a:solidFill>
              </a:ln>
            </c:spPr>
          </c:dPt>
          <c:dPt>
            <c:idx val="2"/>
            <c:bubble3D val="0"/>
            <c:spPr>
              <a:solidFill>
                <a:srgbClr val="FF6B4A"/>
              </a:solidFill>
              <a:ln w="19050">
                <a:solidFill>
                  <a:srgbClr val="FFFFFF"/>
                </a:solidFill>
              </a:ln>
            </c:spPr>
          </c:dPt>
          <c:dLbls>
            <c:dLbl>
              <c:idx val="0"/>
              <c:layout/>
              <c:tx>
                <c:rich>
                  <a:bodyPr/>
                  <a:lstStyle/>
                  <a:p>
                    <a:r>
                      <a:rPr lang="de-DE" sz="1100" b="1">
                        <a:solidFill>
                          <a:srgbClr val="FFFFFF"/>
                        </a:solidFill>
                      </a:rPr>
                      <a:t>70 %</a:t>
                    </a:r>
                  </a:p>
                </c:rich>
              </c:tx>
              <c:dLblPos val="ctr"/>
              <c:showLegendKey val="0"/>
              <c:showVal val="1"/>
              <c:showCatName val="0"/>
              <c:showSerName val="0"/>
              <c:showPercent val="0"/>
              <c:showBubbleSize val="0"/>
            </c:dLbl>
            <c:dLbl>
              <c:idx val="1"/>
              <c:layout/>
              <c:tx>
                <c:rich>
                  <a:bodyPr/>
                  <a:lstStyle/>
                  <a:p>
                    <a:r>
                      <a:rPr lang="de-DE" sz="1100" b="1">
                        <a:solidFill>
                          <a:srgbClr val="0D1321"/>
                        </a:solidFill>
                      </a:rPr>
                      <a:t>20 %</a:t>
                    </a:r>
                  </a:p>
                </c:rich>
              </c:tx>
              <c:dLblPos val="ctr"/>
              <c:showLegendKey val="0"/>
              <c:showVal val="1"/>
              <c:showCatName val="0"/>
              <c:showSerName val="0"/>
              <c:showPercent val="0"/>
              <c:showBubbleSize val="0"/>
            </c:dLbl>
            <c:dLbl>
              <c:idx val="2"/>
              <c:layout/>
              <c:tx>
                <c:rich>
                  <a:bodyPr/>
                  <a:lstStyle/>
                  <a:p>
                    <a:r>
                      <a:rPr lang="de-DE" sz="1100" b="1">
                        <a:solidFill>
                          <a:srgbClr val="FFFFFF"/>
                        </a:solidFill>
                      </a:rPr>
                      <a:t>10 %</a:t>
                    </a:r>
                  </a:p>
                </c:rich>
              </c:tx>
              <c:dLblPos val="ctr"/>
              <c:showLegendKey val="0"/>
              <c:showVal val="1"/>
              <c:showCatName val="0"/>
              <c:showSerName val="0"/>
              <c:showPercent val="0"/>
              <c:showBubbleSize val="0"/>
            </c:dLbl>
            <c:showLegendKey val="0"/>
            <c:showVal val="0"/>
            <c:showCatName val="0"/>
            <c:showSerName val="0"/>
            <c:showPercent val="0"/>
            <c:showBubbleSize val="0"/>
          </c:dLbls>
          <c:cat>
            <c:strRef>
              <c:f>Sheet1!$A$2:$A$4</c:f>
              <c:strCache>
                <c:ptCount val="3"/>
                <c:pt idx="0">
                  <c:v>Modell-Gewichte</c:v>
                </c:pt>
                <c:pt idx="1">
                  <c:v>KV-Cache (Kontext)</c:v>
                </c:pt>
                <c:pt idx="2">
                  <c:v>Zwischenspeicher</c:v>
                </c:pt>
              </c:strCache>
            </c:strRef>
          </c:cat>
          <c:val>
            <c:numRef>
              <c:f>Sheet1!$B$2:$B$4</c:f>
              <c:numCache>
                <c:formatCode>General</c:formatCode>
                <c:ptCount val="3"/>
                <c:pt idx="0">
                  <c:v>70</c:v>
                </c:pt>
                <c:pt idx="1">
                  <c:v>20</c:v>
                </c:pt>
                <c:pt idx="2">
                  <c:v>10</c:v>
                </c:pt>
              </c:numCache>
            </c:numRef>
          </c:val>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de-DE"/>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de-DE"/>
  <c:roundedCorners val="1"/>
  <c:style val="2"/>
  <c:chart>
    <c:autoTitleDeleted val="1"/>
    <c:plotArea>
      <c:layout/>
      <c:barChart>
        <c:barDir val="bar"/>
        <c:grouping val="clustered"/>
        <c:varyColors val="0"/>
        <c:ser>
          <c:idx val="0"/>
          <c:order val="0"/>
          <c:tx>
            <c:strRef>
              <c:f>Sheet1!$B$1</c:f>
              <c:strCache>
                <c:ptCount val="1"/>
                <c:pt idx="0">
                  <c:v>Tokens/s</c:v>
                </c:pt>
              </c:strCache>
            </c:strRef>
          </c:tx>
          <c:spPr>
            <a:solidFill>
              <a:srgbClr val="00D9C0"/>
            </a:solidFill>
            <a:effectLst/>
          </c:spPr>
          <c:invertIfNegative val="0"/>
          <c:dPt>
            <c:idx val="0"/>
            <c:invertIfNegative val="0"/>
            <c:bubble3D val="0"/>
          </c:dPt>
          <c:dPt>
            <c:idx val="1"/>
            <c:invertIfNegative val="0"/>
            <c:bubble3D val="0"/>
            <c:spPr>
              <a:solidFill>
                <a:srgbClr val="3A9AA6"/>
              </a:solidFill>
              <a:effectLst/>
            </c:spPr>
          </c:dPt>
          <c:dPt>
            <c:idx val="2"/>
            <c:invertIfNegative val="0"/>
            <c:bubble3D val="0"/>
            <c:spPr>
              <a:solidFill>
                <a:srgbClr val="FF6B4A"/>
              </a:solidFill>
              <a:effectLst/>
            </c:spPr>
          </c:dPt>
          <c:dLbls>
            <c:dLbl>
              <c:idx val="0"/>
              <c:layout/>
              <c:tx>
                <c:rich>
                  <a:bodyPr/>
                  <a:lstStyle/>
                  <a:p>
                    <a:r>
                      <a:rPr lang="en-US" smtClean="0"/>
                      <a:t>47 Tokens/s</a:t>
                    </a:r>
                    <a:endParaRPr lang="en-US"/>
                  </a:p>
                </c:rich>
              </c:tx>
              <c:showLegendKey val="0"/>
              <c:showVal val="1"/>
              <c:showCatName val="0"/>
              <c:showSerName val="0"/>
              <c:showPercent val="0"/>
              <c:showBubbleSize val="0"/>
            </c:dLbl>
            <c:dLbl>
              <c:idx val="1"/>
              <c:layout/>
              <c:tx>
                <c:rich>
                  <a:bodyPr/>
                  <a:lstStyle/>
                  <a:p>
                    <a:r>
                      <a:rPr lang="en-US" smtClean="0"/>
                      <a:t>13 Tokens/s</a:t>
                    </a:r>
                    <a:endParaRPr lang="en-US"/>
                  </a:p>
                </c:rich>
              </c:tx>
              <c:showLegendKey val="0"/>
              <c:showVal val="1"/>
              <c:showCatName val="0"/>
              <c:showSerName val="0"/>
              <c:showPercent val="0"/>
              <c:showBubbleSize val="0"/>
            </c:dLbl>
            <c:dLbl>
              <c:idx val="2"/>
              <c:layout>
                <c:manualLayout>
                  <c:x val="1.0964912280701754E-2"/>
                  <c:y val="0"/>
                </c:manualLayout>
              </c:layout>
              <c:tx>
                <c:rich>
                  <a:bodyPr/>
                  <a:lstStyle/>
                  <a:p>
                    <a:r>
                      <a:rPr lang="en-US" smtClean="0"/>
                      <a:t>4 Tokens/s</a:t>
                    </a:r>
                    <a:endParaRPr lang="en-US"/>
                  </a:p>
                </c:rich>
              </c:tx>
              <c:showLegendKey val="0"/>
              <c:showVal val="1"/>
              <c:showCatName val="0"/>
              <c:showSerName val="0"/>
              <c:showPercent val="0"/>
              <c:showBubbleSize val="0"/>
            </c:dLbl>
            <c:numFmt formatCode="#,##0" sourceLinked="0"/>
            <c:txPr>
              <a:bodyPr/>
              <a:lstStyle/>
              <a:p>
                <a:pPr>
                  <a:defRPr sz="1300" b="0" i="0" u="none" strike="noStrike">
                    <a:solidFill>
                      <a:srgbClr val="FFFFFF"/>
                    </a:solidFill>
                    <a:latin typeface="Calibri"/>
                  </a:defRPr>
                </a:pPr>
                <a:endParaRPr lang="de-DE"/>
              </a:p>
            </c:txPr>
            <c:showLegendKey val="0"/>
            <c:showVal val="1"/>
            <c:showCatName val="0"/>
            <c:showSerName val="0"/>
            <c:showPercent val="0"/>
            <c:showBubbleSize val="0"/>
            <c:showLeaderLines val="0"/>
          </c:dLbls>
          <c:cat>
            <c:strRef>
              <c:f>Sheet1!$A$2:$A$4</c:f>
              <c:strCache>
                <c:ptCount val="3"/>
                <c:pt idx="0">
                  <c:v>Reiner VRAM-Betrieb</c:v>
                </c:pt>
                <c:pt idx="1">
                  <c:v>VRAM + RAM gemischt</c:v>
                </c:pt>
                <c:pt idx="2">
                  <c:v>Reiner CPU/RAM-Betrieb</c:v>
                </c:pt>
              </c:strCache>
            </c:strRef>
          </c:cat>
          <c:val>
            <c:numRef>
              <c:f>Sheet1!$B$2:$B$4</c:f>
              <c:numCache>
                <c:formatCode>General</c:formatCode>
                <c:ptCount val="3"/>
                <c:pt idx="0">
                  <c:v>47</c:v>
                </c:pt>
                <c:pt idx="1">
                  <c:v>12.5</c:v>
                </c:pt>
                <c:pt idx="2">
                  <c:v>4</c:v>
                </c:pt>
              </c:numCache>
            </c:numRef>
          </c:val>
        </c:ser>
        <c:dLbls>
          <c:showLegendKey val="0"/>
          <c:showVal val="1"/>
          <c:showCatName val="0"/>
          <c:showSerName val="0"/>
          <c:showPercent val="0"/>
          <c:showBubbleSize val="0"/>
        </c:dLbls>
        <c:gapWidth val="150"/>
        <c:axId val="240759936"/>
        <c:axId val="241140480"/>
      </c:barChart>
      <c:catAx>
        <c:axId val="240759936"/>
        <c:scaling>
          <c:orientation val="minMax"/>
        </c:scaling>
        <c:delete val="0"/>
        <c:axPos val="l"/>
        <c:numFmt formatCode="General" sourceLinked="1"/>
        <c:majorTickMark val="out"/>
        <c:minorTickMark val="none"/>
        <c:tickLblPos val="nextTo"/>
        <c:spPr>
          <a:ln w="12700" cap="flat">
            <a:solidFill>
              <a:srgbClr val="2A365C"/>
            </a:solidFill>
            <a:prstDash val="solid"/>
            <a:round/>
          </a:ln>
        </c:spPr>
        <c:txPr>
          <a:bodyPr/>
          <a:lstStyle/>
          <a:p>
            <a:pPr>
              <a:defRPr sz="1250" b="0" i="0" u="none" strike="noStrike">
                <a:solidFill>
                  <a:srgbClr val="D7DCEE"/>
                </a:solidFill>
                <a:latin typeface="Calibri"/>
              </a:defRPr>
            </a:pPr>
            <a:endParaRPr lang="de-DE"/>
          </a:p>
        </c:txPr>
        <c:crossAx val="241140480"/>
        <c:crosses val="autoZero"/>
        <c:auto val="1"/>
        <c:lblAlgn val="ctr"/>
        <c:lblOffset val="100"/>
        <c:noMultiLvlLbl val="1"/>
      </c:catAx>
      <c:valAx>
        <c:axId val="241140480"/>
        <c:scaling>
          <c:orientation val="minMax"/>
        </c:scaling>
        <c:delete val="1"/>
        <c:axPos val="b"/>
        <c:numFmt formatCode="General" sourceLinked="0"/>
        <c:majorTickMark val="out"/>
        <c:minorTickMark val="none"/>
        <c:tickLblPos val="low"/>
        <c:crossAx val="240759936"/>
        <c:crosses val="autoZero"/>
        <c:crossBetween val="between"/>
      </c:valAx>
      <c:spPr>
        <a:solidFill>
          <a:srgbClr val="0D1321"/>
        </a:solidFill>
        <a:ln>
          <a:noFill/>
        </a:ln>
        <a:effectLst/>
      </c:spPr>
    </c:plotArea>
    <c:plotVisOnly val="1"/>
    <c:dispBlanksAs val="span"/>
    <c:showDLblsOverMax val="1"/>
  </c:chart>
  <c:spPr>
    <a:solidFill>
      <a:srgbClr val="0D1321"/>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de-DE"/>
  <c:roundedCorners val="1"/>
  <c:style val="2"/>
  <c:chart>
    <c:title>
      <c:tx>
        <c:rich>
          <a:bodyPr/>
          <a:lstStyle/>
          <a:p>
            <a:pPr>
              <a:defRPr sz="1300" b="0" i="0" u="none" strike="noStrike">
                <a:solidFill>
                  <a:srgbClr val="12172B"/>
                </a:solidFill>
                <a:latin typeface="Arial"/>
              </a:defRPr>
            </a:pPr>
            <a:r>
              <a:rPr lang="de-DE" sz="1300" b="0" i="0" u="none" strike="noStrike">
                <a:solidFill>
                  <a:srgbClr val="12172B"/>
                </a:solidFill>
                <a:latin typeface="Arial"/>
              </a:rPr>
              <a:t>Eval Rate im Vergleich (</a:t>
            </a:r>
            <a:r>
              <a:rPr lang="de-DE" sz="1300" b="0" i="0" u="none" strike="noStrike" smtClean="0">
                <a:solidFill>
                  <a:srgbClr val="12172B"/>
                </a:solidFill>
                <a:latin typeface="Arial"/>
              </a:rPr>
              <a:t>Tokens / sec)</a:t>
            </a:r>
            <a:endParaRPr lang="de-DE" sz="1300" b="0" i="0" u="none" strike="noStrike">
              <a:solidFill>
                <a:srgbClr val="12172B"/>
              </a:solidFill>
              <a:latin typeface="Arial"/>
            </a:endParaRPr>
          </a:p>
        </c:rich>
      </c:tx>
      <c:layout/>
      <c:overlay val="0"/>
    </c:title>
    <c:autoTitleDeleted val="0"/>
    <c:plotArea>
      <c:layout/>
      <c:barChart>
        <c:barDir val="col"/>
        <c:grouping val="clustered"/>
        <c:varyColors val="0"/>
        <c:ser>
          <c:idx val="0"/>
          <c:order val="0"/>
          <c:tx>
            <c:strRef>
              <c:f>Sheet1!$B$1</c:f>
              <c:strCache>
                <c:ptCount val="1"/>
                <c:pt idx="0">
                  <c:v>Eval Rate (Tokens/s)</c:v>
                </c:pt>
              </c:strCache>
            </c:strRef>
          </c:tx>
          <c:spPr>
            <a:solidFill>
              <a:srgbClr val="0D1321"/>
            </a:solidFill>
            <a:effectLst/>
          </c:spPr>
          <c:invertIfNegative val="0"/>
          <c:dPt>
            <c:idx val="0"/>
            <c:invertIfNegative val="0"/>
            <c:bubble3D val="0"/>
          </c:dPt>
          <c:dPt>
            <c:idx val="1"/>
            <c:invertIfNegative val="0"/>
            <c:bubble3D val="0"/>
            <c:spPr>
              <a:solidFill>
                <a:srgbClr val="00D9C0"/>
              </a:solidFill>
              <a:effectLst/>
            </c:spPr>
          </c:dPt>
          <c:dLbls>
            <c:numFmt formatCode="0.00" sourceLinked="0"/>
            <c:txPr>
              <a:bodyPr/>
              <a:lstStyle/>
              <a:p>
                <a:pPr>
                  <a:defRPr sz="1300" b="0" i="0" u="none" strike="noStrike">
                    <a:solidFill>
                      <a:srgbClr val="12172B"/>
                    </a:solidFill>
                    <a:latin typeface="Calibri"/>
                  </a:defRPr>
                </a:pPr>
                <a:endParaRPr lang="de-DE"/>
              </a:p>
            </c:txPr>
            <c:showLegendKey val="0"/>
            <c:showVal val="1"/>
            <c:showCatName val="0"/>
            <c:showSerName val="0"/>
            <c:showPercent val="0"/>
            <c:showBubbleSize val="0"/>
            <c:showLeaderLines val="0"/>
          </c:dLbls>
          <c:cat>
            <c:strRef>
              <c:f>Sheet1!$A$2:$A$3</c:f>
              <c:strCache>
                <c:ptCount val="2"/>
                <c:pt idx="0">
                  <c:v>llama3.1:8b</c:v>
                </c:pt>
                <c:pt idx="1">
                  <c:v>llama3.2:latest</c:v>
                </c:pt>
              </c:strCache>
            </c:strRef>
          </c:cat>
          <c:val>
            <c:numRef>
              <c:f>Sheet1!$B$2:$B$3</c:f>
              <c:numCache>
                <c:formatCode>General</c:formatCode>
                <c:ptCount val="2"/>
                <c:pt idx="0">
                  <c:v>6.35</c:v>
                </c:pt>
                <c:pt idx="1">
                  <c:v>13.16</c:v>
                </c:pt>
              </c:numCache>
            </c:numRef>
          </c:val>
        </c:ser>
        <c:dLbls>
          <c:showLegendKey val="0"/>
          <c:showVal val="1"/>
          <c:showCatName val="0"/>
          <c:showSerName val="0"/>
          <c:showPercent val="0"/>
          <c:showBubbleSize val="0"/>
        </c:dLbls>
        <c:gapWidth val="150"/>
        <c:axId val="240430080"/>
        <c:axId val="240453888"/>
      </c:barChart>
      <c:catAx>
        <c:axId val="24043008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8"/>
                </a:solidFill>
                <a:latin typeface="Calibri"/>
              </a:defRPr>
            </a:pPr>
            <a:endParaRPr lang="de-DE"/>
          </a:p>
        </c:txPr>
        <c:crossAx val="240453888"/>
        <c:crosses val="autoZero"/>
        <c:auto val="1"/>
        <c:lblAlgn val="ctr"/>
        <c:lblOffset val="100"/>
        <c:noMultiLvlLbl val="1"/>
      </c:catAx>
      <c:valAx>
        <c:axId val="240453888"/>
        <c:scaling>
          <c:orientation val="minMax"/>
        </c:scaling>
        <c:delete val="0"/>
        <c:axPos val="l"/>
        <c:majorGridlines>
          <c:spPr>
            <a:ln w="12700" cap="flat">
              <a:solidFill>
                <a:srgbClr val="E3E7F0"/>
              </a:solidFill>
              <a:prstDash val="solid"/>
              <a:round/>
            </a:ln>
          </c:spPr>
        </c:majorGridlines>
        <c:title>
          <c:tx>
            <c:rich>
              <a:bodyPr/>
              <a:lstStyle/>
              <a:p>
                <a:pPr>
                  <a:defRPr sz="1100" b="0" i="0" u="none" strike="noStrike">
                    <a:solidFill>
                      <a:srgbClr val="5B6478"/>
                    </a:solidFill>
                    <a:latin typeface="Arial"/>
                  </a:defRPr>
                </a:pPr>
                <a:r>
                  <a:rPr lang="de-DE" sz="1100" b="0" i="0" u="none" strike="noStrike" smtClean="0">
                    <a:solidFill>
                      <a:srgbClr val="5B6478"/>
                    </a:solidFill>
                    <a:latin typeface="Arial"/>
                  </a:rPr>
                  <a:t>eval rate Tokens </a:t>
                </a:r>
                <a:r>
                  <a:rPr lang="de-DE" sz="1100" b="0" i="0" u="none" strike="noStrike">
                    <a:solidFill>
                      <a:srgbClr val="5B6478"/>
                    </a:solidFill>
                    <a:latin typeface="Arial"/>
                  </a:rPr>
                  <a:t>/ Sekunde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8"/>
                </a:solidFill>
                <a:latin typeface="Arial"/>
              </a:defRPr>
            </a:pPr>
            <a:endParaRPr lang="de-DE"/>
          </a:p>
        </c:txPr>
        <c:crossAx val="240430080"/>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de-DE"/>
  <c:roundedCorners val="1"/>
  <c:style val="2"/>
  <c:chart>
    <c:title>
      <c:tx>
        <c:rich>
          <a:bodyPr/>
          <a:lstStyle/>
          <a:p>
            <a:pPr>
              <a:defRPr sz="1250" b="0" i="0" u="none" strike="noStrike">
                <a:solidFill>
                  <a:srgbClr val="12172B"/>
                </a:solidFill>
                <a:latin typeface="Arial"/>
              </a:defRPr>
            </a:pPr>
            <a:r>
              <a:rPr lang="de-DE" sz="1250" b="0" i="0" u="none" strike="noStrike">
                <a:solidFill>
                  <a:srgbClr val="12172B"/>
                </a:solidFill>
                <a:latin typeface="Arial"/>
              </a:rPr>
              <a:t>Gesamtdauer bis zur fertigen Antwort (Sekunden)</a:t>
            </a:r>
          </a:p>
        </c:rich>
      </c:tx>
      <c:layout/>
      <c:overlay val="0"/>
    </c:title>
    <c:autoTitleDeleted val="0"/>
    <c:plotArea>
      <c:layout/>
      <c:barChart>
        <c:barDir val="col"/>
        <c:grouping val="clustered"/>
        <c:varyColors val="0"/>
        <c:ser>
          <c:idx val="0"/>
          <c:order val="0"/>
          <c:tx>
            <c:strRef>
              <c:f>Sheet1!$B$1</c:f>
              <c:strCache>
                <c:ptCount val="1"/>
                <c:pt idx="0">
                  <c:v>Gesamtdauer (s)</c:v>
                </c:pt>
              </c:strCache>
            </c:strRef>
          </c:tx>
          <c:spPr>
            <a:solidFill>
              <a:srgbClr val="FF6B4A"/>
            </a:solidFill>
            <a:effectLst/>
          </c:spPr>
          <c:invertIfNegative val="0"/>
          <c:dPt>
            <c:idx val="0"/>
            <c:invertIfNegative val="0"/>
            <c:bubble3D val="0"/>
          </c:dPt>
          <c:dPt>
            <c:idx val="1"/>
            <c:invertIfNegative val="0"/>
            <c:bubble3D val="0"/>
            <c:spPr>
              <a:solidFill>
                <a:srgbClr val="00D9C0"/>
              </a:solidFill>
              <a:effectLst/>
            </c:spPr>
          </c:dPt>
          <c:dLbls>
            <c:numFmt formatCode="0.00&quot; s&quot;" sourceLinked="0"/>
            <c:txPr>
              <a:bodyPr/>
              <a:lstStyle/>
              <a:p>
                <a:pPr>
                  <a:defRPr sz="1300" b="0" i="0" u="none" strike="noStrike">
                    <a:solidFill>
                      <a:srgbClr val="12172B"/>
                    </a:solidFill>
                    <a:latin typeface="Calibri"/>
                  </a:defRPr>
                </a:pPr>
                <a:endParaRPr lang="de-DE"/>
              </a:p>
            </c:txPr>
            <c:showLegendKey val="0"/>
            <c:showVal val="1"/>
            <c:showCatName val="0"/>
            <c:showSerName val="0"/>
            <c:showPercent val="0"/>
            <c:showBubbleSize val="0"/>
            <c:showLeaderLines val="0"/>
          </c:dLbls>
          <c:cat>
            <c:strRef>
              <c:f>Sheet1!$A$2:$A$3</c:f>
              <c:strCache>
                <c:ptCount val="2"/>
                <c:pt idx="0">
                  <c:v>Langer Prompt
(217 Prompt-Tokens)</c:v>
                </c:pt>
                <c:pt idx="1">
                  <c:v>Kurzer Prompt
(71 Prompt-Tokens)</c:v>
                </c:pt>
              </c:strCache>
            </c:strRef>
          </c:cat>
          <c:val>
            <c:numRef>
              <c:f>Sheet1!$B$2:$B$3</c:f>
              <c:numCache>
                <c:formatCode>General</c:formatCode>
                <c:ptCount val="2"/>
                <c:pt idx="0">
                  <c:v>11.96</c:v>
                </c:pt>
                <c:pt idx="1">
                  <c:v>4.3099999999999996</c:v>
                </c:pt>
              </c:numCache>
            </c:numRef>
          </c:val>
        </c:ser>
        <c:dLbls>
          <c:showLegendKey val="0"/>
          <c:showVal val="1"/>
          <c:showCatName val="0"/>
          <c:showSerName val="0"/>
          <c:showPercent val="0"/>
          <c:showBubbleSize val="0"/>
        </c:dLbls>
        <c:gapWidth val="150"/>
        <c:axId val="241982848"/>
        <c:axId val="242367104"/>
      </c:barChart>
      <c:catAx>
        <c:axId val="241982848"/>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5B6478"/>
                </a:solidFill>
                <a:latin typeface="Calibri"/>
              </a:defRPr>
            </a:pPr>
            <a:endParaRPr lang="de-DE"/>
          </a:p>
        </c:txPr>
        <c:crossAx val="242367104"/>
        <c:crosses val="autoZero"/>
        <c:auto val="1"/>
        <c:lblAlgn val="ctr"/>
        <c:lblOffset val="100"/>
        <c:noMultiLvlLbl val="1"/>
      </c:catAx>
      <c:valAx>
        <c:axId val="242367104"/>
        <c:scaling>
          <c:orientation val="minMax"/>
        </c:scaling>
        <c:delete val="1"/>
        <c:axPos val="l"/>
        <c:numFmt formatCode="General" sourceLinked="0"/>
        <c:majorTickMark val="out"/>
        <c:minorTickMark val="none"/>
        <c:tickLblPos val="nextTo"/>
        <c:crossAx val="24198284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43BD34C9-3F24-41BC-96DE-D27AE4F55570}" type="datetimeFigureOut">
              <a:rPr lang="de-DE" smtClean="0"/>
              <a:t>29.09.2026</a:t>
            </a:fld>
            <a:endParaRPr lang="de-DE"/>
          </a:p>
        </p:txBody>
      </p:sp>
      <p:sp>
        <p:nvSpPr>
          <p:cNvPr id="4" name="Folienbildplatzhalt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6D20950B-9B32-4118-9B58-93BCB66AE248}" type="slidenum">
              <a:rPr lang="de-DE" smtClean="0"/>
              <a:t>‹Nr.›</a:t>
            </a:fld>
            <a:endParaRPr lang="de-DE"/>
          </a:p>
        </p:txBody>
      </p:sp>
    </p:spTree>
    <p:extLst>
      <p:ext uri="{BB962C8B-B14F-4D97-AF65-F5344CB8AC3E}">
        <p14:creationId xmlns:p14="http://schemas.microsoft.com/office/powerpoint/2010/main" val="3300920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23</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24</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1263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8820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2393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630625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3490527"/>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9604145"/>
      </p:ext>
    </p:extLst>
  </p:cSld>
  <p:clrMap bg1="lt1" tx1="dk1" bg2="lt2" tx2="dk2" accent1="accent1" accent2="accent2" accent3="accent3" accent4="accent4" accent5="accent5" accent6="accent6" hlink="hlink" folHlink="folHlink"/>
  <p:sldLayoutIdLst>
    <p:sldLayoutId id="2147483653"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4481253"/>
      </p:ext>
    </p:extLst>
  </p:cSld>
  <p:clrMap bg1="lt1" tx1="dk1" bg2="lt2" tx2="dk2" accent1="accent1" accent2="accent2" accent3="accent3" accent4="accent4" accent5="accent5" accent6="accent6" hlink="hlink" folHlink="folHlink"/>
  <p:sldLayoutIdLst>
    <p:sldLayoutId id="214748365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5075822"/>
      </p:ext>
    </p:extLst>
  </p:cSld>
  <p:clrMap bg1="lt1" tx1="dk1" bg2="lt2" tx2="dk2" accent1="accent1" accent2="accent2" accent3="accent3" accent4="accent4" accent5="accent5" accent6="accent6" hlink="hlink" folHlink="folHlink"/>
  <p:sldLayoutIdLst>
    <p:sldLayoutId id="21474836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a:effectLst/>
      </p:bgPr>
    </p:bg>
    <p:spTree>
      <p:nvGrpSpPr>
        <p:cNvPr id="1" name=""/>
        <p:cNvGrpSpPr/>
        <p:nvPr/>
      </p:nvGrpSpPr>
      <p:grpSpPr>
        <a:xfrm>
          <a:off x="0" y="0"/>
          <a:ext cx="0" cy="0"/>
          <a:chOff x="0" y="0"/>
          <a:chExt cx="0" cy="0"/>
        </a:xfrm>
      </p:grpSpPr>
      <p:sp>
        <p:nvSpPr>
          <p:cNvPr id="2" name="Shape 0"/>
          <p:cNvSpPr/>
          <p:nvPr/>
        </p:nvSpPr>
        <p:spPr>
          <a:xfrm>
            <a:off x="8869680" y="4480560"/>
            <a:ext cx="2743200" cy="1828800"/>
          </a:xfrm>
          <a:prstGeom prst="roundRect">
            <a:avLst>
              <a:gd name="adj" fmla="val 6000"/>
            </a:avLst>
          </a:prstGeom>
          <a:solidFill>
            <a:srgbClr val="17213D"/>
          </a:solidFill>
          <a:ln w="12700">
            <a:solidFill>
              <a:srgbClr val="00D9C0"/>
            </a:solidFill>
            <a:prstDash val="solid"/>
          </a:ln>
        </p:spPr>
      </p:sp>
      <p:sp>
        <p:nvSpPr>
          <p:cNvPr id="3" name="Shape 1"/>
          <p:cNvSpPr/>
          <p:nvPr/>
        </p:nvSpPr>
        <p:spPr>
          <a:xfrm>
            <a:off x="9281160" y="4160520"/>
            <a:ext cx="0" cy="365760"/>
          </a:xfrm>
          <a:prstGeom prst="line">
            <a:avLst/>
          </a:prstGeom>
          <a:noFill/>
          <a:ln w="19050">
            <a:solidFill>
              <a:srgbClr val="00D9C0"/>
            </a:solidFill>
            <a:prstDash val="solid"/>
          </a:ln>
        </p:spPr>
      </p:sp>
      <p:sp>
        <p:nvSpPr>
          <p:cNvPr id="4" name="Shape 2"/>
          <p:cNvSpPr/>
          <p:nvPr/>
        </p:nvSpPr>
        <p:spPr>
          <a:xfrm>
            <a:off x="9281160" y="6263640"/>
            <a:ext cx="0" cy="411480"/>
          </a:xfrm>
          <a:prstGeom prst="line">
            <a:avLst/>
          </a:prstGeom>
          <a:noFill/>
          <a:ln w="19050">
            <a:solidFill>
              <a:srgbClr val="00D9C0"/>
            </a:solidFill>
            <a:prstDash val="solid"/>
          </a:ln>
        </p:spPr>
      </p:sp>
      <p:sp>
        <p:nvSpPr>
          <p:cNvPr id="5" name="Shape 3"/>
          <p:cNvSpPr/>
          <p:nvPr/>
        </p:nvSpPr>
        <p:spPr>
          <a:xfrm>
            <a:off x="9829800" y="4160520"/>
            <a:ext cx="0" cy="365760"/>
          </a:xfrm>
          <a:prstGeom prst="line">
            <a:avLst/>
          </a:prstGeom>
          <a:noFill/>
          <a:ln w="19050">
            <a:solidFill>
              <a:srgbClr val="00D9C0"/>
            </a:solidFill>
            <a:prstDash val="solid"/>
          </a:ln>
        </p:spPr>
      </p:sp>
      <p:sp>
        <p:nvSpPr>
          <p:cNvPr id="6" name="Shape 4"/>
          <p:cNvSpPr/>
          <p:nvPr/>
        </p:nvSpPr>
        <p:spPr>
          <a:xfrm>
            <a:off x="9829800" y="6263640"/>
            <a:ext cx="0" cy="411480"/>
          </a:xfrm>
          <a:prstGeom prst="line">
            <a:avLst/>
          </a:prstGeom>
          <a:noFill/>
          <a:ln w="19050">
            <a:solidFill>
              <a:srgbClr val="00D9C0"/>
            </a:solidFill>
            <a:prstDash val="solid"/>
          </a:ln>
        </p:spPr>
      </p:sp>
      <p:sp>
        <p:nvSpPr>
          <p:cNvPr id="7" name="Shape 5"/>
          <p:cNvSpPr/>
          <p:nvPr/>
        </p:nvSpPr>
        <p:spPr>
          <a:xfrm>
            <a:off x="10378440" y="4160520"/>
            <a:ext cx="0" cy="365760"/>
          </a:xfrm>
          <a:prstGeom prst="line">
            <a:avLst/>
          </a:prstGeom>
          <a:noFill/>
          <a:ln w="19050">
            <a:solidFill>
              <a:srgbClr val="00D9C0"/>
            </a:solidFill>
            <a:prstDash val="solid"/>
          </a:ln>
        </p:spPr>
      </p:sp>
      <p:sp>
        <p:nvSpPr>
          <p:cNvPr id="8" name="Shape 6"/>
          <p:cNvSpPr/>
          <p:nvPr/>
        </p:nvSpPr>
        <p:spPr>
          <a:xfrm>
            <a:off x="10378440" y="6263640"/>
            <a:ext cx="0" cy="411480"/>
          </a:xfrm>
          <a:prstGeom prst="line">
            <a:avLst/>
          </a:prstGeom>
          <a:noFill/>
          <a:ln w="19050">
            <a:solidFill>
              <a:srgbClr val="00D9C0"/>
            </a:solidFill>
            <a:prstDash val="solid"/>
          </a:ln>
        </p:spPr>
      </p:sp>
      <p:sp>
        <p:nvSpPr>
          <p:cNvPr id="9" name="Shape 7"/>
          <p:cNvSpPr/>
          <p:nvPr/>
        </p:nvSpPr>
        <p:spPr>
          <a:xfrm>
            <a:off x="10927080" y="4160520"/>
            <a:ext cx="0" cy="365760"/>
          </a:xfrm>
          <a:prstGeom prst="line">
            <a:avLst/>
          </a:prstGeom>
          <a:noFill/>
          <a:ln w="19050">
            <a:solidFill>
              <a:srgbClr val="00D9C0"/>
            </a:solidFill>
            <a:prstDash val="solid"/>
          </a:ln>
        </p:spPr>
      </p:sp>
      <p:sp>
        <p:nvSpPr>
          <p:cNvPr id="10" name="Shape 8"/>
          <p:cNvSpPr/>
          <p:nvPr/>
        </p:nvSpPr>
        <p:spPr>
          <a:xfrm>
            <a:off x="10927080" y="6263640"/>
            <a:ext cx="0" cy="411480"/>
          </a:xfrm>
          <a:prstGeom prst="line">
            <a:avLst/>
          </a:prstGeom>
          <a:noFill/>
          <a:ln w="19050">
            <a:solidFill>
              <a:srgbClr val="00D9C0"/>
            </a:solidFill>
            <a:prstDash val="solid"/>
          </a:ln>
        </p:spPr>
      </p:sp>
      <p:sp>
        <p:nvSpPr>
          <p:cNvPr id="11" name="Shape 9"/>
          <p:cNvSpPr/>
          <p:nvPr/>
        </p:nvSpPr>
        <p:spPr>
          <a:xfrm>
            <a:off x="9281160" y="4800600"/>
            <a:ext cx="1920240" cy="1188720"/>
          </a:xfrm>
          <a:prstGeom prst="roundRect">
            <a:avLst>
              <a:gd name="adj" fmla="val 4615"/>
            </a:avLst>
          </a:prstGeom>
          <a:solidFill>
            <a:srgbClr val="121A33"/>
          </a:solidFill>
          <a:ln w="9525">
            <a:solidFill>
              <a:srgbClr val="00D9C0"/>
            </a:solidFill>
            <a:prstDash val="solid"/>
          </a:ln>
        </p:spPr>
      </p:sp>
      <p:sp>
        <p:nvSpPr>
          <p:cNvPr id="12" name="Text 10"/>
          <p:cNvSpPr txBox="1"/>
          <p:nvPr/>
        </p:nvSpPr>
        <p:spPr>
          <a:xfrm>
            <a:off x="9281160" y="4800600"/>
            <a:ext cx="1920240" cy="1188720"/>
          </a:xfrm>
          <a:prstGeom prst="rect">
            <a:avLst/>
          </a:prstGeom>
          <a:noFill/>
          <a:ln/>
        </p:spPr>
        <p:txBody>
          <a:bodyPr wrap="square" lIns="0" tIns="0" rIns="0" bIns="0" rtlCol="0" anchor="ctr"/>
          <a:lstStyle/>
          <a:p>
            <a:pPr marL="0" indent="0" algn="ctr">
              <a:buNone/>
            </a:pPr>
            <a:r>
              <a:rPr lang="en-US" sz="1600" b="1" dirty="0">
                <a:solidFill>
                  <a:srgbClr val="00D9C0"/>
                </a:solidFill>
                <a:latin typeface="Courier New" pitchFamily="34" charset="0"/>
                <a:ea typeface="Courier New" pitchFamily="34" charset="-122"/>
                <a:cs typeface="Courier New" pitchFamily="34" charset="-120"/>
              </a:rPr>
              <a:t>iGPU</a:t>
            </a:r>
            <a:endParaRPr lang="en-US" sz="1600" dirty="0"/>
          </a:p>
        </p:txBody>
      </p:sp>
      <p:sp>
        <p:nvSpPr>
          <p:cNvPr id="13" name="Text 11"/>
          <p:cNvSpPr txBox="1"/>
          <p:nvPr/>
        </p:nvSpPr>
        <p:spPr>
          <a:xfrm>
            <a:off x="640080" y="1874520"/>
            <a:ext cx="8229600" cy="365760"/>
          </a:xfrm>
          <a:prstGeom prst="rect">
            <a:avLst/>
          </a:prstGeom>
          <a:noFill/>
          <a:ln/>
        </p:spPr>
        <p:txBody>
          <a:bodyPr wrap="square" lIns="0" tIns="0" rIns="0" bIns="0" rtlCol="0" anchor="ctr"/>
          <a:lstStyle/>
          <a:p>
            <a:pPr marL="0" indent="0">
              <a:buNone/>
            </a:pPr>
            <a:r>
              <a:rPr lang="en-US" sz="1400" b="1" kern="0" spc="200" dirty="0">
                <a:solidFill>
                  <a:srgbClr val="00D9C0"/>
                </a:solidFill>
                <a:latin typeface="Calibri" pitchFamily="34" charset="0"/>
                <a:ea typeface="Calibri" pitchFamily="34" charset="-122"/>
                <a:cs typeface="Calibri" pitchFamily="34" charset="-120"/>
              </a:rPr>
              <a:t>TECH DEEP DIVE · DOCKER &amp; LOKALE KI</a:t>
            </a:r>
            <a:endParaRPr lang="en-US" sz="1400" dirty="0"/>
          </a:p>
        </p:txBody>
      </p:sp>
      <p:sp>
        <p:nvSpPr>
          <p:cNvPr id="14" name="Text 12"/>
          <p:cNvSpPr txBox="1"/>
          <p:nvPr/>
        </p:nvSpPr>
        <p:spPr>
          <a:xfrm>
            <a:off x="594360" y="2286000"/>
            <a:ext cx="9875520" cy="1371600"/>
          </a:xfrm>
          <a:prstGeom prst="rect">
            <a:avLst/>
          </a:prstGeom>
          <a:noFill/>
          <a:ln/>
        </p:spPr>
        <p:txBody>
          <a:bodyPr wrap="square" lIns="0" tIns="0" rIns="0" bIns="0" rtlCol="0" anchor="ctr"/>
          <a:lstStyle/>
          <a:p>
            <a:pPr marL="0" indent="0">
              <a:buNone/>
            </a:pPr>
            <a:r>
              <a:rPr lang="en-US" sz="4600" b="1" smtClean="0">
                <a:solidFill>
                  <a:srgbClr val="FFFFFF"/>
                </a:solidFill>
                <a:latin typeface="Arial" pitchFamily="34" charset="0"/>
                <a:ea typeface="Arial" pitchFamily="34" charset="-122"/>
                <a:cs typeface="Arial" pitchFamily="34" charset="-120"/>
              </a:rPr>
              <a:t>KI Agent mit Ollama </a:t>
            </a:r>
            <a:r>
              <a:rPr lang="en-US" sz="4600" b="1">
                <a:solidFill>
                  <a:srgbClr val="FFFFFF"/>
                </a:solidFill>
                <a:latin typeface="Arial" pitchFamily="34" charset="0"/>
                <a:ea typeface="Arial" pitchFamily="34" charset="-122"/>
                <a:cs typeface="Arial" pitchFamily="34" charset="-120"/>
              </a:rPr>
              <a:t>u</a:t>
            </a:r>
            <a:r>
              <a:rPr lang="en-US" sz="4600" b="1" smtClean="0">
                <a:solidFill>
                  <a:srgbClr val="FFFFFF"/>
                </a:solidFill>
                <a:latin typeface="Arial" pitchFamily="34" charset="0"/>
                <a:ea typeface="Arial" pitchFamily="34" charset="-122"/>
                <a:cs typeface="Arial" pitchFamily="34" charset="-120"/>
              </a:rPr>
              <a:t>nd iGPU</a:t>
            </a:r>
            <a:endParaRPr lang="en-US" sz="4600" dirty="0"/>
          </a:p>
        </p:txBody>
      </p:sp>
      <p:sp>
        <p:nvSpPr>
          <p:cNvPr id="15" name="Text 13"/>
          <p:cNvSpPr txBox="1"/>
          <p:nvPr/>
        </p:nvSpPr>
        <p:spPr>
          <a:xfrm>
            <a:off x="640080" y="3429000"/>
            <a:ext cx="8686800" cy="548640"/>
          </a:xfrm>
          <a:prstGeom prst="rect">
            <a:avLst/>
          </a:prstGeom>
          <a:noFill/>
          <a:ln/>
        </p:spPr>
        <p:txBody>
          <a:bodyPr wrap="square" lIns="0" tIns="0" rIns="0" bIns="0" rtlCol="0" anchor="ctr"/>
          <a:lstStyle/>
          <a:p>
            <a:pPr marL="0" indent="0">
              <a:buNone/>
            </a:pPr>
            <a:r>
              <a:rPr lang="en-US" sz="2000" dirty="0">
                <a:solidFill>
                  <a:srgbClr val="C9D2EE"/>
                </a:solidFill>
                <a:latin typeface="Calibri" pitchFamily="34" charset="0"/>
                <a:ea typeface="Calibri" pitchFamily="34" charset="-122"/>
                <a:cs typeface="Calibri" pitchFamily="34" charset="-120"/>
              </a:rPr>
              <a:t>Vom Grundverständnis zur optimierten iGPU-Nutzung</a:t>
            </a:r>
            <a:endParaRPr lang="en-US" sz="2000" dirty="0"/>
          </a:p>
        </p:txBody>
      </p:sp>
      <p:sp>
        <p:nvSpPr>
          <p:cNvPr id="16" name="Shape 14"/>
          <p:cNvSpPr/>
          <p:nvPr/>
        </p:nvSpPr>
        <p:spPr>
          <a:xfrm>
            <a:off x="640080" y="4160520"/>
            <a:ext cx="2743200" cy="0"/>
          </a:xfrm>
          <a:prstGeom prst="line">
            <a:avLst/>
          </a:prstGeom>
          <a:noFill/>
          <a:ln w="25400">
            <a:solidFill>
              <a:srgbClr val="00D9C0"/>
            </a:solidFill>
            <a:prstDash val="solid"/>
          </a:ln>
        </p:spPr>
      </p:sp>
      <p:sp>
        <p:nvSpPr>
          <p:cNvPr id="17" name="Text 15"/>
          <p:cNvSpPr txBox="1"/>
          <p:nvPr/>
        </p:nvSpPr>
        <p:spPr>
          <a:xfrm>
            <a:off x="640080" y="4343400"/>
            <a:ext cx="7315200" cy="365760"/>
          </a:xfrm>
          <a:prstGeom prst="rect">
            <a:avLst/>
          </a:prstGeom>
          <a:noFill/>
          <a:ln/>
        </p:spPr>
        <p:txBody>
          <a:bodyPr wrap="square" lIns="0" tIns="0" rIns="0" bIns="0" rtlCol="0" anchor="ctr"/>
          <a:lstStyle/>
          <a:p>
            <a:pPr marL="0" indent="0">
              <a:buNone/>
            </a:pPr>
            <a:r>
              <a:rPr lang="en-US" sz="1300" i="1" dirty="0">
                <a:solidFill>
                  <a:srgbClr val="9AA3C0"/>
                </a:solidFill>
                <a:latin typeface="Calibri" pitchFamily="34" charset="0"/>
                <a:ea typeface="Calibri" pitchFamily="34" charset="-122"/>
                <a:cs typeface="Calibri" pitchFamily="34" charset="-120"/>
              </a:rPr>
              <a:t>Grundlagen · Hardware · Optimierung · Messergebnisse</a:t>
            </a:r>
            <a:endParaRPr lang="en-US" sz="1300" dirty="0"/>
          </a:p>
        </p:txBody>
      </p:sp>
      <p:sp>
        <p:nvSpPr>
          <p:cNvPr id="18" name="Text 15"/>
          <p:cNvSpPr txBox="1"/>
          <p:nvPr/>
        </p:nvSpPr>
        <p:spPr>
          <a:xfrm>
            <a:off x="659130" y="5806439"/>
            <a:ext cx="4541520" cy="584835"/>
          </a:xfrm>
          <a:prstGeom prst="rect">
            <a:avLst/>
          </a:prstGeom>
          <a:noFill/>
          <a:ln/>
        </p:spPr>
        <p:txBody>
          <a:bodyPr wrap="square" lIns="0" tIns="0" rIns="0" bIns="0" rtlCol="0" anchor="ctr"/>
          <a:lstStyle/>
          <a:p>
            <a:pPr marL="0" indent="0">
              <a:buNone/>
            </a:pPr>
            <a:r>
              <a:rPr lang="en-US" sz="1300" i="1" smtClean="0">
                <a:solidFill>
                  <a:srgbClr val="9AA3C0"/>
                </a:solidFill>
                <a:latin typeface="Calibri" pitchFamily="34" charset="0"/>
                <a:ea typeface="Calibri" pitchFamily="34" charset="-122"/>
                <a:cs typeface="Calibri" pitchFamily="34" charset="-120"/>
              </a:rPr>
              <a:t>Dokumentversion 28.09.2026</a:t>
            </a:r>
          </a:p>
          <a:p>
            <a:r>
              <a:rPr lang="en-US" sz="1300" i="1">
                <a:solidFill>
                  <a:srgbClr val="9AA3C0"/>
                </a:solidFill>
                <a:latin typeface="Calibri" pitchFamily="34" charset="0"/>
                <a:ea typeface="Calibri" pitchFamily="34" charset="-122"/>
                <a:cs typeface="Calibri" pitchFamily="34" charset="-120"/>
              </a:rPr>
              <a:t>Projekt von </a:t>
            </a:r>
            <a:r>
              <a:rPr lang="en-US" sz="1300" i="1">
                <a:solidFill>
                  <a:schemeClr val="bg1"/>
                </a:solidFill>
                <a:latin typeface="Calibri" pitchFamily="34" charset="0"/>
                <a:ea typeface="Calibri" pitchFamily="34" charset="-122"/>
                <a:cs typeface="Calibri" pitchFamily="34" charset="-120"/>
              </a:rPr>
              <a:t>https:// </a:t>
            </a:r>
            <a:r>
              <a:rPr lang="en-US" sz="1300" i="1" smtClean="0">
                <a:solidFill>
                  <a:schemeClr val="bg1"/>
                </a:solidFill>
                <a:latin typeface="Calibri" pitchFamily="34" charset="0"/>
                <a:ea typeface="Calibri" pitchFamily="34" charset="-122"/>
                <a:cs typeface="Calibri" pitchFamily="34" charset="-120"/>
              </a:rPr>
              <a:t>webwork.pro</a:t>
            </a:r>
            <a:endParaRPr lang="en-US" sz="1300" i="1" smtClean="0">
              <a:solidFill>
                <a:srgbClr val="9AA3C0"/>
              </a:solidFill>
              <a:latin typeface="Calibri" pitchFamily="34" charset="0"/>
              <a:ea typeface="Calibri" pitchFamily="34" charset="-122"/>
              <a:cs typeface="Calibri" pitchFamily="34" charset="-120"/>
            </a:endParaRPr>
          </a:p>
          <a:p>
            <a:r>
              <a:rPr lang="en-US" sz="1300" i="1">
                <a:solidFill>
                  <a:srgbClr val="9AA3C0"/>
                </a:solidFill>
                <a:latin typeface="Calibri" pitchFamily="34" charset="0"/>
                <a:ea typeface="Calibri" pitchFamily="34" charset="-122"/>
                <a:cs typeface="Calibri" pitchFamily="34" charset="-120"/>
              </a:rPr>
              <a:t>Dateien </a:t>
            </a:r>
            <a:r>
              <a:rPr lang="en-US" sz="1300" i="1">
                <a:solidFill>
                  <a:schemeClr val="bg1"/>
                </a:solidFill>
                <a:latin typeface="Calibri" pitchFamily="34" charset="0"/>
                <a:ea typeface="Calibri" pitchFamily="34" charset="-122"/>
                <a:cs typeface="Calibri" pitchFamily="34" charset="-120"/>
              </a:rPr>
              <a:t>https://</a:t>
            </a:r>
            <a:r>
              <a:rPr lang="en-US" sz="1300" i="1" smtClean="0">
                <a:solidFill>
                  <a:schemeClr val="bg1"/>
                </a:solidFill>
                <a:latin typeface="Calibri" pitchFamily="34" charset="0"/>
                <a:ea typeface="Calibri" pitchFamily="34" charset="-122"/>
                <a:cs typeface="Calibri" pitchFamily="34" charset="-120"/>
              </a:rPr>
              <a:t>github.com/Ralfhgw/igpu-performance-tuning.git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315200" cy="365760"/>
          </a:xfrm>
          <a:prstGeom prst="rect">
            <a:avLst/>
          </a:prstGeom>
          <a:noFill/>
          <a:ln/>
        </p:spPr>
        <p:txBody>
          <a:bodyPr wrap="square" lIns="0" tIns="0" rIns="0" bIns="0" rtlCol="0" anchor="ctr"/>
          <a:lstStyle/>
          <a:p>
            <a:pPr marL="0" indent="0">
              <a:buNone/>
            </a:pPr>
            <a:r>
              <a:rPr lang="en-US" sz="1500" b="1" kern="0" spc="300" dirty="0">
                <a:solidFill>
                  <a:srgbClr val="00D9C0"/>
                </a:solidFill>
                <a:latin typeface="Calibri" pitchFamily="34" charset="0"/>
                <a:ea typeface="Calibri" pitchFamily="34" charset="-122"/>
                <a:cs typeface="Calibri" pitchFamily="34" charset="-120"/>
              </a:rPr>
              <a:t>BLOCK 1 VON 4</a:t>
            </a:r>
            <a:endParaRPr lang="en-US" sz="1500" dirty="0"/>
          </a:p>
        </p:txBody>
      </p:sp>
      <p:sp>
        <p:nvSpPr>
          <p:cNvPr id="3" name="Text 1"/>
          <p:cNvSpPr txBox="1"/>
          <p:nvPr/>
        </p:nvSpPr>
        <p:spPr>
          <a:xfrm>
            <a:off x="594360" y="1701165"/>
            <a:ext cx="4682490" cy="100584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Grundlagen</a:t>
            </a:r>
            <a:endParaRPr lang="en-US" sz="4000" dirty="0"/>
          </a:p>
        </p:txBody>
      </p:sp>
      <p:sp>
        <p:nvSpPr>
          <p:cNvPr id="4" name="Shape 2"/>
          <p:cNvSpPr/>
          <p:nvPr/>
        </p:nvSpPr>
        <p:spPr>
          <a:xfrm>
            <a:off x="640080" y="2880360"/>
            <a:ext cx="2377440" cy="0"/>
          </a:xfrm>
          <a:prstGeom prst="line">
            <a:avLst/>
          </a:prstGeom>
          <a:noFill/>
          <a:ln w="25400">
            <a:solidFill>
              <a:srgbClr val="00D9C0"/>
            </a:solidFill>
            <a:prstDash val="solid"/>
          </a:ln>
        </p:spPr>
      </p:sp>
      <p:sp>
        <p:nvSpPr>
          <p:cNvPr id="5" name="Shape 3"/>
          <p:cNvSpPr/>
          <p:nvPr/>
        </p:nvSpPr>
        <p:spPr>
          <a:xfrm>
            <a:off x="640080" y="3246120"/>
            <a:ext cx="420624" cy="420624"/>
          </a:xfrm>
          <a:prstGeom prst="ellipse">
            <a:avLst/>
          </a:prstGeom>
          <a:solidFill>
            <a:srgbClr val="17213D"/>
          </a:solidFill>
          <a:ln/>
        </p:spPr>
      </p:sp>
      <p:sp>
        <p:nvSpPr>
          <p:cNvPr id="6" name="Text 4"/>
          <p:cNvSpPr txBox="1"/>
          <p:nvPr/>
        </p:nvSpPr>
        <p:spPr>
          <a:xfrm>
            <a:off x="640080" y="3246120"/>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234440" y="3216402"/>
            <a:ext cx="7772400" cy="457200"/>
          </a:xfrm>
          <a:prstGeom prst="rect">
            <a:avLst/>
          </a:prstGeom>
          <a:noFill/>
          <a:ln/>
        </p:spPr>
        <p:txBody>
          <a:bodyPr wrap="square" lIns="0" tIns="0" rIns="0" bIns="0" rtlCol="0" anchor="ctr"/>
          <a:lstStyle/>
          <a:p>
            <a:pPr marL="0" indent="0">
              <a:buNone/>
            </a:pPr>
            <a:r>
              <a:rPr lang="en-US" sz="1500" dirty="0">
                <a:solidFill>
                  <a:srgbClr val="E4E8F5"/>
                </a:solidFill>
                <a:latin typeface="Calibri" pitchFamily="34" charset="0"/>
                <a:ea typeface="Calibri" pitchFamily="34" charset="-122"/>
                <a:cs typeface="Calibri" pitchFamily="34" charset="-120"/>
              </a:rPr>
              <a:t>Einführung: Lokale KI auf dem Mini-PC</a:t>
            </a:r>
            <a:endParaRPr lang="en-US" sz="1500" dirty="0"/>
          </a:p>
        </p:txBody>
      </p:sp>
      <p:sp>
        <p:nvSpPr>
          <p:cNvPr id="8" name="Shape 6"/>
          <p:cNvSpPr/>
          <p:nvPr/>
        </p:nvSpPr>
        <p:spPr>
          <a:xfrm>
            <a:off x="630555" y="3708273"/>
            <a:ext cx="420624" cy="420624"/>
          </a:xfrm>
          <a:prstGeom prst="ellipse">
            <a:avLst/>
          </a:prstGeom>
          <a:solidFill>
            <a:srgbClr val="17213D"/>
          </a:solidFill>
          <a:ln/>
        </p:spPr>
      </p:sp>
      <p:sp>
        <p:nvSpPr>
          <p:cNvPr id="9" name="Text 7"/>
          <p:cNvSpPr txBox="1"/>
          <p:nvPr/>
        </p:nvSpPr>
        <p:spPr>
          <a:xfrm>
            <a:off x="640080" y="3694557"/>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234440" y="3667506"/>
            <a:ext cx="7772400" cy="457200"/>
          </a:xfrm>
          <a:prstGeom prst="rect">
            <a:avLst/>
          </a:prstGeom>
          <a:noFill/>
          <a:ln/>
        </p:spPr>
        <p:txBody>
          <a:bodyPr wrap="square" lIns="0" tIns="0" rIns="0" bIns="0" rtlCol="0" anchor="ctr"/>
          <a:lstStyle/>
          <a:p>
            <a:pPr marL="0" indent="0">
              <a:buNone/>
            </a:pPr>
            <a:r>
              <a:rPr lang="en-US" sz="1500" dirty="0">
                <a:solidFill>
                  <a:srgbClr val="E4E8F5"/>
                </a:solidFill>
                <a:latin typeface="Calibri" pitchFamily="34" charset="0"/>
                <a:ea typeface="Calibri" pitchFamily="34" charset="-122"/>
                <a:cs typeface="Calibri" pitchFamily="34" charset="-120"/>
              </a:rPr>
              <a:t>Wie viel Speicher benötigt ein KI-Modell?</a:t>
            </a:r>
            <a:endParaRPr lang="en-US" sz="1500" dirty="0"/>
          </a:p>
        </p:txBody>
      </p:sp>
      <p:sp>
        <p:nvSpPr>
          <p:cNvPr id="11" name="Shape 9"/>
          <p:cNvSpPr/>
          <p:nvPr/>
        </p:nvSpPr>
        <p:spPr>
          <a:xfrm>
            <a:off x="630555" y="4141851"/>
            <a:ext cx="420624" cy="420624"/>
          </a:xfrm>
          <a:prstGeom prst="ellipse">
            <a:avLst/>
          </a:prstGeom>
          <a:solidFill>
            <a:srgbClr val="17213D"/>
          </a:solidFill>
          <a:ln/>
        </p:spPr>
      </p:sp>
      <p:sp>
        <p:nvSpPr>
          <p:cNvPr id="12" name="Text 10"/>
          <p:cNvSpPr txBox="1"/>
          <p:nvPr/>
        </p:nvSpPr>
        <p:spPr>
          <a:xfrm>
            <a:off x="633984" y="4150614"/>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215390" y="4123182"/>
            <a:ext cx="7772400" cy="457200"/>
          </a:xfrm>
          <a:prstGeom prst="rect">
            <a:avLst/>
          </a:prstGeom>
          <a:noFill/>
          <a:ln/>
        </p:spPr>
        <p:txBody>
          <a:bodyPr wrap="square" lIns="0" tIns="0" rIns="0" bIns="0" rtlCol="0" anchor="ctr"/>
          <a:lstStyle/>
          <a:p>
            <a:pPr marL="0" indent="0">
              <a:buNone/>
            </a:pPr>
            <a:r>
              <a:rPr lang="en-US" sz="1500" dirty="0">
                <a:solidFill>
                  <a:srgbClr val="E4E8F5"/>
                </a:solidFill>
                <a:latin typeface="Calibri" pitchFamily="34" charset="0"/>
                <a:ea typeface="Calibri" pitchFamily="34" charset="-122"/>
                <a:cs typeface="Calibri" pitchFamily="34" charset="-120"/>
              </a:rPr>
              <a:t>Modelle im Speicher halten: Sleep Time / Keep Alive</a:t>
            </a:r>
            <a:endParaRPr lang="en-US" sz="1500" dirty="0"/>
          </a:p>
        </p:txBody>
      </p:sp>
      <p:sp>
        <p:nvSpPr>
          <p:cNvPr id="14" name="Shape 12"/>
          <p:cNvSpPr/>
          <p:nvPr/>
        </p:nvSpPr>
        <p:spPr>
          <a:xfrm>
            <a:off x="640080" y="5042154"/>
            <a:ext cx="420624" cy="420624"/>
          </a:xfrm>
          <a:prstGeom prst="ellipse">
            <a:avLst/>
          </a:prstGeom>
          <a:solidFill>
            <a:srgbClr val="17213D"/>
          </a:solidFill>
          <a:ln/>
        </p:spPr>
      </p:sp>
      <p:sp>
        <p:nvSpPr>
          <p:cNvPr id="16" name="Text 14"/>
          <p:cNvSpPr txBox="1"/>
          <p:nvPr/>
        </p:nvSpPr>
        <p:spPr>
          <a:xfrm>
            <a:off x="1224915" y="4561713"/>
            <a:ext cx="7772400" cy="457200"/>
          </a:xfrm>
          <a:prstGeom prst="rect">
            <a:avLst/>
          </a:prstGeom>
          <a:noFill/>
          <a:ln/>
        </p:spPr>
        <p:txBody>
          <a:bodyPr wrap="square" lIns="0" tIns="0" rIns="0" bIns="0" rtlCol="0" anchor="ctr"/>
          <a:lstStyle/>
          <a:p>
            <a:pPr marL="0" indent="0">
              <a:buNone/>
            </a:pPr>
            <a:r>
              <a:rPr lang="en-US" sz="1500" dirty="0">
                <a:solidFill>
                  <a:srgbClr val="E4E8F5"/>
                </a:solidFill>
                <a:latin typeface="Calibri" pitchFamily="34" charset="0"/>
                <a:ea typeface="Calibri" pitchFamily="34" charset="-122"/>
                <a:cs typeface="Calibri" pitchFamily="34" charset="-120"/>
              </a:rPr>
              <a:t>Token statt Wörter: Wie KI Text verarbeitet</a:t>
            </a:r>
            <a:endParaRPr lang="en-US" sz="1500" dirty="0"/>
          </a:p>
        </p:txBody>
      </p:sp>
      <p:sp>
        <p:nvSpPr>
          <p:cNvPr id="28" name="Text 26"/>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9AA3C0"/>
                </a:solidFill>
                <a:latin typeface="Calibri" pitchFamily="34" charset="0"/>
                <a:ea typeface="Calibri" pitchFamily="34" charset="-122"/>
                <a:cs typeface="Calibri" pitchFamily="34" charset="-120"/>
              </a:rPr>
              <a:t>OLLAMA PERFORMANCE TUNING · iGPU</a:t>
            </a:r>
            <a:endParaRPr lang="en-US" sz="900" dirty="0"/>
          </a:p>
        </p:txBody>
      </p:sp>
      <p:sp>
        <p:nvSpPr>
          <p:cNvPr id="30" name="Shape 12"/>
          <p:cNvSpPr/>
          <p:nvPr/>
        </p:nvSpPr>
        <p:spPr>
          <a:xfrm>
            <a:off x="643509" y="5482971"/>
            <a:ext cx="420624" cy="420624"/>
          </a:xfrm>
          <a:prstGeom prst="ellipse">
            <a:avLst/>
          </a:prstGeom>
          <a:solidFill>
            <a:srgbClr val="17213D"/>
          </a:solidFill>
          <a:ln/>
        </p:spPr>
      </p:sp>
      <p:sp>
        <p:nvSpPr>
          <p:cNvPr id="31" name="Text 13"/>
          <p:cNvSpPr txBox="1"/>
          <p:nvPr/>
        </p:nvSpPr>
        <p:spPr>
          <a:xfrm>
            <a:off x="643509" y="5037582"/>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cs typeface="Arial" pitchFamily="34" charset="-120"/>
              </a:rPr>
              <a:t>5</a:t>
            </a:r>
            <a:endParaRPr lang="en-US" sz="1300" dirty="0"/>
          </a:p>
        </p:txBody>
      </p:sp>
      <p:sp>
        <p:nvSpPr>
          <p:cNvPr id="32" name="Text 14"/>
          <p:cNvSpPr txBox="1"/>
          <p:nvPr/>
        </p:nvSpPr>
        <p:spPr>
          <a:xfrm>
            <a:off x="1215390" y="5004435"/>
            <a:ext cx="7772400" cy="457200"/>
          </a:xfrm>
          <a:prstGeom prst="rect">
            <a:avLst/>
          </a:prstGeom>
          <a:noFill/>
          <a:ln/>
        </p:spPr>
        <p:txBody>
          <a:bodyPr wrap="square" lIns="0" tIns="0" rIns="0" bIns="0" rtlCol="0" anchor="ctr"/>
          <a:lstStyle/>
          <a:p>
            <a:r>
              <a:rPr lang="en-US" sz="1600">
                <a:solidFill>
                  <a:schemeClr val="bg1">
                    <a:lumMod val="95000"/>
                  </a:schemeClr>
                </a:solidFill>
                <a:ea typeface="Arial" pitchFamily="34" charset="-122"/>
                <a:cs typeface="Arial" pitchFamily="34" charset="-120"/>
              </a:rPr>
              <a:t>Verfügbare Modelle: Ein Überblick über ollama.com/library</a:t>
            </a:r>
            <a:endParaRPr lang="en-US" sz="1600" dirty="0">
              <a:solidFill>
                <a:schemeClr val="bg1">
                  <a:lumMod val="95000"/>
                </a:schemeClr>
              </a:solidFill>
              <a:ea typeface="Arial" pitchFamily="34" charset="-122"/>
              <a:cs typeface="Arial" pitchFamily="34" charset="-120"/>
            </a:endParaRPr>
          </a:p>
        </p:txBody>
      </p:sp>
      <p:sp>
        <p:nvSpPr>
          <p:cNvPr id="33" name="Text 13"/>
          <p:cNvSpPr txBox="1"/>
          <p:nvPr/>
        </p:nvSpPr>
        <p:spPr>
          <a:xfrm>
            <a:off x="643509" y="5482590"/>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cs typeface="Arial" pitchFamily="34" charset="-120"/>
              </a:rPr>
              <a:t>6</a:t>
            </a:r>
            <a:endParaRPr lang="en-US" sz="1300" dirty="0"/>
          </a:p>
        </p:txBody>
      </p:sp>
      <p:sp>
        <p:nvSpPr>
          <p:cNvPr id="34" name="Text 14"/>
          <p:cNvSpPr txBox="1"/>
          <p:nvPr/>
        </p:nvSpPr>
        <p:spPr>
          <a:xfrm>
            <a:off x="1224915" y="5447538"/>
            <a:ext cx="4890135" cy="457200"/>
          </a:xfrm>
          <a:prstGeom prst="rect">
            <a:avLst/>
          </a:prstGeom>
          <a:noFill/>
          <a:ln/>
        </p:spPr>
        <p:txBody>
          <a:bodyPr wrap="square" lIns="0" tIns="0" rIns="0" bIns="0" rtlCol="0" anchor="ctr"/>
          <a:lstStyle/>
          <a:p>
            <a:r>
              <a:rPr lang="en-US" sz="1500">
                <a:solidFill>
                  <a:schemeClr val="bg1">
                    <a:lumMod val="95000"/>
                  </a:schemeClr>
                </a:solidFill>
                <a:ea typeface="Arial" pitchFamily="34" charset="-122"/>
                <a:cs typeface="Arial" pitchFamily="34" charset="-120"/>
              </a:rPr>
              <a:t>Ollama REST-API: Die wichtigsten Endpunkte</a:t>
            </a:r>
            <a:endParaRPr lang="en-US" sz="1500" dirty="0">
              <a:solidFill>
                <a:schemeClr val="bg1">
                  <a:lumMod val="95000"/>
                </a:schemeClr>
              </a:solidFill>
              <a:ea typeface="Arial" pitchFamily="34" charset="-122"/>
              <a:cs typeface="Arial" pitchFamily="34" charset="-12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0159" y="3151135"/>
            <a:ext cx="2809875" cy="23314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7" name="Text 0"/>
          <p:cNvSpPr txBox="1"/>
          <p:nvPr/>
        </p:nvSpPr>
        <p:spPr>
          <a:xfrm>
            <a:off x="9060650" y="5472303"/>
            <a:ext cx="2528892" cy="535685"/>
          </a:xfrm>
          <a:prstGeom prst="rect">
            <a:avLst/>
          </a:prstGeom>
          <a:noFill/>
          <a:ln/>
        </p:spPr>
        <p:txBody>
          <a:bodyPr wrap="square" lIns="0" tIns="0" rIns="0" bIns="0" rtlCol="0" anchor="ctr"/>
          <a:lstStyle/>
          <a:p>
            <a:r>
              <a:rPr lang="de-DE" sz="1200" smtClean="0">
                <a:solidFill>
                  <a:schemeClr val="bg1"/>
                </a:solidFill>
              </a:rPr>
              <a:t>NiPoGi </a:t>
            </a:r>
            <a:r>
              <a:rPr lang="de-DE" sz="1200">
                <a:solidFill>
                  <a:schemeClr val="bg1"/>
                </a:solidFill>
              </a:rPr>
              <a:t>AM06 PRO Mini PC mit Ryzen </a:t>
            </a:r>
            <a:r>
              <a:rPr lang="de-DE" sz="1200" smtClean="0">
                <a:solidFill>
                  <a:schemeClr val="bg1"/>
                </a:solidFill>
              </a:rPr>
              <a:t>7</a:t>
            </a:r>
            <a:endParaRPr lang="de-DE" sz="1200">
              <a:solidFill>
                <a:schemeClr val="bg1"/>
              </a:solidFill>
            </a:endParaRPr>
          </a:p>
          <a:p>
            <a:r>
              <a:rPr lang="de-DE" sz="1200" smtClean="0">
                <a:solidFill>
                  <a:schemeClr val="bg1"/>
                </a:solidFill>
              </a:rPr>
              <a:t>32 GB RAM und 512 GB SSD Festplatte</a:t>
            </a:r>
          </a:p>
        </p:txBody>
      </p:sp>
      <p:sp>
        <p:nvSpPr>
          <p:cNvPr id="26" name="Shape 12"/>
          <p:cNvSpPr/>
          <p:nvPr/>
        </p:nvSpPr>
        <p:spPr>
          <a:xfrm>
            <a:off x="624459" y="4587621"/>
            <a:ext cx="420624" cy="420624"/>
          </a:xfrm>
          <a:prstGeom prst="ellipse">
            <a:avLst/>
          </a:prstGeom>
          <a:solidFill>
            <a:srgbClr val="17213D"/>
          </a:solidFill>
          <a:ln/>
        </p:spPr>
      </p:sp>
      <p:sp>
        <p:nvSpPr>
          <p:cNvPr id="15" name="Text 13"/>
          <p:cNvSpPr txBox="1"/>
          <p:nvPr/>
        </p:nvSpPr>
        <p:spPr>
          <a:xfrm>
            <a:off x="640080" y="4590288"/>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ea typeface="Arial" pitchFamily="34" charset="-122"/>
                <a:cs typeface="Arial" pitchFamily="34" charset="-120"/>
              </a:rPr>
              <a:t>4</a:t>
            </a:r>
            <a:endParaRPr lang="en-US" sz="1300" dirty="0"/>
          </a:p>
        </p:txBody>
      </p:sp>
      <p:sp>
        <p:nvSpPr>
          <p:cNvPr id="27" name="Shape 12"/>
          <p:cNvSpPr/>
          <p:nvPr/>
        </p:nvSpPr>
        <p:spPr>
          <a:xfrm>
            <a:off x="643509" y="5930646"/>
            <a:ext cx="420624" cy="420624"/>
          </a:xfrm>
          <a:prstGeom prst="ellipse">
            <a:avLst/>
          </a:prstGeom>
          <a:solidFill>
            <a:srgbClr val="17213D"/>
          </a:solidFill>
          <a:ln/>
        </p:spPr>
      </p:sp>
      <p:sp>
        <p:nvSpPr>
          <p:cNvPr id="29" name="Text 13"/>
          <p:cNvSpPr txBox="1"/>
          <p:nvPr/>
        </p:nvSpPr>
        <p:spPr>
          <a:xfrm>
            <a:off x="643509" y="5930265"/>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cs typeface="Arial" pitchFamily="34" charset="-120"/>
              </a:rPr>
              <a:t>7</a:t>
            </a:r>
            <a:endParaRPr lang="en-US" sz="1300" dirty="0"/>
          </a:p>
        </p:txBody>
      </p:sp>
      <p:sp>
        <p:nvSpPr>
          <p:cNvPr id="35" name="Text 14"/>
          <p:cNvSpPr txBox="1"/>
          <p:nvPr/>
        </p:nvSpPr>
        <p:spPr>
          <a:xfrm>
            <a:off x="1224915" y="5895213"/>
            <a:ext cx="4890135" cy="457200"/>
          </a:xfrm>
          <a:prstGeom prst="rect">
            <a:avLst/>
          </a:prstGeom>
          <a:noFill/>
          <a:ln/>
        </p:spPr>
        <p:txBody>
          <a:bodyPr wrap="square" lIns="0" tIns="0" rIns="0" bIns="0" rtlCol="0" anchor="ctr"/>
          <a:lstStyle/>
          <a:p>
            <a:r>
              <a:rPr lang="en-US" sz="1500" smtClean="0">
                <a:solidFill>
                  <a:schemeClr val="bg1">
                    <a:lumMod val="95000"/>
                  </a:schemeClr>
                </a:solidFill>
                <a:ea typeface="Arial" pitchFamily="34" charset="-122"/>
                <a:cs typeface="Arial" pitchFamily="34" charset="-120"/>
              </a:rPr>
              <a:t>Tool Calling: KI ruft eigene Werkzeuge auf</a:t>
            </a:r>
            <a:endParaRPr lang="en-US" sz="1500" dirty="0">
              <a:solidFill>
                <a:schemeClr val="bg1">
                  <a:lumMod val="95000"/>
                </a:schemeClr>
              </a:solidFill>
              <a:ea typeface="Arial" pitchFamily="34" charset="-122"/>
              <a:cs typeface="Arial"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FF6B4A"/>
                </a:solidFill>
                <a:latin typeface="Calibri" pitchFamily="34" charset="0"/>
                <a:ea typeface="Calibri" pitchFamily="34" charset="-122"/>
                <a:cs typeface="Calibri" pitchFamily="34" charset="-120"/>
              </a:rPr>
              <a:t>BLOCK </a:t>
            </a:r>
            <a:r>
              <a:rPr lang="en-US" sz="1300" b="1" kern="0" spc="200" dirty="0">
                <a:solidFill>
                  <a:srgbClr val="FF6B4A"/>
                </a:solidFill>
                <a:latin typeface="Calibri" pitchFamily="34" charset="0"/>
                <a:ea typeface="Calibri" pitchFamily="34" charset="-122"/>
                <a:cs typeface="Calibri" pitchFamily="34" charset="-120"/>
              </a:rPr>
              <a:t>1 GRUNDLAGEN</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Lokale KI auf dem Mini-PC</a:t>
            </a:r>
            <a:endParaRPr lang="en-US" sz="3000" dirty="0"/>
          </a:p>
        </p:txBody>
      </p:sp>
      <p:sp>
        <p:nvSpPr>
          <p:cNvPr id="6" name="Text 4"/>
          <p:cNvSpPr txBox="1"/>
          <p:nvPr/>
        </p:nvSpPr>
        <p:spPr>
          <a:xfrm>
            <a:off x="728628" y="1755648"/>
            <a:ext cx="5029200" cy="411480"/>
          </a:xfrm>
          <a:prstGeom prst="rect">
            <a:avLst/>
          </a:prstGeom>
          <a:noFill/>
          <a:ln/>
        </p:spPr>
        <p:txBody>
          <a:bodyPr wrap="square" lIns="0" tIns="0" rIns="0" bIns="0" rtlCol="0" anchor="ctr"/>
          <a:lstStyle/>
          <a:p>
            <a:pPr marL="0" indent="0">
              <a:buNone/>
            </a:pPr>
            <a:r>
              <a:rPr lang="en-US" sz="1600" b="1" dirty="0">
                <a:solidFill>
                  <a:srgbClr val="12172B"/>
                </a:solidFill>
                <a:latin typeface="Arial" pitchFamily="34" charset="0"/>
                <a:ea typeface="Arial" pitchFamily="34" charset="-122"/>
                <a:cs typeface="Arial" pitchFamily="34" charset="-120"/>
              </a:rPr>
              <a:t>Was soll untersucht werden?</a:t>
            </a:r>
            <a:endParaRPr lang="en-US" sz="1600" dirty="0"/>
          </a:p>
        </p:txBody>
      </p:sp>
      <p:sp>
        <p:nvSpPr>
          <p:cNvPr id="7" name="Text 5"/>
          <p:cNvSpPr txBox="1"/>
          <p:nvPr/>
        </p:nvSpPr>
        <p:spPr>
          <a:xfrm>
            <a:off x="728628" y="2051016"/>
            <a:ext cx="5120640" cy="518015"/>
          </a:xfrm>
          <a:prstGeom prst="rect">
            <a:avLst/>
          </a:prstGeom>
          <a:noFill/>
          <a:ln/>
        </p:spPr>
        <p:txBody>
          <a:bodyPr wrap="square" lIns="0" tIns="0" rIns="0" bIns="0" rtlCol="0" anchor="ctr"/>
          <a:lstStyle/>
          <a:p>
            <a:pPr marL="0" indent="0">
              <a:buNone/>
            </a:pPr>
            <a:r>
              <a:rPr lang="en-US" sz="1250" smtClean="0">
                <a:solidFill>
                  <a:srgbClr val="5B6478"/>
                </a:solidFill>
                <a:latin typeface="Calibri" pitchFamily="34" charset="0"/>
                <a:ea typeface="Calibri" pitchFamily="34" charset="-122"/>
                <a:cs typeface="Calibri" pitchFamily="34" charset="-120"/>
              </a:rPr>
              <a:t>Wie </a:t>
            </a:r>
            <a:r>
              <a:rPr lang="en-US" sz="1250" dirty="0">
                <a:solidFill>
                  <a:srgbClr val="5B6478"/>
                </a:solidFill>
                <a:latin typeface="Calibri" pitchFamily="34" charset="0"/>
                <a:ea typeface="Calibri" pitchFamily="34" charset="-122"/>
                <a:cs typeface="Calibri" pitchFamily="34" charset="-120"/>
              </a:rPr>
              <a:t>effizient lassen sich Sprachmodelle auf einem kleinen Rechner mit Docker betreiben?</a:t>
            </a:r>
            <a:endParaRPr lang="en-US" sz="1250" dirty="0"/>
          </a:p>
        </p:txBody>
      </p:sp>
      <p:sp>
        <p:nvSpPr>
          <p:cNvPr id="16" name="Shape 14"/>
          <p:cNvSpPr/>
          <p:nvPr/>
        </p:nvSpPr>
        <p:spPr>
          <a:xfrm>
            <a:off x="6619875" y="704088"/>
            <a:ext cx="5230749" cy="5879592"/>
          </a:xfrm>
          <a:prstGeom prst="roundRect">
            <a:avLst>
              <a:gd name="adj" fmla="val 2273"/>
            </a:avLst>
          </a:prstGeom>
          <a:solidFill>
            <a:srgbClr val="0D1321"/>
          </a:solidFill>
          <a:ln/>
        </p:spPr>
      </p:sp>
      <p:sp>
        <p:nvSpPr>
          <p:cNvPr id="17" name="Text 15"/>
          <p:cNvSpPr txBox="1"/>
          <p:nvPr/>
        </p:nvSpPr>
        <p:spPr>
          <a:xfrm>
            <a:off x="7342632" y="841248"/>
            <a:ext cx="1428751" cy="365760"/>
          </a:xfrm>
          <a:prstGeom prst="rect">
            <a:avLst/>
          </a:prstGeom>
          <a:noFill/>
          <a:ln/>
        </p:spPr>
        <p:txBody>
          <a:bodyPr wrap="square" lIns="0" tIns="0" rIns="0" bIns="0" rtlCol="0" anchor="ctr"/>
          <a:lstStyle/>
          <a:p>
            <a:pPr marL="0" indent="0">
              <a:buNone/>
            </a:pPr>
            <a:r>
              <a:rPr lang="en-US" sz="1400" b="1" dirty="0">
                <a:solidFill>
                  <a:srgbClr val="00D9C0"/>
                </a:solidFill>
                <a:latin typeface="Arial" pitchFamily="34" charset="0"/>
                <a:ea typeface="Arial" pitchFamily="34" charset="-122"/>
                <a:cs typeface="Arial" pitchFamily="34" charset="-120"/>
              </a:rPr>
              <a:t>Der Testaufbau</a:t>
            </a:r>
            <a:endParaRPr lang="en-US" sz="1400" dirty="0"/>
          </a:p>
        </p:txBody>
      </p:sp>
      <p:sp>
        <p:nvSpPr>
          <p:cNvPr id="18" name="Shape 16"/>
          <p:cNvSpPr/>
          <p:nvPr/>
        </p:nvSpPr>
        <p:spPr>
          <a:xfrm>
            <a:off x="6953250" y="1344168"/>
            <a:ext cx="4549902" cy="621792"/>
          </a:xfrm>
          <a:prstGeom prst="roundRect">
            <a:avLst>
              <a:gd name="adj" fmla="val 10294"/>
            </a:avLst>
          </a:prstGeom>
          <a:solidFill>
            <a:srgbClr val="17213D"/>
          </a:solidFill>
          <a:ln w="9525">
            <a:solidFill>
              <a:srgbClr val="00D9C0"/>
            </a:solidFill>
            <a:prstDash val="solid"/>
          </a:ln>
        </p:spPr>
      </p:sp>
      <p:sp>
        <p:nvSpPr>
          <p:cNvPr id="19" name="Text 17"/>
          <p:cNvSpPr txBox="1"/>
          <p:nvPr/>
        </p:nvSpPr>
        <p:spPr>
          <a:xfrm>
            <a:off x="6953250" y="1344168"/>
            <a:ext cx="4549902" cy="621792"/>
          </a:xfrm>
          <a:prstGeom prst="rect">
            <a:avLst/>
          </a:prstGeom>
          <a:noFill/>
          <a:ln/>
        </p:spPr>
        <p:txBody>
          <a:bodyPr wrap="square" lIns="0" tIns="0" rIns="0" bIns="0" rtlCol="0" anchor="ctr"/>
          <a:lstStyle/>
          <a:p>
            <a:pPr marL="0" indent="0" algn="ctr">
              <a:buNone/>
            </a:pPr>
            <a:r>
              <a:rPr lang="en-US" sz="1200" dirty="0">
                <a:solidFill>
                  <a:srgbClr val="FFFFFF"/>
                </a:solidFill>
                <a:latin typeface="Courier New" pitchFamily="34" charset="0"/>
                <a:ea typeface="Courier New" pitchFamily="34" charset="-122"/>
                <a:cs typeface="Courier New" pitchFamily="34" charset="-120"/>
              </a:rPr>
              <a:t>Mini-PC (AMD Ryzen 7)</a:t>
            </a:r>
            <a:endParaRPr lang="en-US" sz="1200" dirty="0"/>
          </a:p>
        </p:txBody>
      </p:sp>
      <p:sp>
        <p:nvSpPr>
          <p:cNvPr id="20" name="Shape 18"/>
          <p:cNvSpPr/>
          <p:nvPr/>
        </p:nvSpPr>
        <p:spPr>
          <a:xfrm>
            <a:off x="9170670" y="1965960"/>
            <a:ext cx="0" cy="271272"/>
          </a:xfrm>
          <a:prstGeom prst="line">
            <a:avLst/>
          </a:prstGeom>
          <a:noFill/>
          <a:ln w="19050">
            <a:solidFill>
              <a:srgbClr val="00D9C0"/>
            </a:solidFill>
            <a:prstDash val="solid"/>
            <a:tailEnd type="triangle"/>
          </a:ln>
        </p:spPr>
      </p:sp>
      <p:sp>
        <p:nvSpPr>
          <p:cNvPr id="21" name="Shape 19"/>
          <p:cNvSpPr/>
          <p:nvPr/>
        </p:nvSpPr>
        <p:spPr>
          <a:xfrm>
            <a:off x="6953250" y="2237232"/>
            <a:ext cx="4549902" cy="621792"/>
          </a:xfrm>
          <a:prstGeom prst="roundRect">
            <a:avLst>
              <a:gd name="adj" fmla="val 10294"/>
            </a:avLst>
          </a:prstGeom>
          <a:solidFill>
            <a:srgbClr val="17213D"/>
          </a:solidFill>
          <a:ln w="9525">
            <a:solidFill>
              <a:srgbClr val="00D9C0"/>
            </a:solidFill>
            <a:prstDash val="solid"/>
          </a:ln>
        </p:spPr>
      </p:sp>
      <p:sp>
        <p:nvSpPr>
          <p:cNvPr id="22" name="Text 20"/>
          <p:cNvSpPr txBox="1"/>
          <p:nvPr/>
        </p:nvSpPr>
        <p:spPr>
          <a:xfrm>
            <a:off x="6953250" y="2237232"/>
            <a:ext cx="4549901" cy="621792"/>
          </a:xfrm>
          <a:prstGeom prst="rect">
            <a:avLst/>
          </a:prstGeom>
          <a:noFill/>
          <a:ln/>
        </p:spPr>
        <p:txBody>
          <a:bodyPr wrap="square" lIns="0" tIns="0" rIns="0" bIns="0" rtlCol="0" anchor="ctr"/>
          <a:lstStyle/>
          <a:p>
            <a:pPr marL="0" indent="0" algn="ctr">
              <a:buNone/>
            </a:pPr>
            <a:r>
              <a:rPr lang="en-US" sz="1200" dirty="0">
                <a:solidFill>
                  <a:srgbClr val="FFFFFF"/>
                </a:solidFill>
                <a:latin typeface="Courier New" pitchFamily="34" charset="0"/>
                <a:ea typeface="Courier New" pitchFamily="34" charset="-122"/>
                <a:cs typeface="Courier New" pitchFamily="34" charset="-120"/>
              </a:rPr>
              <a:t>Docker Compose</a:t>
            </a:r>
            <a:endParaRPr lang="en-US" sz="1200" dirty="0"/>
          </a:p>
        </p:txBody>
      </p:sp>
      <p:sp>
        <p:nvSpPr>
          <p:cNvPr id="23" name="Shape 21"/>
          <p:cNvSpPr/>
          <p:nvPr/>
        </p:nvSpPr>
        <p:spPr>
          <a:xfrm>
            <a:off x="9418320" y="2865120"/>
            <a:ext cx="0" cy="375666"/>
          </a:xfrm>
          <a:prstGeom prst="line">
            <a:avLst/>
          </a:prstGeom>
          <a:noFill/>
          <a:ln w="19050">
            <a:solidFill>
              <a:srgbClr val="00D9C0"/>
            </a:solidFill>
            <a:prstDash val="solid"/>
            <a:tailEnd type="triangle"/>
          </a:ln>
        </p:spPr>
      </p:sp>
      <p:sp>
        <p:nvSpPr>
          <p:cNvPr id="24" name="Shape 22"/>
          <p:cNvSpPr/>
          <p:nvPr/>
        </p:nvSpPr>
        <p:spPr>
          <a:xfrm>
            <a:off x="6961632" y="3245739"/>
            <a:ext cx="1388745" cy="621792"/>
          </a:xfrm>
          <a:prstGeom prst="roundRect">
            <a:avLst>
              <a:gd name="adj" fmla="val 10294"/>
            </a:avLst>
          </a:prstGeom>
          <a:solidFill>
            <a:srgbClr val="17213D"/>
          </a:solidFill>
          <a:ln w="9525">
            <a:solidFill>
              <a:srgbClr val="00D9C0"/>
            </a:solidFill>
            <a:prstDash val="solid"/>
          </a:ln>
        </p:spPr>
      </p:sp>
      <p:sp>
        <p:nvSpPr>
          <p:cNvPr id="25" name="Text 23"/>
          <p:cNvSpPr txBox="1"/>
          <p:nvPr/>
        </p:nvSpPr>
        <p:spPr>
          <a:xfrm>
            <a:off x="6961632" y="3245739"/>
            <a:ext cx="1388746" cy="621792"/>
          </a:xfrm>
          <a:prstGeom prst="rect">
            <a:avLst/>
          </a:prstGeom>
          <a:noFill/>
          <a:ln/>
        </p:spPr>
        <p:txBody>
          <a:bodyPr wrap="square" lIns="0" tIns="0" rIns="0" bIns="0" rtlCol="0" anchor="ctr"/>
          <a:lstStyle/>
          <a:p>
            <a:pPr marL="0" indent="0" algn="ctr">
              <a:buNone/>
            </a:pPr>
            <a:r>
              <a:rPr lang="en-US" sz="1200" smtClean="0">
                <a:solidFill>
                  <a:srgbClr val="FFFFFF"/>
                </a:solidFill>
                <a:latin typeface="Courier New" pitchFamily="34" charset="0"/>
                <a:ea typeface="Courier New" pitchFamily="34" charset="-122"/>
                <a:cs typeface="Courier New" pitchFamily="34" charset="-120"/>
              </a:rPr>
              <a:t>n8n </a:t>
            </a:r>
          </a:p>
          <a:p>
            <a:pPr marL="0" indent="0" algn="ctr">
              <a:buNone/>
            </a:pPr>
            <a:r>
              <a:rPr lang="en-US" sz="1200" smtClean="0">
                <a:solidFill>
                  <a:srgbClr val="FFFFFF"/>
                </a:solidFill>
                <a:latin typeface="Courier New" pitchFamily="34" charset="0"/>
                <a:ea typeface="Courier New" pitchFamily="34" charset="-122"/>
                <a:cs typeface="Courier New" pitchFamily="34" charset="-120"/>
              </a:rPr>
              <a:t>Container</a:t>
            </a:r>
            <a:endParaRPr lang="en-US" sz="1200" dirty="0"/>
          </a:p>
        </p:txBody>
      </p:sp>
      <p:sp>
        <p:nvSpPr>
          <p:cNvPr id="26" name="Shape 24"/>
          <p:cNvSpPr/>
          <p:nvPr/>
        </p:nvSpPr>
        <p:spPr>
          <a:xfrm>
            <a:off x="9308592" y="4471416"/>
            <a:ext cx="0" cy="292608"/>
          </a:xfrm>
          <a:prstGeom prst="line">
            <a:avLst/>
          </a:prstGeom>
          <a:noFill/>
          <a:ln w="19050">
            <a:solidFill>
              <a:srgbClr val="00D9C0"/>
            </a:solidFill>
            <a:prstDash val="solid"/>
            <a:tailEnd type="triangle"/>
          </a:ln>
        </p:spPr>
      </p:sp>
      <p:sp>
        <p:nvSpPr>
          <p:cNvPr id="27" name="Shape 25"/>
          <p:cNvSpPr/>
          <p:nvPr/>
        </p:nvSpPr>
        <p:spPr>
          <a:xfrm>
            <a:off x="6953250" y="4764024"/>
            <a:ext cx="4549902" cy="621792"/>
          </a:xfrm>
          <a:prstGeom prst="roundRect">
            <a:avLst>
              <a:gd name="adj" fmla="val 10294"/>
            </a:avLst>
          </a:prstGeom>
          <a:solidFill>
            <a:srgbClr val="17213D"/>
          </a:solidFill>
          <a:ln w="9525">
            <a:solidFill>
              <a:srgbClr val="00D9C0"/>
            </a:solidFill>
            <a:prstDash val="solid"/>
          </a:ln>
        </p:spPr>
      </p:sp>
      <p:sp>
        <p:nvSpPr>
          <p:cNvPr id="28" name="Text 26"/>
          <p:cNvSpPr txBox="1"/>
          <p:nvPr/>
        </p:nvSpPr>
        <p:spPr>
          <a:xfrm>
            <a:off x="6953250" y="4764024"/>
            <a:ext cx="4549902" cy="621792"/>
          </a:xfrm>
          <a:prstGeom prst="rect">
            <a:avLst/>
          </a:prstGeom>
          <a:noFill/>
          <a:ln/>
        </p:spPr>
        <p:txBody>
          <a:bodyPr wrap="square" lIns="0" tIns="0" rIns="0" bIns="0" rtlCol="0" anchor="ctr"/>
          <a:lstStyle/>
          <a:p>
            <a:pPr marL="0" indent="0" algn="ctr">
              <a:buNone/>
            </a:pPr>
            <a:r>
              <a:rPr lang="en-US" sz="1200" smtClean="0">
                <a:solidFill>
                  <a:srgbClr val="FFFFFF"/>
                </a:solidFill>
                <a:latin typeface="Courier New" pitchFamily="34" charset="0"/>
                <a:cs typeface="Courier New" pitchFamily="34" charset="-120"/>
              </a:rPr>
              <a:t>API Client (z.B. Postman)</a:t>
            </a:r>
            <a:endParaRPr lang="en-US" sz="1200" dirty="0"/>
          </a:p>
        </p:txBody>
      </p:sp>
      <p:sp>
        <p:nvSpPr>
          <p:cNvPr id="29" name="Text 27"/>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30" name="Text 28"/>
          <p:cNvSpPr txBox="1"/>
          <p:nvPr/>
        </p:nvSpPr>
        <p:spPr>
          <a:xfrm>
            <a:off x="11393424" y="5276088"/>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
        <p:nvSpPr>
          <p:cNvPr id="33" name="Shape 22"/>
          <p:cNvSpPr/>
          <p:nvPr/>
        </p:nvSpPr>
        <p:spPr>
          <a:xfrm>
            <a:off x="8771383" y="3245739"/>
            <a:ext cx="1267968" cy="621792"/>
          </a:xfrm>
          <a:prstGeom prst="roundRect">
            <a:avLst>
              <a:gd name="adj" fmla="val 10294"/>
            </a:avLst>
          </a:prstGeom>
          <a:solidFill>
            <a:srgbClr val="17213D"/>
          </a:solidFill>
          <a:ln w="9525">
            <a:solidFill>
              <a:srgbClr val="00D9C0"/>
            </a:solidFill>
            <a:prstDash val="solid"/>
          </a:ln>
        </p:spPr>
      </p:sp>
      <p:sp>
        <p:nvSpPr>
          <p:cNvPr id="34" name="Text 23"/>
          <p:cNvSpPr txBox="1"/>
          <p:nvPr/>
        </p:nvSpPr>
        <p:spPr>
          <a:xfrm>
            <a:off x="8771382" y="3245739"/>
            <a:ext cx="1267968" cy="621792"/>
          </a:xfrm>
          <a:prstGeom prst="rect">
            <a:avLst/>
          </a:prstGeom>
          <a:noFill/>
          <a:ln/>
        </p:spPr>
        <p:txBody>
          <a:bodyPr wrap="square" lIns="0" tIns="0" rIns="0" bIns="0" rtlCol="0" anchor="ctr"/>
          <a:lstStyle/>
          <a:p>
            <a:pPr marL="0" indent="0" algn="ctr">
              <a:buNone/>
            </a:pPr>
            <a:r>
              <a:rPr lang="en-US" sz="1200" smtClean="0">
                <a:solidFill>
                  <a:srgbClr val="FFFFFF"/>
                </a:solidFill>
                <a:latin typeface="Courier New" pitchFamily="34" charset="0"/>
                <a:ea typeface="Courier New" pitchFamily="34" charset="-122"/>
                <a:cs typeface="Courier New" pitchFamily="34" charset="-120"/>
              </a:rPr>
              <a:t>Ollama </a:t>
            </a:r>
          </a:p>
          <a:p>
            <a:pPr marL="0" indent="0" algn="ctr">
              <a:buNone/>
            </a:pPr>
            <a:r>
              <a:rPr lang="en-US" sz="1200" smtClean="0">
                <a:solidFill>
                  <a:srgbClr val="FFFFFF"/>
                </a:solidFill>
                <a:latin typeface="Courier New" pitchFamily="34" charset="0"/>
                <a:ea typeface="Courier New" pitchFamily="34" charset="-122"/>
                <a:cs typeface="Courier New" pitchFamily="34" charset="-120"/>
              </a:rPr>
              <a:t>Container</a:t>
            </a:r>
          </a:p>
        </p:txBody>
      </p:sp>
      <p:sp>
        <p:nvSpPr>
          <p:cNvPr id="35" name="Shape 22"/>
          <p:cNvSpPr/>
          <p:nvPr/>
        </p:nvSpPr>
        <p:spPr>
          <a:xfrm>
            <a:off x="10249661" y="3255264"/>
            <a:ext cx="1253490" cy="621792"/>
          </a:xfrm>
          <a:prstGeom prst="roundRect">
            <a:avLst>
              <a:gd name="adj" fmla="val 10294"/>
            </a:avLst>
          </a:prstGeom>
          <a:solidFill>
            <a:srgbClr val="17213D"/>
          </a:solidFill>
          <a:ln w="9525">
            <a:solidFill>
              <a:srgbClr val="00D9C0"/>
            </a:solidFill>
            <a:prstDash val="solid"/>
          </a:ln>
        </p:spPr>
      </p:sp>
      <p:sp>
        <p:nvSpPr>
          <p:cNvPr id="36" name="Text 23"/>
          <p:cNvSpPr txBox="1"/>
          <p:nvPr/>
        </p:nvSpPr>
        <p:spPr>
          <a:xfrm>
            <a:off x="10249660" y="3255264"/>
            <a:ext cx="1253490" cy="621792"/>
          </a:xfrm>
          <a:prstGeom prst="rect">
            <a:avLst/>
          </a:prstGeom>
          <a:noFill/>
          <a:ln/>
        </p:spPr>
        <p:txBody>
          <a:bodyPr wrap="square" lIns="0" tIns="0" rIns="0" bIns="0" rtlCol="0" anchor="ctr"/>
          <a:lstStyle/>
          <a:p>
            <a:pPr marL="0" indent="0" algn="ctr">
              <a:buNone/>
            </a:pPr>
            <a:r>
              <a:rPr lang="en-US" sz="1200" smtClean="0">
                <a:solidFill>
                  <a:srgbClr val="FFFFFF"/>
                </a:solidFill>
                <a:latin typeface="Courier New" pitchFamily="34" charset="0"/>
                <a:ea typeface="Courier New" pitchFamily="34" charset="-122"/>
                <a:cs typeface="Courier New" pitchFamily="34" charset="-120"/>
              </a:rPr>
              <a:t>Qdrant </a:t>
            </a:r>
          </a:p>
          <a:p>
            <a:pPr marL="0" indent="0" algn="ctr">
              <a:buNone/>
            </a:pPr>
            <a:r>
              <a:rPr lang="en-US" sz="1200" smtClean="0">
                <a:solidFill>
                  <a:srgbClr val="FFFFFF"/>
                </a:solidFill>
                <a:latin typeface="Courier New" pitchFamily="34" charset="0"/>
                <a:ea typeface="Courier New" pitchFamily="34" charset="-122"/>
                <a:cs typeface="Courier New" pitchFamily="34" charset="-120"/>
              </a:rPr>
              <a:t>Container</a:t>
            </a:r>
            <a:endParaRPr lang="en-US" sz="1200" dirty="0"/>
          </a:p>
        </p:txBody>
      </p:sp>
      <p:sp>
        <p:nvSpPr>
          <p:cNvPr id="37" name="Shape 21"/>
          <p:cNvSpPr/>
          <p:nvPr/>
        </p:nvSpPr>
        <p:spPr>
          <a:xfrm>
            <a:off x="7627620" y="2855595"/>
            <a:ext cx="0" cy="375666"/>
          </a:xfrm>
          <a:prstGeom prst="line">
            <a:avLst/>
          </a:prstGeom>
          <a:noFill/>
          <a:ln w="19050">
            <a:solidFill>
              <a:srgbClr val="00D9C0"/>
            </a:solidFill>
            <a:prstDash val="solid"/>
            <a:tailEnd type="triangle"/>
          </a:ln>
        </p:spPr>
      </p:sp>
      <p:sp>
        <p:nvSpPr>
          <p:cNvPr id="38" name="Shape 21"/>
          <p:cNvSpPr/>
          <p:nvPr/>
        </p:nvSpPr>
        <p:spPr>
          <a:xfrm>
            <a:off x="10856595" y="2865120"/>
            <a:ext cx="0" cy="375666"/>
          </a:xfrm>
          <a:prstGeom prst="line">
            <a:avLst/>
          </a:prstGeom>
          <a:noFill/>
          <a:ln w="19050">
            <a:solidFill>
              <a:srgbClr val="00D9C0"/>
            </a:solidFill>
            <a:prstDash val="solid"/>
            <a:tailEnd type="triangle"/>
          </a:ln>
        </p:spPr>
      </p:sp>
      <p:sp>
        <p:nvSpPr>
          <p:cNvPr id="39" name="Shape 21"/>
          <p:cNvSpPr/>
          <p:nvPr/>
        </p:nvSpPr>
        <p:spPr>
          <a:xfrm>
            <a:off x="8418195" y="3560445"/>
            <a:ext cx="316230" cy="0"/>
          </a:xfrm>
          <a:prstGeom prst="line">
            <a:avLst/>
          </a:prstGeom>
          <a:noFill/>
          <a:ln w="19050">
            <a:solidFill>
              <a:srgbClr val="00D9C0"/>
            </a:solidFill>
            <a:prstDash val="solid"/>
            <a:tailEnd type="triangle"/>
          </a:ln>
        </p:spPr>
      </p:sp>
      <p:sp>
        <p:nvSpPr>
          <p:cNvPr id="40" name="Text 15"/>
          <p:cNvSpPr txBox="1"/>
          <p:nvPr/>
        </p:nvSpPr>
        <p:spPr>
          <a:xfrm>
            <a:off x="8532494" y="4105656"/>
            <a:ext cx="1583056" cy="365760"/>
          </a:xfrm>
          <a:prstGeom prst="rect">
            <a:avLst/>
          </a:prstGeom>
          <a:noFill/>
          <a:ln/>
        </p:spPr>
        <p:txBody>
          <a:bodyPr wrap="square" lIns="0" tIns="0" rIns="0" bIns="0" rtlCol="0" anchor="ctr"/>
          <a:lstStyle/>
          <a:p>
            <a:pPr marL="0" indent="0">
              <a:buNone/>
            </a:pPr>
            <a:r>
              <a:rPr lang="en-US" sz="1400" b="1" smtClean="0">
                <a:solidFill>
                  <a:srgbClr val="00D9C0"/>
                </a:solidFill>
                <a:latin typeface="Arial" pitchFamily="34" charset="0"/>
                <a:cs typeface="Arial" pitchFamily="34" charset="-120"/>
              </a:rPr>
              <a:t>REST / GraphQL</a:t>
            </a:r>
            <a:endParaRPr lang="en-US" sz="1400" dirty="0"/>
          </a:p>
        </p:txBody>
      </p:sp>
      <p:sp>
        <p:nvSpPr>
          <p:cNvPr id="41" name="Shape 24"/>
          <p:cNvSpPr/>
          <p:nvPr/>
        </p:nvSpPr>
        <p:spPr>
          <a:xfrm flipH="1" flipV="1">
            <a:off x="7616189" y="3877055"/>
            <a:ext cx="734188" cy="411480"/>
          </a:xfrm>
          <a:prstGeom prst="line">
            <a:avLst/>
          </a:prstGeom>
          <a:noFill/>
          <a:ln w="19050">
            <a:solidFill>
              <a:srgbClr val="00D9C0"/>
            </a:solidFill>
            <a:prstDash val="solid"/>
            <a:tailEnd type="triangle"/>
          </a:ln>
        </p:spPr>
      </p:sp>
      <p:sp>
        <p:nvSpPr>
          <p:cNvPr id="42" name="Shape 24"/>
          <p:cNvSpPr/>
          <p:nvPr/>
        </p:nvSpPr>
        <p:spPr>
          <a:xfrm flipH="1" flipV="1">
            <a:off x="9405366" y="3876194"/>
            <a:ext cx="0" cy="229462"/>
          </a:xfrm>
          <a:prstGeom prst="line">
            <a:avLst/>
          </a:prstGeom>
          <a:noFill/>
          <a:ln w="19050">
            <a:solidFill>
              <a:srgbClr val="00D9C0"/>
            </a:solidFill>
            <a:prstDash val="solid"/>
            <a:tailEnd type="triangle"/>
          </a:ln>
        </p:spPr>
      </p:sp>
      <p:sp>
        <p:nvSpPr>
          <p:cNvPr id="43" name="Shape 24"/>
          <p:cNvSpPr/>
          <p:nvPr/>
        </p:nvSpPr>
        <p:spPr>
          <a:xfrm flipV="1">
            <a:off x="10039350" y="3877055"/>
            <a:ext cx="789050" cy="353851"/>
          </a:xfrm>
          <a:prstGeom prst="line">
            <a:avLst/>
          </a:prstGeom>
          <a:noFill/>
          <a:ln w="19050">
            <a:solidFill>
              <a:srgbClr val="00D9C0"/>
            </a:solidFill>
            <a:prstDash val="solid"/>
            <a:tailEnd type="triangle"/>
          </a:ln>
        </p:spPr>
      </p:sp>
      <p:sp>
        <p:nvSpPr>
          <p:cNvPr id="44" name="Text 13"/>
          <p:cNvSpPr txBox="1"/>
          <p:nvPr/>
        </p:nvSpPr>
        <p:spPr>
          <a:xfrm>
            <a:off x="7255954" y="5592318"/>
            <a:ext cx="3958590" cy="822960"/>
          </a:xfrm>
          <a:prstGeom prst="rect">
            <a:avLst/>
          </a:prstGeom>
          <a:noFill/>
          <a:ln/>
        </p:spPr>
        <p:txBody>
          <a:bodyPr wrap="square" lIns="0" tIns="0" rIns="0" bIns="0" rtlCol="0" anchor="ctr"/>
          <a:lstStyle/>
          <a:p>
            <a:r>
              <a:rPr lang="en-US" sz="1250" b="1" smtClean="0">
                <a:solidFill>
                  <a:schemeClr val="bg1">
                    <a:lumMod val="85000"/>
                  </a:schemeClr>
                </a:solidFill>
                <a:latin typeface="Calibri" pitchFamily="34" charset="0"/>
                <a:ea typeface="Calibri" pitchFamily="34" charset="-122"/>
                <a:cs typeface="Calibri" pitchFamily="34" charset="-120"/>
              </a:rPr>
              <a:t>Versionsabfrage:</a:t>
            </a:r>
          </a:p>
          <a:p>
            <a:r>
              <a:rPr lang="en-US" sz="1250" smtClean="0">
                <a:solidFill>
                  <a:schemeClr val="bg1">
                    <a:lumMod val="85000"/>
                  </a:schemeClr>
                </a:solidFill>
                <a:latin typeface="Calibri" pitchFamily="34" charset="0"/>
                <a:ea typeface="Calibri" pitchFamily="34" charset="-122"/>
                <a:cs typeface="Calibri" pitchFamily="34" charset="-120"/>
              </a:rPr>
              <a:t>$ </a:t>
            </a:r>
            <a:r>
              <a:rPr lang="en-US" sz="1250">
                <a:solidFill>
                  <a:schemeClr val="bg1">
                    <a:lumMod val="85000"/>
                  </a:schemeClr>
                </a:solidFill>
                <a:latin typeface="Calibri" pitchFamily="34" charset="0"/>
                <a:ea typeface="Calibri" pitchFamily="34" charset="-122"/>
                <a:cs typeface="Calibri" pitchFamily="34" charset="-120"/>
              </a:rPr>
              <a:t>docker exec -it n8n_container n8n </a:t>
            </a:r>
            <a:r>
              <a:rPr lang="en-US" sz="1250" smtClean="0">
                <a:solidFill>
                  <a:schemeClr val="bg1">
                    <a:lumMod val="85000"/>
                  </a:schemeClr>
                </a:solidFill>
                <a:latin typeface="Calibri" pitchFamily="34" charset="0"/>
                <a:ea typeface="Calibri" pitchFamily="34" charset="-122"/>
                <a:cs typeface="Calibri" pitchFamily="34" charset="-120"/>
              </a:rPr>
              <a:t>–version            </a:t>
            </a:r>
            <a:r>
              <a:rPr lang="en-US" sz="1250" smtClean="0">
                <a:solidFill>
                  <a:schemeClr val="bg1">
                    <a:lumMod val="85000"/>
                  </a:schemeClr>
                </a:solidFill>
                <a:latin typeface="Calibri" pitchFamily="34" charset="0"/>
                <a:ea typeface="Calibri" pitchFamily="34" charset="-122"/>
                <a:cs typeface="Calibri" pitchFamily="34" charset="-120"/>
                <a:sym typeface="Wingdings" panose="05000000000000000000" pitchFamily="2" charset="2"/>
              </a:rPr>
              <a:t> </a:t>
            </a:r>
            <a:r>
              <a:rPr lang="en-US" sz="1250" smtClean="0">
                <a:solidFill>
                  <a:schemeClr val="bg1">
                    <a:lumMod val="85000"/>
                  </a:schemeClr>
                </a:solidFill>
                <a:latin typeface="Calibri" pitchFamily="34" charset="0"/>
                <a:ea typeface="Calibri" pitchFamily="34" charset="-122"/>
                <a:cs typeface="Calibri" pitchFamily="34" charset="-120"/>
              </a:rPr>
              <a:t>2.40.7</a:t>
            </a:r>
            <a:endParaRPr lang="en-US" sz="1250">
              <a:solidFill>
                <a:schemeClr val="bg1">
                  <a:lumMod val="85000"/>
                </a:schemeClr>
              </a:solidFill>
              <a:latin typeface="Calibri" pitchFamily="34" charset="0"/>
              <a:ea typeface="Calibri" pitchFamily="34" charset="-122"/>
              <a:cs typeface="Calibri" pitchFamily="34" charset="-120"/>
            </a:endParaRPr>
          </a:p>
          <a:p>
            <a:r>
              <a:rPr lang="en-US" sz="1250">
                <a:solidFill>
                  <a:schemeClr val="bg1">
                    <a:lumMod val="85000"/>
                  </a:schemeClr>
                </a:solidFill>
                <a:latin typeface="Calibri" pitchFamily="34" charset="0"/>
                <a:ea typeface="Calibri" pitchFamily="34" charset="-122"/>
                <a:cs typeface="Calibri" pitchFamily="34" charset="-120"/>
              </a:rPr>
              <a:t>$ curl -s http://localhost:6333/ | jq -r '.</a:t>
            </a:r>
            <a:r>
              <a:rPr lang="en-US" sz="1250" smtClean="0">
                <a:solidFill>
                  <a:schemeClr val="bg1">
                    <a:lumMod val="85000"/>
                  </a:schemeClr>
                </a:solidFill>
                <a:latin typeface="Calibri" pitchFamily="34" charset="0"/>
                <a:ea typeface="Calibri" pitchFamily="34" charset="-122"/>
                <a:cs typeface="Calibri" pitchFamily="34" charset="-120"/>
              </a:rPr>
              <a:t>version‘         </a:t>
            </a:r>
            <a:r>
              <a:rPr lang="en-US" sz="1250" smtClean="0">
                <a:solidFill>
                  <a:schemeClr val="bg1">
                    <a:lumMod val="85000"/>
                  </a:schemeClr>
                </a:solidFill>
                <a:latin typeface="Calibri" pitchFamily="34" charset="0"/>
                <a:ea typeface="Calibri" pitchFamily="34" charset="-122"/>
                <a:cs typeface="Calibri" pitchFamily="34" charset="-120"/>
                <a:sym typeface="Wingdings" panose="05000000000000000000" pitchFamily="2" charset="2"/>
              </a:rPr>
              <a:t> </a:t>
            </a:r>
            <a:r>
              <a:rPr lang="en-US" sz="1250" smtClean="0">
                <a:solidFill>
                  <a:schemeClr val="bg1">
                    <a:lumMod val="85000"/>
                  </a:schemeClr>
                </a:solidFill>
                <a:latin typeface="Calibri" pitchFamily="34" charset="0"/>
                <a:ea typeface="Calibri" pitchFamily="34" charset="-122"/>
                <a:cs typeface="Calibri" pitchFamily="34" charset="-120"/>
              </a:rPr>
              <a:t>1.19.1</a:t>
            </a:r>
            <a:endParaRPr lang="en-US" sz="1250">
              <a:solidFill>
                <a:schemeClr val="bg1">
                  <a:lumMod val="85000"/>
                </a:schemeClr>
              </a:solidFill>
              <a:latin typeface="Calibri" pitchFamily="34" charset="0"/>
              <a:ea typeface="Calibri" pitchFamily="34" charset="-122"/>
              <a:cs typeface="Calibri" pitchFamily="34" charset="-120"/>
            </a:endParaRPr>
          </a:p>
          <a:p>
            <a:r>
              <a:rPr lang="en-US" sz="1250">
                <a:solidFill>
                  <a:schemeClr val="bg1">
                    <a:lumMod val="85000"/>
                  </a:schemeClr>
                </a:solidFill>
                <a:latin typeface="Calibri" pitchFamily="34" charset="0"/>
                <a:ea typeface="Calibri" pitchFamily="34" charset="-122"/>
                <a:cs typeface="Calibri" pitchFamily="34" charset="-120"/>
              </a:rPr>
              <a:t>$ docker exec -it ollama_container ollama </a:t>
            </a:r>
            <a:r>
              <a:rPr lang="en-US" sz="1250" smtClean="0">
                <a:solidFill>
                  <a:schemeClr val="bg1">
                    <a:lumMod val="85000"/>
                  </a:schemeClr>
                </a:solidFill>
                <a:latin typeface="Calibri" pitchFamily="34" charset="0"/>
                <a:ea typeface="Calibri" pitchFamily="34" charset="-122"/>
                <a:cs typeface="Calibri" pitchFamily="34" charset="-120"/>
              </a:rPr>
              <a:t>–version </a:t>
            </a:r>
            <a:r>
              <a:rPr lang="en-US" sz="1250" smtClean="0">
                <a:solidFill>
                  <a:schemeClr val="bg1">
                    <a:lumMod val="85000"/>
                  </a:schemeClr>
                </a:solidFill>
                <a:latin typeface="Calibri" pitchFamily="34" charset="0"/>
                <a:ea typeface="Calibri" pitchFamily="34" charset="-122"/>
                <a:cs typeface="Calibri" pitchFamily="34" charset="-120"/>
                <a:sym typeface="Wingdings" panose="05000000000000000000" pitchFamily="2" charset="2"/>
              </a:rPr>
              <a:t> </a:t>
            </a:r>
            <a:r>
              <a:rPr lang="en-US" sz="1250" smtClean="0">
                <a:solidFill>
                  <a:schemeClr val="bg1">
                    <a:lumMod val="85000"/>
                  </a:schemeClr>
                </a:solidFill>
                <a:latin typeface="Calibri" pitchFamily="34" charset="0"/>
                <a:ea typeface="Calibri" pitchFamily="34" charset="-122"/>
                <a:cs typeface="Calibri" pitchFamily="34" charset="-120"/>
              </a:rPr>
              <a:t>0.34.2</a:t>
            </a:r>
            <a:endParaRPr lang="en-US" sz="1250" dirty="0">
              <a:solidFill>
                <a:schemeClr val="bg1">
                  <a:lumMod val="85000"/>
                </a:schemeClr>
              </a:solidFill>
            </a:endParaRP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4" y="3184398"/>
            <a:ext cx="5686425"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7" name="Text 5"/>
          <p:cNvSpPr txBox="1"/>
          <p:nvPr/>
        </p:nvSpPr>
        <p:spPr>
          <a:xfrm>
            <a:off x="901699" y="2770323"/>
            <a:ext cx="1160417" cy="518015"/>
          </a:xfrm>
          <a:prstGeom prst="rect">
            <a:avLst/>
          </a:prstGeom>
          <a:noFill/>
          <a:ln/>
        </p:spPr>
        <p:txBody>
          <a:bodyPr wrap="square" lIns="0" tIns="0" rIns="0" bIns="0" rtlCol="0" anchor="ctr"/>
          <a:lstStyle/>
          <a:p>
            <a:pPr marL="0" indent="0">
              <a:buNone/>
            </a:pPr>
            <a:r>
              <a:rPr lang="en-US" sz="1400" b="1" smtClean="0">
                <a:solidFill>
                  <a:srgbClr val="5B6478"/>
                </a:solidFill>
                <a:latin typeface="Calibri" pitchFamily="34" charset="0"/>
                <a:ea typeface="Calibri" pitchFamily="34" charset="-122"/>
                <a:cs typeface="Calibri" pitchFamily="34" charset="-120"/>
              </a:rPr>
              <a:t>n8n Basislogik</a:t>
            </a:r>
            <a:endParaRPr lang="en-US" sz="1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FF6B4A"/>
                </a:solidFill>
                <a:latin typeface="Calibri" pitchFamily="34" charset="0"/>
                <a:ea typeface="Calibri" pitchFamily="34" charset="-122"/>
                <a:cs typeface="Calibri" pitchFamily="34" charset="-120"/>
              </a:rPr>
              <a:t>BLOCK </a:t>
            </a:r>
            <a:r>
              <a:rPr lang="en-US" sz="1300" b="1" kern="0" spc="200" dirty="0">
                <a:solidFill>
                  <a:srgbClr val="FF6B4A"/>
                </a:solidFill>
                <a:latin typeface="Calibri" pitchFamily="34" charset="0"/>
                <a:ea typeface="Calibri" pitchFamily="34" charset="-122"/>
                <a:cs typeface="Calibri" pitchFamily="34" charset="-120"/>
              </a:rPr>
              <a:t>1 GRUNDLAGEN</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Wie viel Speicher benötigt ein KI-Modell?</a:t>
            </a:r>
            <a:endParaRPr lang="en-US" sz="3000" dirty="0"/>
          </a:p>
        </p:txBody>
      </p:sp>
      <p:sp>
        <p:nvSpPr>
          <p:cNvPr id="4" name="Text 2"/>
          <p:cNvSpPr txBox="1"/>
          <p:nvPr/>
        </p:nvSpPr>
        <p:spPr>
          <a:xfrm>
            <a:off x="548640" y="1508760"/>
            <a:ext cx="5120640" cy="914400"/>
          </a:xfrm>
          <a:prstGeom prst="rect">
            <a:avLst/>
          </a:prstGeom>
          <a:noFill/>
          <a:ln/>
        </p:spPr>
        <p:txBody>
          <a:bodyPr wrap="square" lIns="0" tIns="0" rIns="0" bIns="0" rtlCol="0" anchor="ctr"/>
          <a:lstStyle/>
          <a:p>
            <a:pPr marL="0" indent="0">
              <a:buNone/>
            </a:pPr>
            <a:r>
              <a:rPr lang="en-US" sz="1350" dirty="0">
                <a:solidFill>
                  <a:srgbClr val="5B6478"/>
                </a:solidFill>
                <a:latin typeface="Calibri" pitchFamily="34" charset="0"/>
                <a:ea typeface="Calibri" pitchFamily="34" charset="-122"/>
                <a:cs typeface="Calibri" pitchFamily="34" charset="-120"/>
              </a:rPr>
              <a:t>Ein geladenes Modell reserviert dauerhaft Arbeitsspeicher – ein Vorher-Nachher-Test mit llama3.1:8b macht das sichtbar.</a:t>
            </a:r>
            <a:endParaRPr lang="en-US" sz="1350" dirty="0"/>
          </a:p>
        </p:txBody>
      </p:sp>
      <p:sp>
        <p:nvSpPr>
          <p:cNvPr id="5" name="Shape 3"/>
          <p:cNvSpPr/>
          <p:nvPr/>
        </p:nvSpPr>
        <p:spPr>
          <a:xfrm>
            <a:off x="548640" y="2468880"/>
            <a:ext cx="5577840" cy="3246120"/>
          </a:xfrm>
          <a:prstGeom prst="roundRect">
            <a:avLst>
              <a:gd name="adj" fmla="val 2254"/>
            </a:avLst>
          </a:prstGeom>
          <a:solidFill>
            <a:srgbClr val="0A0E1A"/>
          </a:solidFill>
          <a:ln/>
          <a:effectLst>
            <a:outerShdw blurRad="101600" dist="38100" dir="5400000" algn="bl" rotWithShape="0">
              <a:srgbClr val="000000">
                <a:alpha val="35000"/>
              </a:srgbClr>
            </a:outerShdw>
          </a:effectLst>
        </p:spPr>
      </p:sp>
      <p:sp>
        <p:nvSpPr>
          <p:cNvPr id="6" name="Shape 4"/>
          <p:cNvSpPr/>
          <p:nvPr/>
        </p:nvSpPr>
        <p:spPr>
          <a:xfrm>
            <a:off x="694944" y="2596896"/>
            <a:ext cx="91440" cy="91440"/>
          </a:xfrm>
          <a:prstGeom prst="ellipse">
            <a:avLst/>
          </a:prstGeom>
          <a:solidFill>
            <a:srgbClr val="FF5F56"/>
          </a:solidFill>
          <a:ln/>
        </p:spPr>
      </p:sp>
      <p:sp>
        <p:nvSpPr>
          <p:cNvPr id="7" name="Shape 5"/>
          <p:cNvSpPr/>
          <p:nvPr/>
        </p:nvSpPr>
        <p:spPr>
          <a:xfrm>
            <a:off x="896112" y="2596896"/>
            <a:ext cx="91440" cy="91440"/>
          </a:xfrm>
          <a:prstGeom prst="ellipse">
            <a:avLst/>
          </a:prstGeom>
          <a:solidFill>
            <a:srgbClr val="FFBD2E"/>
          </a:solidFill>
          <a:ln/>
        </p:spPr>
      </p:sp>
      <p:sp>
        <p:nvSpPr>
          <p:cNvPr id="8" name="Shape 6"/>
          <p:cNvSpPr/>
          <p:nvPr/>
        </p:nvSpPr>
        <p:spPr>
          <a:xfrm>
            <a:off x="1097280" y="2596896"/>
            <a:ext cx="91440" cy="91440"/>
          </a:xfrm>
          <a:prstGeom prst="ellipse">
            <a:avLst/>
          </a:prstGeom>
          <a:solidFill>
            <a:srgbClr val="27C93F"/>
          </a:solidFill>
          <a:ln/>
        </p:spPr>
      </p:sp>
      <p:sp>
        <p:nvSpPr>
          <p:cNvPr id="9" name="Text 7"/>
          <p:cNvSpPr txBox="1"/>
          <p:nvPr/>
        </p:nvSpPr>
        <p:spPr>
          <a:xfrm>
            <a:off x="749808" y="2816352"/>
            <a:ext cx="5175504" cy="2788920"/>
          </a:xfrm>
          <a:prstGeom prst="rect">
            <a:avLst/>
          </a:prstGeom>
          <a:noFill/>
          <a:ln/>
        </p:spPr>
        <p:txBody>
          <a:bodyPr wrap="square" lIns="0" tIns="0" rIns="0" bIns="0" rtlCol="0" anchor="t"/>
          <a:lstStyle/>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 docker </a:t>
            </a:r>
            <a:r>
              <a:rPr lang="en-US" sz="1200">
                <a:solidFill>
                  <a:srgbClr val="00D9C0"/>
                </a:solidFill>
                <a:latin typeface="Consolas" panose="020B0609020204030204" pitchFamily="49" charset="0"/>
                <a:ea typeface="Courier New" pitchFamily="34" charset="-122"/>
                <a:cs typeface="Courier New" pitchFamily="34" charset="-120"/>
              </a:rPr>
              <a:t>compose </a:t>
            </a:r>
            <a:r>
              <a:rPr lang="en-US" sz="1200" smtClean="0">
                <a:solidFill>
                  <a:srgbClr val="00D9C0"/>
                </a:solidFill>
                <a:latin typeface="Consolas" panose="020B0609020204030204" pitchFamily="49" charset="0"/>
                <a:ea typeface="Courier New" pitchFamily="34" charset="-122"/>
                <a:cs typeface="Courier New" pitchFamily="34" charset="-120"/>
              </a:rPr>
              <a:t>up -d ollama</a:t>
            </a:r>
          </a:p>
          <a:p>
            <a:pPr marL="0" indent="0">
              <a:lnSpc>
                <a:spcPct val="115000"/>
              </a:lnSpc>
              <a:buNone/>
            </a:pPr>
            <a:r>
              <a:rPr lang="en-US" sz="1200" smtClean="0">
                <a:solidFill>
                  <a:srgbClr val="00D9C0"/>
                </a:solidFill>
                <a:latin typeface="Consolas" panose="020B0609020204030204" pitchFamily="49" charset="0"/>
                <a:cs typeface="Courier New" pitchFamily="34" charset="-120"/>
              </a:rPr>
              <a:t>$ docker exec –it ollama_container ollama list</a:t>
            </a:r>
            <a:endParaRPr lang="en-US" sz="1200" dirty="0">
              <a:solidFill>
                <a:srgbClr val="00D9C0"/>
              </a:solidFill>
              <a:latin typeface="Consolas" panose="020B0609020204030204" pitchFamily="49" charset="0"/>
            </a:endParaRPr>
          </a:p>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 free -h</a:t>
            </a:r>
            <a:endParaRPr lang="en-US" sz="1200" dirty="0">
              <a:solidFill>
                <a:srgbClr val="00D9C0"/>
              </a:solidFill>
              <a:latin typeface="Consolas" panose="020B0609020204030204" pitchFamily="49" charset="0"/>
            </a:endParaRPr>
          </a:p>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 docker exec -it ollama_container \</a:t>
            </a:r>
            <a:endParaRPr lang="en-US" sz="1200" dirty="0">
              <a:solidFill>
                <a:srgbClr val="00D9C0"/>
              </a:solidFill>
              <a:latin typeface="Consolas" panose="020B0609020204030204" pitchFamily="49" charset="0"/>
            </a:endParaRPr>
          </a:p>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    ollama run </a:t>
            </a:r>
            <a:r>
              <a:rPr lang="en-US" sz="1200">
                <a:solidFill>
                  <a:srgbClr val="00D9C0"/>
                </a:solidFill>
                <a:latin typeface="Consolas" panose="020B0609020204030204" pitchFamily="49" charset="0"/>
                <a:ea typeface="Courier New" pitchFamily="34" charset="-122"/>
                <a:cs typeface="Courier New" pitchFamily="34" charset="-120"/>
              </a:rPr>
              <a:t>llama3.1:8b </a:t>
            </a:r>
            <a:r>
              <a:rPr lang="en-US" sz="1200" smtClean="0">
                <a:solidFill>
                  <a:srgbClr val="00D9C0"/>
                </a:solidFill>
                <a:latin typeface="Consolas" panose="020B0609020204030204" pitchFamily="49" charset="0"/>
                <a:ea typeface="Courier New" pitchFamily="34" charset="-122"/>
                <a:cs typeface="Courier New" pitchFamily="34" charset="-120"/>
              </a:rPr>
              <a:t>\</a:t>
            </a:r>
          </a:p>
          <a:p>
            <a:pPr marL="0" indent="0">
              <a:lnSpc>
                <a:spcPct val="115000"/>
              </a:lnSpc>
              <a:buNone/>
            </a:pPr>
            <a:r>
              <a:rPr lang="en-US" sz="1200">
                <a:solidFill>
                  <a:srgbClr val="00D9C0"/>
                </a:solidFill>
                <a:latin typeface="Consolas" panose="020B0609020204030204" pitchFamily="49" charset="0"/>
                <a:ea typeface="Courier New" pitchFamily="34" charset="-122"/>
                <a:cs typeface="Courier New" pitchFamily="34" charset="-120"/>
              </a:rPr>
              <a:t> </a:t>
            </a:r>
            <a:r>
              <a:rPr lang="en-US" sz="1200" smtClean="0">
                <a:solidFill>
                  <a:srgbClr val="00D9C0"/>
                </a:solidFill>
                <a:latin typeface="Consolas" panose="020B0609020204030204" pitchFamily="49" charset="0"/>
                <a:ea typeface="Courier New" pitchFamily="34" charset="-122"/>
                <a:cs typeface="Courier New" pitchFamily="34" charset="-120"/>
              </a:rPr>
              <a:t>   "</a:t>
            </a:r>
            <a:r>
              <a:rPr lang="en-US" sz="1200">
                <a:solidFill>
                  <a:srgbClr val="00D9C0"/>
                </a:solidFill>
                <a:latin typeface="Consolas" panose="020B0609020204030204" pitchFamily="49" charset="0"/>
                <a:ea typeface="Courier New" pitchFamily="34" charset="-122"/>
                <a:cs typeface="Courier New" pitchFamily="34" charset="-120"/>
              </a:rPr>
              <a:t>Beschreibe </a:t>
            </a:r>
            <a:r>
              <a:rPr lang="en-US" sz="1200" smtClean="0">
                <a:solidFill>
                  <a:srgbClr val="00D9C0"/>
                </a:solidFill>
                <a:latin typeface="Consolas" panose="020B0609020204030204" pitchFamily="49" charset="0"/>
                <a:ea typeface="Courier New" pitchFamily="34" charset="-122"/>
                <a:cs typeface="Courier New" pitchFamily="34" charset="-120"/>
              </a:rPr>
              <a:t>in einem Wort wer du bist"</a:t>
            </a:r>
            <a:endParaRPr lang="en-US" sz="1200" dirty="0">
              <a:solidFill>
                <a:srgbClr val="00D9C0"/>
              </a:solidFill>
              <a:latin typeface="Consolas" panose="020B0609020204030204" pitchFamily="49" charset="0"/>
            </a:endParaRPr>
          </a:p>
          <a:p>
            <a:pPr marL="0" indent="0">
              <a:lnSpc>
                <a:spcPct val="115000"/>
              </a:lnSpc>
              <a:buNone/>
            </a:pPr>
            <a:endParaRPr lang="en-US" sz="1200" smtClean="0">
              <a:solidFill>
                <a:srgbClr val="00D9C0"/>
              </a:solidFill>
              <a:latin typeface="Consolas" panose="020B0609020204030204" pitchFamily="49" charset="0"/>
              <a:ea typeface="Courier New" pitchFamily="34" charset="-122"/>
              <a:cs typeface="Courier New" pitchFamily="34" charset="-120"/>
            </a:endParaRPr>
          </a:p>
          <a:p>
            <a:pPr marL="0" indent="0">
              <a:lnSpc>
                <a:spcPct val="115000"/>
              </a:lnSpc>
              <a:buNone/>
            </a:pPr>
            <a:r>
              <a:rPr lang="en-US" sz="1200" smtClean="0">
                <a:solidFill>
                  <a:srgbClr val="00D9C0"/>
                </a:solidFill>
                <a:latin typeface="Consolas" panose="020B0609020204030204" pitchFamily="49" charset="0"/>
                <a:ea typeface="Courier New" pitchFamily="34" charset="-122"/>
                <a:cs typeface="Courier New" pitchFamily="34" charset="-120"/>
              </a:rPr>
              <a:t>$ docker exec –it ollama_container ollama ps</a:t>
            </a:r>
          </a:p>
          <a:p>
            <a:pPr marL="0" indent="0">
              <a:lnSpc>
                <a:spcPct val="115000"/>
              </a:lnSpc>
              <a:buNone/>
            </a:pPr>
            <a:r>
              <a:rPr lang="en-US" sz="1200" smtClean="0">
                <a:solidFill>
                  <a:srgbClr val="00D9C0"/>
                </a:solidFill>
                <a:latin typeface="Consolas" panose="020B0609020204030204" pitchFamily="49" charset="0"/>
                <a:ea typeface="Courier New" pitchFamily="34" charset="-122"/>
                <a:cs typeface="Courier New" pitchFamily="34" charset="-120"/>
              </a:rPr>
              <a:t>$ </a:t>
            </a:r>
            <a:r>
              <a:rPr lang="en-US" sz="1200">
                <a:solidFill>
                  <a:srgbClr val="00D9C0"/>
                </a:solidFill>
                <a:latin typeface="Consolas" panose="020B0609020204030204" pitchFamily="49" charset="0"/>
                <a:ea typeface="Courier New" pitchFamily="34" charset="-122"/>
                <a:cs typeface="Courier New" pitchFamily="34" charset="-120"/>
              </a:rPr>
              <a:t>free </a:t>
            </a:r>
            <a:r>
              <a:rPr lang="en-US" sz="1200" smtClean="0">
                <a:solidFill>
                  <a:srgbClr val="00D9C0"/>
                </a:solidFill>
                <a:latin typeface="Consolas" panose="020B0609020204030204" pitchFamily="49" charset="0"/>
                <a:ea typeface="Courier New" pitchFamily="34" charset="-122"/>
                <a:cs typeface="Courier New" pitchFamily="34" charset="-120"/>
              </a:rPr>
              <a:t>–h</a:t>
            </a:r>
          </a:p>
          <a:p>
            <a:pPr marL="0" indent="0">
              <a:lnSpc>
                <a:spcPct val="115000"/>
              </a:lnSpc>
              <a:buNone/>
            </a:pPr>
            <a:r>
              <a:rPr lang="en-US" sz="1200" smtClean="0">
                <a:solidFill>
                  <a:srgbClr val="00D9C0"/>
                </a:solidFill>
                <a:latin typeface="Consolas" panose="020B0609020204030204" pitchFamily="49" charset="0"/>
                <a:cs typeface="Courier New" pitchFamily="34" charset="-120"/>
              </a:rPr>
              <a:t>$ docker compose stop ollama</a:t>
            </a:r>
            <a:endParaRPr lang="en-US" sz="1200" dirty="0">
              <a:solidFill>
                <a:srgbClr val="00D9C0"/>
              </a:solidFill>
              <a:latin typeface="Consolas" panose="020B0609020204030204" pitchFamily="49" charset="0"/>
            </a:endParaRPr>
          </a:p>
          <a:p>
            <a:pPr marL="0" indent="0">
              <a:lnSpc>
                <a:spcPct val="115000"/>
              </a:lnSpc>
              <a:buNone/>
            </a:pPr>
            <a:endParaRPr lang="en-US" sz="1200" dirty="0">
              <a:latin typeface="Consolas" panose="020B0609020204030204" pitchFamily="49" charset="0"/>
            </a:endParaRPr>
          </a:p>
          <a:p>
            <a:pPr marL="0" indent="0">
              <a:lnSpc>
                <a:spcPct val="115000"/>
              </a:lnSpc>
              <a:buNone/>
            </a:pPr>
            <a:r>
              <a:rPr lang="en-US" sz="1200" dirty="0">
                <a:solidFill>
                  <a:srgbClr val="8A93B5"/>
                </a:solidFill>
                <a:latin typeface="Consolas" panose="020B0609020204030204" pitchFamily="49" charset="0"/>
                <a:ea typeface="Courier New" pitchFamily="34" charset="-122"/>
                <a:cs typeface="Courier New" pitchFamily="34" charset="-120"/>
              </a:rPr>
              <a:t># Ergebnis: RAM-Verbrauch steigt sichtbar</a:t>
            </a:r>
            <a:endParaRPr lang="en-US" sz="1200" dirty="0">
              <a:latin typeface="Consolas" panose="020B0609020204030204" pitchFamily="49" charset="0"/>
            </a:endParaRPr>
          </a:p>
          <a:p>
            <a:pPr marL="0" indent="0">
              <a:lnSpc>
                <a:spcPct val="115000"/>
              </a:lnSpc>
              <a:buNone/>
            </a:pPr>
            <a:r>
              <a:rPr lang="en-US" sz="1200" dirty="0">
                <a:solidFill>
                  <a:srgbClr val="8A93B5"/>
                </a:solidFill>
                <a:latin typeface="Consolas" panose="020B0609020204030204" pitchFamily="49" charset="0"/>
                <a:ea typeface="Courier New" pitchFamily="34" charset="-122"/>
                <a:cs typeface="Courier New" pitchFamily="34" charset="-120"/>
              </a:rPr>
              <a:t># um die Modellgröße, sobald geladen wird</a:t>
            </a:r>
            <a:endParaRPr lang="en-US" sz="1200" dirty="0">
              <a:latin typeface="Consolas" panose="020B0609020204030204" pitchFamily="49" charset="0"/>
            </a:endParaRPr>
          </a:p>
        </p:txBody>
      </p:sp>
      <p:sp>
        <p:nvSpPr>
          <p:cNvPr id="10" name="Shape 8"/>
          <p:cNvSpPr/>
          <p:nvPr/>
        </p:nvSpPr>
        <p:spPr>
          <a:xfrm>
            <a:off x="6446520" y="2468880"/>
            <a:ext cx="5166360" cy="1600200"/>
          </a:xfrm>
          <a:prstGeom prst="roundRect">
            <a:avLst>
              <a:gd name="adj" fmla="val 5714"/>
            </a:avLst>
          </a:prstGeom>
          <a:solidFill>
            <a:srgbClr val="F2F5FA"/>
          </a:solidFill>
          <a:ln/>
        </p:spPr>
      </p:sp>
      <p:sp>
        <p:nvSpPr>
          <p:cNvPr id="11" name="Text 9"/>
          <p:cNvSpPr txBox="1"/>
          <p:nvPr/>
        </p:nvSpPr>
        <p:spPr>
          <a:xfrm>
            <a:off x="6675120" y="2578608"/>
            <a:ext cx="2743200" cy="777240"/>
          </a:xfrm>
          <a:prstGeom prst="rect">
            <a:avLst/>
          </a:prstGeom>
          <a:noFill/>
          <a:ln/>
        </p:spPr>
        <p:txBody>
          <a:bodyPr wrap="square" lIns="0" tIns="0" rIns="0" bIns="0" rtlCol="0" anchor="ctr"/>
          <a:lstStyle/>
          <a:p>
            <a:pPr marL="0" indent="0">
              <a:buNone/>
            </a:pPr>
            <a:r>
              <a:rPr lang="en-US" sz="4200" b="1" smtClean="0">
                <a:solidFill>
                  <a:srgbClr val="0D1321"/>
                </a:solidFill>
                <a:latin typeface="Arial" pitchFamily="34" charset="0"/>
                <a:ea typeface="Arial" pitchFamily="34" charset="-122"/>
                <a:cs typeface="Arial" pitchFamily="34" charset="-120"/>
              </a:rPr>
              <a:t>4,9 </a:t>
            </a:r>
            <a:r>
              <a:rPr lang="en-US" sz="4200" b="1" dirty="0">
                <a:solidFill>
                  <a:srgbClr val="0D1321"/>
                </a:solidFill>
                <a:latin typeface="Arial" pitchFamily="34" charset="0"/>
                <a:ea typeface="Arial" pitchFamily="34" charset="-122"/>
                <a:cs typeface="Arial" pitchFamily="34" charset="-120"/>
              </a:rPr>
              <a:t>GB</a:t>
            </a:r>
            <a:endParaRPr lang="en-US" sz="4200" dirty="0"/>
          </a:p>
        </p:txBody>
      </p:sp>
      <p:sp>
        <p:nvSpPr>
          <p:cNvPr id="12" name="Text 10"/>
          <p:cNvSpPr txBox="1"/>
          <p:nvPr/>
        </p:nvSpPr>
        <p:spPr>
          <a:xfrm>
            <a:off x="6675120" y="3337560"/>
            <a:ext cx="4663440" cy="64008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RAM-Bedarf von llama3.1:8b im geladenen Zustand</a:t>
            </a:r>
            <a:endParaRPr lang="en-US" sz="1250" dirty="0"/>
          </a:p>
        </p:txBody>
      </p:sp>
      <p:sp>
        <p:nvSpPr>
          <p:cNvPr id="13" name="Shape 11"/>
          <p:cNvSpPr/>
          <p:nvPr/>
        </p:nvSpPr>
        <p:spPr>
          <a:xfrm>
            <a:off x="6446520" y="4251960"/>
            <a:ext cx="5166360" cy="1463040"/>
          </a:xfrm>
          <a:prstGeom prst="roundRect">
            <a:avLst>
              <a:gd name="adj" fmla="val 6250"/>
            </a:avLst>
          </a:prstGeom>
          <a:solidFill>
            <a:srgbClr val="E7ECF5"/>
          </a:solidFill>
          <a:ln/>
        </p:spPr>
      </p:sp>
      <p:sp>
        <p:nvSpPr>
          <p:cNvPr id="14" name="Text 12"/>
          <p:cNvSpPr txBox="1"/>
          <p:nvPr/>
        </p:nvSpPr>
        <p:spPr>
          <a:xfrm>
            <a:off x="6675120" y="4370832"/>
            <a:ext cx="4572000" cy="320040"/>
          </a:xfrm>
          <a:prstGeom prst="rect">
            <a:avLst/>
          </a:prstGeom>
          <a:noFill/>
          <a:ln/>
        </p:spPr>
        <p:txBody>
          <a:bodyPr wrap="square" lIns="0" tIns="0" rIns="0" bIns="0" rtlCol="0" anchor="ctr"/>
          <a:lstStyle/>
          <a:p>
            <a:pPr marL="0" indent="0">
              <a:buNone/>
            </a:pPr>
            <a:r>
              <a:rPr lang="en-US" sz="1400" b="1" dirty="0">
                <a:solidFill>
                  <a:srgbClr val="0D1321"/>
                </a:solidFill>
                <a:latin typeface="Arial" pitchFamily="34" charset="0"/>
                <a:ea typeface="Arial" pitchFamily="34" charset="-122"/>
                <a:cs typeface="Arial" pitchFamily="34" charset="-120"/>
              </a:rPr>
              <a:t>Und beim Entladen?</a:t>
            </a:r>
            <a:endParaRPr lang="en-US" sz="1400" dirty="0"/>
          </a:p>
        </p:txBody>
      </p:sp>
      <p:sp>
        <p:nvSpPr>
          <p:cNvPr id="15" name="Text 13"/>
          <p:cNvSpPr txBox="1"/>
          <p:nvPr/>
        </p:nvSpPr>
        <p:spPr>
          <a:xfrm>
            <a:off x="6675120" y="4736592"/>
            <a:ext cx="4663440" cy="86868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Wird der Container gestoppt, gibt das System den belegten Speicher vollständig wieder frei.</a:t>
            </a:r>
            <a:endParaRPr lang="en-US" sz="1250" dirty="0"/>
          </a:p>
        </p:txBody>
      </p:sp>
      <p:sp>
        <p:nvSpPr>
          <p:cNvPr id="16" name="Text 14"/>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17" name="Text 15"/>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FF6B4A"/>
                </a:solidFill>
                <a:latin typeface="Calibri" pitchFamily="34" charset="0"/>
                <a:ea typeface="Calibri" pitchFamily="34" charset="-122"/>
                <a:cs typeface="Calibri" pitchFamily="34" charset="-120"/>
              </a:rPr>
              <a:t>BLOCK </a:t>
            </a:r>
            <a:r>
              <a:rPr lang="en-US" sz="1300" b="1" kern="0" spc="200" dirty="0">
                <a:solidFill>
                  <a:srgbClr val="FF6B4A"/>
                </a:solidFill>
                <a:latin typeface="Calibri" pitchFamily="34" charset="0"/>
                <a:ea typeface="Calibri" pitchFamily="34" charset="-122"/>
                <a:cs typeface="Calibri" pitchFamily="34" charset="-120"/>
              </a:rPr>
              <a:t>1 GRUNDLAGEN</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Modelle im Speicher halten: Sleep-Time</a:t>
            </a:r>
            <a:endParaRPr lang="en-US" sz="3000" dirty="0"/>
          </a:p>
        </p:txBody>
      </p:sp>
      <p:sp>
        <p:nvSpPr>
          <p:cNvPr id="4" name="Text 2"/>
          <p:cNvSpPr txBox="1"/>
          <p:nvPr/>
        </p:nvSpPr>
        <p:spPr>
          <a:xfrm>
            <a:off x="548640" y="1463040"/>
            <a:ext cx="10607040" cy="457200"/>
          </a:xfrm>
          <a:prstGeom prst="rect">
            <a:avLst/>
          </a:prstGeom>
          <a:noFill/>
          <a:ln/>
        </p:spPr>
        <p:txBody>
          <a:bodyPr wrap="square" lIns="0" tIns="0" rIns="0" bIns="0" rtlCol="0" anchor="ctr"/>
          <a:lstStyle/>
          <a:p>
            <a:pPr marL="0" indent="0">
              <a:buNone/>
            </a:pPr>
            <a:r>
              <a:rPr lang="en-US" sz="1350" dirty="0">
                <a:solidFill>
                  <a:srgbClr val="5B6478"/>
                </a:solidFill>
                <a:latin typeface="Calibri" pitchFamily="34" charset="0"/>
                <a:ea typeface="Calibri" pitchFamily="34" charset="-122"/>
                <a:cs typeface="Calibri" pitchFamily="34" charset="-120"/>
              </a:rPr>
              <a:t>„keep_alive“ bestimmt, wie lange ein Modell nach der letzten Anfrage geladen bleibt, bevor Ollama es automatisch entlädt.</a:t>
            </a:r>
            <a:endParaRPr lang="en-US" sz="1350" dirty="0"/>
          </a:p>
        </p:txBody>
      </p:sp>
      <p:sp>
        <p:nvSpPr>
          <p:cNvPr id="5" name="Shape 3"/>
          <p:cNvSpPr/>
          <p:nvPr/>
        </p:nvSpPr>
        <p:spPr>
          <a:xfrm>
            <a:off x="548640" y="2148840"/>
            <a:ext cx="5394960" cy="868680"/>
          </a:xfrm>
          <a:prstGeom prst="roundRect">
            <a:avLst>
              <a:gd name="adj" fmla="val 8421"/>
            </a:avLst>
          </a:prstGeom>
          <a:solidFill>
            <a:srgbClr val="F2F5FA"/>
          </a:solidFill>
          <a:ln/>
        </p:spPr>
      </p:sp>
      <p:sp>
        <p:nvSpPr>
          <p:cNvPr id="6" name="Text 4"/>
          <p:cNvSpPr txBox="1"/>
          <p:nvPr/>
        </p:nvSpPr>
        <p:spPr>
          <a:xfrm>
            <a:off x="777240" y="2148840"/>
            <a:ext cx="1737360" cy="868680"/>
          </a:xfrm>
          <a:prstGeom prst="rect">
            <a:avLst/>
          </a:prstGeom>
          <a:noFill/>
          <a:ln/>
        </p:spPr>
        <p:txBody>
          <a:bodyPr wrap="square" lIns="0" tIns="0" rIns="0" bIns="0" rtlCol="0" anchor="ctr"/>
          <a:lstStyle/>
          <a:p>
            <a:pPr marL="0" indent="0">
              <a:buNone/>
            </a:pPr>
            <a:r>
              <a:rPr lang="en-US" sz="1600" b="1" dirty="0">
                <a:solidFill>
                  <a:srgbClr val="FF6B4A"/>
                </a:solidFill>
                <a:latin typeface="Courier New" pitchFamily="34" charset="0"/>
                <a:ea typeface="Courier New" pitchFamily="34" charset="-122"/>
                <a:cs typeface="Courier New" pitchFamily="34" charset="-120"/>
              </a:rPr>
              <a:t>s / m / h</a:t>
            </a:r>
            <a:endParaRPr lang="en-US" sz="1600" dirty="0"/>
          </a:p>
        </p:txBody>
      </p:sp>
      <p:sp>
        <p:nvSpPr>
          <p:cNvPr id="7" name="Text 5"/>
          <p:cNvSpPr txBox="1"/>
          <p:nvPr/>
        </p:nvSpPr>
        <p:spPr>
          <a:xfrm>
            <a:off x="2514600" y="2148840"/>
            <a:ext cx="3291840" cy="868680"/>
          </a:xfrm>
          <a:prstGeom prst="rect">
            <a:avLst/>
          </a:prstGeom>
          <a:noFill/>
          <a:ln/>
        </p:spPr>
        <p:txBody>
          <a:bodyPr wrap="square" lIns="0" tIns="0" rIns="0" bIns="0" rtlCol="0" anchor="ctr"/>
          <a:lstStyle/>
          <a:p>
            <a:pPr marL="0" indent="0">
              <a:buNone/>
            </a:pPr>
            <a:r>
              <a:rPr lang="en-US" sz="1200" dirty="0">
                <a:solidFill>
                  <a:srgbClr val="12172B"/>
                </a:solidFill>
                <a:latin typeface="Calibri" pitchFamily="34" charset="0"/>
                <a:ea typeface="Calibri" pitchFamily="34" charset="-122"/>
                <a:cs typeface="Calibri" pitchFamily="34" charset="-120"/>
              </a:rPr>
              <a:t>Sekunden, Minuten oder Stunden bis zum Entladen</a:t>
            </a:r>
            <a:endParaRPr lang="en-US" sz="1200" dirty="0"/>
          </a:p>
        </p:txBody>
      </p:sp>
      <p:sp>
        <p:nvSpPr>
          <p:cNvPr id="8" name="Shape 6"/>
          <p:cNvSpPr/>
          <p:nvPr/>
        </p:nvSpPr>
        <p:spPr>
          <a:xfrm>
            <a:off x="548640" y="3154680"/>
            <a:ext cx="5394960" cy="868680"/>
          </a:xfrm>
          <a:prstGeom prst="roundRect">
            <a:avLst>
              <a:gd name="adj" fmla="val 8421"/>
            </a:avLst>
          </a:prstGeom>
          <a:solidFill>
            <a:srgbClr val="F2F5FA"/>
          </a:solidFill>
          <a:ln/>
        </p:spPr>
      </p:sp>
      <p:sp>
        <p:nvSpPr>
          <p:cNvPr id="9" name="Text 7"/>
          <p:cNvSpPr txBox="1"/>
          <p:nvPr/>
        </p:nvSpPr>
        <p:spPr>
          <a:xfrm>
            <a:off x="777240" y="3154680"/>
            <a:ext cx="1737360" cy="868680"/>
          </a:xfrm>
          <a:prstGeom prst="rect">
            <a:avLst/>
          </a:prstGeom>
          <a:noFill/>
          <a:ln/>
        </p:spPr>
        <p:txBody>
          <a:bodyPr wrap="square" lIns="0" tIns="0" rIns="0" bIns="0" rtlCol="0" anchor="ctr"/>
          <a:lstStyle/>
          <a:p>
            <a:pPr marL="0" indent="0">
              <a:buNone/>
            </a:pPr>
            <a:r>
              <a:rPr lang="en-US" sz="1600" b="1" dirty="0">
                <a:solidFill>
                  <a:srgbClr val="FF6B4A"/>
                </a:solidFill>
                <a:latin typeface="Courier New" pitchFamily="34" charset="0"/>
                <a:ea typeface="Courier New" pitchFamily="34" charset="-122"/>
                <a:cs typeface="Courier New" pitchFamily="34" charset="-120"/>
              </a:rPr>
              <a:t>-1</a:t>
            </a:r>
            <a:endParaRPr lang="en-US" sz="1600" dirty="0"/>
          </a:p>
        </p:txBody>
      </p:sp>
      <p:sp>
        <p:nvSpPr>
          <p:cNvPr id="10" name="Text 8"/>
          <p:cNvSpPr txBox="1"/>
          <p:nvPr/>
        </p:nvSpPr>
        <p:spPr>
          <a:xfrm>
            <a:off x="2514600" y="3154680"/>
            <a:ext cx="3291840" cy="868680"/>
          </a:xfrm>
          <a:prstGeom prst="rect">
            <a:avLst/>
          </a:prstGeom>
          <a:noFill/>
          <a:ln/>
        </p:spPr>
        <p:txBody>
          <a:bodyPr wrap="square" lIns="0" tIns="0" rIns="0" bIns="0" rtlCol="0" anchor="ctr"/>
          <a:lstStyle/>
          <a:p>
            <a:pPr marL="0" indent="0">
              <a:buNone/>
            </a:pPr>
            <a:r>
              <a:rPr lang="en-US" sz="1200" dirty="0">
                <a:solidFill>
                  <a:srgbClr val="12172B"/>
                </a:solidFill>
                <a:latin typeface="Calibri" pitchFamily="34" charset="0"/>
                <a:ea typeface="Calibri" pitchFamily="34" charset="-122"/>
                <a:cs typeface="Calibri" pitchFamily="34" charset="-120"/>
              </a:rPr>
              <a:t>Unendlich lange – bis Ollama beendet wird</a:t>
            </a:r>
            <a:endParaRPr lang="en-US" sz="1200" dirty="0"/>
          </a:p>
        </p:txBody>
      </p:sp>
      <p:sp>
        <p:nvSpPr>
          <p:cNvPr id="11" name="Shape 9"/>
          <p:cNvSpPr/>
          <p:nvPr/>
        </p:nvSpPr>
        <p:spPr>
          <a:xfrm>
            <a:off x="548640" y="4160520"/>
            <a:ext cx="5394960" cy="868680"/>
          </a:xfrm>
          <a:prstGeom prst="roundRect">
            <a:avLst>
              <a:gd name="adj" fmla="val 8421"/>
            </a:avLst>
          </a:prstGeom>
          <a:solidFill>
            <a:srgbClr val="F2F5FA"/>
          </a:solidFill>
          <a:ln/>
        </p:spPr>
      </p:sp>
      <p:sp>
        <p:nvSpPr>
          <p:cNvPr id="12" name="Text 10"/>
          <p:cNvSpPr txBox="1"/>
          <p:nvPr/>
        </p:nvSpPr>
        <p:spPr>
          <a:xfrm>
            <a:off x="777240" y="4160520"/>
            <a:ext cx="1737360" cy="868680"/>
          </a:xfrm>
          <a:prstGeom prst="rect">
            <a:avLst/>
          </a:prstGeom>
          <a:noFill/>
          <a:ln/>
        </p:spPr>
        <p:txBody>
          <a:bodyPr wrap="square" lIns="0" tIns="0" rIns="0" bIns="0" rtlCol="0" anchor="ctr"/>
          <a:lstStyle/>
          <a:p>
            <a:pPr marL="0" indent="0">
              <a:buNone/>
            </a:pPr>
            <a:r>
              <a:rPr lang="en-US" sz="1600" b="1" dirty="0">
                <a:solidFill>
                  <a:srgbClr val="FF6B4A"/>
                </a:solidFill>
                <a:latin typeface="Courier New" pitchFamily="34" charset="0"/>
                <a:ea typeface="Courier New" pitchFamily="34" charset="-122"/>
                <a:cs typeface="Courier New" pitchFamily="34" charset="-120"/>
              </a:rPr>
              <a:t>0</a:t>
            </a:r>
            <a:endParaRPr lang="en-US" sz="1600" dirty="0"/>
          </a:p>
        </p:txBody>
      </p:sp>
      <p:sp>
        <p:nvSpPr>
          <p:cNvPr id="13" name="Text 11"/>
          <p:cNvSpPr txBox="1"/>
          <p:nvPr/>
        </p:nvSpPr>
        <p:spPr>
          <a:xfrm>
            <a:off x="2514600" y="4160520"/>
            <a:ext cx="3291840" cy="868680"/>
          </a:xfrm>
          <a:prstGeom prst="rect">
            <a:avLst/>
          </a:prstGeom>
          <a:noFill/>
          <a:ln/>
        </p:spPr>
        <p:txBody>
          <a:bodyPr wrap="square" lIns="0" tIns="0" rIns="0" bIns="0" rtlCol="0" anchor="ctr"/>
          <a:lstStyle/>
          <a:p>
            <a:pPr marL="0" indent="0">
              <a:buNone/>
            </a:pPr>
            <a:r>
              <a:rPr lang="en-US" sz="1200" dirty="0">
                <a:solidFill>
                  <a:srgbClr val="12172B"/>
                </a:solidFill>
                <a:latin typeface="Calibri" pitchFamily="34" charset="0"/>
                <a:ea typeface="Calibri" pitchFamily="34" charset="-122"/>
                <a:cs typeface="Calibri" pitchFamily="34" charset="-120"/>
              </a:rPr>
              <a:t>Wird sofort nach der Antwort gelöscht</a:t>
            </a:r>
            <a:endParaRPr lang="en-US" sz="1200" dirty="0"/>
          </a:p>
        </p:txBody>
      </p:sp>
      <p:sp>
        <p:nvSpPr>
          <p:cNvPr id="14" name="Text 12"/>
          <p:cNvSpPr txBox="1"/>
          <p:nvPr/>
        </p:nvSpPr>
        <p:spPr>
          <a:xfrm>
            <a:off x="548640" y="5257800"/>
            <a:ext cx="5486400" cy="320040"/>
          </a:xfrm>
          <a:prstGeom prst="rect">
            <a:avLst/>
          </a:prstGeom>
          <a:noFill/>
          <a:ln/>
        </p:spPr>
        <p:txBody>
          <a:bodyPr wrap="square" lIns="0" tIns="0" rIns="0" bIns="0" rtlCol="0" anchor="ctr"/>
          <a:lstStyle/>
          <a:p>
            <a:pPr marL="0" indent="0">
              <a:buNone/>
            </a:pPr>
            <a:r>
              <a:rPr lang="en-US" sz="1300" b="1" dirty="0">
                <a:solidFill>
                  <a:srgbClr val="0D1321"/>
                </a:solidFill>
                <a:latin typeface="Arial" pitchFamily="34" charset="0"/>
                <a:ea typeface="Arial" pitchFamily="34" charset="-122"/>
                <a:cs typeface="Arial" pitchFamily="34" charset="-120"/>
              </a:rPr>
              <a:t>Aktivieren per Docker Compose:</a:t>
            </a:r>
            <a:endParaRPr lang="en-US" sz="1300" dirty="0"/>
          </a:p>
        </p:txBody>
      </p:sp>
      <p:sp>
        <p:nvSpPr>
          <p:cNvPr id="15" name="Shape 13"/>
          <p:cNvSpPr/>
          <p:nvPr/>
        </p:nvSpPr>
        <p:spPr>
          <a:xfrm>
            <a:off x="548640" y="5577840"/>
            <a:ext cx="5394960" cy="960120"/>
          </a:xfrm>
          <a:prstGeom prst="roundRect">
            <a:avLst>
              <a:gd name="adj" fmla="val 9412"/>
            </a:avLst>
          </a:prstGeom>
          <a:solidFill>
            <a:srgbClr val="0A0E1A"/>
          </a:solidFill>
          <a:ln/>
          <a:effectLst>
            <a:outerShdw blurRad="101600" dist="38100" dir="5400000" algn="bl" rotWithShape="0">
              <a:srgbClr val="000000">
                <a:alpha val="35000"/>
              </a:srgbClr>
            </a:outerShdw>
          </a:effectLst>
        </p:spPr>
      </p:sp>
      <p:sp>
        <p:nvSpPr>
          <p:cNvPr id="16" name="Shape 14"/>
          <p:cNvSpPr/>
          <p:nvPr/>
        </p:nvSpPr>
        <p:spPr>
          <a:xfrm>
            <a:off x="694944" y="5705856"/>
            <a:ext cx="91440" cy="91440"/>
          </a:xfrm>
          <a:prstGeom prst="ellipse">
            <a:avLst/>
          </a:prstGeom>
          <a:solidFill>
            <a:srgbClr val="FF5F56"/>
          </a:solidFill>
          <a:ln/>
        </p:spPr>
      </p:sp>
      <p:sp>
        <p:nvSpPr>
          <p:cNvPr id="17" name="Shape 15"/>
          <p:cNvSpPr/>
          <p:nvPr/>
        </p:nvSpPr>
        <p:spPr>
          <a:xfrm>
            <a:off x="896112" y="5705856"/>
            <a:ext cx="91440" cy="91440"/>
          </a:xfrm>
          <a:prstGeom prst="ellipse">
            <a:avLst/>
          </a:prstGeom>
          <a:solidFill>
            <a:srgbClr val="FFBD2E"/>
          </a:solidFill>
          <a:ln/>
        </p:spPr>
      </p:sp>
      <p:sp>
        <p:nvSpPr>
          <p:cNvPr id="18" name="Shape 16"/>
          <p:cNvSpPr/>
          <p:nvPr/>
        </p:nvSpPr>
        <p:spPr>
          <a:xfrm>
            <a:off x="1097280" y="5705856"/>
            <a:ext cx="91440" cy="91440"/>
          </a:xfrm>
          <a:prstGeom prst="ellipse">
            <a:avLst/>
          </a:prstGeom>
          <a:solidFill>
            <a:srgbClr val="27C93F"/>
          </a:solidFill>
          <a:ln/>
        </p:spPr>
      </p:sp>
      <p:sp>
        <p:nvSpPr>
          <p:cNvPr id="19" name="Text 17"/>
          <p:cNvSpPr txBox="1"/>
          <p:nvPr/>
        </p:nvSpPr>
        <p:spPr>
          <a:xfrm>
            <a:off x="749808" y="5925312"/>
            <a:ext cx="4992624" cy="532638"/>
          </a:xfrm>
          <a:prstGeom prst="rect">
            <a:avLst/>
          </a:prstGeom>
          <a:noFill/>
          <a:ln/>
        </p:spPr>
        <p:txBody>
          <a:bodyPr wrap="square" lIns="0" tIns="0" rIns="0" bIns="0" rtlCol="0" anchor="t"/>
          <a:lstStyle/>
          <a:p>
            <a:pPr marL="0" indent="0">
              <a:lnSpc>
                <a:spcPct val="115000"/>
              </a:lnSpc>
              <a:buNone/>
            </a:pPr>
            <a:r>
              <a:rPr lang="en-US" sz="1200" dirty="0">
                <a:solidFill>
                  <a:srgbClr val="8A93B5"/>
                </a:solidFill>
                <a:latin typeface="Consolas" panose="020B0609020204030204" pitchFamily="49" charset="0"/>
                <a:ea typeface="Courier New" pitchFamily="34" charset="-122"/>
                <a:cs typeface="Courier New" pitchFamily="34" charset="-120"/>
              </a:rPr>
              <a:t>docker-compose.yml:</a:t>
            </a:r>
            <a:endParaRPr lang="en-US" sz="1200" dirty="0">
              <a:latin typeface="Consolas" panose="020B0609020204030204" pitchFamily="49" charset="0"/>
            </a:endParaRPr>
          </a:p>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  OLLAMA_KEEP_ALIVE=-1</a:t>
            </a:r>
            <a:endParaRPr lang="en-US" sz="1200" dirty="0">
              <a:solidFill>
                <a:srgbClr val="00D9C0"/>
              </a:solidFill>
              <a:latin typeface="Consolas" panose="020B0609020204030204" pitchFamily="49" charset="0"/>
            </a:endParaRPr>
          </a:p>
        </p:txBody>
      </p:sp>
      <p:sp>
        <p:nvSpPr>
          <p:cNvPr id="20" name="Shape 18"/>
          <p:cNvSpPr/>
          <p:nvPr/>
        </p:nvSpPr>
        <p:spPr>
          <a:xfrm>
            <a:off x="6263640" y="2148840"/>
            <a:ext cx="5349240" cy="4389120"/>
          </a:xfrm>
          <a:prstGeom prst="roundRect">
            <a:avLst>
              <a:gd name="adj" fmla="val 1739"/>
            </a:avLst>
          </a:prstGeom>
          <a:solidFill>
            <a:srgbClr val="0A0E1A"/>
          </a:solidFill>
          <a:ln/>
          <a:effectLst>
            <a:outerShdw blurRad="101600" dist="38100" dir="5400000" algn="bl" rotWithShape="0">
              <a:srgbClr val="000000">
                <a:alpha val="35000"/>
              </a:srgbClr>
            </a:outerShdw>
          </a:effectLst>
        </p:spPr>
      </p:sp>
      <p:sp>
        <p:nvSpPr>
          <p:cNvPr id="21" name="Shape 19"/>
          <p:cNvSpPr/>
          <p:nvPr/>
        </p:nvSpPr>
        <p:spPr>
          <a:xfrm>
            <a:off x="6409944" y="2276856"/>
            <a:ext cx="91440" cy="91440"/>
          </a:xfrm>
          <a:prstGeom prst="ellipse">
            <a:avLst/>
          </a:prstGeom>
          <a:solidFill>
            <a:srgbClr val="FF5F56"/>
          </a:solidFill>
          <a:ln/>
        </p:spPr>
      </p:sp>
      <p:sp>
        <p:nvSpPr>
          <p:cNvPr id="22" name="Shape 20"/>
          <p:cNvSpPr/>
          <p:nvPr/>
        </p:nvSpPr>
        <p:spPr>
          <a:xfrm>
            <a:off x="6611112" y="2276856"/>
            <a:ext cx="91440" cy="91440"/>
          </a:xfrm>
          <a:prstGeom prst="ellipse">
            <a:avLst/>
          </a:prstGeom>
          <a:solidFill>
            <a:srgbClr val="FFBD2E"/>
          </a:solidFill>
          <a:ln/>
        </p:spPr>
      </p:sp>
      <p:sp>
        <p:nvSpPr>
          <p:cNvPr id="23" name="Shape 21"/>
          <p:cNvSpPr/>
          <p:nvPr/>
        </p:nvSpPr>
        <p:spPr>
          <a:xfrm>
            <a:off x="6812280" y="2276856"/>
            <a:ext cx="91440" cy="91440"/>
          </a:xfrm>
          <a:prstGeom prst="ellipse">
            <a:avLst/>
          </a:prstGeom>
          <a:solidFill>
            <a:srgbClr val="27C93F"/>
          </a:solidFill>
          <a:ln/>
        </p:spPr>
      </p:sp>
      <p:sp>
        <p:nvSpPr>
          <p:cNvPr id="24" name="Text 22"/>
          <p:cNvSpPr txBox="1"/>
          <p:nvPr/>
        </p:nvSpPr>
        <p:spPr>
          <a:xfrm>
            <a:off x="6464808" y="2496312"/>
            <a:ext cx="4946904" cy="3749040"/>
          </a:xfrm>
          <a:prstGeom prst="rect">
            <a:avLst/>
          </a:prstGeom>
          <a:noFill/>
          <a:ln/>
        </p:spPr>
        <p:txBody>
          <a:bodyPr wrap="square" lIns="0" tIns="0" rIns="0" bIns="0" rtlCol="0" anchor="t"/>
          <a:lstStyle/>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 docker exec -it ollama_container ollama ps</a:t>
            </a:r>
            <a:endParaRPr lang="en-US" sz="1200" dirty="0">
              <a:solidFill>
                <a:srgbClr val="00D9C0"/>
              </a:solidFill>
              <a:latin typeface="Consolas" panose="020B0609020204030204" pitchFamily="49" charset="0"/>
            </a:endParaRPr>
          </a:p>
          <a:p>
            <a:pPr marL="0" indent="0">
              <a:lnSpc>
                <a:spcPct val="115000"/>
              </a:lnSpc>
              <a:buNone/>
            </a:pPr>
            <a:r>
              <a:rPr lang="en-US" sz="1200" dirty="0">
                <a:solidFill>
                  <a:srgbClr val="8A93B5"/>
                </a:solidFill>
                <a:latin typeface="Consolas" panose="020B0609020204030204" pitchFamily="49" charset="0"/>
                <a:ea typeface="Courier New" pitchFamily="34" charset="-122"/>
                <a:cs typeface="Courier New" pitchFamily="34" charset="-120"/>
              </a:rPr>
              <a:t>NAME    ID      SIZE   PROC   CONTEXT   UNTIL</a:t>
            </a:r>
            <a:endParaRPr lang="en-US" sz="1200" dirty="0">
              <a:latin typeface="Consolas" panose="020B0609020204030204" pitchFamily="49" charset="0"/>
            </a:endParaRPr>
          </a:p>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llama3.1:8b 46e0c10c 5.6GB 100% CPU 4096  4 min</a:t>
            </a:r>
            <a:endParaRPr lang="en-US" sz="1200" dirty="0">
              <a:solidFill>
                <a:srgbClr val="00D9C0"/>
              </a:solidFill>
              <a:latin typeface="Consolas" panose="020B0609020204030204" pitchFamily="49" charset="0"/>
            </a:endParaRPr>
          </a:p>
          <a:p>
            <a:pPr marL="0" indent="0">
              <a:lnSpc>
                <a:spcPct val="115000"/>
              </a:lnSpc>
              <a:buNone/>
            </a:pPr>
            <a:endParaRPr lang="en-US" sz="1200" dirty="0">
              <a:latin typeface="Consolas" panose="020B0609020204030204" pitchFamily="49" charset="0"/>
            </a:endParaRPr>
          </a:p>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 docker compose up -d --</a:t>
            </a:r>
            <a:r>
              <a:rPr lang="en-US" sz="1200">
                <a:solidFill>
                  <a:srgbClr val="00D9C0"/>
                </a:solidFill>
                <a:latin typeface="Consolas" panose="020B0609020204030204" pitchFamily="49" charset="0"/>
                <a:ea typeface="Courier New" pitchFamily="34" charset="-122"/>
                <a:cs typeface="Courier New" pitchFamily="34" charset="-120"/>
              </a:rPr>
              <a:t>force-recreate </a:t>
            </a:r>
            <a:r>
              <a:rPr lang="en-US" sz="1200" smtClean="0">
                <a:solidFill>
                  <a:srgbClr val="00D9C0"/>
                </a:solidFill>
                <a:latin typeface="Consolas" panose="020B0609020204030204" pitchFamily="49" charset="0"/>
                <a:ea typeface="Courier New" pitchFamily="34" charset="-122"/>
                <a:cs typeface="Courier New" pitchFamily="34" charset="-120"/>
              </a:rPr>
              <a:t>ollama</a:t>
            </a:r>
          </a:p>
          <a:p>
            <a:pPr marL="0" indent="0">
              <a:lnSpc>
                <a:spcPct val="115000"/>
              </a:lnSpc>
              <a:buNone/>
            </a:pPr>
            <a:endParaRPr lang="en-US" sz="1200" dirty="0">
              <a:solidFill>
                <a:srgbClr val="00D9C0"/>
              </a:solidFill>
              <a:latin typeface="Consolas" panose="020B0609020204030204" pitchFamily="49" charset="0"/>
            </a:endParaRPr>
          </a:p>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 docker exec -it ollama_container ollama ps</a:t>
            </a:r>
            <a:endParaRPr lang="en-US" sz="1200" dirty="0">
              <a:solidFill>
                <a:srgbClr val="00D9C0"/>
              </a:solidFill>
              <a:latin typeface="Consolas" panose="020B0609020204030204" pitchFamily="49" charset="0"/>
            </a:endParaRPr>
          </a:p>
          <a:p>
            <a:pPr marL="0" indent="0">
              <a:lnSpc>
                <a:spcPct val="115000"/>
              </a:lnSpc>
              <a:buNone/>
            </a:pPr>
            <a:r>
              <a:rPr lang="en-US" sz="1200" dirty="0">
                <a:solidFill>
                  <a:srgbClr val="8A93B5"/>
                </a:solidFill>
                <a:latin typeface="Consolas" panose="020B0609020204030204" pitchFamily="49" charset="0"/>
                <a:ea typeface="Courier New" pitchFamily="34" charset="-122"/>
                <a:cs typeface="Courier New" pitchFamily="34" charset="-120"/>
              </a:rPr>
              <a:t>NAME    ID      SIZE   PROC   CONTEXT   UNTIL</a:t>
            </a:r>
            <a:endParaRPr lang="en-US" sz="1200" dirty="0">
              <a:latin typeface="Consolas" panose="020B0609020204030204" pitchFamily="49" charset="0"/>
            </a:endParaRPr>
          </a:p>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llama3.1:8b 46e0c10c 5.6GB 100% CPU 4096  Forever</a:t>
            </a:r>
            <a:endParaRPr lang="en-US" sz="1200" dirty="0">
              <a:solidFill>
                <a:srgbClr val="00D9C0"/>
              </a:solidFill>
              <a:latin typeface="Consolas" panose="020B0609020204030204" pitchFamily="49" charset="0"/>
            </a:endParaRPr>
          </a:p>
          <a:p>
            <a:pPr marL="0" indent="0">
              <a:lnSpc>
                <a:spcPct val="115000"/>
              </a:lnSpc>
              <a:buNone/>
            </a:pPr>
            <a:endParaRPr lang="en-US" sz="1200" dirty="0">
              <a:latin typeface="Consolas" panose="020B0609020204030204" pitchFamily="49" charset="0"/>
            </a:endParaRPr>
          </a:p>
          <a:p>
            <a:pPr marL="0" indent="0">
              <a:lnSpc>
                <a:spcPct val="115000"/>
              </a:lnSpc>
              <a:buNone/>
            </a:pPr>
            <a:r>
              <a:rPr lang="en-US" sz="1200" dirty="0">
                <a:solidFill>
                  <a:srgbClr val="8A93B5"/>
                </a:solidFill>
                <a:latin typeface="Consolas" panose="020B0609020204030204" pitchFamily="49" charset="0"/>
                <a:ea typeface="Courier New" pitchFamily="34" charset="-122"/>
                <a:cs typeface="Courier New" pitchFamily="34" charset="-120"/>
              </a:rPr>
              <a:t># Unterschied:</a:t>
            </a:r>
            <a:endParaRPr lang="en-US" sz="1200" dirty="0">
              <a:latin typeface="Consolas" panose="020B0609020204030204" pitchFamily="49" charset="0"/>
            </a:endParaRPr>
          </a:p>
          <a:p>
            <a:pPr marL="0" indent="0">
              <a:lnSpc>
                <a:spcPct val="115000"/>
              </a:lnSpc>
              <a:buNone/>
            </a:pPr>
            <a:r>
              <a:rPr lang="en-US" sz="1200" dirty="0">
                <a:solidFill>
                  <a:srgbClr val="8A93B5"/>
                </a:solidFill>
                <a:latin typeface="Consolas" panose="020B0609020204030204" pitchFamily="49" charset="0"/>
                <a:ea typeface="Courier New" pitchFamily="34" charset="-122"/>
                <a:cs typeface="Courier New" pitchFamily="34" charset="-120"/>
              </a:rPr>
              <a:t># 'X min'  -&gt; zeitweises </a:t>
            </a:r>
            <a:r>
              <a:rPr lang="en-US" sz="1200">
                <a:solidFill>
                  <a:srgbClr val="8A93B5"/>
                </a:solidFill>
                <a:latin typeface="Consolas" panose="020B0609020204030204" pitchFamily="49" charset="0"/>
                <a:ea typeface="Courier New" pitchFamily="34" charset="-122"/>
                <a:cs typeface="Courier New" pitchFamily="34" charset="-120"/>
              </a:rPr>
              <a:t>Halten </a:t>
            </a:r>
            <a:r>
              <a:rPr lang="en-US" sz="1200" smtClean="0">
                <a:solidFill>
                  <a:srgbClr val="8A93B5"/>
                </a:solidFill>
                <a:latin typeface="Consolas" panose="020B0609020204030204" pitchFamily="49" charset="0"/>
                <a:ea typeface="Courier New" pitchFamily="34" charset="-122"/>
                <a:cs typeface="Courier New" pitchFamily="34" charset="-120"/>
              </a:rPr>
              <a:t>(Timeout)</a:t>
            </a:r>
            <a:endParaRPr lang="en-US" sz="1200" dirty="0">
              <a:latin typeface="Consolas" panose="020B0609020204030204" pitchFamily="49" charset="0"/>
            </a:endParaRPr>
          </a:p>
          <a:p>
            <a:pPr marL="0" indent="0">
              <a:lnSpc>
                <a:spcPct val="115000"/>
              </a:lnSpc>
              <a:buNone/>
            </a:pPr>
            <a:r>
              <a:rPr lang="en-US" sz="1200" dirty="0">
                <a:solidFill>
                  <a:srgbClr val="8A93B5"/>
                </a:solidFill>
                <a:latin typeface="Consolas" panose="020B0609020204030204" pitchFamily="49" charset="0"/>
                <a:ea typeface="Courier New" pitchFamily="34" charset="-122"/>
                <a:cs typeface="Courier New" pitchFamily="34" charset="-120"/>
              </a:rPr>
              <a:t># 'Forever' </a:t>
            </a:r>
            <a:r>
              <a:rPr lang="en-US" sz="1200">
                <a:solidFill>
                  <a:srgbClr val="8A93B5"/>
                </a:solidFill>
                <a:latin typeface="Consolas" panose="020B0609020204030204" pitchFamily="49" charset="0"/>
                <a:ea typeface="Courier New" pitchFamily="34" charset="-122"/>
                <a:cs typeface="Courier New" pitchFamily="34" charset="-120"/>
              </a:rPr>
              <a:t>-&gt; </a:t>
            </a:r>
            <a:r>
              <a:rPr lang="en-US" sz="1200" smtClean="0">
                <a:solidFill>
                  <a:srgbClr val="8A93B5"/>
                </a:solidFill>
                <a:latin typeface="Consolas" panose="020B0609020204030204" pitchFamily="49" charset="0"/>
                <a:ea typeface="Courier New" pitchFamily="34" charset="-122"/>
                <a:cs typeface="Courier New" pitchFamily="34" charset="-120"/>
              </a:rPr>
              <a:t>dauerhaft im Speicher geladen</a:t>
            </a:r>
            <a:endParaRPr lang="en-US" sz="1200" dirty="0">
              <a:latin typeface="Consolas" panose="020B0609020204030204" pitchFamily="49" charset="0"/>
            </a:endParaRPr>
          </a:p>
        </p:txBody>
      </p:sp>
      <p:sp>
        <p:nvSpPr>
          <p:cNvPr id="25" name="Text 23"/>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26" name="Text 24"/>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FF6B4A"/>
                </a:solidFill>
                <a:latin typeface="Calibri" pitchFamily="34" charset="0"/>
                <a:ea typeface="Calibri" pitchFamily="34" charset="-122"/>
                <a:cs typeface="Calibri" pitchFamily="34" charset="-120"/>
              </a:rPr>
              <a:t>BLOCK </a:t>
            </a:r>
            <a:r>
              <a:rPr lang="en-US" sz="1300" b="1" kern="0" spc="200" dirty="0">
                <a:solidFill>
                  <a:srgbClr val="FF6B4A"/>
                </a:solidFill>
                <a:latin typeface="Calibri" pitchFamily="34" charset="0"/>
                <a:ea typeface="Calibri" pitchFamily="34" charset="-122"/>
                <a:cs typeface="Calibri" pitchFamily="34" charset="-120"/>
              </a:rPr>
              <a:t>1 GRUNDLAGEN</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Token statt Wörter: Wie KI Text verarbeitet</a:t>
            </a:r>
            <a:endParaRPr lang="en-US" sz="3000" dirty="0"/>
          </a:p>
        </p:txBody>
      </p:sp>
      <p:sp>
        <p:nvSpPr>
          <p:cNvPr id="4" name="Text 2"/>
          <p:cNvSpPr txBox="1"/>
          <p:nvPr/>
        </p:nvSpPr>
        <p:spPr>
          <a:xfrm>
            <a:off x="548640" y="1463040"/>
            <a:ext cx="10515600" cy="457200"/>
          </a:xfrm>
          <a:prstGeom prst="rect">
            <a:avLst/>
          </a:prstGeom>
          <a:noFill/>
          <a:ln/>
        </p:spPr>
        <p:txBody>
          <a:bodyPr wrap="square" lIns="0" tIns="0" rIns="0" bIns="0" rtlCol="0" anchor="ctr"/>
          <a:lstStyle/>
          <a:p>
            <a:r>
              <a:rPr lang="en-US" sz="1350" dirty="0">
                <a:solidFill>
                  <a:srgbClr val="5B6478"/>
                </a:solidFill>
                <a:latin typeface="Calibri" pitchFamily="34" charset="0"/>
                <a:ea typeface="Calibri" pitchFamily="34" charset="-122"/>
                <a:cs typeface="Calibri" pitchFamily="34" charset="-120"/>
              </a:rPr>
              <a:t>Ein Token ist die kleinste Texteinheit, mit der ein Sprachmodell rechnet – oft ein Wortteil statt eines ganzen </a:t>
            </a:r>
            <a:r>
              <a:rPr lang="en-US" sz="1350">
                <a:solidFill>
                  <a:srgbClr val="5B6478"/>
                </a:solidFill>
                <a:latin typeface="Calibri" pitchFamily="34" charset="0"/>
                <a:ea typeface="Calibri" pitchFamily="34" charset="-122"/>
                <a:cs typeface="Calibri" pitchFamily="34" charset="-120"/>
              </a:rPr>
              <a:t>Wortes. Die Anzahl der Token hängt von der verwendeten Sprache </a:t>
            </a:r>
            <a:r>
              <a:rPr lang="en-US" sz="1350" smtClean="0">
                <a:solidFill>
                  <a:srgbClr val="5B6478"/>
                </a:solidFill>
                <a:latin typeface="Calibri" pitchFamily="34" charset="0"/>
                <a:ea typeface="Calibri" pitchFamily="34" charset="-122"/>
                <a:cs typeface="Calibri" pitchFamily="34" charset="-120"/>
              </a:rPr>
              <a:t>und der Textstruktur ab </a:t>
            </a:r>
            <a:r>
              <a:rPr lang="en-US" sz="1350">
                <a:solidFill>
                  <a:srgbClr val="5B6478"/>
                </a:solidFill>
                <a:latin typeface="Calibri" pitchFamily="34" charset="0"/>
                <a:ea typeface="Calibri" pitchFamily="34" charset="-122"/>
                <a:cs typeface="Calibri" pitchFamily="34" charset="-120"/>
              </a:rPr>
              <a:t>und kann vorab mit einem Tokenizer bestimmt werden (z.B. </a:t>
            </a:r>
            <a:r>
              <a:rPr lang="en-US" sz="1350" smtClean="0">
                <a:solidFill>
                  <a:srgbClr val="5B6478"/>
                </a:solidFill>
                <a:latin typeface="Calibri" pitchFamily="34" charset="0"/>
                <a:ea typeface="Calibri" pitchFamily="34" charset="-122"/>
                <a:cs typeface="Calibri" pitchFamily="34" charset="-120"/>
              </a:rPr>
              <a:t>llm-tokenizer.com).</a:t>
            </a:r>
            <a:endParaRPr lang="en-US" sz="1350" dirty="0"/>
          </a:p>
        </p:txBody>
      </p:sp>
      <p:sp>
        <p:nvSpPr>
          <p:cNvPr id="5" name="Shape 3"/>
          <p:cNvSpPr/>
          <p:nvPr/>
        </p:nvSpPr>
        <p:spPr>
          <a:xfrm>
            <a:off x="548640" y="2103120"/>
            <a:ext cx="5394960" cy="1965960"/>
          </a:xfrm>
          <a:prstGeom prst="roundRect">
            <a:avLst>
              <a:gd name="adj" fmla="val 4651"/>
            </a:avLst>
          </a:prstGeom>
          <a:solidFill>
            <a:schemeClr val="bg2">
              <a:lumMod val="25000"/>
            </a:schemeClr>
          </a:solidFill>
          <a:ln/>
        </p:spPr>
      </p:sp>
      <p:sp>
        <p:nvSpPr>
          <p:cNvPr id="6" name="Text 4"/>
          <p:cNvSpPr txBox="1"/>
          <p:nvPr/>
        </p:nvSpPr>
        <p:spPr>
          <a:xfrm>
            <a:off x="777240" y="2240280"/>
            <a:ext cx="3657600" cy="274320"/>
          </a:xfrm>
          <a:prstGeom prst="rect">
            <a:avLst/>
          </a:prstGeom>
          <a:noFill/>
          <a:ln/>
        </p:spPr>
        <p:txBody>
          <a:bodyPr wrap="square" lIns="0" tIns="0" rIns="0" bIns="0" rtlCol="0" anchor="ctr"/>
          <a:lstStyle/>
          <a:p>
            <a:pPr marL="0" indent="0">
              <a:buNone/>
            </a:pPr>
            <a:r>
              <a:rPr lang="en-US" sz="1100" b="1" kern="0" spc="150" dirty="0">
                <a:solidFill>
                  <a:schemeClr val="accent5">
                    <a:lumMod val="40000"/>
                    <a:lumOff val="60000"/>
                  </a:schemeClr>
                </a:solidFill>
                <a:latin typeface="Calibri" pitchFamily="34" charset="0"/>
                <a:ea typeface="Calibri" pitchFamily="34" charset="-122"/>
                <a:cs typeface="Calibri" pitchFamily="34" charset="-120"/>
              </a:rPr>
              <a:t>DEUTSCH</a:t>
            </a:r>
            <a:endParaRPr lang="en-US" sz="1100" dirty="0">
              <a:solidFill>
                <a:schemeClr val="accent5">
                  <a:lumMod val="40000"/>
                  <a:lumOff val="60000"/>
                </a:schemeClr>
              </a:solidFill>
            </a:endParaRPr>
          </a:p>
        </p:txBody>
      </p:sp>
      <p:sp>
        <p:nvSpPr>
          <p:cNvPr id="7" name="Text 5"/>
          <p:cNvSpPr txBox="1"/>
          <p:nvPr/>
        </p:nvSpPr>
        <p:spPr>
          <a:xfrm>
            <a:off x="777240" y="2542032"/>
            <a:ext cx="4937760" cy="411480"/>
          </a:xfrm>
          <a:prstGeom prst="rect">
            <a:avLst/>
          </a:prstGeom>
          <a:noFill/>
          <a:ln/>
        </p:spPr>
        <p:txBody>
          <a:bodyPr wrap="square" lIns="0" tIns="0" rIns="0" bIns="0" rtlCol="0" anchor="ctr"/>
          <a:lstStyle/>
          <a:p>
            <a:pPr marL="0" indent="0">
              <a:buNone/>
            </a:pPr>
            <a:r>
              <a:rPr lang="en-US" sz="1800" b="1" dirty="0">
                <a:solidFill>
                  <a:schemeClr val="bg1">
                    <a:lumMod val="95000"/>
                  </a:schemeClr>
                </a:solidFill>
                <a:latin typeface="Arial" pitchFamily="34" charset="0"/>
                <a:ea typeface="Arial" pitchFamily="34" charset="-122"/>
                <a:cs typeface="Arial" pitchFamily="34" charset="-120"/>
              </a:rPr>
              <a:t>Datenschutzbestimmungen</a:t>
            </a:r>
            <a:endParaRPr lang="en-US" sz="1800" dirty="0">
              <a:solidFill>
                <a:schemeClr val="bg1">
                  <a:lumMod val="95000"/>
                </a:schemeClr>
              </a:solidFill>
            </a:endParaRPr>
          </a:p>
        </p:txBody>
      </p:sp>
      <p:sp>
        <p:nvSpPr>
          <p:cNvPr id="8" name="Text 6"/>
          <p:cNvSpPr txBox="1"/>
          <p:nvPr/>
        </p:nvSpPr>
        <p:spPr>
          <a:xfrm>
            <a:off x="777240" y="3017520"/>
            <a:ext cx="4937760" cy="365760"/>
          </a:xfrm>
          <a:prstGeom prst="rect">
            <a:avLst/>
          </a:prstGeom>
          <a:noFill/>
          <a:ln/>
        </p:spPr>
        <p:txBody>
          <a:bodyPr wrap="square" lIns="0" tIns="0" rIns="0" bIns="0" rtlCol="0" anchor="ctr"/>
          <a:lstStyle/>
          <a:p>
            <a:pPr marL="0" indent="0">
              <a:buNone/>
            </a:pPr>
            <a:r>
              <a:rPr lang="en-US" sz="1400" dirty="0">
                <a:solidFill>
                  <a:schemeClr val="bg1">
                    <a:lumMod val="85000"/>
                  </a:schemeClr>
                </a:solidFill>
                <a:latin typeface="Courier New" pitchFamily="34" charset="0"/>
                <a:ea typeface="Courier New" pitchFamily="34" charset="-122"/>
                <a:cs typeface="Courier New" pitchFamily="34" charset="-120"/>
              </a:rPr>
              <a:t>Daten + schutz + best + imm + ung + en</a:t>
            </a:r>
            <a:endParaRPr lang="en-US" sz="1400" dirty="0">
              <a:solidFill>
                <a:schemeClr val="bg1">
                  <a:lumMod val="85000"/>
                </a:schemeClr>
              </a:solidFill>
            </a:endParaRPr>
          </a:p>
        </p:txBody>
      </p:sp>
      <p:sp>
        <p:nvSpPr>
          <p:cNvPr id="9" name="Text 7"/>
          <p:cNvSpPr txBox="1"/>
          <p:nvPr/>
        </p:nvSpPr>
        <p:spPr>
          <a:xfrm>
            <a:off x="777240" y="3474720"/>
            <a:ext cx="4572000" cy="365760"/>
          </a:xfrm>
          <a:prstGeom prst="rect">
            <a:avLst/>
          </a:prstGeom>
          <a:noFill/>
          <a:ln/>
        </p:spPr>
        <p:txBody>
          <a:bodyPr wrap="square" lIns="0" tIns="0" rIns="0" bIns="0" rtlCol="0" anchor="ctr"/>
          <a:lstStyle/>
          <a:p>
            <a:pPr marL="0" indent="0">
              <a:buNone/>
            </a:pPr>
            <a:r>
              <a:rPr lang="en-US" sz="1250" i="1" dirty="0">
                <a:solidFill>
                  <a:schemeClr val="accent5">
                    <a:lumMod val="40000"/>
                    <a:lumOff val="60000"/>
                  </a:schemeClr>
                </a:solidFill>
                <a:latin typeface="Calibri" pitchFamily="34" charset="0"/>
                <a:ea typeface="Calibri" pitchFamily="34" charset="-122"/>
                <a:cs typeface="Calibri" pitchFamily="34" charset="-120"/>
              </a:rPr>
              <a:t>≈ 5–6 Tokens für ein Wort</a:t>
            </a:r>
            <a:endParaRPr lang="en-US" sz="1250" dirty="0">
              <a:solidFill>
                <a:schemeClr val="accent5">
                  <a:lumMod val="40000"/>
                  <a:lumOff val="60000"/>
                </a:schemeClr>
              </a:solidFill>
            </a:endParaRPr>
          </a:p>
        </p:txBody>
      </p:sp>
      <p:sp>
        <p:nvSpPr>
          <p:cNvPr id="10" name="Shape 8"/>
          <p:cNvSpPr/>
          <p:nvPr/>
        </p:nvSpPr>
        <p:spPr>
          <a:xfrm>
            <a:off x="6172200" y="2103120"/>
            <a:ext cx="5668108" cy="1965960"/>
          </a:xfrm>
          <a:prstGeom prst="roundRect">
            <a:avLst>
              <a:gd name="adj" fmla="val 4651"/>
            </a:avLst>
          </a:prstGeom>
          <a:solidFill>
            <a:schemeClr val="bg2">
              <a:lumMod val="25000"/>
            </a:schemeClr>
          </a:solidFill>
          <a:ln/>
        </p:spPr>
      </p:sp>
      <p:sp>
        <p:nvSpPr>
          <p:cNvPr id="11" name="Text 9"/>
          <p:cNvSpPr txBox="1"/>
          <p:nvPr/>
        </p:nvSpPr>
        <p:spPr>
          <a:xfrm>
            <a:off x="6400800" y="2240280"/>
            <a:ext cx="3657600" cy="274320"/>
          </a:xfrm>
          <a:prstGeom prst="rect">
            <a:avLst/>
          </a:prstGeom>
          <a:noFill/>
          <a:ln/>
        </p:spPr>
        <p:txBody>
          <a:bodyPr wrap="square" lIns="0" tIns="0" rIns="0" bIns="0" rtlCol="0" anchor="ctr"/>
          <a:lstStyle/>
          <a:p>
            <a:pPr marL="0" indent="0">
              <a:buNone/>
            </a:pPr>
            <a:r>
              <a:rPr lang="en-US" sz="1100" b="1" kern="0" spc="150" dirty="0">
                <a:solidFill>
                  <a:schemeClr val="accent5">
                    <a:lumMod val="40000"/>
                    <a:lumOff val="60000"/>
                  </a:schemeClr>
                </a:solidFill>
                <a:latin typeface="Calibri" pitchFamily="34" charset="0"/>
                <a:ea typeface="Calibri" pitchFamily="34" charset="-122"/>
                <a:cs typeface="Calibri" pitchFamily="34" charset="-120"/>
              </a:rPr>
              <a:t>ENGLISCH</a:t>
            </a:r>
            <a:endParaRPr lang="en-US" sz="1100" dirty="0">
              <a:solidFill>
                <a:schemeClr val="accent5">
                  <a:lumMod val="40000"/>
                  <a:lumOff val="60000"/>
                </a:schemeClr>
              </a:solidFill>
            </a:endParaRPr>
          </a:p>
        </p:txBody>
      </p:sp>
      <p:sp>
        <p:nvSpPr>
          <p:cNvPr id="12" name="Text 10"/>
          <p:cNvSpPr txBox="1"/>
          <p:nvPr/>
        </p:nvSpPr>
        <p:spPr>
          <a:xfrm>
            <a:off x="6400800" y="2542032"/>
            <a:ext cx="493776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Data protection regulations</a:t>
            </a:r>
            <a:endParaRPr lang="en-US" sz="1800" dirty="0"/>
          </a:p>
        </p:txBody>
      </p:sp>
      <p:sp>
        <p:nvSpPr>
          <p:cNvPr id="13" name="Text 11"/>
          <p:cNvSpPr txBox="1"/>
          <p:nvPr/>
        </p:nvSpPr>
        <p:spPr>
          <a:xfrm>
            <a:off x="6400800" y="3017520"/>
            <a:ext cx="4937760" cy="365760"/>
          </a:xfrm>
          <a:prstGeom prst="rect">
            <a:avLst/>
          </a:prstGeom>
          <a:noFill/>
          <a:ln/>
        </p:spPr>
        <p:txBody>
          <a:bodyPr wrap="square" lIns="0" tIns="0" rIns="0" bIns="0" rtlCol="0" anchor="ctr"/>
          <a:lstStyle/>
          <a:p>
            <a:pPr marL="0" indent="0">
              <a:buNone/>
            </a:pPr>
            <a:r>
              <a:rPr lang="en-US" sz="1400" dirty="0">
                <a:solidFill>
                  <a:schemeClr val="bg1">
                    <a:lumMod val="95000"/>
                  </a:schemeClr>
                </a:solidFill>
                <a:latin typeface="Courier New" pitchFamily="34" charset="0"/>
                <a:ea typeface="Courier New" pitchFamily="34" charset="-122"/>
                <a:cs typeface="Courier New" pitchFamily="34" charset="-120"/>
              </a:rPr>
              <a:t>Data + protection + regulations</a:t>
            </a:r>
            <a:endParaRPr lang="en-US" sz="1400" dirty="0">
              <a:solidFill>
                <a:schemeClr val="bg1">
                  <a:lumMod val="95000"/>
                </a:schemeClr>
              </a:solidFill>
            </a:endParaRPr>
          </a:p>
        </p:txBody>
      </p:sp>
      <p:sp>
        <p:nvSpPr>
          <p:cNvPr id="14" name="Text 12"/>
          <p:cNvSpPr txBox="1"/>
          <p:nvPr/>
        </p:nvSpPr>
        <p:spPr>
          <a:xfrm>
            <a:off x="6400800" y="3474720"/>
            <a:ext cx="4572000" cy="365760"/>
          </a:xfrm>
          <a:prstGeom prst="rect">
            <a:avLst/>
          </a:prstGeom>
          <a:noFill/>
          <a:ln/>
        </p:spPr>
        <p:txBody>
          <a:bodyPr wrap="square" lIns="0" tIns="0" rIns="0" bIns="0" rtlCol="0" anchor="ctr"/>
          <a:lstStyle/>
          <a:p>
            <a:pPr marL="0" indent="0">
              <a:buNone/>
            </a:pPr>
            <a:r>
              <a:rPr lang="en-US" sz="1250" i="1" dirty="0">
                <a:solidFill>
                  <a:schemeClr val="accent5">
                    <a:lumMod val="40000"/>
                    <a:lumOff val="60000"/>
                  </a:schemeClr>
                </a:solidFill>
                <a:latin typeface="Calibri" pitchFamily="34" charset="0"/>
                <a:ea typeface="Calibri" pitchFamily="34" charset="-122"/>
                <a:cs typeface="Calibri" pitchFamily="34" charset="-120"/>
              </a:rPr>
              <a:t>= genau 3 Tokens (1 pro Wort)</a:t>
            </a:r>
            <a:endParaRPr lang="en-US" sz="1250" dirty="0">
              <a:solidFill>
                <a:schemeClr val="accent5">
                  <a:lumMod val="40000"/>
                  <a:lumOff val="60000"/>
                </a:schemeClr>
              </a:solidFill>
            </a:endParaRPr>
          </a:p>
        </p:txBody>
      </p:sp>
      <p:graphicFrame>
        <p:nvGraphicFramePr>
          <p:cNvPr id="15" name="Chart 0"/>
          <p:cNvGraphicFramePr/>
          <p:nvPr>
            <p:extLst>
              <p:ext uri="{D42A27DB-BD31-4B8C-83A1-F6EECF244321}">
                <p14:modId xmlns:p14="http://schemas.microsoft.com/office/powerpoint/2010/main" val="711027811"/>
              </p:ext>
            </p:extLst>
          </p:nvPr>
        </p:nvGraphicFramePr>
        <p:xfrm>
          <a:off x="548640" y="4297680"/>
          <a:ext cx="539496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17" name="Text 14"/>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
        <p:nvSpPr>
          <p:cNvPr id="18" name="Shape 8"/>
          <p:cNvSpPr/>
          <p:nvPr/>
        </p:nvSpPr>
        <p:spPr>
          <a:xfrm>
            <a:off x="5120640" y="4297680"/>
            <a:ext cx="6719669" cy="2240280"/>
          </a:xfrm>
          <a:prstGeom prst="roundRect">
            <a:avLst>
              <a:gd name="adj" fmla="val 4651"/>
            </a:avLst>
          </a:prstGeom>
          <a:solidFill>
            <a:srgbClr val="0D1321"/>
          </a:solidFill>
          <a:ln/>
        </p:spPr>
      </p:sp>
      <p:sp>
        <p:nvSpPr>
          <p:cNvPr id="20" name="Text 10"/>
          <p:cNvSpPr txBox="1"/>
          <p:nvPr/>
        </p:nvSpPr>
        <p:spPr>
          <a:xfrm>
            <a:off x="6780262" y="4524326"/>
            <a:ext cx="3192414" cy="411480"/>
          </a:xfrm>
          <a:prstGeom prst="rect">
            <a:avLst/>
          </a:prstGeom>
          <a:noFill/>
          <a:ln/>
        </p:spPr>
        <p:txBody>
          <a:bodyPr wrap="square" lIns="0" tIns="0" rIns="0" bIns="0" rtlCol="0" anchor="ctr"/>
          <a:lstStyle/>
          <a:p>
            <a:pPr marL="0" indent="0">
              <a:buNone/>
            </a:pPr>
            <a:r>
              <a:rPr lang="en-US" b="1" smtClean="0">
                <a:solidFill>
                  <a:srgbClr val="FFFFFF"/>
                </a:solidFill>
                <a:latin typeface="Arial" pitchFamily="34" charset="0"/>
                <a:cs typeface="Arial" pitchFamily="34" charset="-120"/>
              </a:rPr>
              <a:t>Token Berechnung in Ollama</a:t>
            </a:r>
            <a:endParaRPr lang="en-US" sz="1800" dirty="0"/>
          </a:p>
        </p:txBody>
      </p:sp>
      <p:sp>
        <p:nvSpPr>
          <p:cNvPr id="22" name="Text 12"/>
          <p:cNvSpPr txBox="1"/>
          <p:nvPr/>
        </p:nvSpPr>
        <p:spPr>
          <a:xfrm>
            <a:off x="5419725" y="4968190"/>
            <a:ext cx="6312027" cy="1381126"/>
          </a:xfrm>
          <a:prstGeom prst="rect">
            <a:avLst/>
          </a:prstGeom>
          <a:noFill/>
          <a:ln/>
        </p:spPr>
        <p:txBody>
          <a:bodyPr wrap="square" lIns="0" tIns="0" rIns="0" bIns="0" rtlCol="0" anchor="ctr"/>
          <a:lstStyle/>
          <a:p>
            <a:r>
              <a:rPr lang="en-US" sz="1200" smtClean="0">
                <a:solidFill>
                  <a:srgbClr val="00D9C0"/>
                </a:solidFill>
                <a:latin typeface="Consolas" panose="020B0609020204030204" pitchFamily="49" charset="0"/>
              </a:rPr>
              <a:t>$ jq </a:t>
            </a:r>
            <a:r>
              <a:rPr lang="en-US" sz="1200">
                <a:solidFill>
                  <a:srgbClr val="00D9C0"/>
                </a:solidFill>
                <a:latin typeface="Consolas" panose="020B0609020204030204" pitchFamily="49" charset="0"/>
              </a:rPr>
              <a:t>-n --rawfile t example-deutsch.txt \</a:t>
            </a:r>
          </a:p>
          <a:p>
            <a:r>
              <a:rPr lang="en-US" sz="1200">
                <a:solidFill>
                  <a:srgbClr val="00D9C0"/>
                </a:solidFill>
                <a:latin typeface="Consolas" panose="020B0609020204030204" pitchFamily="49" charset="0"/>
              </a:rPr>
              <a:t>'{model:"llama3.1:8b",prompt:$t,stream:false,options:{num_predict:1}}' | \</a:t>
            </a:r>
          </a:p>
          <a:p>
            <a:r>
              <a:rPr lang="en-US" sz="1200">
                <a:solidFill>
                  <a:srgbClr val="00D9C0"/>
                </a:solidFill>
                <a:latin typeface="Consolas" panose="020B0609020204030204" pitchFamily="49" charset="0"/>
              </a:rPr>
              <a:t>curl -s http://localhost:11434/api/generate -d @- | \</a:t>
            </a:r>
          </a:p>
          <a:p>
            <a:r>
              <a:rPr lang="en-US" sz="1200">
                <a:solidFill>
                  <a:srgbClr val="00D9C0"/>
                </a:solidFill>
                <a:latin typeface="Consolas" panose="020B0609020204030204" pitchFamily="49" charset="0"/>
              </a:rPr>
              <a:t>jq '{prompt_eval_count, eval_count</a:t>
            </a:r>
            <a:r>
              <a:rPr lang="en-US" sz="1200" smtClean="0">
                <a:solidFill>
                  <a:srgbClr val="00D9C0"/>
                </a:solidFill>
                <a:latin typeface="Consolas" panose="020B0609020204030204" pitchFamily="49" charset="0"/>
              </a:rPr>
              <a:t>}‘</a:t>
            </a:r>
          </a:p>
          <a:p>
            <a:endParaRPr lang="en-US" sz="1200">
              <a:solidFill>
                <a:srgbClr val="00D9C0"/>
              </a:solidFill>
              <a:latin typeface="Consolas" panose="020B0609020204030204" pitchFamily="49" charset="0"/>
            </a:endParaRPr>
          </a:p>
          <a:p>
            <a:r>
              <a:rPr lang="en-US" sz="1200">
                <a:solidFill>
                  <a:schemeClr val="bg1">
                    <a:lumMod val="95000"/>
                  </a:schemeClr>
                </a:solidFill>
                <a:latin typeface="Consolas" panose="020B0609020204030204" pitchFamily="49" charset="0"/>
              </a:rPr>
              <a:t> "prompt_eval_count": 319,</a:t>
            </a:r>
          </a:p>
          <a:p>
            <a:r>
              <a:rPr lang="en-US" sz="1200">
                <a:solidFill>
                  <a:schemeClr val="bg1">
                    <a:lumMod val="95000"/>
                  </a:schemeClr>
                </a:solidFill>
                <a:latin typeface="Consolas" panose="020B0609020204030204" pitchFamily="49" charset="0"/>
              </a:rPr>
              <a:t> </a:t>
            </a:r>
            <a:r>
              <a:rPr lang="en-US" sz="1200" smtClean="0">
                <a:solidFill>
                  <a:schemeClr val="bg1">
                    <a:lumMod val="95000"/>
                  </a:schemeClr>
                </a:solidFill>
                <a:latin typeface="Consolas" panose="020B0609020204030204" pitchFamily="49" charset="0"/>
              </a:rPr>
              <a:t>"</a:t>
            </a:r>
            <a:r>
              <a:rPr lang="en-US" sz="1200">
                <a:solidFill>
                  <a:schemeClr val="bg1">
                    <a:lumMod val="95000"/>
                  </a:schemeClr>
                </a:solidFill>
                <a:latin typeface="Consolas" panose="020B0609020204030204" pitchFamily="49" charset="0"/>
              </a:rPr>
              <a:t>eval_count": 1</a:t>
            </a:r>
            <a:endParaRPr lang="en-US" sz="1200" dirty="0">
              <a:solidFill>
                <a:schemeClr val="bg1">
                  <a:lumMod val="95000"/>
                </a:schemeClr>
              </a:solidFill>
              <a:latin typeface="Consolas" panose="020B0609020204030204"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r>
              <a:rPr lang="en-US" sz="1300" b="1" kern="0" spc="200">
                <a:solidFill>
                  <a:srgbClr val="FF6B4A"/>
                </a:solidFill>
                <a:ea typeface="Calibri" pitchFamily="34" charset="-122"/>
                <a:cs typeface="Calibri" pitchFamily="34" charset="-120"/>
              </a:rPr>
              <a:t>BLOCK 1 GRUNDLAGEN</a:t>
            </a:r>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r>
              <a:rPr lang="en-US" sz="3000" b="1" dirty="0">
                <a:solidFill>
                  <a:srgbClr val="12172B"/>
                </a:solidFill>
                <a:latin typeface="Arial" pitchFamily="34" charset="0"/>
                <a:ea typeface="Arial" pitchFamily="34" charset="-122"/>
                <a:cs typeface="Arial" pitchFamily="34" charset="-120"/>
              </a:rPr>
              <a:t>Verfügbare Modelle: Ein Überblick über ollama.com/library</a:t>
            </a:r>
          </a:p>
        </p:txBody>
      </p:sp>
      <p:sp>
        <p:nvSpPr>
          <p:cNvPr id="4" name="Text 2"/>
          <p:cNvSpPr txBox="1"/>
          <p:nvPr/>
        </p:nvSpPr>
        <p:spPr>
          <a:xfrm>
            <a:off x="548640" y="1371600"/>
            <a:ext cx="10789920" cy="457200"/>
          </a:xfrm>
          <a:prstGeom prst="rect">
            <a:avLst/>
          </a:prstGeom>
          <a:noFill/>
          <a:ln/>
        </p:spPr>
        <p:txBody>
          <a:bodyPr wrap="square" lIns="0" tIns="0" rIns="0" bIns="0" rtlCol="0" anchor="ctr"/>
          <a:lstStyle/>
          <a:p>
            <a:r>
              <a:rPr lang="en-US" sz="1300" dirty="0">
                <a:solidFill>
                  <a:srgbClr val="5B6478"/>
                </a:solidFill>
                <a:ea typeface="Calibri" pitchFamily="34" charset="-122"/>
                <a:cs typeface="Calibri" pitchFamily="34" charset="-120"/>
              </a:rPr>
              <a:t>Ollama kann hunderte offene Modelle laden – z. B. mit </a:t>
            </a:r>
            <a:r>
              <a:rPr lang="en-US" sz="1300" b="1" dirty="0">
                <a:solidFill>
                  <a:srgbClr val="5B6478"/>
                </a:solidFill>
                <a:latin typeface="Calibri" panose="020F0502020204030204" pitchFamily="34" charset="0"/>
                <a:ea typeface="Calibri" panose="020F0502020204030204" pitchFamily="34" charset="0"/>
                <a:cs typeface="Calibri" panose="020F0502020204030204" pitchFamily="34" charset="0"/>
              </a:rPr>
              <a:t>docker exec -it ollama_container ollama pull &lt;modell:tag&gt;. </a:t>
            </a:r>
            <a:r>
              <a:rPr lang="en-US" sz="1300" dirty="0">
                <a:solidFill>
                  <a:srgbClr val="5B6478"/>
                </a:solidFill>
                <a:ea typeface="Calibri" pitchFamily="34" charset="-122"/>
                <a:cs typeface="Calibri" pitchFamily="34" charset="-120"/>
              </a:rPr>
              <a:t>Diese sieben Familien decken die meisten Alltags- und Spezialfälle </a:t>
            </a:r>
            <a:r>
              <a:rPr lang="en-US" sz="1300">
                <a:solidFill>
                  <a:srgbClr val="5B6478"/>
                </a:solidFill>
                <a:ea typeface="Calibri" pitchFamily="34" charset="-122"/>
                <a:cs typeface="Calibri" pitchFamily="34" charset="-120"/>
              </a:rPr>
              <a:t>ab. Verfügbare Modelle in </a:t>
            </a:r>
            <a:r>
              <a:rPr lang="en-US" sz="1300" b="1">
                <a:solidFill>
                  <a:srgbClr val="5B6478"/>
                </a:solidFill>
                <a:ea typeface="Calibri" pitchFamily="34" charset="-122"/>
                <a:cs typeface="Calibri" pitchFamily="34" charset="-120"/>
              </a:rPr>
              <a:t>https://ollama.com/library</a:t>
            </a:r>
            <a:endParaRPr lang="en-US" sz="1300" b="1" dirty="0">
              <a:solidFill>
                <a:srgbClr val="5B6478"/>
              </a:solidFill>
              <a:ea typeface="Calibri" pitchFamily="34" charset="-122"/>
              <a:cs typeface="Calibri" pitchFamily="34" charset="-120"/>
            </a:endParaRPr>
          </a:p>
        </p:txBody>
      </p:sp>
      <p:sp>
        <p:nvSpPr>
          <p:cNvPr id="41" name="Text 39"/>
          <p:cNvSpPr txBox="1"/>
          <p:nvPr/>
        </p:nvSpPr>
        <p:spPr>
          <a:xfrm>
            <a:off x="457200" y="6537960"/>
            <a:ext cx="5486400" cy="274320"/>
          </a:xfrm>
          <a:prstGeom prst="rect">
            <a:avLst/>
          </a:prstGeom>
          <a:noFill/>
          <a:ln/>
        </p:spPr>
        <p:txBody>
          <a:bodyPr wrap="square" lIns="0" tIns="0" rIns="0" bIns="0" rtlCol="0" anchor="ctr"/>
          <a:lstStyle/>
          <a:p>
            <a:r>
              <a:rPr lang="en-US" sz="900" dirty="0">
                <a:solidFill>
                  <a:srgbClr val="5B6478"/>
                </a:solidFill>
                <a:ea typeface="Calibri" pitchFamily="34" charset="-122"/>
                <a:cs typeface="Calibri" pitchFamily="34" charset="-120"/>
              </a:rPr>
              <a:t>OLLAMA PERFORMANCE TUNING · iGPU</a:t>
            </a:r>
            <a:endParaRPr lang="en-US" sz="900" dirty="0">
              <a:solidFill>
                <a:prstClr val="black"/>
              </a:solidFill>
            </a:endParaRPr>
          </a:p>
        </p:txBody>
      </p:sp>
      <p:sp>
        <p:nvSpPr>
          <p:cNvPr id="42" name="HeaderBg"/>
          <p:cNvSpPr/>
          <p:nvPr/>
        </p:nvSpPr>
        <p:spPr>
          <a:xfrm>
            <a:off x="548640" y="1965960"/>
            <a:ext cx="11094720" cy="411480"/>
          </a:xfrm>
          <a:prstGeom prst="roundRect">
            <a:avLst>
              <a:gd name="adj" fmla="val 12000"/>
            </a:avLst>
          </a:prstGeom>
          <a:solidFill>
            <a:srgbClr val="0D1321"/>
          </a:solidFill>
          <a:ln/>
        </p:spPr>
      </p:sp>
      <p:sp>
        <p:nvSpPr>
          <p:cNvPr id="43" name="Text"/>
          <p:cNvSpPr txBox="1"/>
          <p:nvPr/>
        </p:nvSpPr>
        <p:spPr>
          <a:xfrm>
            <a:off x="640080" y="1965960"/>
            <a:ext cx="2500000" cy="411480"/>
          </a:xfrm>
          <a:prstGeom prst="rect">
            <a:avLst/>
          </a:prstGeom>
          <a:noFill/>
          <a:ln/>
        </p:spPr>
        <p:txBody>
          <a:bodyPr wrap="square" lIns="0" tIns="0" rIns="0" bIns="0" rtlCol="0" anchor="ctr"/>
          <a:lstStyle/>
          <a:p>
            <a:r>
              <a:rPr lang="de-DE" sz="1150" b="1" dirty="0">
                <a:solidFill>
                  <a:srgbClr val="FFFFFF"/>
                </a:solidFill>
                <a:latin typeface="Arial" pitchFamily="34" charset="0"/>
              </a:rPr>
              <a:t>Modell-Familie</a:t>
            </a:r>
          </a:p>
        </p:txBody>
      </p:sp>
      <p:sp>
        <p:nvSpPr>
          <p:cNvPr id="44" name="Text"/>
          <p:cNvSpPr txBox="1"/>
          <p:nvPr/>
        </p:nvSpPr>
        <p:spPr>
          <a:xfrm>
            <a:off x="3140080" y="1965960"/>
            <a:ext cx="1750000" cy="411480"/>
          </a:xfrm>
          <a:prstGeom prst="rect">
            <a:avLst/>
          </a:prstGeom>
          <a:noFill/>
          <a:ln/>
        </p:spPr>
        <p:txBody>
          <a:bodyPr wrap="square" lIns="0" tIns="0" rIns="0" bIns="0" rtlCol="0" anchor="ctr"/>
          <a:lstStyle/>
          <a:p>
            <a:r>
              <a:rPr lang="de-DE" sz="1150" b="1" dirty="0">
                <a:solidFill>
                  <a:srgbClr val="FFFFFF"/>
                </a:solidFill>
                <a:latin typeface="Arial" pitchFamily="34" charset="0"/>
              </a:rPr>
              <a:t>Beispiel-Tag</a:t>
            </a:r>
          </a:p>
        </p:txBody>
      </p:sp>
      <p:sp>
        <p:nvSpPr>
          <p:cNvPr id="45" name="Text"/>
          <p:cNvSpPr txBox="1"/>
          <p:nvPr/>
        </p:nvSpPr>
        <p:spPr>
          <a:xfrm>
            <a:off x="4890080" y="1965960"/>
            <a:ext cx="1950000" cy="411480"/>
          </a:xfrm>
          <a:prstGeom prst="rect">
            <a:avLst/>
          </a:prstGeom>
          <a:noFill/>
          <a:ln/>
        </p:spPr>
        <p:txBody>
          <a:bodyPr wrap="square" lIns="0" tIns="0" rIns="0" bIns="0" rtlCol="0" anchor="ctr"/>
          <a:lstStyle/>
          <a:p>
            <a:r>
              <a:rPr lang="de-DE" sz="1150" b="1" dirty="0">
                <a:solidFill>
                  <a:srgbClr val="FFFFFF"/>
                </a:solidFill>
                <a:latin typeface="Arial" pitchFamily="34" charset="0"/>
              </a:rPr>
              <a:t>Anbieter / Herkunft</a:t>
            </a:r>
          </a:p>
        </p:txBody>
      </p:sp>
      <p:sp>
        <p:nvSpPr>
          <p:cNvPr id="46" name="Text"/>
          <p:cNvSpPr txBox="1"/>
          <p:nvPr/>
        </p:nvSpPr>
        <p:spPr>
          <a:xfrm>
            <a:off x="6840080" y="1965960"/>
            <a:ext cx="4711840" cy="411480"/>
          </a:xfrm>
          <a:prstGeom prst="rect">
            <a:avLst/>
          </a:prstGeom>
          <a:noFill/>
          <a:ln/>
        </p:spPr>
        <p:txBody>
          <a:bodyPr wrap="square" lIns="0" tIns="0" rIns="0" bIns="0" rtlCol="0" anchor="ctr"/>
          <a:lstStyle/>
          <a:p>
            <a:r>
              <a:rPr lang="de-DE" sz="1150" b="1" dirty="0">
                <a:solidFill>
                  <a:srgbClr val="FFFFFF"/>
                </a:solidFill>
                <a:latin typeface="Arial" pitchFamily="34" charset="0"/>
              </a:rPr>
              <a:t>Stärken</a:t>
            </a:r>
          </a:p>
        </p:txBody>
      </p:sp>
      <p:sp>
        <p:nvSpPr>
          <p:cNvPr id="47" name="RowBg0"/>
          <p:cNvSpPr/>
          <p:nvPr/>
        </p:nvSpPr>
        <p:spPr>
          <a:xfrm>
            <a:off x="548640" y="2377440"/>
            <a:ext cx="11094720" cy="560000"/>
          </a:xfrm>
          <a:prstGeom prst="rect">
            <a:avLst/>
          </a:prstGeom>
          <a:solidFill>
            <a:srgbClr val="F2F5FA"/>
          </a:solidFill>
          <a:ln/>
        </p:spPr>
      </p:sp>
      <p:sp>
        <p:nvSpPr>
          <p:cNvPr id="48" name="Text"/>
          <p:cNvSpPr txBox="1"/>
          <p:nvPr/>
        </p:nvSpPr>
        <p:spPr>
          <a:xfrm>
            <a:off x="640080" y="2377440"/>
            <a:ext cx="2500000" cy="560000"/>
          </a:xfrm>
          <a:prstGeom prst="rect">
            <a:avLst/>
          </a:prstGeom>
          <a:noFill/>
          <a:ln/>
        </p:spPr>
        <p:txBody>
          <a:bodyPr wrap="square" lIns="0" tIns="0" rIns="0" bIns="0" rtlCol="0" anchor="ctr"/>
          <a:lstStyle/>
          <a:p>
            <a:r>
              <a:rPr lang="de-DE" sz="1100" b="1" dirty="0">
                <a:solidFill>
                  <a:srgbClr val="0D1321"/>
                </a:solidFill>
              </a:rPr>
              <a:t>Llama 3.1 / 3.2 / 3.3</a:t>
            </a:r>
          </a:p>
        </p:txBody>
      </p:sp>
      <p:sp>
        <p:nvSpPr>
          <p:cNvPr id="49" name="Text"/>
          <p:cNvSpPr txBox="1"/>
          <p:nvPr/>
        </p:nvSpPr>
        <p:spPr>
          <a:xfrm>
            <a:off x="2533650" y="2377440"/>
            <a:ext cx="1750000" cy="560000"/>
          </a:xfrm>
          <a:prstGeom prst="rect">
            <a:avLst/>
          </a:prstGeom>
          <a:noFill/>
          <a:ln/>
        </p:spPr>
        <p:txBody>
          <a:bodyPr wrap="square" lIns="0" tIns="0" rIns="0" bIns="0" rtlCol="0" anchor="ctr"/>
          <a:lstStyle/>
          <a:p>
            <a:r>
              <a:rPr lang="de-DE" sz="1000" dirty="0">
                <a:solidFill>
                  <a:srgbClr val="3D6B63"/>
                </a:solidFill>
                <a:latin typeface="Courier New" pitchFamily="34" charset="0"/>
              </a:rPr>
              <a:t>llama3.2:3b</a:t>
            </a:r>
          </a:p>
        </p:txBody>
      </p:sp>
      <p:sp>
        <p:nvSpPr>
          <p:cNvPr id="50" name="Text"/>
          <p:cNvSpPr txBox="1"/>
          <p:nvPr/>
        </p:nvSpPr>
        <p:spPr>
          <a:xfrm>
            <a:off x="4890080" y="2377440"/>
            <a:ext cx="1950000" cy="560000"/>
          </a:xfrm>
          <a:prstGeom prst="rect">
            <a:avLst/>
          </a:prstGeom>
          <a:noFill/>
          <a:ln/>
        </p:spPr>
        <p:txBody>
          <a:bodyPr wrap="square" lIns="0" tIns="0" rIns="0" bIns="0" rtlCol="0" anchor="ctr"/>
          <a:lstStyle/>
          <a:p>
            <a:r>
              <a:rPr lang="de-DE" sz="1050" dirty="0">
                <a:solidFill>
                  <a:srgbClr val="5B6478"/>
                </a:solidFill>
              </a:rPr>
              <a:t>Meta AI (USA)</a:t>
            </a:r>
          </a:p>
        </p:txBody>
      </p:sp>
      <p:sp>
        <p:nvSpPr>
          <p:cNvPr id="51" name="Text"/>
          <p:cNvSpPr txBox="1"/>
          <p:nvPr/>
        </p:nvSpPr>
        <p:spPr>
          <a:xfrm>
            <a:off x="6840080" y="2377440"/>
            <a:ext cx="4711840" cy="560000"/>
          </a:xfrm>
          <a:prstGeom prst="rect">
            <a:avLst/>
          </a:prstGeom>
          <a:noFill/>
          <a:ln/>
        </p:spPr>
        <p:txBody>
          <a:bodyPr wrap="square" lIns="0" tIns="0" rIns="0" bIns="0" rtlCol="0" anchor="ctr"/>
          <a:lstStyle/>
          <a:p>
            <a:r>
              <a:rPr lang="de-DE" sz="1050" dirty="0">
                <a:solidFill>
                  <a:srgbClr val="30363F"/>
                </a:solidFill>
              </a:rPr>
              <a:t>Weltweiter Open-Source-Standard – stark in Textgenerierung, logischem Denken und Alltagskonversation.</a:t>
            </a:r>
          </a:p>
        </p:txBody>
      </p:sp>
      <p:sp>
        <p:nvSpPr>
          <p:cNvPr id="52" name="Text"/>
          <p:cNvSpPr txBox="1"/>
          <p:nvPr/>
        </p:nvSpPr>
        <p:spPr>
          <a:xfrm>
            <a:off x="640080" y="2937440"/>
            <a:ext cx="2500000" cy="560000"/>
          </a:xfrm>
          <a:prstGeom prst="rect">
            <a:avLst/>
          </a:prstGeom>
          <a:noFill/>
          <a:ln/>
        </p:spPr>
        <p:txBody>
          <a:bodyPr wrap="square" lIns="0" tIns="0" rIns="0" bIns="0" rtlCol="0" anchor="ctr"/>
          <a:lstStyle/>
          <a:p>
            <a:r>
              <a:rPr lang="de-DE" sz="1100" b="1" dirty="0">
                <a:solidFill>
                  <a:srgbClr val="0D1321"/>
                </a:solidFill>
              </a:rPr>
              <a:t>Gemma 4</a:t>
            </a:r>
          </a:p>
        </p:txBody>
      </p:sp>
      <p:sp>
        <p:nvSpPr>
          <p:cNvPr id="53" name="Text"/>
          <p:cNvSpPr txBox="1"/>
          <p:nvPr/>
        </p:nvSpPr>
        <p:spPr>
          <a:xfrm>
            <a:off x="2533650" y="2937440"/>
            <a:ext cx="1750000" cy="560000"/>
          </a:xfrm>
          <a:prstGeom prst="rect">
            <a:avLst/>
          </a:prstGeom>
          <a:noFill/>
          <a:ln/>
        </p:spPr>
        <p:txBody>
          <a:bodyPr wrap="square" lIns="0" tIns="0" rIns="0" bIns="0" rtlCol="0" anchor="ctr"/>
          <a:lstStyle/>
          <a:p>
            <a:r>
              <a:rPr lang="de-DE" sz="1000" dirty="0">
                <a:solidFill>
                  <a:srgbClr val="3D6B63"/>
                </a:solidFill>
                <a:latin typeface="Courier New" pitchFamily="34" charset="0"/>
              </a:rPr>
              <a:t>gemma4:12b</a:t>
            </a:r>
          </a:p>
        </p:txBody>
      </p:sp>
      <p:sp>
        <p:nvSpPr>
          <p:cNvPr id="54" name="Text"/>
          <p:cNvSpPr txBox="1"/>
          <p:nvPr/>
        </p:nvSpPr>
        <p:spPr>
          <a:xfrm>
            <a:off x="4890080" y="2937440"/>
            <a:ext cx="1950000" cy="560000"/>
          </a:xfrm>
          <a:prstGeom prst="rect">
            <a:avLst/>
          </a:prstGeom>
          <a:noFill/>
          <a:ln/>
        </p:spPr>
        <p:txBody>
          <a:bodyPr wrap="square" lIns="0" tIns="0" rIns="0" bIns="0" rtlCol="0" anchor="ctr"/>
          <a:lstStyle/>
          <a:p>
            <a:r>
              <a:rPr lang="de-DE" sz="1050" dirty="0">
                <a:solidFill>
                  <a:srgbClr val="5B6478"/>
                </a:solidFill>
              </a:rPr>
              <a:t>Google (USA)</a:t>
            </a:r>
          </a:p>
        </p:txBody>
      </p:sp>
      <p:sp>
        <p:nvSpPr>
          <p:cNvPr id="55" name="Text"/>
          <p:cNvSpPr txBox="1"/>
          <p:nvPr/>
        </p:nvSpPr>
        <p:spPr>
          <a:xfrm>
            <a:off x="6840080" y="2937440"/>
            <a:ext cx="4711840" cy="560000"/>
          </a:xfrm>
          <a:prstGeom prst="rect">
            <a:avLst/>
          </a:prstGeom>
          <a:noFill/>
          <a:ln/>
        </p:spPr>
        <p:txBody>
          <a:bodyPr wrap="square" lIns="0" tIns="0" rIns="0" bIns="0" rtlCol="0" anchor="ctr"/>
          <a:lstStyle/>
          <a:p>
            <a:r>
              <a:rPr lang="de-DE" sz="1050" dirty="0">
                <a:solidFill>
                  <a:srgbClr val="30363F"/>
                </a:solidFill>
              </a:rPr>
              <a:t>Exzellent im Befolgen komplexer Instruktionen und bei Mathe-Aufgaben – Vision &amp; Tool-Calling ab Werk.</a:t>
            </a:r>
          </a:p>
        </p:txBody>
      </p:sp>
      <p:sp>
        <p:nvSpPr>
          <p:cNvPr id="56" name="RowBg2"/>
          <p:cNvSpPr/>
          <p:nvPr/>
        </p:nvSpPr>
        <p:spPr>
          <a:xfrm>
            <a:off x="548640" y="3497440"/>
            <a:ext cx="11094720" cy="560000"/>
          </a:xfrm>
          <a:prstGeom prst="rect">
            <a:avLst/>
          </a:prstGeom>
          <a:solidFill>
            <a:srgbClr val="F2F5FA"/>
          </a:solidFill>
          <a:ln/>
        </p:spPr>
      </p:sp>
      <p:sp>
        <p:nvSpPr>
          <p:cNvPr id="57" name="Text"/>
          <p:cNvSpPr txBox="1"/>
          <p:nvPr/>
        </p:nvSpPr>
        <p:spPr>
          <a:xfrm>
            <a:off x="640080" y="3497440"/>
            <a:ext cx="2500000" cy="560000"/>
          </a:xfrm>
          <a:prstGeom prst="rect">
            <a:avLst/>
          </a:prstGeom>
          <a:noFill/>
          <a:ln/>
        </p:spPr>
        <p:txBody>
          <a:bodyPr wrap="square" lIns="0" tIns="0" rIns="0" bIns="0" rtlCol="0" anchor="ctr"/>
          <a:lstStyle/>
          <a:p>
            <a:r>
              <a:rPr lang="de-DE" sz="1100" b="1" dirty="0">
                <a:solidFill>
                  <a:srgbClr val="0D1321"/>
                </a:solidFill>
              </a:rPr>
              <a:t>Mistral Nemo / Large</a:t>
            </a:r>
          </a:p>
        </p:txBody>
      </p:sp>
      <p:sp>
        <p:nvSpPr>
          <p:cNvPr id="58" name="Text"/>
          <p:cNvSpPr txBox="1"/>
          <p:nvPr/>
        </p:nvSpPr>
        <p:spPr>
          <a:xfrm>
            <a:off x="2533650" y="3497440"/>
            <a:ext cx="2356430" cy="560000"/>
          </a:xfrm>
          <a:prstGeom prst="rect">
            <a:avLst/>
          </a:prstGeom>
          <a:noFill/>
          <a:ln/>
        </p:spPr>
        <p:txBody>
          <a:bodyPr wrap="square" lIns="0" tIns="0" rIns="0" bIns="0" rtlCol="0" anchor="ctr"/>
          <a:lstStyle/>
          <a:p>
            <a:r>
              <a:rPr lang="de-DE" sz="1000" smtClean="0">
                <a:solidFill>
                  <a:srgbClr val="3D6B63"/>
                </a:solidFill>
                <a:latin typeface="Courier New" pitchFamily="34" charset="0"/>
              </a:rPr>
              <a:t>mistral-nemo:12b</a:t>
            </a:r>
            <a:endParaRPr lang="de-DE" sz="1000" dirty="0">
              <a:solidFill>
                <a:srgbClr val="3D6B63"/>
              </a:solidFill>
              <a:latin typeface="Courier New" pitchFamily="34" charset="0"/>
            </a:endParaRPr>
          </a:p>
          <a:p>
            <a:r>
              <a:rPr lang="de-DE" sz="1000" smtClean="0">
                <a:solidFill>
                  <a:srgbClr val="3D6B63"/>
                </a:solidFill>
                <a:latin typeface="Courier New" pitchFamily="34" charset="0"/>
              </a:rPr>
              <a:t>sauerkrautlm-nemo-12b-instruct</a:t>
            </a:r>
          </a:p>
        </p:txBody>
      </p:sp>
      <p:sp>
        <p:nvSpPr>
          <p:cNvPr id="59" name="Text"/>
          <p:cNvSpPr txBox="1"/>
          <p:nvPr/>
        </p:nvSpPr>
        <p:spPr>
          <a:xfrm>
            <a:off x="4890080" y="3497440"/>
            <a:ext cx="1950000" cy="560000"/>
          </a:xfrm>
          <a:prstGeom prst="rect">
            <a:avLst/>
          </a:prstGeom>
          <a:noFill/>
          <a:ln/>
        </p:spPr>
        <p:txBody>
          <a:bodyPr wrap="square" lIns="0" tIns="0" rIns="0" bIns="0" rtlCol="0" anchor="ctr"/>
          <a:lstStyle/>
          <a:p>
            <a:r>
              <a:rPr lang="de-DE" sz="1050" dirty="0">
                <a:solidFill>
                  <a:srgbClr val="5B6478"/>
                </a:solidFill>
              </a:rPr>
              <a:t>Mistral AI (FR) &amp; NVIDIA</a:t>
            </a:r>
          </a:p>
        </p:txBody>
      </p:sp>
      <p:sp>
        <p:nvSpPr>
          <p:cNvPr id="60" name="Text"/>
          <p:cNvSpPr txBox="1"/>
          <p:nvPr/>
        </p:nvSpPr>
        <p:spPr>
          <a:xfrm>
            <a:off x="6840080" y="3497440"/>
            <a:ext cx="4711840" cy="560000"/>
          </a:xfrm>
          <a:prstGeom prst="rect">
            <a:avLst/>
          </a:prstGeom>
          <a:noFill/>
          <a:ln/>
        </p:spPr>
        <p:txBody>
          <a:bodyPr wrap="square" lIns="0" tIns="0" rIns="0" bIns="0" rtlCol="0" anchor="ctr"/>
          <a:lstStyle/>
          <a:p>
            <a:r>
              <a:rPr lang="de-DE" sz="1050" dirty="0">
                <a:solidFill>
                  <a:srgbClr val="30363F"/>
                </a:solidFill>
              </a:rPr>
              <a:t>Europäisches Spitzenmodell – besonders stark in europäischen Sprachen (exzellentes Deutsch) und Argumentation.</a:t>
            </a:r>
          </a:p>
        </p:txBody>
      </p:sp>
      <p:sp>
        <p:nvSpPr>
          <p:cNvPr id="61" name="Text"/>
          <p:cNvSpPr txBox="1"/>
          <p:nvPr/>
        </p:nvSpPr>
        <p:spPr>
          <a:xfrm>
            <a:off x="640080" y="4057440"/>
            <a:ext cx="2500000" cy="560000"/>
          </a:xfrm>
          <a:prstGeom prst="rect">
            <a:avLst/>
          </a:prstGeom>
          <a:noFill/>
          <a:ln/>
        </p:spPr>
        <p:txBody>
          <a:bodyPr wrap="square" lIns="0" tIns="0" rIns="0" bIns="0" rtlCol="0" anchor="ctr"/>
          <a:lstStyle/>
          <a:p>
            <a:r>
              <a:rPr lang="de-DE" sz="1100" b="1" dirty="0">
                <a:solidFill>
                  <a:srgbClr val="0D1321"/>
                </a:solidFill>
              </a:rPr>
              <a:t>Qwen 3.6 / Qwen3</a:t>
            </a:r>
          </a:p>
        </p:txBody>
      </p:sp>
      <p:sp>
        <p:nvSpPr>
          <p:cNvPr id="62" name="Text"/>
          <p:cNvSpPr txBox="1"/>
          <p:nvPr/>
        </p:nvSpPr>
        <p:spPr>
          <a:xfrm>
            <a:off x="2533650" y="4057440"/>
            <a:ext cx="1750000" cy="560000"/>
          </a:xfrm>
          <a:prstGeom prst="rect">
            <a:avLst/>
          </a:prstGeom>
          <a:noFill/>
          <a:ln/>
        </p:spPr>
        <p:txBody>
          <a:bodyPr wrap="square" lIns="0" tIns="0" rIns="0" bIns="0" rtlCol="0" anchor="ctr"/>
          <a:lstStyle/>
          <a:p>
            <a:r>
              <a:rPr lang="de-DE" sz="1000" dirty="0">
                <a:solidFill>
                  <a:srgbClr val="3D6B63"/>
                </a:solidFill>
                <a:latin typeface="Courier New" pitchFamily="34" charset="0"/>
              </a:rPr>
              <a:t>qwen3:32b</a:t>
            </a:r>
          </a:p>
        </p:txBody>
      </p:sp>
      <p:sp>
        <p:nvSpPr>
          <p:cNvPr id="63" name="Text"/>
          <p:cNvSpPr txBox="1"/>
          <p:nvPr/>
        </p:nvSpPr>
        <p:spPr>
          <a:xfrm>
            <a:off x="4890080" y="4057440"/>
            <a:ext cx="1950000" cy="560000"/>
          </a:xfrm>
          <a:prstGeom prst="rect">
            <a:avLst/>
          </a:prstGeom>
          <a:noFill/>
          <a:ln/>
        </p:spPr>
        <p:txBody>
          <a:bodyPr wrap="square" lIns="0" tIns="0" rIns="0" bIns="0" rtlCol="0" anchor="ctr"/>
          <a:lstStyle/>
          <a:p>
            <a:r>
              <a:rPr lang="de-DE" sz="1050" dirty="0">
                <a:solidFill>
                  <a:srgbClr val="5B6478"/>
                </a:solidFill>
              </a:rPr>
              <a:t>Alibaba (China)</a:t>
            </a:r>
          </a:p>
        </p:txBody>
      </p:sp>
      <p:sp>
        <p:nvSpPr>
          <p:cNvPr id="64" name="Text"/>
          <p:cNvSpPr txBox="1"/>
          <p:nvPr/>
        </p:nvSpPr>
        <p:spPr>
          <a:xfrm>
            <a:off x="6840080" y="4057440"/>
            <a:ext cx="4711840" cy="560000"/>
          </a:xfrm>
          <a:prstGeom prst="rect">
            <a:avLst/>
          </a:prstGeom>
          <a:noFill/>
          <a:ln/>
        </p:spPr>
        <p:txBody>
          <a:bodyPr wrap="square" lIns="0" tIns="0" rIns="0" bIns="0" rtlCol="0" anchor="ctr"/>
          <a:lstStyle/>
          <a:p>
            <a:r>
              <a:rPr lang="de-DE" sz="1050" dirty="0">
                <a:solidFill>
                  <a:srgbClr val="30363F"/>
                </a:solidFill>
              </a:rPr>
              <a:t>Schlägt in Benchmarks regelmäßig westliche Modelle – hervorragend für allgemeine und mehrsprachige Aufgaben.</a:t>
            </a:r>
          </a:p>
        </p:txBody>
      </p:sp>
      <p:sp>
        <p:nvSpPr>
          <p:cNvPr id="65" name="RowBg4"/>
          <p:cNvSpPr/>
          <p:nvPr/>
        </p:nvSpPr>
        <p:spPr>
          <a:xfrm>
            <a:off x="548640" y="4617440"/>
            <a:ext cx="11094720" cy="560000"/>
          </a:xfrm>
          <a:prstGeom prst="rect">
            <a:avLst/>
          </a:prstGeom>
          <a:solidFill>
            <a:srgbClr val="F2F5FA"/>
          </a:solidFill>
          <a:ln/>
        </p:spPr>
      </p:sp>
      <p:sp>
        <p:nvSpPr>
          <p:cNvPr id="66" name="Text"/>
          <p:cNvSpPr txBox="1"/>
          <p:nvPr/>
        </p:nvSpPr>
        <p:spPr>
          <a:xfrm>
            <a:off x="640080" y="4617440"/>
            <a:ext cx="2500000" cy="560000"/>
          </a:xfrm>
          <a:prstGeom prst="rect">
            <a:avLst/>
          </a:prstGeom>
          <a:noFill/>
          <a:ln/>
        </p:spPr>
        <p:txBody>
          <a:bodyPr wrap="square" lIns="0" tIns="0" rIns="0" bIns="0" rtlCol="0" anchor="ctr"/>
          <a:lstStyle/>
          <a:p>
            <a:r>
              <a:rPr lang="de-DE" sz="1100" b="1" dirty="0">
                <a:solidFill>
                  <a:srgbClr val="0D1321"/>
                </a:solidFill>
              </a:rPr>
              <a:t>DeepSeek R1</a:t>
            </a:r>
          </a:p>
        </p:txBody>
      </p:sp>
      <p:sp>
        <p:nvSpPr>
          <p:cNvPr id="67" name="Text"/>
          <p:cNvSpPr txBox="1"/>
          <p:nvPr/>
        </p:nvSpPr>
        <p:spPr>
          <a:xfrm>
            <a:off x="2533650" y="4617440"/>
            <a:ext cx="1750000" cy="560000"/>
          </a:xfrm>
          <a:prstGeom prst="rect">
            <a:avLst/>
          </a:prstGeom>
          <a:noFill/>
          <a:ln/>
        </p:spPr>
        <p:txBody>
          <a:bodyPr wrap="square" lIns="0" tIns="0" rIns="0" bIns="0" rtlCol="0" anchor="ctr"/>
          <a:lstStyle/>
          <a:p>
            <a:r>
              <a:rPr lang="de-DE" sz="1000" dirty="0">
                <a:solidFill>
                  <a:srgbClr val="3D6B63"/>
                </a:solidFill>
                <a:latin typeface="Courier New" pitchFamily="34" charset="0"/>
              </a:rPr>
              <a:t>deepseek-r1:70b</a:t>
            </a:r>
          </a:p>
        </p:txBody>
      </p:sp>
      <p:sp>
        <p:nvSpPr>
          <p:cNvPr id="68" name="Text"/>
          <p:cNvSpPr txBox="1"/>
          <p:nvPr/>
        </p:nvSpPr>
        <p:spPr>
          <a:xfrm>
            <a:off x="4890080" y="4617440"/>
            <a:ext cx="1950000" cy="560000"/>
          </a:xfrm>
          <a:prstGeom prst="rect">
            <a:avLst/>
          </a:prstGeom>
          <a:noFill/>
          <a:ln/>
        </p:spPr>
        <p:txBody>
          <a:bodyPr wrap="square" lIns="0" tIns="0" rIns="0" bIns="0" rtlCol="0" anchor="ctr"/>
          <a:lstStyle/>
          <a:p>
            <a:r>
              <a:rPr lang="de-DE" sz="1050" dirty="0">
                <a:solidFill>
                  <a:srgbClr val="5B6478"/>
                </a:solidFill>
              </a:rPr>
              <a:t>DeepSeek (China)</a:t>
            </a:r>
          </a:p>
        </p:txBody>
      </p:sp>
      <p:sp>
        <p:nvSpPr>
          <p:cNvPr id="69" name="Text"/>
          <p:cNvSpPr txBox="1"/>
          <p:nvPr/>
        </p:nvSpPr>
        <p:spPr>
          <a:xfrm>
            <a:off x="6840080" y="4617440"/>
            <a:ext cx="4711840" cy="560000"/>
          </a:xfrm>
          <a:prstGeom prst="rect">
            <a:avLst/>
          </a:prstGeom>
          <a:noFill/>
          <a:ln/>
        </p:spPr>
        <p:txBody>
          <a:bodyPr wrap="square" lIns="0" tIns="0" rIns="0" bIns="0" rtlCol="0" anchor="ctr"/>
          <a:lstStyle/>
          <a:p>
            <a:r>
              <a:rPr lang="de-DE" sz="1050" dirty="0">
                <a:solidFill>
                  <a:srgbClr val="30363F"/>
                </a:solidFill>
              </a:rPr>
              <a:t>Reasoning-Modell mit interner </a:t>
            </a:r>
            <a:r>
              <a:rPr lang="de-DE" sz="1050">
                <a:solidFill>
                  <a:srgbClr val="30363F"/>
                </a:solidFill>
              </a:rPr>
              <a:t>Denkkette </a:t>
            </a:r>
            <a:r>
              <a:rPr lang="de-DE" sz="1050" smtClean="0">
                <a:solidFill>
                  <a:srgbClr val="30363F"/>
                </a:solidFill>
              </a:rPr>
              <a:t>(</a:t>
            </a:r>
            <a:r>
              <a:rPr lang="de-DE" sz="1050"/>
              <a:t>Open-Source-Antwort auf </a:t>
            </a:r>
            <a:r>
              <a:rPr lang="de-DE" sz="1050" smtClean="0"/>
              <a:t>o1/o3 von OpenAI</a:t>
            </a:r>
            <a:r>
              <a:rPr lang="de-DE" sz="1050" smtClean="0">
                <a:solidFill>
                  <a:srgbClr val="30363F"/>
                </a:solidFill>
              </a:rPr>
              <a:t>) </a:t>
            </a:r>
            <a:r>
              <a:rPr lang="de-DE" sz="1050" dirty="0">
                <a:solidFill>
                  <a:srgbClr val="30363F"/>
                </a:solidFill>
              </a:rPr>
              <a:t>– extrem stark in Mathe, Logik und Programmierung.</a:t>
            </a:r>
          </a:p>
        </p:txBody>
      </p:sp>
      <p:sp>
        <p:nvSpPr>
          <p:cNvPr id="70" name="Text"/>
          <p:cNvSpPr txBox="1"/>
          <p:nvPr/>
        </p:nvSpPr>
        <p:spPr>
          <a:xfrm>
            <a:off x="640080" y="5177440"/>
            <a:ext cx="2500000" cy="560000"/>
          </a:xfrm>
          <a:prstGeom prst="rect">
            <a:avLst/>
          </a:prstGeom>
          <a:noFill/>
          <a:ln/>
        </p:spPr>
        <p:txBody>
          <a:bodyPr wrap="square" lIns="0" tIns="0" rIns="0" bIns="0" rtlCol="0" anchor="ctr"/>
          <a:lstStyle/>
          <a:p>
            <a:r>
              <a:rPr lang="de-DE" sz="1100" b="1" dirty="0">
                <a:solidFill>
                  <a:srgbClr val="0D1321"/>
                </a:solidFill>
              </a:rPr>
              <a:t>Qwen3 Coder</a:t>
            </a:r>
          </a:p>
        </p:txBody>
      </p:sp>
      <p:sp>
        <p:nvSpPr>
          <p:cNvPr id="71" name="Text"/>
          <p:cNvSpPr txBox="1"/>
          <p:nvPr/>
        </p:nvSpPr>
        <p:spPr>
          <a:xfrm>
            <a:off x="2533650" y="5177440"/>
            <a:ext cx="1750000" cy="560000"/>
          </a:xfrm>
          <a:prstGeom prst="rect">
            <a:avLst/>
          </a:prstGeom>
          <a:noFill/>
          <a:ln/>
        </p:spPr>
        <p:txBody>
          <a:bodyPr wrap="square" lIns="0" tIns="0" rIns="0" bIns="0" rtlCol="0" anchor="ctr"/>
          <a:lstStyle/>
          <a:p>
            <a:r>
              <a:rPr lang="de-DE" sz="1000" dirty="0">
                <a:solidFill>
                  <a:srgbClr val="3D6B63"/>
                </a:solidFill>
                <a:latin typeface="Courier New" pitchFamily="34" charset="0"/>
              </a:rPr>
              <a:t>qwen3-coder:30b</a:t>
            </a:r>
          </a:p>
        </p:txBody>
      </p:sp>
      <p:sp>
        <p:nvSpPr>
          <p:cNvPr id="72" name="Text"/>
          <p:cNvSpPr txBox="1"/>
          <p:nvPr/>
        </p:nvSpPr>
        <p:spPr>
          <a:xfrm>
            <a:off x="4890080" y="5177440"/>
            <a:ext cx="1950000" cy="560000"/>
          </a:xfrm>
          <a:prstGeom prst="rect">
            <a:avLst/>
          </a:prstGeom>
          <a:noFill/>
          <a:ln/>
        </p:spPr>
        <p:txBody>
          <a:bodyPr wrap="square" lIns="0" tIns="0" rIns="0" bIns="0" rtlCol="0" anchor="ctr"/>
          <a:lstStyle/>
          <a:p>
            <a:r>
              <a:rPr lang="de-DE" sz="1050" dirty="0">
                <a:solidFill>
                  <a:srgbClr val="5B6478"/>
                </a:solidFill>
              </a:rPr>
              <a:t>Alibaba (China)</a:t>
            </a:r>
          </a:p>
        </p:txBody>
      </p:sp>
      <p:sp>
        <p:nvSpPr>
          <p:cNvPr id="73" name="Text"/>
          <p:cNvSpPr txBox="1"/>
          <p:nvPr/>
        </p:nvSpPr>
        <p:spPr>
          <a:xfrm>
            <a:off x="6840080" y="5177440"/>
            <a:ext cx="4711840" cy="560000"/>
          </a:xfrm>
          <a:prstGeom prst="rect">
            <a:avLst/>
          </a:prstGeom>
          <a:noFill/>
          <a:ln/>
        </p:spPr>
        <p:txBody>
          <a:bodyPr wrap="square" lIns="0" tIns="0" rIns="0" bIns="0" rtlCol="0" anchor="ctr"/>
          <a:lstStyle/>
          <a:p>
            <a:r>
              <a:rPr lang="de-DE" sz="1050" dirty="0">
                <a:solidFill>
                  <a:srgbClr val="30363F"/>
                </a:solidFill>
              </a:rPr>
              <a:t>Führendes lokales Modell für Programmierassistenz – Code-Generierung, Bugfixing, große Codebases.</a:t>
            </a:r>
          </a:p>
        </p:txBody>
      </p:sp>
      <p:sp>
        <p:nvSpPr>
          <p:cNvPr id="74" name="RowBg6"/>
          <p:cNvSpPr/>
          <p:nvPr/>
        </p:nvSpPr>
        <p:spPr>
          <a:xfrm>
            <a:off x="548640" y="5737440"/>
            <a:ext cx="11094720" cy="560000"/>
          </a:xfrm>
          <a:prstGeom prst="rect">
            <a:avLst/>
          </a:prstGeom>
          <a:solidFill>
            <a:srgbClr val="F2F5FA"/>
          </a:solidFill>
          <a:ln/>
        </p:spPr>
      </p:sp>
      <p:sp>
        <p:nvSpPr>
          <p:cNvPr id="75" name="Text"/>
          <p:cNvSpPr txBox="1"/>
          <p:nvPr/>
        </p:nvSpPr>
        <p:spPr>
          <a:xfrm>
            <a:off x="640080" y="5737440"/>
            <a:ext cx="2500000" cy="560000"/>
          </a:xfrm>
          <a:prstGeom prst="rect">
            <a:avLst/>
          </a:prstGeom>
          <a:noFill/>
          <a:ln/>
        </p:spPr>
        <p:txBody>
          <a:bodyPr wrap="square" lIns="0" tIns="0" rIns="0" bIns="0" rtlCol="0" anchor="ctr"/>
          <a:lstStyle/>
          <a:p>
            <a:r>
              <a:rPr lang="de-DE" sz="1100" b="1" dirty="0">
                <a:solidFill>
                  <a:srgbClr val="0D1321"/>
                </a:solidFill>
              </a:rPr>
              <a:t>Phi-4</a:t>
            </a:r>
          </a:p>
        </p:txBody>
      </p:sp>
      <p:sp>
        <p:nvSpPr>
          <p:cNvPr id="76" name="Text"/>
          <p:cNvSpPr txBox="1"/>
          <p:nvPr/>
        </p:nvSpPr>
        <p:spPr>
          <a:xfrm>
            <a:off x="2533650" y="5737440"/>
            <a:ext cx="1750000" cy="560000"/>
          </a:xfrm>
          <a:prstGeom prst="rect">
            <a:avLst/>
          </a:prstGeom>
          <a:noFill/>
          <a:ln/>
        </p:spPr>
        <p:txBody>
          <a:bodyPr wrap="square" lIns="0" tIns="0" rIns="0" bIns="0" rtlCol="0" anchor="ctr"/>
          <a:lstStyle/>
          <a:p>
            <a:r>
              <a:rPr lang="de-DE" sz="1000" dirty="0">
                <a:solidFill>
                  <a:srgbClr val="3D6B63"/>
                </a:solidFill>
                <a:latin typeface="Courier New" pitchFamily="34" charset="0"/>
              </a:rPr>
              <a:t>phi4:14b</a:t>
            </a:r>
          </a:p>
        </p:txBody>
      </p:sp>
      <p:sp>
        <p:nvSpPr>
          <p:cNvPr id="77" name="Text"/>
          <p:cNvSpPr txBox="1"/>
          <p:nvPr/>
        </p:nvSpPr>
        <p:spPr>
          <a:xfrm>
            <a:off x="4890080" y="5737440"/>
            <a:ext cx="1950000" cy="560000"/>
          </a:xfrm>
          <a:prstGeom prst="rect">
            <a:avLst/>
          </a:prstGeom>
          <a:noFill/>
          <a:ln/>
        </p:spPr>
        <p:txBody>
          <a:bodyPr wrap="square" lIns="0" tIns="0" rIns="0" bIns="0" rtlCol="0" anchor="ctr"/>
          <a:lstStyle/>
          <a:p>
            <a:r>
              <a:rPr lang="de-DE" sz="1050" dirty="0">
                <a:solidFill>
                  <a:srgbClr val="5B6478"/>
                </a:solidFill>
              </a:rPr>
              <a:t>Microsoft (USA)</a:t>
            </a:r>
          </a:p>
        </p:txBody>
      </p:sp>
      <p:sp>
        <p:nvSpPr>
          <p:cNvPr id="78" name="Text"/>
          <p:cNvSpPr txBox="1"/>
          <p:nvPr/>
        </p:nvSpPr>
        <p:spPr>
          <a:xfrm>
            <a:off x="6840080" y="5737440"/>
            <a:ext cx="4711840" cy="560000"/>
          </a:xfrm>
          <a:prstGeom prst="rect">
            <a:avLst/>
          </a:prstGeom>
          <a:noFill/>
          <a:ln/>
        </p:spPr>
        <p:txBody>
          <a:bodyPr wrap="square" lIns="0" tIns="0" rIns="0" bIns="0" rtlCol="0" anchor="ctr"/>
          <a:lstStyle/>
          <a:p>
            <a:r>
              <a:rPr lang="de-DE" sz="1050" dirty="0">
                <a:solidFill>
                  <a:srgbClr val="30363F"/>
                </a:solidFill>
              </a:rPr>
              <a:t>Kompakt und hochoptimiert – trotz geringerer Parameterzahl präzise bei wissenschaftlichen und logischen Aufgaben.</a:t>
            </a:r>
          </a:p>
        </p:txBody>
      </p:sp>
      <p:sp>
        <p:nvSpPr>
          <p:cNvPr id="79" name="Text 8"/>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a:solidFill>
                  <a:srgbClr val="9AA3C0"/>
                </a:solidFill>
                <a:latin typeface="Calibri" pitchFamily="34" charset="0"/>
                <a:ea typeface="Calibri" pitchFamily="34" charset="-122"/>
                <a:cs typeface="Calibri" pitchFamily="34" charset="-120"/>
              </a:rPr>
              <a:t>7</a:t>
            </a:r>
            <a:endParaRPr lang="en-US" sz="900" dirty="0"/>
          </a:p>
        </p:txBody>
      </p:sp>
    </p:spTree>
    <p:extLst>
      <p:ext uri="{BB962C8B-B14F-4D97-AF65-F5344CB8AC3E}">
        <p14:creationId xmlns:p14="http://schemas.microsoft.com/office/powerpoint/2010/main" val="1597561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r>
              <a:rPr lang="en-US" sz="1300" b="1" kern="0" spc="200">
                <a:solidFill>
                  <a:srgbClr val="FF6B4A"/>
                </a:solidFill>
                <a:ea typeface="Calibri" pitchFamily="34" charset="-122"/>
                <a:cs typeface="Calibri" pitchFamily="34" charset="-120"/>
              </a:rPr>
              <a:t>BLOCK 1 GRUNDLAGEN</a:t>
            </a:r>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r>
              <a:rPr lang="en-US" sz="3000" b="1" dirty="0">
                <a:solidFill>
                  <a:srgbClr val="12172B"/>
                </a:solidFill>
                <a:latin typeface="Arial" pitchFamily="34" charset="0"/>
                <a:ea typeface="Arial" pitchFamily="34" charset="-122"/>
                <a:cs typeface="Arial" pitchFamily="34" charset="-120"/>
              </a:rPr>
              <a:t>Ollama REST-API: Die wichtigsten Endpunkte</a:t>
            </a:r>
          </a:p>
        </p:txBody>
      </p:sp>
      <p:sp>
        <p:nvSpPr>
          <p:cNvPr id="4" name="Text 2"/>
          <p:cNvSpPr txBox="1"/>
          <p:nvPr/>
        </p:nvSpPr>
        <p:spPr>
          <a:xfrm>
            <a:off x="548640" y="1371600"/>
            <a:ext cx="10789920" cy="594360"/>
          </a:xfrm>
          <a:prstGeom prst="rect">
            <a:avLst/>
          </a:prstGeom>
          <a:noFill/>
          <a:ln/>
        </p:spPr>
        <p:txBody>
          <a:bodyPr wrap="square" lIns="0" tIns="0" rIns="0" bIns="0" rtlCol="0" anchor="ctr"/>
          <a:lstStyle/>
          <a:p>
            <a:r>
              <a:rPr lang="en-US" sz="1300" dirty="0">
                <a:solidFill>
                  <a:srgbClr val="5B6478"/>
                </a:solidFill>
                <a:ea typeface="Calibri" pitchFamily="34" charset="-122"/>
                <a:cs typeface="Calibri" pitchFamily="34" charset="-120"/>
              </a:rPr>
              <a:t>Ollama stellt zwei Endpunkt-Familien bereit: native Endpunkte unter /api/* und OpenAI-kompatible Endpunkte unter /v1/* – für Tools, die eigentlich für die ChatGPT-API geschrieben </a:t>
            </a:r>
            <a:r>
              <a:rPr lang="en-US" sz="1300">
                <a:solidFill>
                  <a:srgbClr val="5B6478"/>
                </a:solidFill>
                <a:ea typeface="Calibri" pitchFamily="34" charset="-122"/>
                <a:cs typeface="Calibri" pitchFamily="34" charset="-120"/>
              </a:rPr>
              <a:t>wurden. </a:t>
            </a:r>
            <a:r>
              <a:rPr lang="en-US" sz="1300" smtClean="0">
                <a:solidFill>
                  <a:srgbClr val="5B6478"/>
                </a:solidFill>
                <a:ea typeface="Calibri" pitchFamily="34" charset="-122"/>
                <a:cs typeface="Calibri" pitchFamily="34" charset="-120"/>
              </a:rPr>
              <a:t>Aufruf </a:t>
            </a:r>
            <a:r>
              <a:rPr lang="en-US" sz="1300">
                <a:solidFill>
                  <a:srgbClr val="5B6478"/>
                </a:solidFill>
                <a:ea typeface="Calibri" pitchFamily="34" charset="-122"/>
                <a:cs typeface="Calibri" pitchFamily="34" charset="-120"/>
              </a:rPr>
              <a:t>z.B. </a:t>
            </a:r>
            <a:r>
              <a:rPr lang="en-US" sz="1300" smtClean="0">
                <a:solidFill>
                  <a:srgbClr val="5B6478"/>
                </a:solidFill>
                <a:ea typeface="Calibri" pitchFamily="34" charset="-122"/>
                <a:cs typeface="Calibri" pitchFamily="34" charset="-120"/>
              </a:rPr>
              <a:t>mit: </a:t>
            </a:r>
          </a:p>
          <a:p>
            <a:r>
              <a:rPr lang="en-US" sz="1300" b="1" smtClean="0">
                <a:solidFill>
                  <a:srgbClr val="5B6478"/>
                </a:solidFill>
                <a:ea typeface="Calibri" pitchFamily="34" charset="-122"/>
                <a:cs typeface="Calibri" pitchFamily="34" charset="-120"/>
              </a:rPr>
              <a:t>curl </a:t>
            </a:r>
            <a:r>
              <a:rPr lang="en-US" sz="1300" b="1">
                <a:solidFill>
                  <a:srgbClr val="5B6478"/>
                </a:solidFill>
                <a:ea typeface="Calibri" pitchFamily="34" charset="-122"/>
                <a:cs typeface="Calibri" pitchFamily="34" charset="-120"/>
              </a:rPr>
              <a:t>-s "http://localhost:11434/api/show" -H 'Content-Type: application/json' -d "{\"model\":\"myaniu/qwen2.5-1m:14b</a:t>
            </a:r>
            <a:r>
              <a:rPr lang="en-US" sz="1300" b="1" smtClean="0">
                <a:solidFill>
                  <a:srgbClr val="5B6478"/>
                </a:solidFill>
                <a:ea typeface="Calibri" pitchFamily="34" charset="-122"/>
                <a:cs typeface="Calibri" pitchFamily="34" charset="-120"/>
              </a:rPr>
              <a:t>\"}</a:t>
            </a:r>
            <a:r>
              <a:rPr lang="en-US" sz="1300" smtClean="0">
                <a:solidFill>
                  <a:srgbClr val="5B6478"/>
                </a:solidFill>
                <a:ea typeface="Calibri" pitchFamily="34" charset="-122"/>
                <a:cs typeface="Calibri" pitchFamily="34" charset="-120"/>
              </a:rPr>
              <a:t>"</a:t>
            </a:r>
            <a:endParaRPr lang="en-US" sz="1300" dirty="0">
              <a:solidFill>
                <a:srgbClr val="5B6478"/>
              </a:solidFill>
              <a:ea typeface="Calibri" pitchFamily="34" charset="-122"/>
              <a:cs typeface="Calibri" pitchFamily="34" charset="-120"/>
            </a:endParaRPr>
          </a:p>
        </p:txBody>
      </p:sp>
      <p:sp>
        <p:nvSpPr>
          <p:cNvPr id="41" name="Text 39"/>
          <p:cNvSpPr txBox="1"/>
          <p:nvPr/>
        </p:nvSpPr>
        <p:spPr>
          <a:xfrm>
            <a:off x="457200" y="6537960"/>
            <a:ext cx="5486400" cy="274320"/>
          </a:xfrm>
          <a:prstGeom prst="rect">
            <a:avLst/>
          </a:prstGeom>
          <a:noFill/>
          <a:ln/>
        </p:spPr>
        <p:txBody>
          <a:bodyPr wrap="square" lIns="0" tIns="0" rIns="0" bIns="0" rtlCol="0" anchor="ctr"/>
          <a:lstStyle/>
          <a:p>
            <a:r>
              <a:rPr lang="en-US" sz="900" dirty="0">
                <a:solidFill>
                  <a:srgbClr val="5B6478"/>
                </a:solidFill>
                <a:ea typeface="Calibri" pitchFamily="34" charset="-122"/>
                <a:cs typeface="Calibri" pitchFamily="34" charset="-120"/>
              </a:rPr>
              <a:t>OLLAMA PERFORMANCE TUNING · iGPU</a:t>
            </a:r>
            <a:endParaRPr lang="en-US" sz="900" dirty="0">
              <a:solidFill>
                <a:prstClr val="black"/>
              </a:solidFill>
            </a:endParaRPr>
          </a:p>
        </p:txBody>
      </p:sp>
      <p:sp>
        <p:nvSpPr>
          <p:cNvPr id="42" name="Text"/>
          <p:cNvSpPr txBox="1"/>
          <p:nvPr/>
        </p:nvSpPr>
        <p:spPr>
          <a:xfrm>
            <a:off x="620080" y="2105736"/>
            <a:ext cx="11003280" cy="246888"/>
          </a:xfrm>
          <a:prstGeom prst="rect">
            <a:avLst/>
          </a:prstGeom>
          <a:noFill/>
          <a:ln/>
        </p:spPr>
        <p:txBody>
          <a:bodyPr wrap="square" lIns="0" tIns="0" rIns="0" bIns="0" rtlCol="0" anchor="ctr"/>
          <a:lstStyle/>
          <a:p>
            <a:r>
              <a:rPr lang="de-DE" sz="1050" b="1" spc="100" dirty="0">
                <a:solidFill>
                  <a:srgbClr val="FF6B4A"/>
                </a:solidFill>
              </a:rPr>
              <a:t>TEXT- &amp; INFERENZ-ENDPUNKTE</a:t>
            </a:r>
          </a:p>
        </p:txBody>
      </p:sp>
      <p:sp>
        <p:nvSpPr>
          <p:cNvPr id="43" name="RowBg0"/>
          <p:cNvSpPr/>
          <p:nvPr/>
        </p:nvSpPr>
        <p:spPr>
          <a:xfrm>
            <a:off x="528640" y="2352624"/>
            <a:ext cx="11094720" cy="279552"/>
          </a:xfrm>
          <a:prstGeom prst="rect">
            <a:avLst/>
          </a:prstGeom>
          <a:solidFill>
            <a:srgbClr val="F2F5FA"/>
          </a:solidFill>
          <a:ln/>
        </p:spPr>
      </p:sp>
      <p:sp>
        <p:nvSpPr>
          <p:cNvPr id="44" name="Text"/>
          <p:cNvSpPr txBox="1"/>
          <p:nvPr/>
        </p:nvSpPr>
        <p:spPr>
          <a:xfrm>
            <a:off x="620080" y="2352624"/>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POST /api/chat</a:t>
            </a:r>
          </a:p>
        </p:txBody>
      </p:sp>
      <p:sp>
        <p:nvSpPr>
          <p:cNvPr id="45" name="Text"/>
          <p:cNvSpPr txBox="1"/>
          <p:nvPr/>
        </p:nvSpPr>
        <p:spPr>
          <a:xfrm>
            <a:off x="3440080" y="2352624"/>
            <a:ext cx="8091840" cy="279552"/>
          </a:xfrm>
          <a:prstGeom prst="rect">
            <a:avLst/>
          </a:prstGeom>
          <a:noFill/>
          <a:ln/>
        </p:spPr>
        <p:txBody>
          <a:bodyPr wrap="square" lIns="0" tIns="0" rIns="0" bIns="0" rtlCol="0" anchor="ctr"/>
          <a:lstStyle/>
          <a:p>
            <a:r>
              <a:rPr lang="de-DE" sz="1000" dirty="0">
                <a:solidFill>
                  <a:srgbClr val="30363F"/>
                </a:solidFill>
              </a:rPr>
              <a:t>Strukturierte Konversation über ein messages-Array (System-/User-/Assistant-Rollen).</a:t>
            </a:r>
          </a:p>
        </p:txBody>
      </p:sp>
      <p:sp>
        <p:nvSpPr>
          <p:cNvPr id="46" name="Text"/>
          <p:cNvSpPr txBox="1"/>
          <p:nvPr/>
        </p:nvSpPr>
        <p:spPr>
          <a:xfrm>
            <a:off x="620080" y="2632176"/>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POST /api/embed</a:t>
            </a:r>
          </a:p>
        </p:txBody>
      </p:sp>
      <p:sp>
        <p:nvSpPr>
          <p:cNvPr id="47" name="Text"/>
          <p:cNvSpPr txBox="1"/>
          <p:nvPr/>
        </p:nvSpPr>
        <p:spPr>
          <a:xfrm>
            <a:off x="3440080" y="2632176"/>
            <a:ext cx="8091840" cy="279552"/>
          </a:xfrm>
          <a:prstGeom prst="rect">
            <a:avLst/>
          </a:prstGeom>
          <a:noFill/>
          <a:ln/>
        </p:spPr>
        <p:txBody>
          <a:bodyPr wrap="square" lIns="0" tIns="0" rIns="0" bIns="0" rtlCol="0" anchor="ctr"/>
          <a:lstStyle/>
          <a:p>
            <a:r>
              <a:rPr lang="de-DE" sz="1000" dirty="0">
                <a:solidFill>
                  <a:srgbClr val="30363F"/>
                </a:solidFill>
              </a:rPr>
              <a:t>Erzeugt Vektor-Embeddings aus Text – Basis für eigene Wissensdatenbanken (RAG).</a:t>
            </a:r>
          </a:p>
        </p:txBody>
      </p:sp>
      <p:sp>
        <p:nvSpPr>
          <p:cNvPr id="48" name="Text"/>
          <p:cNvSpPr txBox="1"/>
          <p:nvPr/>
        </p:nvSpPr>
        <p:spPr>
          <a:xfrm>
            <a:off x="620080" y="2911728"/>
            <a:ext cx="11003280" cy="246888"/>
          </a:xfrm>
          <a:prstGeom prst="rect">
            <a:avLst/>
          </a:prstGeom>
          <a:noFill/>
          <a:ln/>
        </p:spPr>
        <p:txBody>
          <a:bodyPr wrap="square" lIns="0" tIns="0" rIns="0" bIns="0" rtlCol="0" anchor="ctr"/>
          <a:lstStyle/>
          <a:p>
            <a:r>
              <a:rPr lang="de-DE" sz="1050" b="1" spc="100" dirty="0">
                <a:solidFill>
                  <a:srgbClr val="00D9C0"/>
                </a:solidFill>
              </a:rPr>
              <a:t>MODELLVERWALTUNG</a:t>
            </a:r>
          </a:p>
        </p:txBody>
      </p:sp>
      <p:sp>
        <p:nvSpPr>
          <p:cNvPr id="49" name="RowBg2"/>
          <p:cNvSpPr/>
          <p:nvPr/>
        </p:nvSpPr>
        <p:spPr>
          <a:xfrm>
            <a:off x="528640" y="3158616"/>
            <a:ext cx="11094720" cy="279552"/>
          </a:xfrm>
          <a:prstGeom prst="rect">
            <a:avLst/>
          </a:prstGeom>
          <a:solidFill>
            <a:srgbClr val="F2F5FA"/>
          </a:solidFill>
          <a:ln/>
        </p:spPr>
      </p:sp>
      <p:sp>
        <p:nvSpPr>
          <p:cNvPr id="50" name="Text"/>
          <p:cNvSpPr txBox="1"/>
          <p:nvPr/>
        </p:nvSpPr>
        <p:spPr>
          <a:xfrm>
            <a:off x="620080" y="3158616"/>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GET /api/tags</a:t>
            </a:r>
          </a:p>
        </p:txBody>
      </p:sp>
      <p:sp>
        <p:nvSpPr>
          <p:cNvPr id="51" name="Text"/>
          <p:cNvSpPr txBox="1"/>
          <p:nvPr/>
        </p:nvSpPr>
        <p:spPr>
          <a:xfrm>
            <a:off x="3440080" y="3158616"/>
            <a:ext cx="8091840" cy="279552"/>
          </a:xfrm>
          <a:prstGeom prst="rect">
            <a:avLst/>
          </a:prstGeom>
          <a:noFill/>
          <a:ln/>
        </p:spPr>
        <p:txBody>
          <a:bodyPr wrap="square" lIns="0" tIns="0" rIns="0" bIns="0" rtlCol="0" anchor="ctr"/>
          <a:lstStyle/>
          <a:p>
            <a:r>
              <a:rPr lang="de-DE" sz="1000" dirty="0">
                <a:solidFill>
                  <a:srgbClr val="30363F"/>
                </a:solidFill>
              </a:rPr>
              <a:t>Listet alle lokal installierten, einsatzbereiten Modelle auf.</a:t>
            </a:r>
          </a:p>
        </p:txBody>
      </p:sp>
      <p:sp>
        <p:nvSpPr>
          <p:cNvPr id="52" name="Text"/>
          <p:cNvSpPr txBox="1"/>
          <p:nvPr/>
        </p:nvSpPr>
        <p:spPr>
          <a:xfrm>
            <a:off x="620080" y="3438168"/>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POST /api/show</a:t>
            </a:r>
          </a:p>
        </p:txBody>
      </p:sp>
      <p:sp>
        <p:nvSpPr>
          <p:cNvPr id="53" name="Text"/>
          <p:cNvSpPr txBox="1"/>
          <p:nvPr/>
        </p:nvSpPr>
        <p:spPr>
          <a:xfrm>
            <a:off x="3440080" y="3438168"/>
            <a:ext cx="8091840" cy="279552"/>
          </a:xfrm>
          <a:prstGeom prst="rect">
            <a:avLst/>
          </a:prstGeom>
          <a:noFill/>
          <a:ln/>
        </p:spPr>
        <p:txBody>
          <a:bodyPr wrap="square" lIns="0" tIns="0" rIns="0" bIns="0" rtlCol="0" anchor="ctr"/>
          <a:lstStyle/>
          <a:p>
            <a:r>
              <a:rPr lang="de-DE" sz="1000" dirty="0">
                <a:solidFill>
                  <a:srgbClr val="30363F"/>
                </a:solidFill>
              </a:rPr>
              <a:t>Zeigt System-Prompt, Lizenz und Architektur eines installierten Modells.</a:t>
            </a:r>
          </a:p>
        </p:txBody>
      </p:sp>
      <p:sp>
        <p:nvSpPr>
          <p:cNvPr id="54" name="RowBg4"/>
          <p:cNvSpPr/>
          <p:nvPr/>
        </p:nvSpPr>
        <p:spPr>
          <a:xfrm>
            <a:off x="528640" y="3717720"/>
            <a:ext cx="11094720" cy="279552"/>
          </a:xfrm>
          <a:prstGeom prst="rect">
            <a:avLst/>
          </a:prstGeom>
          <a:solidFill>
            <a:srgbClr val="F2F5FA"/>
          </a:solidFill>
          <a:ln/>
        </p:spPr>
      </p:sp>
      <p:sp>
        <p:nvSpPr>
          <p:cNvPr id="55" name="Text"/>
          <p:cNvSpPr txBox="1"/>
          <p:nvPr/>
        </p:nvSpPr>
        <p:spPr>
          <a:xfrm>
            <a:off x="620080" y="3717720"/>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GET /api/ps</a:t>
            </a:r>
          </a:p>
        </p:txBody>
      </p:sp>
      <p:sp>
        <p:nvSpPr>
          <p:cNvPr id="56" name="Text"/>
          <p:cNvSpPr txBox="1"/>
          <p:nvPr/>
        </p:nvSpPr>
        <p:spPr>
          <a:xfrm>
            <a:off x="3440080" y="3717720"/>
            <a:ext cx="8091840" cy="279552"/>
          </a:xfrm>
          <a:prstGeom prst="rect">
            <a:avLst/>
          </a:prstGeom>
          <a:noFill/>
          <a:ln/>
        </p:spPr>
        <p:txBody>
          <a:bodyPr wrap="square" lIns="0" tIns="0" rIns="0" bIns="0" rtlCol="0" anchor="ctr"/>
          <a:lstStyle/>
          <a:p>
            <a:r>
              <a:rPr lang="de-DE" sz="1000" dirty="0">
                <a:solidFill>
                  <a:srgbClr val="30363F"/>
                </a:solidFill>
              </a:rPr>
              <a:t>Zeigt, welche Modelle gerade im RAM/VRAM geladen sind.</a:t>
            </a:r>
          </a:p>
        </p:txBody>
      </p:sp>
      <p:sp>
        <p:nvSpPr>
          <p:cNvPr id="57" name="Text"/>
          <p:cNvSpPr txBox="1"/>
          <p:nvPr/>
        </p:nvSpPr>
        <p:spPr>
          <a:xfrm>
            <a:off x="620080" y="3997272"/>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POST /api/pull</a:t>
            </a:r>
          </a:p>
        </p:txBody>
      </p:sp>
      <p:sp>
        <p:nvSpPr>
          <p:cNvPr id="58" name="Text"/>
          <p:cNvSpPr txBox="1"/>
          <p:nvPr/>
        </p:nvSpPr>
        <p:spPr>
          <a:xfrm>
            <a:off x="3440080" y="3997272"/>
            <a:ext cx="8091840" cy="279552"/>
          </a:xfrm>
          <a:prstGeom prst="rect">
            <a:avLst/>
          </a:prstGeom>
          <a:noFill/>
          <a:ln/>
        </p:spPr>
        <p:txBody>
          <a:bodyPr wrap="square" lIns="0" tIns="0" rIns="0" bIns="0" rtlCol="0" anchor="ctr"/>
          <a:lstStyle/>
          <a:p>
            <a:r>
              <a:rPr lang="de-DE" sz="1000" dirty="0">
                <a:solidFill>
                  <a:srgbClr val="30363F"/>
                </a:solidFill>
              </a:rPr>
              <a:t>Lädt ein Modell aus der Ollama-Bibliothek im Hintergrund herunter.</a:t>
            </a:r>
          </a:p>
        </p:txBody>
      </p:sp>
      <p:sp>
        <p:nvSpPr>
          <p:cNvPr id="59" name="RowBg6"/>
          <p:cNvSpPr/>
          <p:nvPr/>
        </p:nvSpPr>
        <p:spPr>
          <a:xfrm>
            <a:off x="528640" y="4276824"/>
            <a:ext cx="11094720" cy="279552"/>
          </a:xfrm>
          <a:prstGeom prst="rect">
            <a:avLst/>
          </a:prstGeom>
          <a:solidFill>
            <a:srgbClr val="F2F5FA"/>
          </a:solidFill>
          <a:ln/>
        </p:spPr>
      </p:sp>
      <p:sp>
        <p:nvSpPr>
          <p:cNvPr id="60" name="Text"/>
          <p:cNvSpPr txBox="1"/>
          <p:nvPr/>
        </p:nvSpPr>
        <p:spPr>
          <a:xfrm>
            <a:off x="620080" y="4276824"/>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POST /api/push</a:t>
            </a:r>
          </a:p>
        </p:txBody>
      </p:sp>
      <p:sp>
        <p:nvSpPr>
          <p:cNvPr id="61" name="Text"/>
          <p:cNvSpPr txBox="1"/>
          <p:nvPr/>
        </p:nvSpPr>
        <p:spPr>
          <a:xfrm>
            <a:off x="3440080" y="4276824"/>
            <a:ext cx="8091840" cy="279552"/>
          </a:xfrm>
          <a:prstGeom prst="rect">
            <a:avLst/>
          </a:prstGeom>
          <a:noFill/>
          <a:ln/>
        </p:spPr>
        <p:txBody>
          <a:bodyPr wrap="square" lIns="0" tIns="0" rIns="0" bIns="0" rtlCol="0" anchor="ctr"/>
          <a:lstStyle/>
          <a:p>
            <a:r>
              <a:rPr lang="de-DE" sz="1000" dirty="0">
                <a:solidFill>
                  <a:srgbClr val="30363F"/>
                </a:solidFill>
              </a:rPr>
              <a:t>Lädt ein selbst erstelltes Modell (Modelfile) in die Bibliothek hoch.</a:t>
            </a:r>
          </a:p>
        </p:txBody>
      </p:sp>
      <p:sp>
        <p:nvSpPr>
          <p:cNvPr id="62" name="Text"/>
          <p:cNvSpPr txBox="1"/>
          <p:nvPr/>
        </p:nvSpPr>
        <p:spPr>
          <a:xfrm>
            <a:off x="620080" y="4556376"/>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POST /api/create</a:t>
            </a:r>
          </a:p>
        </p:txBody>
      </p:sp>
      <p:sp>
        <p:nvSpPr>
          <p:cNvPr id="63" name="Text"/>
          <p:cNvSpPr txBox="1"/>
          <p:nvPr/>
        </p:nvSpPr>
        <p:spPr>
          <a:xfrm>
            <a:off x="3440080" y="4556376"/>
            <a:ext cx="8091840" cy="279552"/>
          </a:xfrm>
          <a:prstGeom prst="rect">
            <a:avLst/>
          </a:prstGeom>
          <a:noFill/>
          <a:ln/>
        </p:spPr>
        <p:txBody>
          <a:bodyPr wrap="square" lIns="0" tIns="0" rIns="0" bIns="0" rtlCol="0" anchor="ctr"/>
          <a:lstStyle/>
          <a:p>
            <a:r>
              <a:rPr lang="de-DE" sz="1000" dirty="0">
                <a:solidFill>
                  <a:srgbClr val="30363F"/>
                </a:solidFill>
              </a:rPr>
              <a:t>Erstellt ein neues Modell aus einem lokalen Modelfile.</a:t>
            </a:r>
          </a:p>
        </p:txBody>
      </p:sp>
      <p:sp>
        <p:nvSpPr>
          <p:cNvPr id="64" name="RowBg8"/>
          <p:cNvSpPr/>
          <p:nvPr/>
        </p:nvSpPr>
        <p:spPr>
          <a:xfrm>
            <a:off x="528640" y="4835928"/>
            <a:ext cx="11094720" cy="279552"/>
          </a:xfrm>
          <a:prstGeom prst="rect">
            <a:avLst/>
          </a:prstGeom>
          <a:solidFill>
            <a:srgbClr val="F2F5FA"/>
          </a:solidFill>
          <a:ln/>
        </p:spPr>
      </p:sp>
      <p:sp>
        <p:nvSpPr>
          <p:cNvPr id="65" name="Text"/>
          <p:cNvSpPr txBox="1"/>
          <p:nvPr/>
        </p:nvSpPr>
        <p:spPr>
          <a:xfrm>
            <a:off x="620080" y="4835928"/>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POST /api/copy</a:t>
            </a:r>
          </a:p>
        </p:txBody>
      </p:sp>
      <p:sp>
        <p:nvSpPr>
          <p:cNvPr id="66" name="Text"/>
          <p:cNvSpPr txBox="1"/>
          <p:nvPr/>
        </p:nvSpPr>
        <p:spPr>
          <a:xfrm>
            <a:off x="3440080" y="4835928"/>
            <a:ext cx="8091840" cy="279552"/>
          </a:xfrm>
          <a:prstGeom prst="rect">
            <a:avLst/>
          </a:prstGeom>
          <a:noFill/>
          <a:ln/>
        </p:spPr>
        <p:txBody>
          <a:bodyPr wrap="square" lIns="0" tIns="0" rIns="0" bIns="0" rtlCol="0" anchor="ctr"/>
          <a:lstStyle/>
          <a:p>
            <a:r>
              <a:rPr lang="de-DE" sz="1000" dirty="0">
                <a:solidFill>
                  <a:srgbClr val="30363F"/>
                </a:solidFill>
              </a:rPr>
              <a:t>Dupliziert ein lokales Modell unter neuem Namen.</a:t>
            </a:r>
          </a:p>
        </p:txBody>
      </p:sp>
      <p:sp>
        <p:nvSpPr>
          <p:cNvPr id="67" name="Text"/>
          <p:cNvSpPr txBox="1"/>
          <p:nvPr/>
        </p:nvSpPr>
        <p:spPr>
          <a:xfrm>
            <a:off x="620080" y="5115480"/>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DELETE /api/delete</a:t>
            </a:r>
          </a:p>
        </p:txBody>
      </p:sp>
      <p:sp>
        <p:nvSpPr>
          <p:cNvPr id="68" name="Text"/>
          <p:cNvSpPr txBox="1"/>
          <p:nvPr/>
        </p:nvSpPr>
        <p:spPr>
          <a:xfrm>
            <a:off x="3440080" y="5115480"/>
            <a:ext cx="8091840" cy="279552"/>
          </a:xfrm>
          <a:prstGeom prst="rect">
            <a:avLst/>
          </a:prstGeom>
          <a:noFill/>
          <a:ln/>
        </p:spPr>
        <p:txBody>
          <a:bodyPr wrap="square" lIns="0" tIns="0" rIns="0" bIns="0" rtlCol="0" anchor="ctr"/>
          <a:lstStyle/>
          <a:p>
            <a:r>
              <a:rPr lang="de-DE" sz="1000" dirty="0">
                <a:solidFill>
                  <a:srgbClr val="30363F"/>
                </a:solidFill>
              </a:rPr>
              <a:t>Löscht ein lokales Modell und gibt Festplattenplatz frei.</a:t>
            </a:r>
          </a:p>
        </p:txBody>
      </p:sp>
      <p:sp>
        <p:nvSpPr>
          <p:cNvPr id="69" name="Text"/>
          <p:cNvSpPr txBox="1"/>
          <p:nvPr/>
        </p:nvSpPr>
        <p:spPr>
          <a:xfrm>
            <a:off x="620080" y="5395032"/>
            <a:ext cx="11003280" cy="246888"/>
          </a:xfrm>
          <a:prstGeom prst="rect">
            <a:avLst/>
          </a:prstGeom>
          <a:noFill/>
          <a:ln/>
        </p:spPr>
        <p:txBody>
          <a:bodyPr wrap="square" lIns="0" tIns="0" rIns="0" bIns="0" rtlCol="0" anchor="ctr"/>
          <a:lstStyle/>
          <a:p>
            <a:r>
              <a:rPr lang="de-DE" sz="1050" b="1" spc="100" dirty="0">
                <a:solidFill>
                  <a:srgbClr val="9AA3C0"/>
                </a:solidFill>
              </a:rPr>
              <a:t>OPENAI-KOMPATIBILITÄT (/v1/*)</a:t>
            </a:r>
          </a:p>
        </p:txBody>
      </p:sp>
      <p:sp>
        <p:nvSpPr>
          <p:cNvPr id="70" name="RowBg10"/>
          <p:cNvSpPr/>
          <p:nvPr/>
        </p:nvSpPr>
        <p:spPr>
          <a:xfrm>
            <a:off x="528640" y="5641920"/>
            <a:ext cx="11094720" cy="279552"/>
          </a:xfrm>
          <a:prstGeom prst="rect">
            <a:avLst/>
          </a:prstGeom>
          <a:solidFill>
            <a:srgbClr val="F2F5FA"/>
          </a:solidFill>
          <a:ln/>
        </p:spPr>
      </p:sp>
      <p:sp>
        <p:nvSpPr>
          <p:cNvPr id="71" name="Text"/>
          <p:cNvSpPr txBox="1"/>
          <p:nvPr/>
        </p:nvSpPr>
        <p:spPr>
          <a:xfrm>
            <a:off x="620080" y="5641920"/>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POST /v1/chat/completions</a:t>
            </a:r>
          </a:p>
        </p:txBody>
      </p:sp>
      <p:sp>
        <p:nvSpPr>
          <p:cNvPr id="72" name="Text"/>
          <p:cNvSpPr txBox="1"/>
          <p:nvPr/>
        </p:nvSpPr>
        <p:spPr>
          <a:xfrm>
            <a:off x="3440080" y="5641920"/>
            <a:ext cx="8091840" cy="279552"/>
          </a:xfrm>
          <a:prstGeom prst="rect">
            <a:avLst/>
          </a:prstGeom>
          <a:noFill/>
          <a:ln/>
        </p:spPr>
        <p:txBody>
          <a:bodyPr wrap="square" lIns="0" tIns="0" rIns="0" bIns="0" rtlCol="0" anchor="ctr"/>
          <a:lstStyle/>
          <a:p>
            <a:r>
              <a:rPr lang="de-DE" sz="1000" dirty="0">
                <a:solidFill>
                  <a:srgbClr val="30363F"/>
                </a:solidFill>
              </a:rPr>
              <a:t>Verhält sich exakt wie die OpenAI-Chat-API – bestehende Tools laufen ohne Codeänderung.</a:t>
            </a:r>
          </a:p>
        </p:txBody>
      </p:sp>
      <p:sp>
        <p:nvSpPr>
          <p:cNvPr id="73" name="Text"/>
          <p:cNvSpPr txBox="1"/>
          <p:nvPr/>
        </p:nvSpPr>
        <p:spPr>
          <a:xfrm>
            <a:off x="620080" y="5921472"/>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POST /v1/embeddings</a:t>
            </a:r>
          </a:p>
        </p:txBody>
      </p:sp>
      <p:sp>
        <p:nvSpPr>
          <p:cNvPr id="74" name="Text"/>
          <p:cNvSpPr txBox="1"/>
          <p:nvPr/>
        </p:nvSpPr>
        <p:spPr>
          <a:xfrm>
            <a:off x="3440080" y="5921472"/>
            <a:ext cx="8091840" cy="279552"/>
          </a:xfrm>
          <a:prstGeom prst="rect">
            <a:avLst/>
          </a:prstGeom>
          <a:noFill/>
          <a:ln/>
        </p:spPr>
        <p:txBody>
          <a:bodyPr wrap="square" lIns="0" tIns="0" rIns="0" bIns="0" rtlCol="0" anchor="ctr"/>
          <a:lstStyle/>
          <a:p>
            <a:r>
              <a:rPr lang="de-DE" sz="1000" dirty="0">
                <a:solidFill>
                  <a:srgbClr val="30363F"/>
                </a:solidFill>
              </a:rPr>
              <a:t>OpenAI-kompatibler Embedding-Endpunkt, gleiche Request-/Response-Struktur.</a:t>
            </a:r>
          </a:p>
        </p:txBody>
      </p:sp>
      <p:sp>
        <p:nvSpPr>
          <p:cNvPr id="75" name="RowBg12"/>
          <p:cNvSpPr/>
          <p:nvPr/>
        </p:nvSpPr>
        <p:spPr>
          <a:xfrm>
            <a:off x="528640" y="6201024"/>
            <a:ext cx="11094720" cy="279552"/>
          </a:xfrm>
          <a:prstGeom prst="rect">
            <a:avLst/>
          </a:prstGeom>
          <a:solidFill>
            <a:srgbClr val="F2F5FA"/>
          </a:solidFill>
          <a:ln/>
        </p:spPr>
      </p:sp>
      <p:sp>
        <p:nvSpPr>
          <p:cNvPr id="76" name="Text"/>
          <p:cNvSpPr txBox="1"/>
          <p:nvPr/>
        </p:nvSpPr>
        <p:spPr>
          <a:xfrm>
            <a:off x="620080" y="6201024"/>
            <a:ext cx="2800000" cy="279552"/>
          </a:xfrm>
          <a:prstGeom prst="rect">
            <a:avLst/>
          </a:prstGeom>
          <a:noFill/>
          <a:ln/>
        </p:spPr>
        <p:txBody>
          <a:bodyPr wrap="square" lIns="0" tIns="0" rIns="0" bIns="0" rtlCol="0" anchor="ctr"/>
          <a:lstStyle/>
          <a:p>
            <a:r>
              <a:rPr lang="de-DE" sz="1000" b="1" dirty="0">
                <a:solidFill>
                  <a:srgbClr val="0D1321"/>
                </a:solidFill>
                <a:latin typeface="Courier New" pitchFamily="34" charset="0"/>
              </a:rPr>
              <a:t>GET /v1/models</a:t>
            </a:r>
          </a:p>
        </p:txBody>
      </p:sp>
      <p:sp>
        <p:nvSpPr>
          <p:cNvPr id="77" name="Text"/>
          <p:cNvSpPr txBox="1"/>
          <p:nvPr/>
        </p:nvSpPr>
        <p:spPr>
          <a:xfrm>
            <a:off x="3440080" y="6201024"/>
            <a:ext cx="8091840" cy="279552"/>
          </a:xfrm>
          <a:prstGeom prst="rect">
            <a:avLst/>
          </a:prstGeom>
          <a:noFill/>
          <a:ln/>
        </p:spPr>
        <p:txBody>
          <a:bodyPr wrap="square" lIns="0" tIns="0" rIns="0" bIns="0" rtlCol="0" anchor="ctr"/>
          <a:lstStyle/>
          <a:p>
            <a:r>
              <a:rPr lang="de-DE" sz="1000" dirty="0">
                <a:solidFill>
                  <a:srgbClr val="30363F"/>
                </a:solidFill>
              </a:rPr>
              <a:t>Listet die lokalen Modelle im OpenAI-Format auf.</a:t>
            </a:r>
          </a:p>
        </p:txBody>
      </p:sp>
      <p:sp>
        <p:nvSpPr>
          <p:cNvPr id="78" name="Text 8"/>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a:solidFill>
                  <a:srgbClr val="9AA3C0"/>
                </a:solidFill>
                <a:latin typeface="Calibri" pitchFamily="34" charset="0"/>
                <a:ea typeface="Calibri" pitchFamily="34" charset="-122"/>
                <a:cs typeface="Calibri" pitchFamily="34" charset="-120"/>
              </a:rPr>
              <a:t>8</a:t>
            </a:r>
            <a:endParaRPr lang="en-US" sz="900" dirty="0"/>
          </a:p>
        </p:txBody>
      </p:sp>
    </p:spTree>
    <p:extLst>
      <p:ext uri="{BB962C8B-B14F-4D97-AF65-F5344CB8AC3E}">
        <p14:creationId xmlns:p14="http://schemas.microsoft.com/office/powerpoint/2010/main" val="950902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FF6B4A"/>
                </a:solidFill>
                <a:latin typeface="Calibri" pitchFamily="34" charset="0"/>
                <a:ea typeface="Calibri" pitchFamily="34" charset="-122"/>
                <a:cs typeface="Calibri" pitchFamily="34" charset="-120"/>
              </a:rPr>
              <a:t>BLOCK </a:t>
            </a:r>
            <a:r>
              <a:rPr lang="en-US" sz="1300" b="1" kern="0" spc="200" dirty="0">
                <a:solidFill>
                  <a:srgbClr val="FF6B4A"/>
                </a:solidFill>
                <a:latin typeface="Calibri" pitchFamily="34" charset="0"/>
                <a:ea typeface="Calibri" pitchFamily="34" charset="-122"/>
                <a:cs typeface="Calibri" pitchFamily="34" charset="-120"/>
              </a:rPr>
              <a:t>1 GRUNDLAGEN</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Tool Calling: KI ruft eigene Werkzeuge auf</a:t>
            </a:r>
            <a:endParaRPr lang="en-US" sz="3000" dirty="0"/>
          </a:p>
        </p:txBody>
      </p:sp>
      <p:sp>
        <p:nvSpPr>
          <p:cNvPr id="4" name="Text 2"/>
          <p:cNvSpPr txBox="1"/>
          <p:nvPr/>
        </p:nvSpPr>
        <p:spPr>
          <a:xfrm>
            <a:off x="548640" y="1463040"/>
            <a:ext cx="10607040" cy="457200"/>
          </a:xfrm>
          <a:prstGeom prst="rect">
            <a:avLst/>
          </a:prstGeom>
          <a:noFill/>
          <a:ln/>
        </p:spPr>
        <p:txBody>
          <a:bodyPr wrap="square" lIns="0" tIns="0" rIns="0" bIns="0" rtlCol="0" anchor="ctr"/>
          <a:lstStyle/>
          <a:p>
            <a:pPr marL="0" indent="0">
              <a:buNone/>
            </a:pPr>
            <a:r>
              <a:rPr lang="en-US" sz="1350" dirty="0">
                <a:solidFill>
                  <a:srgbClr val="5B6478"/>
                </a:solidFill>
                <a:latin typeface="Calibri" pitchFamily="34" charset="0"/>
                <a:ea typeface="Calibri" pitchFamily="34" charset="-122"/>
                <a:cs typeface="Calibri" pitchFamily="34" charset="-120"/>
              </a:rPr>
              <a:t>Mit „tools“ im Request bekommt das Modell Funktionen angeboten. Ob es sie wirklich nutzt, statt sie nur zu simulieren, zeigt der Vergleich zweier </a:t>
            </a:r>
            <a:r>
              <a:rPr lang="en-US" sz="1350">
                <a:solidFill>
                  <a:srgbClr val="5B6478"/>
                </a:solidFill>
                <a:latin typeface="Calibri" pitchFamily="34" charset="0"/>
                <a:ea typeface="Calibri" pitchFamily="34" charset="-122"/>
                <a:cs typeface="Calibri" pitchFamily="34" charset="-120"/>
              </a:rPr>
              <a:t>Antworten</a:t>
            </a:r>
            <a:r>
              <a:rPr lang="en-US" sz="1350" smtClean="0">
                <a:solidFill>
                  <a:srgbClr val="5B6478"/>
                </a:solidFill>
                <a:latin typeface="Calibri" pitchFamily="34" charset="0"/>
                <a:ea typeface="Calibri" pitchFamily="34" charset="-122"/>
                <a:cs typeface="Calibri" pitchFamily="34" charset="-120"/>
              </a:rPr>
              <a:t>. Eine einfache Anwendung für eigene Tests - </a:t>
            </a:r>
            <a:r>
              <a:rPr lang="en-US" sz="1350" b="1" smtClean="0">
                <a:solidFill>
                  <a:srgbClr val="5B6478"/>
                </a:solidFill>
                <a:latin typeface="Calibri" pitchFamily="34" charset="0"/>
                <a:ea typeface="Calibri" pitchFamily="34" charset="-122"/>
                <a:cs typeface="Calibri" pitchFamily="34" charset="-120"/>
              </a:rPr>
              <a:t>tool_call.py</a:t>
            </a:r>
            <a:r>
              <a:rPr lang="en-US" sz="1350" smtClean="0">
                <a:solidFill>
                  <a:srgbClr val="5B6478"/>
                </a:solidFill>
                <a:latin typeface="Calibri" pitchFamily="34" charset="0"/>
                <a:ea typeface="Calibri" pitchFamily="34" charset="-122"/>
                <a:cs typeface="Calibri" pitchFamily="34" charset="-120"/>
              </a:rPr>
              <a:t>)</a:t>
            </a:r>
            <a:endParaRPr lang="en-US" sz="1350" dirty="0"/>
          </a:p>
        </p:txBody>
      </p:sp>
      <p:sp>
        <p:nvSpPr>
          <p:cNvPr id="20" name="Shape 18"/>
          <p:cNvSpPr/>
          <p:nvPr/>
        </p:nvSpPr>
        <p:spPr>
          <a:xfrm>
            <a:off x="527381" y="2276872"/>
            <a:ext cx="11302667" cy="2520280"/>
          </a:xfrm>
          <a:prstGeom prst="roundRect">
            <a:avLst>
              <a:gd name="adj" fmla="val 1739"/>
            </a:avLst>
          </a:prstGeom>
          <a:solidFill>
            <a:srgbClr val="0A0E1A"/>
          </a:solidFill>
          <a:ln/>
          <a:effectLst>
            <a:outerShdw blurRad="101600" dist="38100" dir="5400000" algn="bl" rotWithShape="0">
              <a:srgbClr val="000000">
                <a:alpha val="35000"/>
              </a:srgbClr>
            </a:outerShdw>
          </a:effectLst>
        </p:spPr>
      </p:sp>
      <p:sp>
        <p:nvSpPr>
          <p:cNvPr id="21" name="Shape 19"/>
          <p:cNvSpPr/>
          <p:nvPr/>
        </p:nvSpPr>
        <p:spPr>
          <a:xfrm>
            <a:off x="623392" y="2348880"/>
            <a:ext cx="91440" cy="91440"/>
          </a:xfrm>
          <a:prstGeom prst="ellipse">
            <a:avLst/>
          </a:prstGeom>
          <a:solidFill>
            <a:srgbClr val="FF5F56"/>
          </a:solidFill>
          <a:ln/>
        </p:spPr>
      </p:sp>
      <p:sp>
        <p:nvSpPr>
          <p:cNvPr id="22" name="Shape 20"/>
          <p:cNvSpPr/>
          <p:nvPr/>
        </p:nvSpPr>
        <p:spPr>
          <a:xfrm>
            <a:off x="824560" y="2348880"/>
            <a:ext cx="91440" cy="91440"/>
          </a:xfrm>
          <a:prstGeom prst="ellipse">
            <a:avLst/>
          </a:prstGeom>
          <a:solidFill>
            <a:srgbClr val="FFBD2E"/>
          </a:solidFill>
          <a:ln/>
        </p:spPr>
      </p:sp>
      <p:sp>
        <p:nvSpPr>
          <p:cNvPr id="23" name="Shape 21"/>
          <p:cNvSpPr/>
          <p:nvPr/>
        </p:nvSpPr>
        <p:spPr>
          <a:xfrm>
            <a:off x="1025728" y="2348880"/>
            <a:ext cx="91440" cy="91440"/>
          </a:xfrm>
          <a:prstGeom prst="ellipse">
            <a:avLst/>
          </a:prstGeom>
          <a:solidFill>
            <a:srgbClr val="27C93F"/>
          </a:solidFill>
          <a:ln/>
        </p:spPr>
      </p:sp>
      <p:sp>
        <p:nvSpPr>
          <p:cNvPr id="24" name="Text 22"/>
          <p:cNvSpPr txBox="1"/>
          <p:nvPr/>
        </p:nvSpPr>
        <p:spPr>
          <a:xfrm>
            <a:off x="719403" y="2552336"/>
            <a:ext cx="9207877" cy="2244816"/>
          </a:xfrm>
          <a:prstGeom prst="rect">
            <a:avLst/>
          </a:prstGeom>
          <a:noFill/>
          <a:ln/>
        </p:spPr>
        <p:txBody>
          <a:bodyPr wrap="square" lIns="0" tIns="0" rIns="0" bIns="0" rtlCol="0" anchor="t"/>
          <a:lstStyle/>
          <a:p>
            <a:pPr>
              <a:lnSpc>
                <a:spcPct val="115000"/>
              </a:lnSpc>
            </a:pPr>
            <a:r>
              <a:rPr lang="en-US" sz="900">
                <a:solidFill>
                  <a:srgbClr val="00D9C0"/>
                </a:solidFill>
                <a:latin typeface="Consolas" panose="020B0609020204030204" pitchFamily="49" charset="0"/>
                <a:ea typeface="Courier New" pitchFamily="34" charset="-122"/>
                <a:cs typeface="Courier New" pitchFamily="34" charset="-120"/>
              </a:rPr>
              <a:t>curl http://localhost:11434/api/chat -d '{</a:t>
            </a:r>
          </a:p>
          <a:p>
            <a:pPr>
              <a:lnSpc>
                <a:spcPct val="115000"/>
              </a:lnSpc>
            </a:pPr>
            <a:r>
              <a:rPr lang="en-US" sz="900">
                <a:solidFill>
                  <a:srgbClr val="00D9C0"/>
                </a:solidFill>
                <a:latin typeface="Consolas" panose="020B0609020204030204" pitchFamily="49" charset="0"/>
                <a:ea typeface="Courier New" pitchFamily="34" charset="-122"/>
                <a:cs typeface="Courier New" pitchFamily="34" charset="-120"/>
              </a:rPr>
              <a:t>  "model": "cyberwald/sauerkrautlm-nemo-12b-instruct:latest",</a:t>
            </a:r>
          </a:p>
          <a:p>
            <a:pPr>
              <a:lnSpc>
                <a:spcPct val="115000"/>
              </a:lnSpc>
            </a:pPr>
            <a:r>
              <a:rPr lang="en-US" sz="900">
                <a:solidFill>
                  <a:srgbClr val="00D9C0"/>
                </a:solidFill>
                <a:latin typeface="Consolas" panose="020B0609020204030204" pitchFamily="49" charset="0"/>
                <a:ea typeface="Courier New" pitchFamily="34" charset="-122"/>
                <a:cs typeface="Courier New" pitchFamily="34" charset="-120"/>
              </a:rPr>
              <a:t>  "messages": [{"role": "user", "content": "Lies https://www.anthropic.com und sag mir was drauf steht."}],</a:t>
            </a:r>
          </a:p>
          <a:p>
            <a:pPr>
              <a:lnSpc>
                <a:spcPct val="115000"/>
              </a:lnSpc>
            </a:pPr>
            <a:r>
              <a:rPr lang="en-US" sz="900">
                <a:solidFill>
                  <a:srgbClr val="00D9C0"/>
                </a:solidFill>
                <a:latin typeface="Consolas" panose="020B0609020204030204" pitchFamily="49" charset="0"/>
                <a:ea typeface="Courier New" pitchFamily="34" charset="-122"/>
                <a:cs typeface="Courier New" pitchFamily="34" charset="-120"/>
              </a:rPr>
              <a:t>  "tools": [{</a:t>
            </a:r>
          </a:p>
          <a:p>
            <a:pPr>
              <a:lnSpc>
                <a:spcPct val="115000"/>
              </a:lnSpc>
            </a:pPr>
            <a:r>
              <a:rPr lang="en-US" sz="900">
                <a:solidFill>
                  <a:srgbClr val="00D9C0"/>
                </a:solidFill>
                <a:latin typeface="Consolas" panose="020B0609020204030204" pitchFamily="49" charset="0"/>
                <a:ea typeface="Courier New" pitchFamily="34" charset="-122"/>
                <a:cs typeface="Courier New" pitchFamily="34" charset="-120"/>
              </a:rPr>
              <a:t>    "type": "function",</a:t>
            </a:r>
          </a:p>
          <a:p>
            <a:pPr>
              <a:lnSpc>
                <a:spcPct val="115000"/>
              </a:lnSpc>
            </a:pPr>
            <a:r>
              <a:rPr lang="en-US" sz="900">
                <a:solidFill>
                  <a:srgbClr val="00D9C0"/>
                </a:solidFill>
                <a:latin typeface="Consolas" panose="020B0609020204030204" pitchFamily="49" charset="0"/>
                <a:ea typeface="Courier New" pitchFamily="34" charset="-122"/>
                <a:cs typeface="Courier New" pitchFamily="34" charset="-120"/>
              </a:rPr>
              <a:t>    "function": {</a:t>
            </a:r>
          </a:p>
          <a:p>
            <a:pPr>
              <a:lnSpc>
                <a:spcPct val="115000"/>
              </a:lnSpc>
            </a:pPr>
            <a:r>
              <a:rPr lang="en-US" sz="900">
                <a:solidFill>
                  <a:srgbClr val="00D9C0"/>
                </a:solidFill>
                <a:latin typeface="Consolas" panose="020B0609020204030204" pitchFamily="49" charset="0"/>
                <a:ea typeface="Courier New" pitchFamily="34" charset="-122"/>
                <a:cs typeface="Courier New" pitchFamily="34" charset="-120"/>
              </a:rPr>
              <a:t>      "name": "Seite_lesen",</a:t>
            </a:r>
          </a:p>
          <a:p>
            <a:pPr>
              <a:lnSpc>
                <a:spcPct val="115000"/>
              </a:lnSpc>
            </a:pPr>
            <a:r>
              <a:rPr lang="en-US" sz="900">
                <a:solidFill>
                  <a:srgbClr val="00D9C0"/>
                </a:solidFill>
                <a:latin typeface="Consolas" panose="020B0609020204030204" pitchFamily="49" charset="0"/>
                <a:ea typeface="Courier New" pitchFamily="34" charset="-122"/>
                <a:cs typeface="Courier New" pitchFamily="34" charset="-120"/>
              </a:rPr>
              <a:t>      "description": "Liest den Inhalt einer Webseite",</a:t>
            </a:r>
          </a:p>
          <a:p>
            <a:pPr>
              <a:lnSpc>
                <a:spcPct val="115000"/>
              </a:lnSpc>
            </a:pPr>
            <a:r>
              <a:rPr lang="en-US" sz="900">
                <a:solidFill>
                  <a:srgbClr val="00D9C0"/>
                </a:solidFill>
                <a:latin typeface="Consolas" panose="020B0609020204030204" pitchFamily="49" charset="0"/>
                <a:ea typeface="Courier New" pitchFamily="34" charset="-122"/>
                <a:cs typeface="Courier New" pitchFamily="34" charset="-120"/>
              </a:rPr>
              <a:t>      "parameters": {"type": "object", "properties": {"url": {"type": "string"}}, "required": </a:t>
            </a:r>
            <a:r>
              <a:rPr lang="en-US" sz="900" smtClean="0">
                <a:solidFill>
                  <a:srgbClr val="00D9C0"/>
                </a:solidFill>
                <a:latin typeface="Consolas" panose="020B0609020204030204" pitchFamily="49" charset="0"/>
                <a:ea typeface="Courier New" pitchFamily="34" charset="-122"/>
                <a:cs typeface="Courier New" pitchFamily="34" charset="-120"/>
              </a:rPr>
              <a:t>["</a:t>
            </a:r>
            <a:r>
              <a:rPr lang="en-US" sz="900">
                <a:solidFill>
                  <a:srgbClr val="00D9C0"/>
                </a:solidFill>
                <a:latin typeface="Consolas" panose="020B0609020204030204" pitchFamily="49" charset="0"/>
                <a:ea typeface="Courier New" pitchFamily="34" charset="-122"/>
                <a:cs typeface="Courier New" pitchFamily="34" charset="-120"/>
              </a:rPr>
              <a:t>url"]}</a:t>
            </a:r>
          </a:p>
          <a:p>
            <a:pPr>
              <a:lnSpc>
                <a:spcPct val="115000"/>
              </a:lnSpc>
            </a:pPr>
            <a:r>
              <a:rPr lang="en-US" sz="900">
                <a:solidFill>
                  <a:srgbClr val="00D9C0"/>
                </a:solidFill>
                <a:latin typeface="Consolas" panose="020B0609020204030204" pitchFamily="49" charset="0"/>
                <a:ea typeface="Courier New" pitchFamily="34" charset="-122"/>
                <a:cs typeface="Courier New" pitchFamily="34" charset="-120"/>
              </a:rPr>
              <a:t>    }</a:t>
            </a:r>
          </a:p>
          <a:p>
            <a:pPr>
              <a:lnSpc>
                <a:spcPct val="115000"/>
              </a:lnSpc>
            </a:pPr>
            <a:r>
              <a:rPr lang="en-US" sz="900">
                <a:solidFill>
                  <a:srgbClr val="00D9C0"/>
                </a:solidFill>
                <a:latin typeface="Consolas" panose="020B0609020204030204" pitchFamily="49" charset="0"/>
                <a:ea typeface="Courier New" pitchFamily="34" charset="-122"/>
                <a:cs typeface="Courier New" pitchFamily="34" charset="-120"/>
              </a:rPr>
              <a:t>  }],</a:t>
            </a:r>
          </a:p>
          <a:p>
            <a:pPr>
              <a:lnSpc>
                <a:spcPct val="115000"/>
              </a:lnSpc>
            </a:pPr>
            <a:r>
              <a:rPr lang="en-US" sz="900">
                <a:solidFill>
                  <a:srgbClr val="00D9C0"/>
                </a:solidFill>
                <a:latin typeface="Consolas" panose="020B0609020204030204" pitchFamily="49" charset="0"/>
                <a:ea typeface="Courier New" pitchFamily="34" charset="-122"/>
                <a:cs typeface="Courier New" pitchFamily="34" charset="-120"/>
              </a:rPr>
              <a:t>  "stream": false</a:t>
            </a:r>
          </a:p>
          <a:p>
            <a:pPr>
              <a:lnSpc>
                <a:spcPct val="115000"/>
              </a:lnSpc>
            </a:pPr>
            <a:r>
              <a:rPr lang="en-US" sz="900" smtClean="0">
                <a:solidFill>
                  <a:srgbClr val="00D9C0"/>
                </a:solidFill>
                <a:latin typeface="Consolas" panose="020B0609020204030204" pitchFamily="49" charset="0"/>
                <a:ea typeface="Courier New" pitchFamily="34" charset="-122"/>
                <a:cs typeface="Courier New" pitchFamily="34" charset="-120"/>
              </a:rPr>
              <a:t>}‘</a:t>
            </a:r>
          </a:p>
          <a:p>
            <a:pPr>
              <a:lnSpc>
                <a:spcPct val="115000"/>
              </a:lnSpc>
            </a:pPr>
            <a:endParaRPr lang="en-US" sz="900" dirty="0">
              <a:latin typeface="Consolas" panose="020B0609020204030204" pitchFamily="49" charset="0"/>
            </a:endParaRPr>
          </a:p>
        </p:txBody>
      </p:sp>
      <p:sp>
        <p:nvSpPr>
          <p:cNvPr id="25" name="Text 23"/>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TOOL CALLING · OLLAMA API</a:t>
            </a:r>
            <a:endParaRPr lang="en-US" sz="900" dirty="0"/>
          </a:p>
        </p:txBody>
      </p:sp>
      <p:sp>
        <p:nvSpPr>
          <p:cNvPr id="26" name="Text 24"/>
          <p:cNvSpPr txBox="1"/>
          <p:nvPr/>
        </p:nvSpPr>
        <p:spPr>
          <a:xfrm>
            <a:off x="5433115" y="6305952"/>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
        <p:nvSpPr>
          <p:cNvPr id="27" name="Text 2"/>
          <p:cNvSpPr txBox="1"/>
          <p:nvPr/>
        </p:nvSpPr>
        <p:spPr>
          <a:xfrm>
            <a:off x="527381" y="1985544"/>
            <a:ext cx="1898955" cy="288032"/>
          </a:xfrm>
          <a:prstGeom prst="rect">
            <a:avLst/>
          </a:prstGeom>
          <a:noFill/>
          <a:ln/>
        </p:spPr>
        <p:txBody>
          <a:bodyPr wrap="square" lIns="0" tIns="0" rIns="0" bIns="0" rtlCol="0" anchor="ctr"/>
          <a:lstStyle/>
          <a:p>
            <a:pPr marL="0" indent="0">
              <a:buNone/>
            </a:pPr>
            <a:r>
              <a:rPr lang="en-US" sz="1350" b="1" smtClean="0">
                <a:solidFill>
                  <a:srgbClr val="5B6478"/>
                </a:solidFill>
                <a:latin typeface="Calibri" pitchFamily="34" charset="0"/>
                <a:ea typeface="Calibri" pitchFamily="34" charset="-122"/>
                <a:cs typeface="Calibri" pitchFamily="34" charset="-120"/>
              </a:rPr>
              <a:t>Request an Ollama</a:t>
            </a:r>
            <a:endParaRPr lang="en-US" sz="1350" b="1" dirty="0"/>
          </a:p>
        </p:txBody>
      </p:sp>
      <p:sp>
        <p:nvSpPr>
          <p:cNvPr id="28" name="Text 2"/>
          <p:cNvSpPr txBox="1"/>
          <p:nvPr/>
        </p:nvSpPr>
        <p:spPr>
          <a:xfrm>
            <a:off x="548640" y="4869160"/>
            <a:ext cx="2282997" cy="288032"/>
          </a:xfrm>
          <a:prstGeom prst="rect">
            <a:avLst/>
          </a:prstGeom>
          <a:noFill/>
          <a:ln/>
        </p:spPr>
        <p:txBody>
          <a:bodyPr wrap="square" lIns="0" tIns="0" rIns="0" bIns="0" rtlCol="0" anchor="ctr"/>
          <a:lstStyle/>
          <a:p>
            <a:pPr marL="0" indent="0">
              <a:buNone/>
            </a:pPr>
            <a:r>
              <a:rPr lang="en-US" sz="1350" b="1" smtClean="0">
                <a:solidFill>
                  <a:srgbClr val="5B6478"/>
                </a:solidFill>
                <a:latin typeface="Calibri" pitchFamily="34" charset="0"/>
                <a:ea typeface="Calibri" pitchFamily="34" charset="-122"/>
                <a:cs typeface="Calibri" pitchFamily="34" charset="-120"/>
              </a:rPr>
              <a:t>Response von Ollama</a:t>
            </a:r>
            <a:endParaRPr lang="en-US" sz="1350" b="1" dirty="0"/>
          </a:p>
        </p:txBody>
      </p:sp>
      <p:sp>
        <p:nvSpPr>
          <p:cNvPr id="14" name="Shape 3"/>
          <p:cNvSpPr/>
          <p:nvPr/>
        </p:nvSpPr>
        <p:spPr>
          <a:xfrm>
            <a:off x="521335" y="5229224"/>
            <a:ext cx="11308714" cy="1213887"/>
          </a:xfrm>
          <a:prstGeom prst="roundRect">
            <a:avLst>
              <a:gd name="adj" fmla="val 4651"/>
            </a:avLst>
          </a:prstGeom>
          <a:solidFill>
            <a:schemeClr val="bg2">
              <a:lumMod val="25000"/>
            </a:schemeClr>
          </a:solidFill>
          <a:ln/>
        </p:spPr>
      </p:sp>
      <p:sp>
        <p:nvSpPr>
          <p:cNvPr id="15" name="Text 4"/>
          <p:cNvSpPr txBox="1"/>
          <p:nvPr/>
        </p:nvSpPr>
        <p:spPr>
          <a:xfrm>
            <a:off x="749936" y="5303480"/>
            <a:ext cx="3657600" cy="274320"/>
          </a:xfrm>
          <a:prstGeom prst="rect">
            <a:avLst/>
          </a:prstGeom>
          <a:noFill/>
          <a:ln/>
        </p:spPr>
        <p:txBody>
          <a:bodyPr wrap="square" lIns="0" tIns="0" rIns="0" bIns="0" rtlCol="0" anchor="ctr"/>
          <a:lstStyle/>
          <a:p>
            <a:pPr marL="0" indent="0">
              <a:buNone/>
            </a:pPr>
            <a:r>
              <a:rPr lang="en-US" sz="1100" b="1" kern="0" spc="150" smtClean="0">
                <a:solidFill>
                  <a:schemeClr val="accent5">
                    <a:lumMod val="40000"/>
                    <a:lumOff val="60000"/>
                  </a:schemeClr>
                </a:solidFill>
                <a:latin typeface="Calibri" pitchFamily="34" charset="0"/>
                <a:ea typeface="Calibri" pitchFamily="34" charset="-122"/>
                <a:cs typeface="Calibri" pitchFamily="34" charset="-120"/>
              </a:rPr>
              <a:t>Ohne Tool Call</a:t>
            </a:r>
            <a:endParaRPr lang="en-US" sz="1100" dirty="0">
              <a:solidFill>
                <a:schemeClr val="accent5">
                  <a:lumMod val="40000"/>
                  <a:lumOff val="60000"/>
                </a:schemeClr>
              </a:solidFill>
            </a:endParaRPr>
          </a:p>
        </p:txBody>
      </p:sp>
      <p:sp>
        <p:nvSpPr>
          <p:cNvPr id="17" name="Text 6"/>
          <p:cNvSpPr txBox="1"/>
          <p:nvPr/>
        </p:nvSpPr>
        <p:spPr>
          <a:xfrm>
            <a:off x="749936" y="5478760"/>
            <a:ext cx="8317864" cy="365760"/>
          </a:xfrm>
          <a:prstGeom prst="rect">
            <a:avLst/>
          </a:prstGeom>
          <a:noFill/>
          <a:ln/>
        </p:spPr>
        <p:txBody>
          <a:bodyPr wrap="square" lIns="0" tIns="0" rIns="0" bIns="0" rtlCol="0" anchor="ctr"/>
          <a:lstStyle/>
          <a:p>
            <a:r>
              <a:rPr lang="de-DE" sz="900">
                <a:solidFill>
                  <a:schemeClr val="bg1">
                    <a:lumMod val="85000"/>
                  </a:schemeClr>
                </a:solidFill>
                <a:latin typeface="Consolas" panose="020B0609020204030204" pitchFamily="49" charset="0"/>
                <a:ea typeface="Courier New" pitchFamily="34" charset="-122"/>
                <a:cs typeface="Courier New" pitchFamily="34" charset="-120"/>
              </a:rPr>
              <a:t>..."message":{"role":"assistant","content":"Ich werde die Webseite lesen...</a:t>
            </a:r>
            <a:endParaRPr lang="en-US" sz="900" dirty="0">
              <a:solidFill>
                <a:schemeClr val="bg1">
                  <a:lumMod val="85000"/>
                </a:schemeClr>
              </a:solidFill>
              <a:latin typeface="Consolas" panose="020B0609020204030204" pitchFamily="49" charset="0"/>
            </a:endParaRPr>
          </a:p>
        </p:txBody>
      </p:sp>
      <p:sp>
        <p:nvSpPr>
          <p:cNvPr id="19" name="Text 4"/>
          <p:cNvSpPr txBox="1"/>
          <p:nvPr/>
        </p:nvSpPr>
        <p:spPr>
          <a:xfrm>
            <a:off x="749936" y="5827355"/>
            <a:ext cx="3657600" cy="274320"/>
          </a:xfrm>
          <a:prstGeom prst="rect">
            <a:avLst/>
          </a:prstGeom>
          <a:noFill/>
          <a:ln/>
        </p:spPr>
        <p:txBody>
          <a:bodyPr wrap="square" lIns="0" tIns="0" rIns="0" bIns="0" rtlCol="0" anchor="ctr"/>
          <a:lstStyle/>
          <a:p>
            <a:pPr marL="0" indent="0">
              <a:buNone/>
            </a:pPr>
            <a:r>
              <a:rPr lang="en-US" sz="1100" b="1" kern="0" spc="150" smtClean="0">
                <a:solidFill>
                  <a:schemeClr val="accent5">
                    <a:lumMod val="40000"/>
                    <a:lumOff val="60000"/>
                  </a:schemeClr>
                </a:solidFill>
                <a:latin typeface="Calibri" pitchFamily="34" charset="0"/>
                <a:ea typeface="Calibri" pitchFamily="34" charset="-122"/>
                <a:cs typeface="Calibri" pitchFamily="34" charset="-120"/>
              </a:rPr>
              <a:t>Mit Tool Call</a:t>
            </a:r>
            <a:endParaRPr lang="en-US" sz="1100" dirty="0">
              <a:solidFill>
                <a:schemeClr val="accent5">
                  <a:lumMod val="40000"/>
                  <a:lumOff val="60000"/>
                </a:schemeClr>
              </a:solidFill>
            </a:endParaRPr>
          </a:p>
        </p:txBody>
      </p:sp>
      <p:sp>
        <p:nvSpPr>
          <p:cNvPr id="29" name="Text 6"/>
          <p:cNvSpPr txBox="1"/>
          <p:nvPr/>
        </p:nvSpPr>
        <p:spPr>
          <a:xfrm>
            <a:off x="607060" y="6002635"/>
            <a:ext cx="11222989" cy="365760"/>
          </a:xfrm>
          <a:prstGeom prst="rect">
            <a:avLst/>
          </a:prstGeom>
          <a:noFill/>
          <a:ln/>
        </p:spPr>
        <p:txBody>
          <a:bodyPr wrap="square" lIns="0" tIns="0" rIns="0" bIns="0" rtlCol="0" anchor="ctr"/>
          <a:lstStyle/>
          <a:p>
            <a:r>
              <a:rPr lang="de-DE" sz="900">
                <a:solidFill>
                  <a:schemeClr val="bg1">
                    <a:lumMod val="85000"/>
                  </a:schemeClr>
                </a:solidFill>
                <a:latin typeface="Consolas" panose="020B0609020204030204" pitchFamily="49" charset="0"/>
                <a:ea typeface="Courier New" pitchFamily="34" charset="-122"/>
                <a:cs typeface="Courier New" pitchFamily="34" charset="-120"/>
              </a:rPr>
              <a:t>..."message":{"role":"assistant","content":"","tool_calls":[{"id":"call_xs2usa3w","function":{"index":0,"name":"Seite_lesen","arguments":{"url":"https://www.anthropic.com"}}}]}</a:t>
            </a:r>
            <a:endParaRPr lang="en-US" sz="900" dirty="0">
              <a:solidFill>
                <a:schemeClr val="bg1">
                  <a:lumMod val="85000"/>
                </a:schemeClr>
              </a:solidFill>
              <a:latin typeface="Consolas" panose="020B0609020204030204" pitchFamily="49" charset="0"/>
            </a:endParaRPr>
          </a:p>
        </p:txBody>
      </p:sp>
      <p:sp>
        <p:nvSpPr>
          <p:cNvPr id="30" name="Text 8"/>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a:solidFill>
                  <a:srgbClr val="9AA3C0"/>
                </a:solidFill>
                <a:latin typeface="Calibri" pitchFamily="34" charset="0"/>
                <a:ea typeface="Calibri" pitchFamily="34" charset="-122"/>
                <a:cs typeface="Calibri" pitchFamily="34" charset="-120"/>
              </a:rPr>
              <a:t>9</a:t>
            </a:r>
            <a:endParaRPr lang="en-US" sz="900" dirty="0"/>
          </a:p>
        </p:txBody>
      </p:sp>
    </p:spTree>
    <p:extLst>
      <p:ext uri="{BB962C8B-B14F-4D97-AF65-F5344CB8AC3E}">
        <p14:creationId xmlns:p14="http://schemas.microsoft.com/office/powerpoint/2010/main" val="24354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315200" cy="365760"/>
          </a:xfrm>
          <a:prstGeom prst="rect">
            <a:avLst/>
          </a:prstGeom>
          <a:noFill/>
          <a:ln/>
        </p:spPr>
        <p:txBody>
          <a:bodyPr wrap="square" lIns="0" tIns="0" rIns="0" bIns="0" rtlCol="0" anchor="ctr"/>
          <a:lstStyle/>
          <a:p>
            <a:pPr marL="0" indent="0">
              <a:buNone/>
            </a:pPr>
            <a:r>
              <a:rPr lang="en-US" sz="1500" b="1" kern="0" spc="300" dirty="0">
                <a:solidFill>
                  <a:srgbClr val="00D9C0"/>
                </a:solidFill>
                <a:latin typeface="Calibri" pitchFamily="34" charset="0"/>
                <a:ea typeface="Calibri" pitchFamily="34" charset="-122"/>
                <a:cs typeface="Calibri" pitchFamily="34" charset="-120"/>
              </a:rPr>
              <a:t>BLOCK 2 VON 4</a:t>
            </a:r>
            <a:endParaRPr lang="en-US" sz="1500" dirty="0"/>
          </a:p>
        </p:txBody>
      </p:sp>
      <p:sp>
        <p:nvSpPr>
          <p:cNvPr id="3" name="Text 1"/>
          <p:cNvSpPr txBox="1"/>
          <p:nvPr/>
        </p:nvSpPr>
        <p:spPr>
          <a:xfrm>
            <a:off x="594360" y="1783080"/>
            <a:ext cx="8686800" cy="100584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Verständnis der Verarbeitung</a:t>
            </a:r>
            <a:endParaRPr lang="en-US" sz="4000" dirty="0"/>
          </a:p>
        </p:txBody>
      </p:sp>
      <p:sp>
        <p:nvSpPr>
          <p:cNvPr id="4" name="Shape 2"/>
          <p:cNvSpPr/>
          <p:nvPr/>
        </p:nvSpPr>
        <p:spPr>
          <a:xfrm>
            <a:off x="640080" y="2880360"/>
            <a:ext cx="2377440" cy="0"/>
          </a:xfrm>
          <a:prstGeom prst="line">
            <a:avLst/>
          </a:prstGeom>
          <a:noFill/>
          <a:ln w="25400">
            <a:solidFill>
              <a:srgbClr val="00D9C0"/>
            </a:solidFill>
            <a:prstDash val="solid"/>
          </a:ln>
        </p:spPr>
      </p:sp>
      <p:sp>
        <p:nvSpPr>
          <p:cNvPr id="5" name="Shape 3"/>
          <p:cNvSpPr/>
          <p:nvPr/>
        </p:nvSpPr>
        <p:spPr>
          <a:xfrm>
            <a:off x="640080" y="3246120"/>
            <a:ext cx="420624" cy="420624"/>
          </a:xfrm>
          <a:prstGeom prst="ellipse">
            <a:avLst/>
          </a:prstGeom>
          <a:solidFill>
            <a:srgbClr val="17213D"/>
          </a:solidFill>
          <a:ln/>
        </p:spPr>
      </p:sp>
      <p:sp>
        <p:nvSpPr>
          <p:cNvPr id="6" name="Text 4"/>
          <p:cNvSpPr txBox="1"/>
          <p:nvPr/>
        </p:nvSpPr>
        <p:spPr>
          <a:xfrm>
            <a:off x="640080" y="3246120"/>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cs typeface="Arial" pitchFamily="34" charset="-120"/>
              </a:rPr>
              <a:t>1</a:t>
            </a:r>
            <a:endParaRPr lang="en-US" sz="1300" dirty="0"/>
          </a:p>
        </p:txBody>
      </p:sp>
      <p:sp>
        <p:nvSpPr>
          <p:cNvPr id="7" name="Text 5"/>
          <p:cNvSpPr txBox="1"/>
          <p:nvPr/>
        </p:nvSpPr>
        <p:spPr>
          <a:xfrm>
            <a:off x="1234440" y="3227832"/>
            <a:ext cx="7772400" cy="457200"/>
          </a:xfrm>
          <a:prstGeom prst="rect">
            <a:avLst/>
          </a:prstGeom>
          <a:noFill/>
          <a:ln/>
        </p:spPr>
        <p:txBody>
          <a:bodyPr wrap="square" lIns="0" tIns="0" rIns="0" bIns="0" rtlCol="0" anchor="ctr"/>
          <a:lstStyle/>
          <a:p>
            <a:pPr marL="0" indent="0">
              <a:buNone/>
            </a:pPr>
            <a:r>
              <a:rPr lang="en-US" sz="1500" dirty="0">
                <a:solidFill>
                  <a:srgbClr val="E4E8F5"/>
                </a:solidFill>
                <a:latin typeface="Calibri" pitchFamily="34" charset="0"/>
                <a:ea typeface="Calibri" pitchFamily="34" charset="-122"/>
                <a:cs typeface="Calibri" pitchFamily="34" charset="-120"/>
              </a:rPr>
              <a:t>Kontextfenster</a:t>
            </a:r>
            <a:r>
              <a:rPr lang="en-US" sz="1500">
                <a:solidFill>
                  <a:srgbClr val="E4E8F5"/>
                </a:solidFill>
                <a:latin typeface="Calibri" pitchFamily="34" charset="0"/>
                <a:ea typeface="Calibri" pitchFamily="34" charset="-122"/>
                <a:cs typeface="Calibri" pitchFamily="34" charset="-120"/>
              </a:rPr>
              <a:t>: </a:t>
            </a:r>
            <a:r>
              <a:rPr lang="en-US" sz="1500" smtClean="0">
                <a:solidFill>
                  <a:srgbClr val="E4E8F5"/>
                </a:solidFill>
                <a:latin typeface="Calibri" pitchFamily="34" charset="0"/>
                <a:ea typeface="Calibri" pitchFamily="34" charset="-122"/>
                <a:cs typeface="Calibri" pitchFamily="34" charset="-120"/>
              </a:rPr>
              <a:t> Der Arbeitsspeicher der KI</a:t>
            </a:r>
            <a:endParaRPr lang="en-US" sz="1500" dirty="0"/>
          </a:p>
        </p:txBody>
      </p:sp>
      <p:sp>
        <p:nvSpPr>
          <p:cNvPr id="8" name="Shape 6"/>
          <p:cNvSpPr/>
          <p:nvPr/>
        </p:nvSpPr>
        <p:spPr>
          <a:xfrm>
            <a:off x="640080" y="3813048"/>
            <a:ext cx="420624" cy="420624"/>
          </a:xfrm>
          <a:prstGeom prst="ellipse">
            <a:avLst/>
          </a:prstGeom>
          <a:solidFill>
            <a:srgbClr val="17213D"/>
          </a:solidFill>
          <a:ln/>
        </p:spPr>
      </p:sp>
      <p:sp>
        <p:nvSpPr>
          <p:cNvPr id="9" name="Text 7"/>
          <p:cNvSpPr txBox="1"/>
          <p:nvPr/>
        </p:nvSpPr>
        <p:spPr>
          <a:xfrm>
            <a:off x="640080" y="3717798"/>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cs typeface="Arial" pitchFamily="34" charset="-120"/>
              </a:rPr>
              <a:t>2</a:t>
            </a:r>
            <a:endParaRPr lang="en-US" sz="1300" dirty="0"/>
          </a:p>
        </p:txBody>
      </p:sp>
      <p:sp>
        <p:nvSpPr>
          <p:cNvPr id="10" name="Text 8"/>
          <p:cNvSpPr txBox="1"/>
          <p:nvPr/>
        </p:nvSpPr>
        <p:spPr>
          <a:xfrm>
            <a:off x="1234440" y="3670935"/>
            <a:ext cx="7772400" cy="457200"/>
          </a:xfrm>
          <a:prstGeom prst="rect">
            <a:avLst/>
          </a:prstGeom>
          <a:noFill/>
          <a:ln/>
        </p:spPr>
        <p:txBody>
          <a:bodyPr wrap="square" lIns="0" tIns="0" rIns="0" bIns="0" rtlCol="0" anchor="ctr"/>
          <a:lstStyle/>
          <a:p>
            <a:r>
              <a:rPr lang="en-US" sz="1500">
                <a:solidFill>
                  <a:schemeClr val="bg1">
                    <a:lumMod val="95000"/>
                  </a:schemeClr>
                </a:solidFill>
                <a:ea typeface="Arial" pitchFamily="34" charset="-122"/>
                <a:cs typeface="Arial" pitchFamily="34" charset="-120"/>
              </a:rPr>
              <a:t>Praxistest: Ein Geheimwort am Ende eines langen Textes</a:t>
            </a:r>
            <a:endParaRPr lang="en-US" sz="1500" dirty="0">
              <a:solidFill>
                <a:schemeClr val="bg1">
                  <a:lumMod val="95000"/>
                </a:schemeClr>
              </a:solidFill>
            </a:endParaRPr>
          </a:p>
        </p:txBody>
      </p:sp>
      <p:sp>
        <p:nvSpPr>
          <p:cNvPr id="11" name="Shape 9"/>
          <p:cNvSpPr/>
          <p:nvPr/>
        </p:nvSpPr>
        <p:spPr>
          <a:xfrm>
            <a:off x="640080" y="4379976"/>
            <a:ext cx="420624" cy="420624"/>
          </a:xfrm>
          <a:prstGeom prst="ellipse">
            <a:avLst/>
          </a:prstGeom>
          <a:solidFill>
            <a:srgbClr val="17213D"/>
          </a:solidFill>
          <a:ln/>
        </p:spPr>
      </p:sp>
      <p:sp>
        <p:nvSpPr>
          <p:cNvPr id="12" name="Text 10"/>
          <p:cNvSpPr txBox="1"/>
          <p:nvPr/>
        </p:nvSpPr>
        <p:spPr>
          <a:xfrm>
            <a:off x="630555" y="4160901"/>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cs typeface="Arial" pitchFamily="34" charset="-120"/>
              </a:rPr>
              <a:t>3</a:t>
            </a:r>
            <a:endParaRPr lang="en-US" sz="1300" dirty="0"/>
          </a:p>
        </p:txBody>
      </p:sp>
      <p:sp>
        <p:nvSpPr>
          <p:cNvPr id="13" name="Text 11"/>
          <p:cNvSpPr txBox="1"/>
          <p:nvPr/>
        </p:nvSpPr>
        <p:spPr>
          <a:xfrm>
            <a:off x="1234440" y="4123563"/>
            <a:ext cx="7772400" cy="457200"/>
          </a:xfrm>
          <a:prstGeom prst="rect">
            <a:avLst/>
          </a:prstGeom>
          <a:noFill/>
          <a:ln/>
        </p:spPr>
        <p:txBody>
          <a:bodyPr wrap="square" lIns="0" tIns="0" rIns="0" bIns="0" rtlCol="0" anchor="ctr"/>
          <a:lstStyle/>
          <a:p>
            <a:r>
              <a:rPr lang="en-US" sz="1600">
                <a:solidFill>
                  <a:schemeClr val="bg1">
                    <a:lumMod val="95000"/>
                  </a:schemeClr>
                </a:solidFill>
                <a:ea typeface="Arial" pitchFamily="34" charset="-122"/>
                <a:cs typeface="Arial" pitchFamily="34" charset="-120"/>
              </a:rPr>
              <a:t>CPU, RAM, VRAM, iGPU, NPU – die Hardware hinter der KI</a:t>
            </a:r>
            <a:endParaRPr lang="en-US" sz="1600" dirty="0">
              <a:solidFill>
                <a:schemeClr val="bg1">
                  <a:lumMod val="95000"/>
                </a:schemeClr>
              </a:solidFill>
            </a:endParaRPr>
          </a:p>
        </p:txBody>
      </p:sp>
      <p:sp>
        <p:nvSpPr>
          <p:cNvPr id="14" name="Shape 12"/>
          <p:cNvSpPr/>
          <p:nvPr/>
        </p:nvSpPr>
        <p:spPr>
          <a:xfrm>
            <a:off x="9052560" y="4480560"/>
            <a:ext cx="2743200" cy="1828800"/>
          </a:xfrm>
          <a:prstGeom prst="roundRect">
            <a:avLst>
              <a:gd name="adj" fmla="val 6000"/>
            </a:avLst>
          </a:prstGeom>
          <a:solidFill>
            <a:srgbClr val="17213D"/>
          </a:solidFill>
          <a:ln w="12700">
            <a:solidFill>
              <a:srgbClr val="00D9C0"/>
            </a:solidFill>
            <a:prstDash val="solid"/>
          </a:ln>
        </p:spPr>
      </p:sp>
      <p:sp>
        <p:nvSpPr>
          <p:cNvPr id="15" name="Shape 13"/>
          <p:cNvSpPr/>
          <p:nvPr/>
        </p:nvSpPr>
        <p:spPr>
          <a:xfrm>
            <a:off x="9464040" y="4160520"/>
            <a:ext cx="0" cy="365760"/>
          </a:xfrm>
          <a:prstGeom prst="line">
            <a:avLst/>
          </a:prstGeom>
          <a:noFill/>
          <a:ln w="19050">
            <a:solidFill>
              <a:srgbClr val="00D9C0"/>
            </a:solidFill>
            <a:prstDash val="solid"/>
          </a:ln>
        </p:spPr>
      </p:sp>
      <p:sp>
        <p:nvSpPr>
          <p:cNvPr id="16" name="Shape 14"/>
          <p:cNvSpPr/>
          <p:nvPr/>
        </p:nvSpPr>
        <p:spPr>
          <a:xfrm>
            <a:off x="9464040" y="6263640"/>
            <a:ext cx="0" cy="411480"/>
          </a:xfrm>
          <a:prstGeom prst="line">
            <a:avLst/>
          </a:prstGeom>
          <a:noFill/>
          <a:ln w="19050">
            <a:solidFill>
              <a:srgbClr val="00D9C0"/>
            </a:solidFill>
            <a:prstDash val="solid"/>
          </a:ln>
        </p:spPr>
      </p:sp>
      <p:sp>
        <p:nvSpPr>
          <p:cNvPr id="17" name="Shape 15"/>
          <p:cNvSpPr/>
          <p:nvPr/>
        </p:nvSpPr>
        <p:spPr>
          <a:xfrm>
            <a:off x="10012680" y="4160520"/>
            <a:ext cx="0" cy="365760"/>
          </a:xfrm>
          <a:prstGeom prst="line">
            <a:avLst/>
          </a:prstGeom>
          <a:noFill/>
          <a:ln w="19050">
            <a:solidFill>
              <a:srgbClr val="00D9C0"/>
            </a:solidFill>
            <a:prstDash val="solid"/>
          </a:ln>
        </p:spPr>
      </p:sp>
      <p:sp>
        <p:nvSpPr>
          <p:cNvPr id="18" name="Shape 16"/>
          <p:cNvSpPr/>
          <p:nvPr/>
        </p:nvSpPr>
        <p:spPr>
          <a:xfrm>
            <a:off x="10012680" y="6263640"/>
            <a:ext cx="0" cy="411480"/>
          </a:xfrm>
          <a:prstGeom prst="line">
            <a:avLst/>
          </a:prstGeom>
          <a:noFill/>
          <a:ln w="19050">
            <a:solidFill>
              <a:srgbClr val="00D9C0"/>
            </a:solidFill>
            <a:prstDash val="solid"/>
          </a:ln>
        </p:spPr>
      </p:sp>
      <p:sp>
        <p:nvSpPr>
          <p:cNvPr id="19" name="Shape 17"/>
          <p:cNvSpPr/>
          <p:nvPr/>
        </p:nvSpPr>
        <p:spPr>
          <a:xfrm>
            <a:off x="10561320" y="4160520"/>
            <a:ext cx="0" cy="365760"/>
          </a:xfrm>
          <a:prstGeom prst="line">
            <a:avLst/>
          </a:prstGeom>
          <a:noFill/>
          <a:ln w="19050">
            <a:solidFill>
              <a:srgbClr val="00D9C0"/>
            </a:solidFill>
            <a:prstDash val="solid"/>
          </a:ln>
        </p:spPr>
      </p:sp>
      <p:sp>
        <p:nvSpPr>
          <p:cNvPr id="20" name="Shape 18"/>
          <p:cNvSpPr/>
          <p:nvPr/>
        </p:nvSpPr>
        <p:spPr>
          <a:xfrm>
            <a:off x="10561320" y="6263640"/>
            <a:ext cx="0" cy="411480"/>
          </a:xfrm>
          <a:prstGeom prst="line">
            <a:avLst/>
          </a:prstGeom>
          <a:noFill/>
          <a:ln w="19050">
            <a:solidFill>
              <a:srgbClr val="00D9C0"/>
            </a:solidFill>
            <a:prstDash val="solid"/>
          </a:ln>
        </p:spPr>
      </p:sp>
      <p:sp>
        <p:nvSpPr>
          <p:cNvPr id="21" name="Shape 19"/>
          <p:cNvSpPr/>
          <p:nvPr/>
        </p:nvSpPr>
        <p:spPr>
          <a:xfrm>
            <a:off x="11109960" y="4160520"/>
            <a:ext cx="0" cy="365760"/>
          </a:xfrm>
          <a:prstGeom prst="line">
            <a:avLst/>
          </a:prstGeom>
          <a:noFill/>
          <a:ln w="19050">
            <a:solidFill>
              <a:srgbClr val="00D9C0"/>
            </a:solidFill>
            <a:prstDash val="solid"/>
          </a:ln>
        </p:spPr>
      </p:sp>
      <p:sp>
        <p:nvSpPr>
          <p:cNvPr id="22" name="Shape 20"/>
          <p:cNvSpPr/>
          <p:nvPr/>
        </p:nvSpPr>
        <p:spPr>
          <a:xfrm>
            <a:off x="11109960" y="6263640"/>
            <a:ext cx="0" cy="411480"/>
          </a:xfrm>
          <a:prstGeom prst="line">
            <a:avLst/>
          </a:prstGeom>
          <a:noFill/>
          <a:ln w="19050">
            <a:solidFill>
              <a:srgbClr val="00D9C0"/>
            </a:solidFill>
            <a:prstDash val="solid"/>
          </a:ln>
        </p:spPr>
      </p:sp>
      <p:sp>
        <p:nvSpPr>
          <p:cNvPr id="23" name="Shape 21"/>
          <p:cNvSpPr/>
          <p:nvPr/>
        </p:nvSpPr>
        <p:spPr>
          <a:xfrm>
            <a:off x="9464040" y="4800600"/>
            <a:ext cx="1920240" cy="1188720"/>
          </a:xfrm>
          <a:prstGeom prst="roundRect">
            <a:avLst>
              <a:gd name="adj" fmla="val 4615"/>
            </a:avLst>
          </a:prstGeom>
          <a:solidFill>
            <a:srgbClr val="121A33"/>
          </a:solidFill>
          <a:ln w="9525">
            <a:solidFill>
              <a:srgbClr val="00D9C0"/>
            </a:solidFill>
            <a:prstDash val="solid"/>
          </a:ln>
        </p:spPr>
      </p:sp>
      <p:sp>
        <p:nvSpPr>
          <p:cNvPr id="24" name="Text 22"/>
          <p:cNvSpPr txBox="1"/>
          <p:nvPr/>
        </p:nvSpPr>
        <p:spPr>
          <a:xfrm>
            <a:off x="9464040" y="4800600"/>
            <a:ext cx="1920240" cy="1188720"/>
          </a:xfrm>
          <a:prstGeom prst="rect">
            <a:avLst/>
          </a:prstGeom>
          <a:noFill/>
          <a:ln/>
        </p:spPr>
        <p:txBody>
          <a:bodyPr wrap="square" lIns="0" tIns="0" rIns="0" bIns="0" rtlCol="0" anchor="ctr"/>
          <a:lstStyle/>
          <a:p>
            <a:pPr marL="0" indent="0" algn="ctr">
              <a:buNone/>
            </a:pPr>
            <a:r>
              <a:rPr lang="en-US" sz="1600" b="1" dirty="0">
                <a:solidFill>
                  <a:srgbClr val="00D9C0"/>
                </a:solidFill>
                <a:latin typeface="Courier New" pitchFamily="34" charset="0"/>
                <a:ea typeface="Courier New" pitchFamily="34" charset="-122"/>
                <a:cs typeface="Courier New" pitchFamily="34" charset="-120"/>
              </a:rPr>
              <a:t>iGPU</a:t>
            </a:r>
            <a:endParaRPr lang="en-US" sz="1600" dirty="0"/>
          </a:p>
        </p:txBody>
      </p:sp>
      <p:sp>
        <p:nvSpPr>
          <p:cNvPr id="25" name="Text 23"/>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9AA3C0"/>
                </a:solidFill>
                <a:latin typeface="Calibri" pitchFamily="34" charset="0"/>
                <a:ea typeface="Calibri" pitchFamily="34" charset="-122"/>
                <a:cs typeface="Calibri" pitchFamily="34" charset="-120"/>
              </a:rPr>
              <a:t>OLLAMA PERFORMANCE TUNING · iGPU</a:t>
            </a:r>
            <a:endParaRPr lang="en-US" sz="900" dirty="0"/>
          </a:p>
        </p:txBody>
      </p:sp>
      <p:sp>
        <p:nvSpPr>
          <p:cNvPr id="26" name="Text 24"/>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9AA3C0"/>
                </a:solidFill>
                <a:latin typeface="Calibri" pitchFamily="34" charset="0"/>
                <a:ea typeface="Calibri" pitchFamily="34" charset="-122"/>
                <a:cs typeface="Calibri" pitchFamily="34" charset="-120"/>
              </a:rPr>
              <a:t>10</a:t>
            </a:r>
            <a:endParaRPr lang="en-US" sz="900" dirty="0"/>
          </a:p>
        </p:txBody>
      </p:sp>
      <p:sp>
        <p:nvSpPr>
          <p:cNvPr id="27" name="Text 10"/>
          <p:cNvSpPr txBox="1"/>
          <p:nvPr/>
        </p:nvSpPr>
        <p:spPr>
          <a:xfrm>
            <a:off x="620268" y="4609338"/>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cs typeface="Arial" pitchFamily="34" charset="-120"/>
              </a:rPr>
              <a:t>4</a:t>
            </a:r>
            <a:endParaRPr lang="en-US" sz="1300" dirty="0"/>
          </a:p>
        </p:txBody>
      </p:sp>
      <p:sp>
        <p:nvSpPr>
          <p:cNvPr id="28" name="Text 11"/>
          <p:cNvSpPr txBox="1"/>
          <p:nvPr/>
        </p:nvSpPr>
        <p:spPr>
          <a:xfrm>
            <a:off x="1253490" y="4589526"/>
            <a:ext cx="7772400" cy="457200"/>
          </a:xfrm>
          <a:prstGeom prst="rect">
            <a:avLst/>
          </a:prstGeom>
          <a:noFill/>
          <a:ln/>
        </p:spPr>
        <p:txBody>
          <a:bodyPr wrap="square" lIns="0" tIns="0" rIns="0" bIns="0" rtlCol="0" anchor="ctr"/>
          <a:lstStyle/>
          <a:p>
            <a:pPr marL="0" indent="0">
              <a:buNone/>
            </a:pPr>
            <a:r>
              <a:rPr lang="en-US" sz="1500" dirty="0">
                <a:solidFill>
                  <a:srgbClr val="E4E8F5"/>
                </a:solidFill>
                <a:latin typeface="Calibri" pitchFamily="34" charset="0"/>
                <a:ea typeface="Calibri" pitchFamily="34" charset="-122"/>
                <a:cs typeface="Calibri" pitchFamily="34" charset="-120"/>
              </a:rPr>
              <a:t>NVIDIA-GPU vs. Apple Silicon vs. AMD-iGPU</a:t>
            </a:r>
            <a:endParaRPr lang="en-US" sz="1500" dirty="0"/>
          </a:p>
        </p:txBody>
      </p:sp>
      <p:sp>
        <p:nvSpPr>
          <p:cNvPr id="29" name="Text 10"/>
          <p:cNvSpPr txBox="1"/>
          <p:nvPr/>
        </p:nvSpPr>
        <p:spPr>
          <a:xfrm>
            <a:off x="611505" y="5056251"/>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cs typeface="Arial" pitchFamily="34" charset="-120"/>
              </a:rPr>
              <a:t>5</a:t>
            </a:r>
            <a:endParaRPr lang="en-US" sz="1300" dirty="0"/>
          </a:p>
        </p:txBody>
      </p:sp>
      <p:sp>
        <p:nvSpPr>
          <p:cNvPr id="30" name="Text 11"/>
          <p:cNvSpPr txBox="1"/>
          <p:nvPr/>
        </p:nvSpPr>
        <p:spPr>
          <a:xfrm>
            <a:off x="1253490" y="5029200"/>
            <a:ext cx="7772400" cy="457200"/>
          </a:xfrm>
          <a:prstGeom prst="rect">
            <a:avLst/>
          </a:prstGeom>
          <a:noFill/>
          <a:ln/>
        </p:spPr>
        <p:txBody>
          <a:bodyPr wrap="square" lIns="0" tIns="0" rIns="0" bIns="0" rtlCol="0" anchor="ctr"/>
          <a:lstStyle/>
          <a:p>
            <a:r>
              <a:rPr lang="de-DE" sz="1500">
                <a:solidFill>
                  <a:schemeClr val="bg1">
                    <a:lumMod val="95000"/>
                  </a:schemeClr>
                </a:solidFill>
              </a:rPr>
              <a:t>Speicherbandbreite</a:t>
            </a:r>
            <a:r>
              <a:rPr lang="en-US" sz="1500">
                <a:solidFill>
                  <a:schemeClr val="bg1">
                    <a:lumMod val="95000"/>
                  </a:schemeClr>
                </a:solidFill>
                <a:ea typeface="Arial" pitchFamily="34" charset="-122"/>
                <a:cs typeface="Arial" pitchFamily="34" charset="-120"/>
              </a:rPr>
              <a:t> als Flaschenhals</a:t>
            </a:r>
            <a:endParaRPr lang="en-US" sz="1500" dirty="0">
              <a:solidFill>
                <a:schemeClr val="bg1">
                  <a:lumMod val="95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300" b="1" kern="0" spc="200" smtClean="0">
                <a:solidFill>
                  <a:srgbClr val="00D9C0"/>
                </a:solidFill>
                <a:latin typeface="Calibri" pitchFamily="34" charset="0"/>
                <a:ea typeface="Calibri" pitchFamily="34" charset="-122"/>
                <a:cs typeface="Calibri" pitchFamily="34" charset="-120"/>
              </a:rPr>
              <a:t>BLOCK </a:t>
            </a:r>
            <a:r>
              <a:rPr lang="en-US" sz="1300" b="1" kern="0" spc="200" dirty="0">
                <a:solidFill>
                  <a:srgbClr val="00D9C0"/>
                </a:solidFill>
                <a:latin typeface="Calibri" pitchFamily="34" charset="0"/>
                <a:ea typeface="Calibri" pitchFamily="34" charset="-122"/>
                <a:cs typeface="Calibri" pitchFamily="34" charset="-120"/>
              </a:rPr>
              <a:t>2 VERARBEITUNG</a:t>
            </a:r>
            <a:endParaRPr lang="en-US" sz="1300" dirty="0"/>
          </a:p>
        </p:txBody>
      </p:sp>
      <p:sp>
        <p:nvSpPr>
          <p:cNvPr id="3" name="Text 1"/>
          <p:cNvSpPr txBox="1"/>
          <p:nvPr/>
        </p:nvSpPr>
        <p:spPr>
          <a:xfrm>
            <a:off x="548640" y="566928"/>
            <a:ext cx="10972800" cy="54864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Kontextfenster</a:t>
            </a:r>
            <a:r>
              <a:rPr lang="en-US" sz="3000" b="1">
                <a:solidFill>
                  <a:srgbClr val="12172B"/>
                </a:solidFill>
                <a:latin typeface="Arial" pitchFamily="34" charset="0"/>
                <a:ea typeface="Arial" pitchFamily="34" charset="-122"/>
                <a:cs typeface="Arial" pitchFamily="34" charset="-120"/>
              </a:rPr>
              <a:t>: </a:t>
            </a:r>
            <a:r>
              <a:rPr lang="en-US" sz="3000" b="1" smtClean="0">
                <a:solidFill>
                  <a:srgbClr val="12172B"/>
                </a:solidFill>
                <a:latin typeface="Arial" pitchFamily="34" charset="0"/>
                <a:ea typeface="Arial" pitchFamily="34" charset="-122"/>
                <a:cs typeface="Arial" pitchFamily="34" charset="-120"/>
              </a:rPr>
              <a:t>Der Arbeitsspeicher der KI</a:t>
            </a:r>
            <a:endParaRPr lang="en-US" sz="3000" dirty="0"/>
          </a:p>
        </p:txBody>
      </p:sp>
      <p:sp>
        <p:nvSpPr>
          <p:cNvPr id="4" name="Text 2"/>
          <p:cNvSpPr txBox="1"/>
          <p:nvPr/>
        </p:nvSpPr>
        <p:spPr>
          <a:xfrm>
            <a:off x="548640" y="1143000"/>
            <a:ext cx="10607039" cy="731520"/>
          </a:xfrm>
          <a:prstGeom prst="rect">
            <a:avLst/>
          </a:prstGeom>
          <a:noFill/>
          <a:ln/>
        </p:spPr>
        <p:txBody>
          <a:bodyPr wrap="square" lIns="0" tIns="0" rIns="0" bIns="0" rtlCol="0" anchor="ctr"/>
          <a:lstStyle/>
          <a:p>
            <a:r>
              <a:rPr lang="de-DE" sz="1400">
                <a:solidFill>
                  <a:schemeClr val="bg2">
                    <a:lumMod val="25000"/>
                  </a:schemeClr>
                </a:solidFill>
              </a:rPr>
              <a:t>Die „Context Length“ bestimmt, wie viele Token das Modell gleichzeitig im Gedächtnis behalten kann. Ollama legt die Kontextgröße basierend auf dem verfügbaren VRAM fest. Das Modell und der dafür reservierte KV-Cache müssen vollständig in den VRAM passen, um langsame CPU-Auslagerungen zu verhindern.</a:t>
            </a:r>
            <a:endParaRPr lang="en-US" sz="1350" dirty="0">
              <a:solidFill>
                <a:schemeClr val="bg2">
                  <a:lumMod val="25000"/>
                </a:schemeClr>
              </a:solidFill>
            </a:endParaRPr>
          </a:p>
        </p:txBody>
      </p:sp>
      <p:sp>
        <p:nvSpPr>
          <p:cNvPr id="5" name="Shape 3"/>
          <p:cNvSpPr/>
          <p:nvPr/>
        </p:nvSpPr>
        <p:spPr>
          <a:xfrm>
            <a:off x="548640" y="2011680"/>
            <a:ext cx="5120640" cy="896112"/>
          </a:xfrm>
          <a:prstGeom prst="roundRect">
            <a:avLst>
              <a:gd name="adj" fmla="val 10000"/>
            </a:avLst>
          </a:prstGeom>
          <a:solidFill>
            <a:srgbClr val="F2F5FA"/>
          </a:solidFill>
          <a:ln/>
        </p:spPr>
      </p:sp>
      <p:sp>
        <p:nvSpPr>
          <p:cNvPr id="6" name="Text 4"/>
          <p:cNvSpPr txBox="1"/>
          <p:nvPr/>
        </p:nvSpPr>
        <p:spPr>
          <a:xfrm>
            <a:off x="768096" y="2139696"/>
            <a:ext cx="2255520" cy="228600"/>
          </a:xfrm>
          <a:prstGeom prst="rect">
            <a:avLst/>
          </a:prstGeom>
          <a:noFill/>
          <a:ln/>
        </p:spPr>
        <p:txBody>
          <a:bodyPr wrap="square" lIns="0" tIns="0" rIns="0" bIns="0" rtlCol="0" anchor="ctr"/>
          <a:lstStyle/>
          <a:p>
            <a:pPr marL="0" indent="0">
              <a:buNone/>
            </a:pPr>
            <a:r>
              <a:rPr lang="en-US" sz="1250" b="1">
                <a:solidFill>
                  <a:srgbClr val="FF6B4A"/>
                </a:solidFill>
                <a:latin typeface="Calibri" pitchFamily="34" charset="0"/>
                <a:ea typeface="Calibri" pitchFamily="34" charset="-122"/>
                <a:cs typeface="Calibri" pitchFamily="34" charset="-120"/>
              </a:rPr>
              <a:t>&lt; </a:t>
            </a:r>
            <a:r>
              <a:rPr lang="en-US" sz="1250" b="1" smtClean="0">
                <a:solidFill>
                  <a:srgbClr val="FF6B4A"/>
                </a:solidFill>
                <a:latin typeface="Calibri" pitchFamily="34" charset="0"/>
                <a:ea typeface="Calibri" pitchFamily="34" charset="-122"/>
                <a:cs typeface="Calibri" pitchFamily="34" charset="-120"/>
              </a:rPr>
              <a:t>24 GB </a:t>
            </a:r>
            <a:r>
              <a:rPr lang="en-US" sz="1250" b="1" dirty="0">
                <a:solidFill>
                  <a:srgbClr val="FF6B4A"/>
                </a:solidFill>
                <a:latin typeface="Calibri" pitchFamily="34" charset="0"/>
                <a:ea typeface="Calibri" pitchFamily="34" charset="-122"/>
                <a:cs typeface="Calibri" pitchFamily="34" charset="-120"/>
              </a:rPr>
              <a:t>VRAM</a:t>
            </a:r>
            <a:endParaRPr lang="en-US" sz="1250" dirty="0"/>
          </a:p>
        </p:txBody>
      </p:sp>
      <p:sp>
        <p:nvSpPr>
          <p:cNvPr id="7" name="Text 5"/>
          <p:cNvSpPr txBox="1"/>
          <p:nvPr/>
        </p:nvSpPr>
        <p:spPr>
          <a:xfrm>
            <a:off x="768096" y="2377440"/>
            <a:ext cx="2255520" cy="384048"/>
          </a:xfrm>
          <a:prstGeom prst="rect">
            <a:avLst/>
          </a:prstGeom>
          <a:noFill/>
          <a:ln/>
        </p:spPr>
        <p:txBody>
          <a:bodyPr wrap="square" lIns="0" tIns="0" rIns="0" bIns="0" rtlCol="0" anchor="ctr"/>
          <a:lstStyle/>
          <a:p>
            <a:pPr marL="0" indent="0">
              <a:buNone/>
            </a:pPr>
            <a:r>
              <a:rPr lang="en-US" sz="1800" b="1" dirty="0">
                <a:solidFill>
                  <a:srgbClr val="12172B"/>
                </a:solidFill>
                <a:latin typeface="Arial" pitchFamily="34" charset="0"/>
                <a:ea typeface="Arial" pitchFamily="34" charset="-122"/>
                <a:cs typeface="Arial" pitchFamily="34" charset="-120"/>
              </a:rPr>
              <a:t>4k Kontext</a:t>
            </a:r>
            <a:endParaRPr lang="en-US" sz="2600" dirty="0"/>
          </a:p>
        </p:txBody>
      </p:sp>
      <p:sp>
        <p:nvSpPr>
          <p:cNvPr id="8" name="Text 6"/>
          <p:cNvSpPr txBox="1"/>
          <p:nvPr/>
        </p:nvSpPr>
        <p:spPr>
          <a:xfrm>
            <a:off x="3169920" y="2103120"/>
            <a:ext cx="2316480" cy="713232"/>
          </a:xfrm>
          <a:prstGeom prst="rect">
            <a:avLst/>
          </a:prstGeom>
          <a:noFill/>
          <a:ln/>
        </p:spPr>
        <p:txBody>
          <a:bodyPr wrap="square" lIns="0" tIns="0" rIns="0" bIns="0" rtlCol="0" anchor="ctr"/>
          <a:lstStyle/>
          <a:p>
            <a:r>
              <a:rPr lang="de-DE" sz="1050" smtClean="0">
                <a:solidFill>
                  <a:srgbClr val="5B6478"/>
                </a:solidFill>
              </a:rPr>
              <a:t>Ollama-Standard </a:t>
            </a:r>
            <a:r>
              <a:rPr lang="de-DE" sz="1050">
                <a:solidFill>
                  <a:srgbClr val="5B6478"/>
                </a:solidFill>
              </a:rPr>
              <a:t>für Consumer-Karten. Ausreichend für kurze Chats / ca. 3.000 </a:t>
            </a:r>
            <a:r>
              <a:rPr lang="de-DE" sz="1050" smtClean="0">
                <a:solidFill>
                  <a:srgbClr val="5B6478"/>
                </a:solidFill>
              </a:rPr>
              <a:t>Wörter</a:t>
            </a:r>
            <a:endParaRPr lang="en-US" sz="1300" dirty="0">
              <a:solidFill>
                <a:srgbClr val="5B6478"/>
              </a:solidFill>
            </a:endParaRPr>
          </a:p>
        </p:txBody>
      </p:sp>
      <p:sp>
        <p:nvSpPr>
          <p:cNvPr id="9" name="Shape 7"/>
          <p:cNvSpPr/>
          <p:nvPr/>
        </p:nvSpPr>
        <p:spPr>
          <a:xfrm>
            <a:off x="548640" y="2999232"/>
            <a:ext cx="5120640" cy="896112"/>
          </a:xfrm>
          <a:prstGeom prst="roundRect">
            <a:avLst>
              <a:gd name="adj" fmla="val 10000"/>
            </a:avLst>
          </a:prstGeom>
          <a:solidFill>
            <a:srgbClr val="F2F5FA"/>
          </a:solidFill>
          <a:ln/>
        </p:spPr>
      </p:sp>
      <p:sp>
        <p:nvSpPr>
          <p:cNvPr id="10" name="Text 8"/>
          <p:cNvSpPr txBox="1"/>
          <p:nvPr/>
        </p:nvSpPr>
        <p:spPr>
          <a:xfrm>
            <a:off x="768096" y="3127248"/>
            <a:ext cx="2255520" cy="228600"/>
          </a:xfrm>
          <a:prstGeom prst="rect">
            <a:avLst/>
          </a:prstGeom>
          <a:noFill/>
          <a:ln/>
        </p:spPr>
        <p:txBody>
          <a:bodyPr wrap="square" lIns="0" tIns="0" rIns="0" bIns="0" rtlCol="0" anchor="ctr"/>
          <a:lstStyle/>
          <a:p>
            <a:pPr marL="0" indent="0">
              <a:buNone/>
            </a:pPr>
            <a:r>
              <a:rPr lang="en-US" sz="1250" b="1" smtClean="0">
                <a:solidFill>
                  <a:srgbClr val="FF6B4A"/>
                </a:solidFill>
                <a:latin typeface="Calibri" pitchFamily="34" charset="0"/>
                <a:ea typeface="Calibri" pitchFamily="34" charset="-122"/>
                <a:cs typeface="Calibri" pitchFamily="34" charset="-120"/>
              </a:rPr>
              <a:t>24–48 GB </a:t>
            </a:r>
            <a:r>
              <a:rPr lang="en-US" sz="1250" b="1" dirty="0">
                <a:solidFill>
                  <a:srgbClr val="FF6B4A"/>
                </a:solidFill>
                <a:latin typeface="Calibri" pitchFamily="34" charset="0"/>
                <a:ea typeface="Calibri" pitchFamily="34" charset="-122"/>
                <a:cs typeface="Calibri" pitchFamily="34" charset="-120"/>
              </a:rPr>
              <a:t>VRAM</a:t>
            </a:r>
            <a:endParaRPr lang="en-US" sz="1250" dirty="0"/>
          </a:p>
        </p:txBody>
      </p:sp>
      <p:sp>
        <p:nvSpPr>
          <p:cNvPr id="11" name="Text 9"/>
          <p:cNvSpPr txBox="1"/>
          <p:nvPr/>
        </p:nvSpPr>
        <p:spPr>
          <a:xfrm>
            <a:off x="768096" y="3364992"/>
            <a:ext cx="2255520" cy="384048"/>
          </a:xfrm>
          <a:prstGeom prst="rect">
            <a:avLst/>
          </a:prstGeom>
          <a:noFill/>
          <a:ln/>
        </p:spPr>
        <p:txBody>
          <a:bodyPr wrap="square" lIns="0" tIns="0" rIns="0" bIns="0" rtlCol="0" anchor="ctr"/>
          <a:lstStyle/>
          <a:p>
            <a:pPr marL="0" indent="0">
              <a:buNone/>
            </a:pPr>
            <a:r>
              <a:rPr lang="en-US" sz="1800" b="1" dirty="0">
                <a:solidFill>
                  <a:srgbClr val="12172B"/>
                </a:solidFill>
                <a:latin typeface="Arial" pitchFamily="34" charset="0"/>
                <a:ea typeface="Arial" pitchFamily="34" charset="-122"/>
                <a:cs typeface="Arial" pitchFamily="34" charset="-120"/>
              </a:rPr>
              <a:t>32k Kontext</a:t>
            </a:r>
            <a:endParaRPr lang="en-US" sz="2600" dirty="0"/>
          </a:p>
        </p:txBody>
      </p:sp>
      <p:sp>
        <p:nvSpPr>
          <p:cNvPr id="12" name="Text 10"/>
          <p:cNvSpPr txBox="1"/>
          <p:nvPr/>
        </p:nvSpPr>
        <p:spPr>
          <a:xfrm>
            <a:off x="3169920" y="3090672"/>
            <a:ext cx="2316480" cy="713232"/>
          </a:xfrm>
          <a:prstGeom prst="rect">
            <a:avLst/>
          </a:prstGeom>
          <a:noFill/>
          <a:ln/>
        </p:spPr>
        <p:txBody>
          <a:bodyPr wrap="square" lIns="0" tIns="0" rIns="0" bIns="0" rtlCol="0" anchor="ctr"/>
          <a:lstStyle/>
          <a:p>
            <a:r>
              <a:rPr lang="de-DE" sz="1050" smtClean="0">
                <a:solidFill>
                  <a:srgbClr val="5B6478"/>
                </a:solidFill>
              </a:rPr>
              <a:t>Mehr </a:t>
            </a:r>
            <a:r>
              <a:rPr lang="de-DE" sz="1050">
                <a:solidFill>
                  <a:srgbClr val="5B6478"/>
                </a:solidFill>
              </a:rPr>
              <a:t>Spielraum: Ideal für Datenanalysen, RAG-Systeme und längere Programmier-Kontexte</a:t>
            </a:r>
            <a:endParaRPr lang="en-US" sz="1300" dirty="0">
              <a:solidFill>
                <a:srgbClr val="5B6478"/>
              </a:solidFill>
            </a:endParaRPr>
          </a:p>
        </p:txBody>
      </p:sp>
      <p:sp>
        <p:nvSpPr>
          <p:cNvPr id="17" name="Shape 15"/>
          <p:cNvSpPr/>
          <p:nvPr/>
        </p:nvSpPr>
        <p:spPr>
          <a:xfrm>
            <a:off x="548640" y="4992624"/>
            <a:ext cx="5120640" cy="676656"/>
          </a:xfrm>
          <a:prstGeom prst="roundRect">
            <a:avLst>
              <a:gd name="adj" fmla="val 13500"/>
            </a:avLst>
          </a:prstGeom>
          <a:solidFill>
            <a:srgbClr val="E7ECF5"/>
          </a:solidFill>
          <a:ln/>
        </p:spPr>
      </p:sp>
      <p:sp>
        <p:nvSpPr>
          <p:cNvPr id="18" name="Shape 16"/>
          <p:cNvSpPr/>
          <p:nvPr/>
        </p:nvSpPr>
        <p:spPr>
          <a:xfrm>
            <a:off x="755904" y="5129784"/>
            <a:ext cx="402336" cy="402336"/>
          </a:xfrm>
          <a:prstGeom prst="ellipse">
            <a:avLst/>
          </a:prstGeom>
          <a:solidFill>
            <a:srgbClr val="0D1321"/>
          </a:solidFill>
          <a:ln/>
        </p:spPr>
      </p:sp>
      <p:sp>
        <p:nvSpPr>
          <p:cNvPr id="19" name="Text 17"/>
          <p:cNvSpPr txBox="1"/>
          <p:nvPr/>
        </p:nvSpPr>
        <p:spPr>
          <a:xfrm>
            <a:off x="746149" y="5129784"/>
            <a:ext cx="402336" cy="402336"/>
          </a:xfrm>
          <a:prstGeom prst="rect">
            <a:avLst/>
          </a:prstGeom>
          <a:noFill/>
          <a:ln/>
        </p:spPr>
        <p:txBody>
          <a:bodyPr wrap="square" lIns="0" tIns="0" rIns="0" bIns="0" rtlCol="0" anchor="ctr"/>
          <a:lstStyle/>
          <a:p>
            <a:pPr marL="0" indent="0" algn="ctr">
              <a:buNone/>
            </a:pPr>
            <a:r>
              <a:rPr lang="en-US" sz="1800" b="1" dirty="0">
                <a:solidFill>
                  <a:srgbClr val="00D9C0"/>
                </a:solidFill>
                <a:latin typeface="Arial" pitchFamily="34" charset="0"/>
                <a:ea typeface="Arial" pitchFamily="34" charset="-122"/>
                <a:cs typeface="Arial" pitchFamily="34" charset="-120"/>
              </a:rPr>
              <a:t>≈</a:t>
            </a:r>
            <a:endParaRPr lang="en-US" sz="2200" dirty="0"/>
          </a:p>
        </p:txBody>
      </p:sp>
      <p:sp>
        <p:nvSpPr>
          <p:cNvPr id="20" name="Text 18"/>
          <p:cNvSpPr txBox="1"/>
          <p:nvPr/>
        </p:nvSpPr>
        <p:spPr>
          <a:xfrm>
            <a:off x="1377696" y="5020056"/>
            <a:ext cx="4108704" cy="621792"/>
          </a:xfrm>
          <a:prstGeom prst="rect">
            <a:avLst/>
          </a:prstGeom>
          <a:noFill/>
          <a:ln/>
        </p:spPr>
        <p:txBody>
          <a:bodyPr wrap="square" lIns="0" tIns="0" rIns="0" bIns="0" rtlCol="0" anchor="ctr"/>
          <a:lstStyle/>
          <a:p>
            <a:pPr marL="0" indent="0">
              <a:buNone/>
            </a:pPr>
            <a:r>
              <a:rPr lang="en-US" sz="1200" b="1" dirty="0">
                <a:solidFill>
                  <a:srgbClr val="0D1321"/>
                </a:solidFill>
                <a:latin typeface="Calibri" pitchFamily="34" charset="0"/>
                <a:ea typeface="Calibri" pitchFamily="34" charset="-122"/>
                <a:cs typeface="Calibri" pitchFamily="34" charset="-120"/>
              </a:rPr>
              <a:t>Faustregel: Ein Token entspricht im Durchschnitt etwa 4 Zeichen oder drei Viertel eines Wortes.</a:t>
            </a:r>
            <a:endParaRPr lang="en-US" sz="1450" dirty="0"/>
          </a:p>
        </p:txBody>
      </p:sp>
      <p:sp>
        <p:nvSpPr>
          <p:cNvPr id="21" name="Text 19"/>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22" name="Text 20"/>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5B6478"/>
                </a:solidFill>
                <a:latin typeface="Calibri" pitchFamily="34" charset="0"/>
                <a:ea typeface="Calibri" pitchFamily="34" charset="-122"/>
                <a:cs typeface="Calibri" pitchFamily="34" charset="-120"/>
              </a:rPr>
              <a:t>11</a:t>
            </a:r>
            <a:endParaRPr lang="en-US" sz="900" dirty="0"/>
          </a:p>
        </p:txBody>
      </p:sp>
      <p:sp>
        <p:nvSpPr>
          <p:cNvPr id="23" name="Shape 3"/>
          <p:cNvSpPr/>
          <p:nvPr/>
        </p:nvSpPr>
        <p:spPr>
          <a:xfrm>
            <a:off x="548640" y="3986784"/>
            <a:ext cx="5120640" cy="896112"/>
          </a:xfrm>
          <a:prstGeom prst="roundRect">
            <a:avLst>
              <a:gd name="adj" fmla="val 10000"/>
            </a:avLst>
          </a:prstGeom>
          <a:solidFill>
            <a:srgbClr val="F2F5FA"/>
          </a:solidFill>
          <a:ln/>
        </p:spPr>
      </p:sp>
      <p:sp>
        <p:nvSpPr>
          <p:cNvPr id="24" name="Text 4"/>
          <p:cNvSpPr txBox="1"/>
          <p:nvPr/>
        </p:nvSpPr>
        <p:spPr>
          <a:xfrm>
            <a:off x="768096" y="4114800"/>
            <a:ext cx="2255520" cy="228600"/>
          </a:xfrm>
          <a:prstGeom prst="rect">
            <a:avLst/>
          </a:prstGeom>
          <a:noFill/>
          <a:ln/>
        </p:spPr>
        <p:txBody>
          <a:bodyPr wrap="square" lIns="0" tIns="0" rIns="0" bIns="0" rtlCol="0" anchor="ctr"/>
          <a:lstStyle/>
          <a:p>
            <a:pPr marL="0" indent="0">
              <a:buNone/>
            </a:pPr>
            <a:r>
              <a:rPr lang="en-US" sz="1250" b="1">
                <a:solidFill>
                  <a:srgbClr val="FF6B4A"/>
                </a:solidFill>
                <a:latin typeface="Calibri" pitchFamily="34" charset="0"/>
                <a:ea typeface="Calibri" pitchFamily="34" charset="-122"/>
                <a:cs typeface="Calibri" pitchFamily="34" charset="-120"/>
              </a:rPr>
              <a:t>&gt;</a:t>
            </a:r>
            <a:r>
              <a:rPr lang="en-US" sz="1250" b="1" smtClean="0">
                <a:solidFill>
                  <a:srgbClr val="FF6B4A"/>
                </a:solidFill>
                <a:latin typeface="Calibri" pitchFamily="34" charset="0"/>
                <a:ea typeface="Calibri" pitchFamily="34" charset="-122"/>
                <a:cs typeface="Calibri" pitchFamily="34" charset="-120"/>
              </a:rPr>
              <a:t> 48 GB </a:t>
            </a:r>
            <a:r>
              <a:rPr lang="en-US" sz="1250" b="1" dirty="0">
                <a:solidFill>
                  <a:srgbClr val="FF6B4A"/>
                </a:solidFill>
                <a:latin typeface="Calibri" pitchFamily="34" charset="0"/>
                <a:ea typeface="Calibri" pitchFamily="34" charset="-122"/>
                <a:cs typeface="Calibri" pitchFamily="34" charset="-120"/>
              </a:rPr>
              <a:t>VRAM</a:t>
            </a:r>
            <a:endParaRPr lang="en-US" sz="1250" dirty="0"/>
          </a:p>
        </p:txBody>
      </p:sp>
      <p:sp>
        <p:nvSpPr>
          <p:cNvPr id="25" name="Text 5"/>
          <p:cNvSpPr txBox="1"/>
          <p:nvPr/>
        </p:nvSpPr>
        <p:spPr>
          <a:xfrm>
            <a:off x="768096" y="4352544"/>
            <a:ext cx="2255520" cy="384048"/>
          </a:xfrm>
          <a:prstGeom prst="rect">
            <a:avLst/>
          </a:prstGeom>
          <a:noFill/>
          <a:ln/>
        </p:spPr>
        <p:txBody>
          <a:bodyPr wrap="square" lIns="0" tIns="0" rIns="0" bIns="0" rtlCol="0" anchor="ctr"/>
          <a:lstStyle/>
          <a:p>
            <a:pPr marL="0" indent="0">
              <a:buNone/>
            </a:pPr>
            <a:r>
              <a:rPr lang="en-US" sz="1800" b="1" smtClean="0">
                <a:solidFill>
                  <a:srgbClr val="12172B"/>
                </a:solidFill>
                <a:latin typeface="Arial" pitchFamily="34" charset="0"/>
                <a:ea typeface="Arial" pitchFamily="34" charset="-122"/>
                <a:cs typeface="Arial" pitchFamily="34" charset="-120"/>
              </a:rPr>
              <a:t>256k </a:t>
            </a:r>
            <a:r>
              <a:rPr lang="en-US" sz="1800" b="1" dirty="0">
                <a:solidFill>
                  <a:srgbClr val="12172B"/>
                </a:solidFill>
                <a:latin typeface="Arial" pitchFamily="34" charset="0"/>
                <a:ea typeface="Arial" pitchFamily="34" charset="-122"/>
                <a:cs typeface="Arial" pitchFamily="34" charset="-120"/>
              </a:rPr>
              <a:t>Kontext</a:t>
            </a:r>
            <a:endParaRPr lang="en-US" sz="2600" dirty="0"/>
          </a:p>
        </p:txBody>
      </p:sp>
      <p:sp>
        <p:nvSpPr>
          <p:cNvPr id="26" name="Text 6"/>
          <p:cNvSpPr txBox="1"/>
          <p:nvPr/>
        </p:nvSpPr>
        <p:spPr>
          <a:xfrm>
            <a:off x="3169920" y="4078224"/>
            <a:ext cx="2316480" cy="713232"/>
          </a:xfrm>
          <a:prstGeom prst="rect">
            <a:avLst/>
          </a:prstGeom>
          <a:noFill/>
          <a:ln/>
        </p:spPr>
        <p:txBody>
          <a:bodyPr wrap="square" lIns="0" tIns="0" rIns="0" bIns="0" rtlCol="0" anchor="ctr"/>
          <a:lstStyle/>
          <a:p>
            <a:r>
              <a:rPr lang="de-DE" sz="1050" smtClean="0">
                <a:solidFill>
                  <a:srgbClr val="5B6478"/>
                </a:solidFill>
              </a:rPr>
              <a:t>Enterprise-Niveau: Ermöglicht die Verarbeitung ganzer Dokumente und Bücher auf einmal</a:t>
            </a:r>
            <a:endParaRPr lang="en-US" sz="1300" dirty="0">
              <a:solidFill>
                <a:srgbClr val="5B6478"/>
              </a:solidFill>
            </a:endParaRPr>
          </a:p>
        </p:txBody>
      </p:sp>
      <p:sp>
        <p:nvSpPr>
          <p:cNvPr id="27" name="VRAM Panel"/>
          <p:cNvSpPr/>
          <p:nvPr/>
        </p:nvSpPr>
        <p:spPr>
          <a:xfrm>
            <a:off x="5974080" y="2011680"/>
            <a:ext cx="5638800" cy="3657600"/>
          </a:xfrm>
          <a:prstGeom prst="roundRect">
            <a:avLst>
              <a:gd name="adj" fmla="val 3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93536" y="2121240"/>
            <a:ext cx="5199887" cy="192360"/>
          </a:xfrm>
          <a:prstGeom prst="rect">
            <a:avLst/>
          </a:prstGeom>
          <a:noFill/>
        </p:spPr>
        <p:txBody>
          <a:bodyPr wrap="square" lIns="0" tIns="0" rIns="0" bIns="0" anchor="ctr">
            <a:spAutoFit/>
          </a:bodyPr>
          <a:lstStyle/>
          <a:p>
            <a:r>
              <a:rPr sz="1250" b="1">
                <a:solidFill>
                  <a:srgbClr val="FF6B4A"/>
                </a:solidFill>
                <a:latin typeface="Calibri"/>
              </a:rPr>
              <a:t>GESAMT-VRAM  ·  schematische Verteilung</a:t>
            </a:r>
          </a:p>
        </p:txBody>
      </p:sp>
      <p:sp>
        <p:nvSpPr>
          <p:cNvPr id="29" name="Modell-Datei"/>
          <p:cNvSpPr/>
          <p:nvPr/>
        </p:nvSpPr>
        <p:spPr>
          <a:xfrm>
            <a:off x="6193536" y="2743200"/>
            <a:ext cx="1219200" cy="640080"/>
          </a:xfrm>
          <a:prstGeom prst="roundRect">
            <a:avLst>
              <a:gd name="adj" fmla="val 15000"/>
            </a:avLst>
          </a:prstGeom>
          <a:solidFill>
            <a:srgbClr val="0D132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1">
                <a:solidFill>
                  <a:srgbClr val="FFFFFF"/>
                </a:solidFill>
                <a:latin typeface="Calibri"/>
              </a:rPr>
              <a:t>Modell auf
Festplatte</a:t>
            </a:r>
          </a:p>
        </p:txBody>
      </p:sp>
      <p:sp>
        <p:nvSpPr>
          <p:cNvPr id="30" name="Pfeil Laden"/>
          <p:cNvSpPr/>
          <p:nvPr/>
        </p:nvSpPr>
        <p:spPr>
          <a:xfrm>
            <a:off x="7473696" y="2944368"/>
            <a:ext cx="609600" cy="237744"/>
          </a:xfrm>
          <a:prstGeom prst="rightArrow">
            <a:avLst/>
          </a:prstGeom>
          <a:solidFill>
            <a:srgbClr val="00D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93536" y="3474720"/>
            <a:ext cx="1950720" cy="146194"/>
          </a:xfrm>
          <a:prstGeom prst="rect">
            <a:avLst/>
          </a:prstGeom>
          <a:noFill/>
        </p:spPr>
        <p:txBody>
          <a:bodyPr wrap="square" lIns="0" tIns="0" rIns="0" bIns="0" anchor="t">
            <a:spAutoFit/>
          </a:bodyPr>
          <a:lstStyle/>
          <a:p>
            <a:r>
              <a:rPr sz="950" b="0">
                <a:solidFill>
                  <a:srgbClr val="5B6478"/>
                </a:solidFill>
                <a:latin typeface="Calibri"/>
              </a:rPr>
              <a:t>wird beim Start in den VRAM geladen</a:t>
            </a:r>
          </a:p>
        </p:txBody>
      </p:sp>
      <p:graphicFrame>
        <p:nvGraphicFramePr>
          <p:cNvPr id="32" name="VRAM Tortendiagramm"/>
          <p:cNvGraphicFramePr>
            <a:graphicFrameLocks noGrp="1"/>
          </p:cNvGraphicFramePr>
          <p:nvPr/>
        </p:nvGraphicFramePr>
        <p:xfrm>
          <a:off x="8168640" y="2331720"/>
          <a:ext cx="3169920" cy="1691640"/>
        </p:xfrm>
        <a:graphic>
          <a:graphicData uri="http://schemas.openxmlformats.org/drawingml/2006/chart">
            <c:chart xmlns:c="http://schemas.openxmlformats.org/drawingml/2006/chart" xmlns:r="http://schemas.openxmlformats.org/officeDocument/2006/relationships" r:id="rId3"/>
          </a:graphicData>
        </a:graphic>
      </p:graphicFrame>
      <p:sp>
        <p:nvSpPr>
          <p:cNvPr id="33" name="Oval 32"/>
          <p:cNvSpPr/>
          <p:nvPr/>
        </p:nvSpPr>
        <p:spPr>
          <a:xfrm>
            <a:off x="6217920" y="4151376"/>
            <a:ext cx="158496" cy="118872"/>
          </a:xfrm>
          <a:prstGeom prst="ellipse">
            <a:avLst/>
          </a:prstGeom>
          <a:solidFill>
            <a:srgbClr val="0D1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86144" y="4114800"/>
            <a:ext cx="4907280" cy="153888"/>
          </a:xfrm>
          <a:prstGeom prst="rect">
            <a:avLst/>
          </a:prstGeom>
          <a:noFill/>
        </p:spPr>
        <p:txBody>
          <a:bodyPr wrap="square" lIns="0" tIns="0" rIns="0" bIns="0" anchor="t">
            <a:spAutoFit/>
          </a:bodyPr>
          <a:lstStyle/>
          <a:p>
            <a:r>
              <a:rPr sz="1000" b="1">
                <a:solidFill>
                  <a:srgbClr val="12172B"/>
                </a:solidFill>
                <a:latin typeface="Calibri"/>
              </a:rPr>
              <a:t>Modell-Gewichte</a:t>
            </a:r>
            <a:r>
              <a:rPr sz="1000" b="0">
                <a:solidFill>
                  <a:srgbClr val="5B6478"/>
                </a:solidFill>
                <a:latin typeface="Calibri"/>
              </a:rPr>
              <a:t> – fest definiert durch das Modell</a:t>
            </a:r>
          </a:p>
        </p:txBody>
      </p:sp>
      <p:sp>
        <p:nvSpPr>
          <p:cNvPr id="35" name="Oval 34"/>
          <p:cNvSpPr/>
          <p:nvPr/>
        </p:nvSpPr>
        <p:spPr>
          <a:xfrm>
            <a:off x="6217920" y="4471416"/>
            <a:ext cx="158496" cy="118872"/>
          </a:xfrm>
          <a:prstGeom prst="ellipse">
            <a:avLst/>
          </a:prstGeom>
          <a:solidFill>
            <a:srgbClr val="00D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86144" y="4434840"/>
            <a:ext cx="4907280" cy="307777"/>
          </a:xfrm>
          <a:prstGeom prst="rect">
            <a:avLst/>
          </a:prstGeom>
          <a:noFill/>
        </p:spPr>
        <p:txBody>
          <a:bodyPr wrap="square" lIns="0" tIns="0" rIns="0" bIns="0" anchor="t">
            <a:spAutoFit/>
          </a:bodyPr>
          <a:lstStyle/>
          <a:p>
            <a:r>
              <a:rPr sz="1000" b="1">
                <a:solidFill>
                  <a:srgbClr val="12172B"/>
                </a:solidFill>
                <a:latin typeface="Calibri"/>
              </a:rPr>
              <a:t>KV-Cache (Kontext)</a:t>
            </a:r>
            <a:r>
              <a:rPr sz="1000" b="0">
                <a:solidFill>
                  <a:srgbClr val="5B6478"/>
                </a:solidFill>
                <a:latin typeface="Calibri"/>
              </a:rPr>
              <a:t> – wächst mit num_ctx! Hier liegen System-Prompt, Chat-Historie (3 Frage-Antwort-Paare), Tool-Ergebnisse und die aktuelle Generierung.</a:t>
            </a:r>
          </a:p>
        </p:txBody>
      </p:sp>
      <p:sp>
        <p:nvSpPr>
          <p:cNvPr id="37" name="Oval 36"/>
          <p:cNvSpPr/>
          <p:nvPr/>
        </p:nvSpPr>
        <p:spPr>
          <a:xfrm>
            <a:off x="6217920" y="5065776"/>
            <a:ext cx="158496" cy="118872"/>
          </a:xfrm>
          <a:prstGeom prst="ellipse">
            <a:avLst/>
          </a:prstGeom>
          <a:solidFill>
            <a:srgbClr val="FF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86144" y="5029200"/>
            <a:ext cx="4907280" cy="307777"/>
          </a:xfrm>
          <a:prstGeom prst="rect">
            <a:avLst/>
          </a:prstGeom>
          <a:noFill/>
        </p:spPr>
        <p:txBody>
          <a:bodyPr wrap="square" lIns="0" tIns="0" rIns="0" bIns="0" anchor="t">
            <a:spAutoFit/>
          </a:bodyPr>
          <a:lstStyle/>
          <a:p>
            <a:r>
              <a:rPr sz="1000" b="1">
                <a:solidFill>
                  <a:srgbClr val="12172B"/>
                </a:solidFill>
                <a:latin typeface="Calibri"/>
              </a:rPr>
              <a:t>Zwischenspeicher (Activation Memory)</a:t>
            </a:r>
            <a:r>
              <a:rPr sz="1000" b="0">
                <a:solidFill>
                  <a:srgbClr val="5B6478"/>
                </a:solidFill>
                <a:latin typeface="Calibri"/>
              </a:rPr>
              <a:t> – „Scratchpad“ der Berechnung: bläht sich besonders in der Prefill-Phase kurz auf und wird danach sofort wieder freigegeben.</a:t>
            </a:r>
          </a:p>
        </p:txBody>
      </p:sp>
      <p:sp>
        <p:nvSpPr>
          <p:cNvPr id="39" name="Warnung"/>
          <p:cNvSpPr/>
          <p:nvPr/>
        </p:nvSpPr>
        <p:spPr>
          <a:xfrm>
            <a:off x="548641" y="5806440"/>
            <a:ext cx="11064239" cy="548640"/>
          </a:xfrm>
          <a:prstGeom prst="roundRect">
            <a:avLst>
              <a:gd name="adj" fmla="val 16000"/>
            </a:avLst>
          </a:prstGeom>
          <a:solidFill>
            <a:srgbClr val="FF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755904" y="5916168"/>
            <a:ext cx="438912" cy="329184"/>
          </a:xfrm>
          <a:prstGeom prst="ellipse">
            <a:avLst/>
          </a:prstGeom>
          <a:solidFill>
            <a:srgbClr val="FF6B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rgbClr val="FFFFFF"/>
                </a:solidFill>
                <a:latin typeface="Arial"/>
              </a:rPr>
              <a:t>!</a:t>
            </a:r>
          </a:p>
        </p:txBody>
      </p:sp>
      <p:sp>
        <p:nvSpPr>
          <p:cNvPr id="41" name="TextBox 40"/>
          <p:cNvSpPr txBox="1"/>
          <p:nvPr/>
        </p:nvSpPr>
        <p:spPr>
          <a:xfrm>
            <a:off x="1438657" y="5988427"/>
            <a:ext cx="9997439" cy="184666"/>
          </a:xfrm>
          <a:prstGeom prst="rect">
            <a:avLst/>
          </a:prstGeom>
          <a:noFill/>
        </p:spPr>
        <p:txBody>
          <a:bodyPr wrap="square" lIns="0" tIns="0" rIns="0" bIns="0" anchor="ctr">
            <a:spAutoFit/>
          </a:bodyPr>
          <a:lstStyle/>
          <a:p>
            <a:r>
              <a:rPr sz="1200" b="1">
                <a:solidFill>
                  <a:srgbClr val="0D1321"/>
                </a:solidFill>
                <a:latin typeface="Calibri"/>
              </a:rPr>
              <a:t>Ist die Summe aus Modell-Gewichten, KV-Cache und Zwischenspeicher größer als der VRAM → sofortiger Performance-Einbruch (CPU-Fallback)!</a:t>
            </a:r>
          </a:p>
        </p:txBody>
      </p:sp>
    </p:spTree>
    <p:extLst>
      <p:ext uri="{BB962C8B-B14F-4D97-AF65-F5344CB8AC3E}">
        <p14:creationId xmlns:p14="http://schemas.microsoft.com/office/powerpoint/2010/main" val="725715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00D9C0"/>
                </a:solidFill>
                <a:latin typeface="Calibri" pitchFamily="34" charset="0"/>
                <a:ea typeface="Calibri" pitchFamily="34" charset="-122"/>
                <a:cs typeface="Calibri" pitchFamily="34" charset="-120"/>
              </a:rPr>
              <a:t>BLOCK </a:t>
            </a:r>
            <a:r>
              <a:rPr lang="en-US" sz="1300" b="1" kern="0" spc="200" dirty="0">
                <a:solidFill>
                  <a:srgbClr val="00D9C0"/>
                </a:solidFill>
                <a:latin typeface="Calibri" pitchFamily="34" charset="0"/>
                <a:ea typeface="Calibri" pitchFamily="34" charset="-122"/>
                <a:cs typeface="Calibri" pitchFamily="34" charset="-120"/>
              </a:rPr>
              <a:t>2 VERARBEITUNG</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Praxistest: Ein Geheimwort am Ende eines langen Textes</a:t>
            </a:r>
            <a:endParaRPr lang="en-US" sz="3000" dirty="0"/>
          </a:p>
        </p:txBody>
      </p:sp>
      <p:sp>
        <p:nvSpPr>
          <p:cNvPr id="4" name="Text 2"/>
          <p:cNvSpPr txBox="1"/>
          <p:nvPr/>
        </p:nvSpPr>
        <p:spPr>
          <a:xfrm>
            <a:off x="548640" y="1362074"/>
            <a:ext cx="10607040" cy="329565"/>
          </a:xfrm>
          <a:prstGeom prst="rect">
            <a:avLst/>
          </a:prstGeom>
          <a:noFill/>
          <a:ln/>
        </p:spPr>
        <p:txBody>
          <a:bodyPr wrap="square" lIns="0" tIns="0" rIns="0" bIns="0" rtlCol="0" anchor="ctr"/>
          <a:lstStyle/>
          <a:p>
            <a:pPr marL="0" indent="0">
              <a:buNone/>
            </a:pPr>
            <a:r>
              <a:rPr lang="en-US" sz="1350" dirty="0">
                <a:solidFill>
                  <a:srgbClr val="5B6478"/>
                </a:solidFill>
                <a:latin typeface="Calibri" pitchFamily="34" charset="0"/>
                <a:ea typeface="Calibri" pitchFamily="34" charset="-122"/>
                <a:cs typeface="Calibri" pitchFamily="34" charset="-120"/>
              </a:rPr>
              <a:t>Ein Testtext mit einem versteckten Codewort ganz am Ende prüft, ob die KI wirklich den kompletten Kontext verarbeitet.</a:t>
            </a:r>
            <a:endParaRPr lang="en-US" sz="1350" dirty="0"/>
          </a:p>
        </p:txBody>
      </p:sp>
      <p:sp>
        <p:nvSpPr>
          <p:cNvPr id="5" name="Shape 3"/>
          <p:cNvSpPr/>
          <p:nvPr/>
        </p:nvSpPr>
        <p:spPr>
          <a:xfrm>
            <a:off x="548640" y="1762125"/>
            <a:ext cx="7040880" cy="4501515"/>
          </a:xfrm>
          <a:prstGeom prst="roundRect">
            <a:avLst>
              <a:gd name="adj" fmla="val 1758"/>
            </a:avLst>
          </a:prstGeom>
          <a:solidFill>
            <a:srgbClr val="0A0E1A"/>
          </a:solidFill>
          <a:ln/>
          <a:effectLst>
            <a:outerShdw blurRad="101600" dist="38100" dir="5400000" algn="bl" rotWithShape="0">
              <a:srgbClr val="000000">
                <a:alpha val="35000"/>
              </a:srgbClr>
            </a:outerShdw>
          </a:effectLst>
        </p:spPr>
      </p:sp>
      <p:sp>
        <p:nvSpPr>
          <p:cNvPr id="6" name="Shape 4"/>
          <p:cNvSpPr/>
          <p:nvPr/>
        </p:nvSpPr>
        <p:spPr>
          <a:xfrm>
            <a:off x="694944" y="1916811"/>
            <a:ext cx="91440" cy="91440"/>
          </a:xfrm>
          <a:prstGeom prst="ellipse">
            <a:avLst/>
          </a:prstGeom>
          <a:solidFill>
            <a:srgbClr val="FF5F56"/>
          </a:solidFill>
          <a:ln/>
        </p:spPr>
      </p:sp>
      <p:sp>
        <p:nvSpPr>
          <p:cNvPr id="7" name="Shape 5"/>
          <p:cNvSpPr/>
          <p:nvPr/>
        </p:nvSpPr>
        <p:spPr>
          <a:xfrm>
            <a:off x="896112" y="1916811"/>
            <a:ext cx="91440" cy="91440"/>
          </a:xfrm>
          <a:prstGeom prst="ellipse">
            <a:avLst/>
          </a:prstGeom>
          <a:solidFill>
            <a:srgbClr val="FFBD2E"/>
          </a:solidFill>
          <a:ln/>
        </p:spPr>
      </p:sp>
      <p:sp>
        <p:nvSpPr>
          <p:cNvPr id="8" name="Shape 6"/>
          <p:cNvSpPr/>
          <p:nvPr/>
        </p:nvSpPr>
        <p:spPr>
          <a:xfrm>
            <a:off x="1097280" y="1916811"/>
            <a:ext cx="91440" cy="91440"/>
          </a:xfrm>
          <a:prstGeom prst="ellipse">
            <a:avLst/>
          </a:prstGeom>
          <a:solidFill>
            <a:srgbClr val="27C93F"/>
          </a:solidFill>
          <a:ln/>
        </p:spPr>
      </p:sp>
      <p:sp>
        <p:nvSpPr>
          <p:cNvPr id="9" name="Text 7"/>
          <p:cNvSpPr txBox="1"/>
          <p:nvPr/>
        </p:nvSpPr>
        <p:spPr>
          <a:xfrm>
            <a:off x="749808" y="2174367"/>
            <a:ext cx="6638544" cy="3703320"/>
          </a:xfrm>
          <a:prstGeom prst="rect">
            <a:avLst/>
          </a:prstGeom>
          <a:noFill/>
          <a:ln/>
        </p:spPr>
        <p:txBody>
          <a:bodyPr wrap="square" lIns="0" tIns="0" rIns="0" bIns="0" rtlCol="0" anchor="t"/>
          <a:lstStyle/>
          <a:p>
            <a:pPr marL="0" indent="0">
              <a:lnSpc>
                <a:spcPct val="115000"/>
              </a:lnSpc>
              <a:buNone/>
            </a:pPr>
            <a:r>
              <a:rPr lang="en-US" sz="1100" dirty="0">
                <a:solidFill>
                  <a:srgbClr val="8A93B5"/>
                </a:solidFill>
                <a:latin typeface="Consolas" panose="020B0609020204030204" pitchFamily="49" charset="0"/>
                <a:ea typeface="Courier New" pitchFamily="34" charset="-122"/>
                <a:cs typeface="Courier New" pitchFamily="34" charset="-120"/>
              </a:rPr>
              <a:t># Schritt 1: kurzer Text (60 Zeilen) + Codewort</a:t>
            </a:r>
            <a:endParaRPr lang="en-US" sz="1100" dirty="0">
              <a:latin typeface="Consolas" panose="020B0609020204030204" pitchFamily="49" charset="0"/>
            </a:endParaRPr>
          </a:p>
          <a:p>
            <a:pPr marL="0" indent="0">
              <a:lnSpc>
                <a:spcPct val="115000"/>
              </a:lnSpc>
              <a:buNone/>
            </a:pPr>
            <a:r>
              <a:rPr lang="en-US" sz="1100" dirty="0">
                <a:solidFill>
                  <a:srgbClr val="00D9C0"/>
                </a:solidFill>
                <a:latin typeface="Consolas" panose="020B0609020204030204" pitchFamily="49" charset="0"/>
                <a:ea typeface="Courier New" pitchFamily="34" charset="-122"/>
                <a:cs typeface="Courier New" pitchFamily="34" charset="-120"/>
              </a:rPr>
              <a:t>$ </a:t>
            </a:r>
            <a:r>
              <a:rPr lang="en-US" sz="1100">
                <a:solidFill>
                  <a:srgbClr val="00D9C0"/>
                </a:solidFill>
                <a:latin typeface="Consolas" panose="020B0609020204030204" pitchFamily="49" charset="0"/>
                <a:ea typeface="Courier New" pitchFamily="34" charset="-122"/>
                <a:cs typeface="Courier New" pitchFamily="34" charset="-120"/>
              </a:rPr>
              <a:t>yes </a:t>
            </a:r>
            <a:r>
              <a:rPr lang="en-US" sz="1100" smtClean="0">
                <a:solidFill>
                  <a:srgbClr val="00D9C0"/>
                </a:solidFill>
                <a:latin typeface="Consolas" panose="020B0609020204030204" pitchFamily="49" charset="0"/>
                <a:ea typeface="Courier New" pitchFamily="34" charset="-122"/>
                <a:cs typeface="Courier New" pitchFamily="34" charset="-120"/>
              </a:rPr>
              <a:t>“This is a long text for the AI test" </a:t>
            </a:r>
            <a:r>
              <a:rPr lang="en-US" sz="1100" dirty="0">
                <a:solidFill>
                  <a:srgbClr val="00D9C0"/>
                </a:solidFill>
                <a:latin typeface="Consolas" panose="020B0609020204030204" pitchFamily="49" charset="0"/>
                <a:ea typeface="Courier New" pitchFamily="34" charset="-122"/>
                <a:cs typeface="Courier New" pitchFamily="34" charset="-120"/>
              </a:rPr>
              <a:t>| head -n 60 </a:t>
            </a:r>
            <a:r>
              <a:rPr lang="en-US" sz="1100">
                <a:solidFill>
                  <a:srgbClr val="00D9C0"/>
                </a:solidFill>
                <a:latin typeface="Consolas" panose="020B0609020204030204" pitchFamily="49" charset="0"/>
                <a:ea typeface="Courier New" pitchFamily="34" charset="-122"/>
                <a:cs typeface="Courier New" pitchFamily="34" charset="-120"/>
              </a:rPr>
              <a:t>&gt; </a:t>
            </a:r>
            <a:r>
              <a:rPr lang="en-US" sz="1100" smtClean="0">
                <a:solidFill>
                  <a:srgbClr val="00D9C0"/>
                </a:solidFill>
                <a:latin typeface="Consolas" panose="020B0609020204030204" pitchFamily="49" charset="0"/>
                <a:ea typeface="Courier New" pitchFamily="34" charset="-122"/>
                <a:cs typeface="Courier New" pitchFamily="34" charset="-120"/>
              </a:rPr>
              <a:t>ki-test.txt</a:t>
            </a:r>
            <a:endParaRPr lang="en-US" sz="1100" dirty="0">
              <a:solidFill>
                <a:srgbClr val="00D9C0"/>
              </a:solidFill>
              <a:latin typeface="Consolas" panose="020B0609020204030204" pitchFamily="49" charset="0"/>
            </a:endParaRPr>
          </a:p>
          <a:p>
            <a:pPr marL="0" indent="0">
              <a:lnSpc>
                <a:spcPct val="115000"/>
              </a:lnSpc>
              <a:buNone/>
            </a:pPr>
            <a:r>
              <a:rPr lang="en-US" sz="1100" dirty="0">
                <a:solidFill>
                  <a:srgbClr val="00D9C0"/>
                </a:solidFill>
                <a:latin typeface="Consolas" panose="020B0609020204030204" pitchFamily="49" charset="0"/>
                <a:ea typeface="Courier New" pitchFamily="34" charset="-122"/>
                <a:cs typeface="Courier New" pitchFamily="34" charset="-120"/>
              </a:rPr>
              <a:t>$ echo "GEHEIMWORT: ANANASSAFT" &gt;&gt; ki-test.txt</a:t>
            </a:r>
            <a:endParaRPr lang="en-US" sz="1100" dirty="0">
              <a:solidFill>
                <a:srgbClr val="00D9C0"/>
              </a:solidFill>
              <a:latin typeface="Consolas" panose="020B0609020204030204" pitchFamily="49" charset="0"/>
            </a:endParaRPr>
          </a:p>
          <a:p>
            <a:pPr marL="0" indent="0">
              <a:lnSpc>
                <a:spcPct val="115000"/>
              </a:lnSpc>
              <a:buNone/>
            </a:pPr>
            <a:r>
              <a:rPr lang="en-US" sz="1100">
                <a:solidFill>
                  <a:srgbClr val="00D9C0"/>
                </a:solidFill>
                <a:latin typeface="Consolas" panose="020B0609020204030204" pitchFamily="49" charset="0"/>
                <a:ea typeface="Courier New" pitchFamily="34" charset="-122"/>
                <a:cs typeface="Courier New" pitchFamily="34" charset="-120"/>
              </a:rPr>
              <a:t>$ </a:t>
            </a:r>
            <a:r>
              <a:rPr lang="en-US" sz="1100" smtClean="0">
                <a:solidFill>
                  <a:srgbClr val="00D9C0"/>
                </a:solidFill>
                <a:latin typeface="Consolas" panose="020B0609020204030204" pitchFamily="49" charset="0"/>
                <a:ea typeface="Courier New" pitchFamily="34" charset="-122"/>
                <a:cs typeface="Courier New" pitchFamily="34" charset="-120"/>
              </a:rPr>
              <a:t>docker exec –it ollama_container ollama run llama3.1:8b “Lies den follgenden Text aufmerksam durch. Ganz am Ende steht ein geheimes Codewort nach dem Wort ‘GEHEIMWORT:’. Nenne mir nur dieses eine Codewort und absolut nichts anderes! Hier ist der Text: $(cat ki-test.txt)” --verbose</a:t>
            </a:r>
            <a:endParaRPr lang="en-US" sz="1100" dirty="0">
              <a:solidFill>
                <a:srgbClr val="00D9C0"/>
              </a:solidFill>
              <a:latin typeface="Consolas" panose="020B0609020204030204" pitchFamily="49" charset="0"/>
            </a:endParaRPr>
          </a:p>
          <a:p>
            <a:pPr marL="0" indent="0">
              <a:lnSpc>
                <a:spcPct val="115000"/>
              </a:lnSpc>
              <a:buNone/>
            </a:pPr>
            <a:r>
              <a:rPr lang="en-US" sz="1100" dirty="0">
                <a:solidFill>
                  <a:srgbClr val="00D9C0"/>
                </a:solidFill>
                <a:latin typeface="Consolas" panose="020B0609020204030204" pitchFamily="49" charset="0"/>
                <a:ea typeface="Courier New" pitchFamily="34" charset="-122"/>
                <a:cs typeface="Courier New" pitchFamily="34" charset="-120"/>
              </a:rPr>
              <a:t>ANANASSAFT</a:t>
            </a:r>
            <a:endParaRPr lang="en-US" sz="1100" dirty="0">
              <a:solidFill>
                <a:srgbClr val="00D9C0"/>
              </a:solidFill>
              <a:latin typeface="Consolas" panose="020B0609020204030204" pitchFamily="49" charset="0"/>
            </a:endParaRPr>
          </a:p>
          <a:p>
            <a:pPr marL="0" indent="0">
              <a:lnSpc>
                <a:spcPct val="115000"/>
              </a:lnSpc>
              <a:buNone/>
            </a:pPr>
            <a:endParaRPr lang="en-US" sz="1100" dirty="0">
              <a:latin typeface="Consolas" panose="020B0609020204030204" pitchFamily="49" charset="0"/>
            </a:endParaRPr>
          </a:p>
          <a:p>
            <a:pPr marL="0" indent="0">
              <a:lnSpc>
                <a:spcPct val="115000"/>
              </a:lnSpc>
              <a:buNone/>
            </a:pPr>
            <a:r>
              <a:rPr lang="en-US" sz="1100" dirty="0">
                <a:solidFill>
                  <a:srgbClr val="8A93B5"/>
                </a:solidFill>
                <a:latin typeface="Consolas" panose="020B0609020204030204" pitchFamily="49" charset="0"/>
                <a:ea typeface="Courier New" pitchFamily="34" charset="-122"/>
                <a:cs typeface="Courier New" pitchFamily="34" charset="-120"/>
              </a:rPr>
              <a:t># Schritt 2: gleicher Test mit 600 Zeilen</a:t>
            </a:r>
            <a:endParaRPr lang="en-US" sz="1100" dirty="0">
              <a:latin typeface="Consolas" panose="020B0609020204030204" pitchFamily="49" charset="0"/>
            </a:endParaRPr>
          </a:p>
          <a:p>
            <a:pPr marL="0" indent="0">
              <a:lnSpc>
                <a:spcPct val="115000"/>
              </a:lnSpc>
              <a:buNone/>
            </a:pPr>
            <a:r>
              <a:rPr lang="en-US" sz="1100" dirty="0">
                <a:solidFill>
                  <a:srgbClr val="00D9C0"/>
                </a:solidFill>
                <a:latin typeface="Consolas" panose="020B0609020204030204" pitchFamily="49" charset="0"/>
                <a:ea typeface="Courier New" pitchFamily="34" charset="-122"/>
                <a:cs typeface="Courier New" pitchFamily="34" charset="-120"/>
              </a:rPr>
              <a:t>$ yes "...Testtext..." | head -n 600 &gt; ki-test.txt</a:t>
            </a:r>
            <a:endParaRPr lang="en-US" sz="1100" dirty="0">
              <a:solidFill>
                <a:srgbClr val="00D9C0"/>
              </a:solidFill>
              <a:latin typeface="Consolas" panose="020B0609020204030204" pitchFamily="49" charset="0"/>
            </a:endParaRPr>
          </a:p>
          <a:p>
            <a:pPr marL="0" indent="0">
              <a:lnSpc>
                <a:spcPct val="115000"/>
              </a:lnSpc>
              <a:buNone/>
            </a:pPr>
            <a:r>
              <a:rPr lang="en-US" sz="1100" dirty="0">
                <a:solidFill>
                  <a:srgbClr val="00D9C0"/>
                </a:solidFill>
                <a:latin typeface="Consolas" panose="020B0609020204030204" pitchFamily="49" charset="0"/>
                <a:ea typeface="Courier New" pitchFamily="34" charset="-122"/>
                <a:cs typeface="Courier New" pitchFamily="34" charset="-120"/>
              </a:rPr>
              <a:t>$ echo "GEHEIMWORT: ANANASSAFT" &gt;&gt; ki-test.txt</a:t>
            </a:r>
            <a:endParaRPr lang="en-US" sz="1100" dirty="0">
              <a:solidFill>
                <a:srgbClr val="00D9C0"/>
              </a:solidFill>
              <a:latin typeface="Consolas" panose="020B0609020204030204" pitchFamily="49" charset="0"/>
            </a:endParaRPr>
          </a:p>
          <a:p>
            <a:pPr marL="0" indent="0">
              <a:lnSpc>
                <a:spcPct val="115000"/>
              </a:lnSpc>
              <a:buNone/>
            </a:pPr>
            <a:r>
              <a:rPr lang="en-US" sz="1100" dirty="0">
                <a:solidFill>
                  <a:srgbClr val="00D9C0"/>
                </a:solidFill>
                <a:latin typeface="Consolas" panose="020B0609020204030204" pitchFamily="49" charset="0"/>
                <a:ea typeface="Courier New" pitchFamily="34" charset="-122"/>
                <a:cs typeface="Courier New" pitchFamily="34" charset="-120"/>
              </a:rPr>
              <a:t>$ ollama run llama3.2:latest "..." --verbose</a:t>
            </a:r>
            <a:endParaRPr lang="en-US" sz="1100" dirty="0">
              <a:solidFill>
                <a:srgbClr val="00D9C0"/>
              </a:solidFill>
              <a:latin typeface="Consolas" panose="020B0609020204030204" pitchFamily="49" charset="0"/>
            </a:endParaRPr>
          </a:p>
          <a:p>
            <a:pPr marL="0" indent="0">
              <a:lnSpc>
                <a:spcPct val="115000"/>
              </a:lnSpc>
              <a:buNone/>
            </a:pPr>
            <a:r>
              <a:rPr lang="en-US" sz="1100" dirty="0">
                <a:solidFill>
                  <a:srgbClr val="8A93B5"/>
                </a:solidFill>
                <a:latin typeface="Consolas" panose="020B0609020204030204" pitchFamily="49" charset="0"/>
                <a:ea typeface="Courier New" pitchFamily="34" charset="-122"/>
                <a:cs typeface="Courier New" pitchFamily="34" charset="-120"/>
              </a:rPr>
              <a:t># Standardkontext (4k) reicht nicht mehr zuverlässig</a:t>
            </a:r>
            <a:endParaRPr lang="en-US" sz="1100" dirty="0">
              <a:latin typeface="Consolas" panose="020B0609020204030204" pitchFamily="49" charset="0"/>
            </a:endParaRPr>
          </a:p>
          <a:p>
            <a:pPr marL="0" indent="0">
              <a:lnSpc>
                <a:spcPct val="115000"/>
              </a:lnSpc>
              <a:buNone/>
            </a:pPr>
            <a:endParaRPr lang="en-US" sz="1100" dirty="0">
              <a:latin typeface="Consolas" panose="020B0609020204030204" pitchFamily="49" charset="0"/>
            </a:endParaRPr>
          </a:p>
          <a:p>
            <a:pPr marL="0" indent="0">
              <a:lnSpc>
                <a:spcPct val="115000"/>
              </a:lnSpc>
              <a:buNone/>
            </a:pPr>
            <a:r>
              <a:rPr lang="en-US" sz="1100" dirty="0">
                <a:solidFill>
                  <a:srgbClr val="8A93B5"/>
                </a:solidFill>
                <a:latin typeface="Consolas" panose="020B0609020204030204" pitchFamily="49" charset="0"/>
                <a:ea typeface="Courier New" pitchFamily="34" charset="-122"/>
                <a:cs typeface="Courier New" pitchFamily="34" charset="-120"/>
              </a:rPr>
              <a:t># Schritt 3: Kontext auf 16k erhöhen</a:t>
            </a:r>
            <a:endParaRPr lang="en-US" sz="1100" dirty="0">
              <a:latin typeface="Consolas" panose="020B0609020204030204" pitchFamily="49" charset="0"/>
            </a:endParaRPr>
          </a:p>
          <a:p>
            <a:pPr marL="0" indent="0">
              <a:lnSpc>
                <a:spcPct val="115000"/>
              </a:lnSpc>
              <a:buNone/>
            </a:pPr>
            <a:r>
              <a:rPr lang="en-US" sz="1100" dirty="0">
                <a:solidFill>
                  <a:srgbClr val="00D9C0"/>
                </a:solidFill>
                <a:latin typeface="Consolas" panose="020B0609020204030204" pitchFamily="49" charset="0"/>
                <a:ea typeface="Courier New" pitchFamily="34" charset="-122"/>
                <a:cs typeface="Courier New" pitchFamily="34" charset="-120"/>
              </a:rPr>
              <a:t>docker-compose.yml:</a:t>
            </a:r>
            <a:endParaRPr lang="en-US" sz="1100" dirty="0">
              <a:solidFill>
                <a:srgbClr val="00D9C0"/>
              </a:solidFill>
              <a:latin typeface="Consolas" panose="020B0609020204030204" pitchFamily="49" charset="0"/>
            </a:endParaRPr>
          </a:p>
          <a:p>
            <a:pPr marL="0" indent="0">
              <a:lnSpc>
                <a:spcPct val="115000"/>
              </a:lnSpc>
              <a:buNone/>
            </a:pPr>
            <a:r>
              <a:rPr lang="en-US" sz="1100" dirty="0">
                <a:solidFill>
                  <a:srgbClr val="00D9C0"/>
                </a:solidFill>
                <a:latin typeface="Consolas" panose="020B0609020204030204" pitchFamily="49" charset="0"/>
                <a:ea typeface="Courier New" pitchFamily="34" charset="-122"/>
                <a:cs typeface="Courier New" pitchFamily="34" charset="-120"/>
              </a:rPr>
              <a:t>  OLLAMA_CONTEXT_LENGTH=16384</a:t>
            </a:r>
            <a:endParaRPr lang="en-US" sz="1100" dirty="0">
              <a:solidFill>
                <a:srgbClr val="00D9C0"/>
              </a:solidFill>
              <a:latin typeface="Consolas" panose="020B0609020204030204" pitchFamily="49" charset="0"/>
            </a:endParaRPr>
          </a:p>
          <a:p>
            <a:pPr marL="0" indent="0">
              <a:lnSpc>
                <a:spcPct val="115000"/>
              </a:lnSpc>
              <a:buNone/>
            </a:pPr>
            <a:r>
              <a:rPr lang="en-US" sz="1100" dirty="0">
                <a:solidFill>
                  <a:srgbClr val="00D9C0"/>
                </a:solidFill>
                <a:latin typeface="Consolas" panose="020B0609020204030204" pitchFamily="49" charset="0"/>
                <a:ea typeface="Courier New" pitchFamily="34" charset="-122"/>
                <a:cs typeface="Courier New" pitchFamily="34" charset="-120"/>
              </a:rPr>
              <a:t>$ docker compose up -d --force-recreate ollama</a:t>
            </a:r>
            <a:endParaRPr lang="en-US" sz="1100" dirty="0">
              <a:solidFill>
                <a:srgbClr val="00D9C0"/>
              </a:solidFill>
              <a:latin typeface="Consolas" panose="020B0609020204030204" pitchFamily="49" charset="0"/>
            </a:endParaRPr>
          </a:p>
          <a:p>
            <a:pPr marL="0" indent="0">
              <a:lnSpc>
                <a:spcPct val="115000"/>
              </a:lnSpc>
              <a:buNone/>
            </a:pPr>
            <a:r>
              <a:rPr lang="en-US" sz="1100" dirty="0">
                <a:solidFill>
                  <a:srgbClr val="8A93B5"/>
                </a:solidFill>
                <a:latin typeface="Consolas" panose="020B0609020204030204" pitchFamily="49" charset="0"/>
                <a:ea typeface="Courier New" pitchFamily="34" charset="-122"/>
                <a:cs typeface="Courier New" pitchFamily="34" charset="-120"/>
              </a:rPr>
              <a:t># -&gt; Codewort wird wieder zuverlässig gefunden</a:t>
            </a:r>
            <a:endParaRPr lang="en-US" sz="1100" dirty="0">
              <a:latin typeface="Consolas" panose="020B0609020204030204" pitchFamily="49" charset="0"/>
            </a:endParaRPr>
          </a:p>
        </p:txBody>
      </p:sp>
      <p:sp>
        <p:nvSpPr>
          <p:cNvPr id="10" name="Shape 8"/>
          <p:cNvSpPr/>
          <p:nvPr/>
        </p:nvSpPr>
        <p:spPr>
          <a:xfrm>
            <a:off x="7818120" y="1762125"/>
            <a:ext cx="3794760" cy="4501515"/>
          </a:xfrm>
          <a:prstGeom prst="roundRect">
            <a:avLst>
              <a:gd name="adj" fmla="val 2410"/>
            </a:avLst>
          </a:prstGeom>
          <a:solidFill>
            <a:srgbClr val="0D1321"/>
          </a:solidFill>
          <a:ln/>
        </p:spPr>
      </p:sp>
      <p:sp>
        <p:nvSpPr>
          <p:cNvPr id="11" name="Text 9"/>
          <p:cNvSpPr txBox="1"/>
          <p:nvPr/>
        </p:nvSpPr>
        <p:spPr>
          <a:xfrm>
            <a:off x="8092440" y="2331720"/>
            <a:ext cx="3291840" cy="365760"/>
          </a:xfrm>
          <a:prstGeom prst="rect">
            <a:avLst/>
          </a:prstGeom>
          <a:noFill/>
          <a:ln/>
        </p:spPr>
        <p:txBody>
          <a:bodyPr wrap="square" lIns="0" tIns="0" rIns="0" bIns="0" rtlCol="0" anchor="ctr"/>
          <a:lstStyle/>
          <a:p>
            <a:pPr marL="0" indent="0">
              <a:buNone/>
            </a:pPr>
            <a:r>
              <a:rPr lang="en-US" sz="1400" b="1" dirty="0">
                <a:solidFill>
                  <a:srgbClr val="00D9C0"/>
                </a:solidFill>
                <a:latin typeface="Arial" pitchFamily="34" charset="0"/>
                <a:ea typeface="Arial" pitchFamily="34" charset="-122"/>
                <a:cs typeface="Arial" pitchFamily="34" charset="-120"/>
              </a:rPr>
              <a:t>Was zeigt der Test?</a:t>
            </a:r>
            <a:endParaRPr lang="en-US" sz="1400" dirty="0"/>
          </a:p>
        </p:txBody>
      </p:sp>
      <p:sp>
        <p:nvSpPr>
          <p:cNvPr id="12" name="Text 10"/>
          <p:cNvSpPr txBox="1"/>
          <p:nvPr/>
        </p:nvSpPr>
        <p:spPr>
          <a:xfrm>
            <a:off x="8092440" y="2788920"/>
            <a:ext cx="3291840" cy="1051560"/>
          </a:xfrm>
          <a:prstGeom prst="rect">
            <a:avLst/>
          </a:prstGeom>
          <a:noFill/>
          <a:ln/>
        </p:spPr>
        <p:txBody>
          <a:bodyPr wrap="square" lIns="0" tIns="0" rIns="0" bIns="0" rtlCol="0" anchor="ctr"/>
          <a:lstStyle/>
          <a:p>
            <a:pPr marL="0" indent="0">
              <a:buNone/>
            </a:pPr>
            <a:r>
              <a:rPr lang="en-US" sz="1250" dirty="0">
                <a:solidFill>
                  <a:srgbClr val="D7DCEE"/>
                </a:solidFill>
                <a:latin typeface="Calibri" pitchFamily="34" charset="0"/>
                <a:ea typeface="Calibri" pitchFamily="34" charset="-122"/>
                <a:cs typeface="Calibri" pitchFamily="34" charset="-120"/>
              </a:rPr>
              <a:t>Bei kurzen Texten liefert schon der Standardkontext (4k) zuverlässig das richtige Codewort.</a:t>
            </a:r>
            <a:endParaRPr lang="en-US" sz="1250" dirty="0"/>
          </a:p>
        </p:txBody>
      </p:sp>
      <p:sp>
        <p:nvSpPr>
          <p:cNvPr id="13" name="Shape 11"/>
          <p:cNvSpPr/>
          <p:nvPr/>
        </p:nvSpPr>
        <p:spPr>
          <a:xfrm>
            <a:off x="8092440" y="3931920"/>
            <a:ext cx="3200400" cy="0"/>
          </a:xfrm>
          <a:prstGeom prst="line">
            <a:avLst/>
          </a:prstGeom>
          <a:noFill/>
          <a:ln w="12700">
            <a:solidFill>
              <a:srgbClr val="2A365C"/>
            </a:solidFill>
            <a:prstDash val="solid"/>
          </a:ln>
        </p:spPr>
      </p:sp>
      <p:sp>
        <p:nvSpPr>
          <p:cNvPr id="14" name="Text 12"/>
          <p:cNvSpPr txBox="1"/>
          <p:nvPr/>
        </p:nvSpPr>
        <p:spPr>
          <a:xfrm>
            <a:off x="8092440" y="4114800"/>
            <a:ext cx="3291840" cy="2011680"/>
          </a:xfrm>
          <a:prstGeom prst="rect">
            <a:avLst/>
          </a:prstGeom>
          <a:noFill/>
          <a:ln/>
        </p:spPr>
        <p:txBody>
          <a:bodyPr wrap="square" lIns="0" tIns="0" rIns="0" bIns="0" rtlCol="0" anchor="ctr"/>
          <a:lstStyle/>
          <a:p>
            <a:pPr marL="0" indent="0">
              <a:buNone/>
            </a:pPr>
            <a:r>
              <a:rPr lang="en-US" sz="1250" dirty="0">
                <a:solidFill>
                  <a:srgbClr val="D7DCEE"/>
                </a:solidFill>
                <a:latin typeface="Calibri" pitchFamily="34" charset="0"/>
                <a:ea typeface="Calibri" pitchFamily="34" charset="-122"/>
                <a:cs typeface="Calibri" pitchFamily="34" charset="-120"/>
              </a:rPr>
              <a:t>Wächst der Text über die eingestellte Kontextgröße hinaus, muss diese aktiv erhöht werden – sonst gehen Informationen am Anfang des Textes verloren.</a:t>
            </a:r>
            <a:endParaRPr lang="en-US" sz="1250" dirty="0"/>
          </a:p>
        </p:txBody>
      </p:sp>
      <p:sp>
        <p:nvSpPr>
          <p:cNvPr id="15" name="Text 13"/>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16" name="Text 14"/>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5B64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00D9C0"/>
                </a:solidFill>
                <a:latin typeface="Calibri" pitchFamily="34" charset="0"/>
                <a:ea typeface="Calibri" pitchFamily="34" charset="-122"/>
                <a:cs typeface="Calibri" pitchFamily="34" charset="-120"/>
              </a:rPr>
              <a:t>BLOCK </a:t>
            </a:r>
            <a:r>
              <a:rPr lang="en-US" sz="1300" b="1" kern="0" spc="200" dirty="0">
                <a:solidFill>
                  <a:srgbClr val="00D9C0"/>
                </a:solidFill>
                <a:latin typeface="Calibri" pitchFamily="34" charset="0"/>
                <a:ea typeface="Calibri" pitchFamily="34" charset="-122"/>
                <a:cs typeface="Calibri" pitchFamily="34" charset="-120"/>
              </a:rPr>
              <a:t>2 VERARBEITUNG</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CPU, RAM</a:t>
            </a:r>
            <a:r>
              <a:rPr lang="en-US" sz="3000" b="1">
                <a:solidFill>
                  <a:srgbClr val="12172B"/>
                </a:solidFill>
                <a:latin typeface="Arial" pitchFamily="34" charset="0"/>
                <a:ea typeface="Arial" pitchFamily="34" charset="-122"/>
                <a:cs typeface="Arial" pitchFamily="34" charset="-120"/>
              </a:rPr>
              <a:t>, </a:t>
            </a:r>
            <a:r>
              <a:rPr lang="en-US" sz="3000" b="1" smtClean="0">
                <a:solidFill>
                  <a:srgbClr val="12172B"/>
                </a:solidFill>
                <a:latin typeface="Arial" pitchFamily="34" charset="0"/>
                <a:ea typeface="Arial" pitchFamily="34" charset="-122"/>
                <a:cs typeface="Arial" pitchFamily="34" charset="-120"/>
              </a:rPr>
              <a:t>VRAM, iGPU, NPU </a:t>
            </a:r>
            <a:r>
              <a:rPr lang="en-US" sz="3000" b="1" dirty="0">
                <a:solidFill>
                  <a:srgbClr val="12172B"/>
                </a:solidFill>
                <a:latin typeface="Arial" pitchFamily="34" charset="0"/>
                <a:ea typeface="Arial" pitchFamily="34" charset="-122"/>
                <a:cs typeface="Arial" pitchFamily="34" charset="-120"/>
              </a:rPr>
              <a:t>– die Hardware hinter der KI</a:t>
            </a:r>
            <a:endParaRPr lang="en-US" sz="3000" dirty="0"/>
          </a:p>
        </p:txBody>
      </p:sp>
      <p:sp>
        <p:nvSpPr>
          <p:cNvPr id="4" name="Shape 2"/>
          <p:cNvSpPr/>
          <p:nvPr/>
        </p:nvSpPr>
        <p:spPr>
          <a:xfrm>
            <a:off x="548640" y="1495425"/>
            <a:ext cx="5257800" cy="2471616"/>
          </a:xfrm>
          <a:prstGeom prst="roundRect">
            <a:avLst>
              <a:gd name="adj" fmla="val 5128"/>
            </a:avLst>
          </a:prstGeom>
          <a:solidFill>
            <a:srgbClr val="F2F5FA"/>
          </a:solidFill>
          <a:ln/>
        </p:spPr>
      </p:sp>
      <p:sp>
        <p:nvSpPr>
          <p:cNvPr id="5" name="Shape 3"/>
          <p:cNvSpPr/>
          <p:nvPr/>
        </p:nvSpPr>
        <p:spPr>
          <a:xfrm>
            <a:off x="822960" y="1724025"/>
            <a:ext cx="502920" cy="502920"/>
          </a:xfrm>
          <a:prstGeom prst="ellipse">
            <a:avLst/>
          </a:prstGeom>
          <a:solidFill>
            <a:srgbClr val="FF6B4A"/>
          </a:solidFill>
          <a:ln/>
        </p:spPr>
      </p:sp>
      <p:sp>
        <p:nvSpPr>
          <p:cNvPr id="6" name="Text 4"/>
          <p:cNvSpPr txBox="1"/>
          <p:nvPr/>
        </p:nvSpPr>
        <p:spPr>
          <a:xfrm>
            <a:off x="822960" y="1724025"/>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CPU</a:t>
            </a:r>
            <a:endParaRPr lang="en-US" sz="1000" dirty="0"/>
          </a:p>
        </p:txBody>
      </p:sp>
      <p:sp>
        <p:nvSpPr>
          <p:cNvPr id="7" name="Text 5"/>
          <p:cNvSpPr txBox="1"/>
          <p:nvPr/>
        </p:nvSpPr>
        <p:spPr>
          <a:xfrm>
            <a:off x="1508760" y="1678305"/>
            <a:ext cx="4114800" cy="631874"/>
          </a:xfrm>
          <a:prstGeom prst="rect">
            <a:avLst/>
          </a:prstGeom>
          <a:noFill/>
          <a:ln/>
        </p:spPr>
        <p:txBody>
          <a:bodyPr wrap="square" lIns="0" tIns="0" rIns="0" bIns="0" rtlCol="0" anchor="t"/>
          <a:lstStyle/>
          <a:p>
            <a:pPr marL="0" indent="0">
              <a:buNone/>
            </a:pPr>
            <a:r>
              <a:rPr lang="en-US" sz="1250" dirty="0">
                <a:solidFill>
                  <a:srgbClr val="12172B"/>
                </a:solidFill>
                <a:latin typeface="Calibri" pitchFamily="34" charset="0"/>
                <a:ea typeface="Calibri" pitchFamily="34" charset="-122"/>
                <a:cs typeface="Calibri" pitchFamily="34" charset="-120"/>
              </a:rPr>
              <a:t>Wenige, vielseitige Kerne – rechnet sequenziell und ist für die riesigen Matrixmultiplikationen einer KI vergleichsweise langsam.</a:t>
            </a:r>
            <a:endParaRPr lang="en-US" sz="1250" dirty="0"/>
          </a:p>
        </p:txBody>
      </p:sp>
      <p:sp>
        <p:nvSpPr>
          <p:cNvPr id="9" name="Shape 7"/>
          <p:cNvSpPr/>
          <p:nvPr/>
        </p:nvSpPr>
        <p:spPr>
          <a:xfrm>
            <a:off x="817245" y="2430585"/>
            <a:ext cx="502920" cy="502920"/>
          </a:xfrm>
          <a:prstGeom prst="ellipse">
            <a:avLst/>
          </a:prstGeom>
          <a:solidFill>
            <a:srgbClr val="0D1321"/>
          </a:solidFill>
          <a:ln/>
        </p:spPr>
      </p:sp>
      <p:sp>
        <p:nvSpPr>
          <p:cNvPr id="10" name="Text 8"/>
          <p:cNvSpPr txBox="1"/>
          <p:nvPr/>
        </p:nvSpPr>
        <p:spPr>
          <a:xfrm>
            <a:off x="817245" y="2430585"/>
            <a:ext cx="502920" cy="502920"/>
          </a:xfrm>
          <a:prstGeom prst="rect">
            <a:avLst/>
          </a:prstGeom>
          <a:noFill/>
          <a:ln/>
        </p:spPr>
        <p:txBody>
          <a:bodyPr wrap="square" lIns="0" tIns="0" rIns="0" bIns="0" rtlCol="0" anchor="ctr"/>
          <a:lstStyle/>
          <a:p>
            <a:pPr marL="0" indent="0" algn="ctr">
              <a:buNone/>
            </a:pPr>
            <a:r>
              <a:rPr lang="en-US" sz="1000" b="1" dirty="0">
                <a:solidFill>
                  <a:srgbClr val="00D9C0"/>
                </a:solidFill>
                <a:latin typeface="Arial" pitchFamily="34" charset="0"/>
                <a:ea typeface="Arial" pitchFamily="34" charset="-122"/>
                <a:cs typeface="Arial" pitchFamily="34" charset="-120"/>
              </a:rPr>
              <a:t>GPU</a:t>
            </a:r>
            <a:endParaRPr lang="en-US" sz="1000" dirty="0"/>
          </a:p>
        </p:txBody>
      </p:sp>
      <p:sp>
        <p:nvSpPr>
          <p:cNvPr id="11" name="Text 9"/>
          <p:cNvSpPr txBox="1"/>
          <p:nvPr/>
        </p:nvSpPr>
        <p:spPr>
          <a:xfrm>
            <a:off x="1508760" y="2452810"/>
            <a:ext cx="4114800" cy="452120"/>
          </a:xfrm>
          <a:prstGeom prst="rect">
            <a:avLst/>
          </a:prstGeom>
          <a:noFill/>
          <a:ln/>
        </p:spPr>
        <p:txBody>
          <a:bodyPr wrap="square" lIns="0" tIns="0" rIns="0" bIns="0" rtlCol="0" anchor="t"/>
          <a:lstStyle/>
          <a:p>
            <a:pPr marL="0" indent="0">
              <a:buNone/>
            </a:pPr>
            <a:r>
              <a:rPr lang="en-US" sz="1250" dirty="0">
                <a:solidFill>
                  <a:srgbClr val="12172B"/>
                </a:solidFill>
                <a:latin typeface="Calibri" pitchFamily="34" charset="0"/>
                <a:ea typeface="Calibri" pitchFamily="34" charset="-122"/>
                <a:cs typeface="Calibri" pitchFamily="34" charset="-120"/>
              </a:rPr>
              <a:t>Tausende einfache, </a:t>
            </a:r>
            <a:r>
              <a:rPr lang="en-US" sz="1250">
                <a:solidFill>
                  <a:srgbClr val="12172B"/>
                </a:solidFill>
                <a:latin typeface="Calibri" pitchFamily="34" charset="0"/>
                <a:ea typeface="Calibri" pitchFamily="34" charset="-122"/>
                <a:cs typeface="Calibri" pitchFamily="34" charset="-120"/>
              </a:rPr>
              <a:t>parallele </a:t>
            </a:r>
            <a:r>
              <a:rPr lang="en-US" sz="1250" smtClean="0">
                <a:solidFill>
                  <a:srgbClr val="12172B"/>
                </a:solidFill>
                <a:latin typeface="Calibri" pitchFamily="34" charset="0"/>
                <a:ea typeface="Calibri" pitchFamily="34" charset="-122"/>
                <a:cs typeface="Calibri" pitchFamily="34" charset="-120"/>
              </a:rPr>
              <a:t>Rechenkerne </a:t>
            </a:r>
            <a:r>
              <a:rPr lang="en-US" sz="1250" dirty="0">
                <a:solidFill>
                  <a:srgbClr val="12172B"/>
                </a:solidFill>
                <a:latin typeface="Calibri" pitchFamily="34" charset="0"/>
                <a:ea typeface="Calibri" pitchFamily="34" charset="-122"/>
                <a:cs typeface="Calibri" pitchFamily="34" charset="-120"/>
              </a:rPr>
              <a:t>– ideal für genau die Matrixoperationen, aus denen ein Sprachmodell besteht.</a:t>
            </a:r>
            <a:endParaRPr lang="en-US" sz="1250" dirty="0"/>
          </a:p>
        </p:txBody>
      </p:sp>
      <p:sp>
        <p:nvSpPr>
          <p:cNvPr id="12" name="Text 10"/>
          <p:cNvSpPr txBox="1"/>
          <p:nvPr/>
        </p:nvSpPr>
        <p:spPr>
          <a:xfrm>
            <a:off x="571500" y="5463099"/>
            <a:ext cx="5257800" cy="1034757"/>
          </a:xfrm>
          <a:prstGeom prst="rect">
            <a:avLst/>
          </a:prstGeom>
          <a:noFill/>
          <a:ln/>
        </p:spPr>
        <p:txBody>
          <a:bodyPr wrap="square" lIns="0" tIns="0" rIns="0" bIns="0" rtlCol="0" anchor="ctr"/>
          <a:lstStyle/>
          <a:p>
            <a:pPr marL="0" indent="0">
              <a:buNone/>
            </a:pPr>
            <a:r>
              <a:rPr lang="en-US" sz="1200" i="1" dirty="0">
                <a:solidFill>
                  <a:srgbClr val="5B6478"/>
                </a:solidFill>
                <a:latin typeface="Calibri" pitchFamily="34" charset="0"/>
                <a:ea typeface="Calibri" pitchFamily="34" charset="-122"/>
                <a:cs typeface="Calibri" pitchFamily="34" charset="-120"/>
              </a:rPr>
              <a:t>Der iGPU-Sonderfall: AMD-CPUs, die auf G, U, HS oder H enden (sowie fast alle Notebook-CPUs), haben eine integrierte GPU. Bei Intel gilt das für fast alle Modelle – außer bei einem „F“ im Namen (z. B. i5-12400F).</a:t>
            </a:r>
            <a:endParaRPr lang="en-US" sz="1200" dirty="0"/>
          </a:p>
        </p:txBody>
      </p:sp>
      <p:sp>
        <p:nvSpPr>
          <p:cNvPr id="13" name="Shape 11"/>
          <p:cNvSpPr/>
          <p:nvPr/>
        </p:nvSpPr>
        <p:spPr>
          <a:xfrm>
            <a:off x="6035040" y="1466165"/>
            <a:ext cx="5445603" cy="2134285"/>
          </a:xfrm>
          <a:prstGeom prst="roundRect">
            <a:avLst>
              <a:gd name="adj" fmla="val 4211"/>
            </a:avLst>
          </a:prstGeom>
          <a:solidFill>
            <a:srgbClr val="0A0E1A"/>
          </a:solidFill>
          <a:ln/>
          <a:effectLst>
            <a:outerShdw blurRad="101600" dist="38100" dir="5400000" algn="bl" rotWithShape="0">
              <a:srgbClr val="000000">
                <a:alpha val="35000"/>
              </a:srgbClr>
            </a:outerShdw>
          </a:effectLst>
        </p:spPr>
      </p:sp>
      <p:sp>
        <p:nvSpPr>
          <p:cNvPr id="14" name="Shape 12"/>
          <p:cNvSpPr/>
          <p:nvPr/>
        </p:nvSpPr>
        <p:spPr>
          <a:xfrm>
            <a:off x="6231987" y="1603716"/>
            <a:ext cx="91440" cy="91440"/>
          </a:xfrm>
          <a:prstGeom prst="ellipse">
            <a:avLst/>
          </a:prstGeom>
          <a:solidFill>
            <a:srgbClr val="FF5F56"/>
          </a:solidFill>
          <a:ln/>
        </p:spPr>
      </p:sp>
      <p:sp>
        <p:nvSpPr>
          <p:cNvPr id="15" name="Shape 13"/>
          <p:cNvSpPr/>
          <p:nvPr/>
        </p:nvSpPr>
        <p:spPr>
          <a:xfrm>
            <a:off x="6433155" y="1603716"/>
            <a:ext cx="91440" cy="91440"/>
          </a:xfrm>
          <a:prstGeom prst="ellipse">
            <a:avLst/>
          </a:prstGeom>
          <a:solidFill>
            <a:srgbClr val="FFBD2E"/>
          </a:solidFill>
          <a:ln/>
        </p:spPr>
      </p:sp>
      <p:sp>
        <p:nvSpPr>
          <p:cNvPr id="16" name="Shape 14"/>
          <p:cNvSpPr/>
          <p:nvPr/>
        </p:nvSpPr>
        <p:spPr>
          <a:xfrm>
            <a:off x="6634323" y="1603716"/>
            <a:ext cx="91440" cy="91440"/>
          </a:xfrm>
          <a:prstGeom prst="ellipse">
            <a:avLst/>
          </a:prstGeom>
          <a:solidFill>
            <a:srgbClr val="27C93F"/>
          </a:solidFill>
          <a:ln/>
        </p:spPr>
      </p:sp>
      <p:sp>
        <p:nvSpPr>
          <p:cNvPr id="17" name="Text 15"/>
          <p:cNvSpPr txBox="1"/>
          <p:nvPr/>
        </p:nvSpPr>
        <p:spPr>
          <a:xfrm>
            <a:off x="6286851" y="1812386"/>
            <a:ext cx="5285232" cy="1280160"/>
          </a:xfrm>
          <a:prstGeom prst="rect">
            <a:avLst/>
          </a:prstGeom>
          <a:noFill/>
          <a:ln/>
        </p:spPr>
        <p:txBody>
          <a:bodyPr wrap="square" lIns="0" tIns="0" rIns="0" bIns="0" rtlCol="0" anchor="t"/>
          <a:lstStyle/>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 lscpu | grep "Model name"</a:t>
            </a:r>
            <a:endParaRPr lang="en-US" sz="1200" dirty="0">
              <a:solidFill>
                <a:srgbClr val="00D9C0"/>
              </a:solidFill>
              <a:latin typeface="Consolas" panose="020B0609020204030204" pitchFamily="49" charset="0"/>
            </a:endParaRPr>
          </a:p>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Model name: AMD Ryzen 7 5825U with </a:t>
            </a:r>
            <a:r>
              <a:rPr lang="en-US" sz="1200">
                <a:solidFill>
                  <a:srgbClr val="00D9C0"/>
                </a:solidFill>
                <a:latin typeface="Consolas" panose="020B0609020204030204" pitchFamily="49" charset="0"/>
                <a:ea typeface="Courier New" pitchFamily="34" charset="-122"/>
                <a:cs typeface="Courier New" pitchFamily="34" charset="-120"/>
              </a:rPr>
              <a:t>Radeon </a:t>
            </a:r>
            <a:r>
              <a:rPr lang="en-US" sz="1200" smtClean="0">
                <a:solidFill>
                  <a:srgbClr val="00D9C0"/>
                </a:solidFill>
                <a:latin typeface="Consolas" panose="020B0609020204030204" pitchFamily="49" charset="0"/>
                <a:ea typeface="Courier New" pitchFamily="34" charset="-122"/>
                <a:cs typeface="Courier New" pitchFamily="34" charset="-120"/>
              </a:rPr>
              <a:t>Graphics</a:t>
            </a:r>
          </a:p>
          <a:p>
            <a:pPr marL="0" indent="0">
              <a:lnSpc>
                <a:spcPct val="115000"/>
              </a:lnSpc>
              <a:buNone/>
            </a:pPr>
            <a:endParaRPr lang="en-US" sz="1200" dirty="0">
              <a:solidFill>
                <a:srgbClr val="00D9C0"/>
              </a:solidFill>
              <a:latin typeface="Consolas" panose="020B0609020204030204" pitchFamily="49" charset="0"/>
            </a:endParaRPr>
          </a:p>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 sudo dmesg | grep -i -E "vram|gtt"</a:t>
            </a:r>
            <a:endParaRPr lang="en-US" sz="1200" dirty="0">
              <a:solidFill>
                <a:srgbClr val="00D9C0"/>
              </a:solidFill>
              <a:latin typeface="Consolas" panose="020B0609020204030204" pitchFamily="49" charset="0"/>
            </a:endParaRPr>
          </a:p>
          <a:p>
            <a:pPr marL="0" indent="0">
              <a:lnSpc>
                <a:spcPct val="115000"/>
              </a:lnSpc>
              <a:buNone/>
            </a:pPr>
            <a:r>
              <a:rPr lang="en-US" sz="1200" dirty="0">
                <a:solidFill>
                  <a:srgbClr val="00D9C0"/>
                </a:solidFill>
                <a:latin typeface="Consolas" panose="020B0609020204030204" pitchFamily="49" charset="0"/>
                <a:ea typeface="Courier New" pitchFamily="34" charset="-122"/>
                <a:cs typeface="Courier New" pitchFamily="34" charset="-120"/>
              </a:rPr>
              <a:t>VRAM: 512M ready   |   GTT: 15755M (≈15,4 GB</a:t>
            </a:r>
            <a:r>
              <a:rPr lang="en-US" sz="1200">
                <a:solidFill>
                  <a:srgbClr val="00D9C0"/>
                </a:solidFill>
                <a:latin typeface="Consolas" panose="020B0609020204030204" pitchFamily="49" charset="0"/>
                <a:ea typeface="Courier New" pitchFamily="34" charset="-122"/>
                <a:cs typeface="Courier New" pitchFamily="34" charset="-120"/>
              </a:rPr>
              <a:t>) </a:t>
            </a:r>
            <a:r>
              <a:rPr lang="en-US" sz="1200" smtClean="0">
                <a:solidFill>
                  <a:srgbClr val="00D9C0"/>
                </a:solidFill>
                <a:latin typeface="Consolas" panose="020B0609020204030204" pitchFamily="49" charset="0"/>
                <a:ea typeface="Courier New" pitchFamily="34" charset="-122"/>
                <a:cs typeface="Courier New" pitchFamily="34" charset="-120"/>
              </a:rPr>
              <a:t>ready</a:t>
            </a:r>
          </a:p>
          <a:p>
            <a:pPr marL="0" indent="0">
              <a:lnSpc>
                <a:spcPct val="115000"/>
              </a:lnSpc>
              <a:buNone/>
            </a:pPr>
            <a:endParaRPr lang="en-US" sz="1200" dirty="0">
              <a:solidFill>
                <a:schemeClr val="bg2"/>
              </a:solidFill>
            </a:endParaRPr>
          </a:p>
          <a:p>
            <a:pPr marL="0" indent="0">
              <a:lnSpc>
                <a:spcPct val="115000"/>
              </a:lnSpc>
              <a:buNone/>
            </a:pPr>
            <a:r>
              <a:rPr lang="en-US" sz="1200" dirty="0">
                <a:solidFill>
                  <a:schemeClr val="bg2">
                    <a:lumMod val="50000"/>
                  </a:schemeClr>
                </a:solidFill>
                <a:latin typeface="Courier New" pitchFamily="34" charset="0"/>
                <a:ea typeface="Courier New" pitchFamily="34" charset="-122"/>
                <a:cs typeface="Courier New" pitchFamily="34" charset="-120"/>
              </a:rPr>
              <a:t># GTT = Graphics Translation Table: RAM-Anteil, den</a:t>
            </a:r>
            <a:endParaRPr lang="en-US" sz="1200" dirty="0">
              <a:solidFill>
                <a:schemeClr val="bg2">
                  <a:lumMod val="50000"/>
                </a:schemeClr>
              </a:solidFill>
            </a:endParaRPr>
          </a:p>
          <a:p>
            <a:pPr marL="0" indent="0">
              <a:lnSpc>
                <a:spcPct val="115000"/>
              </a:lnSpc>
              <a:buNone/>
            </a:pPr>
            <a:r>
              <a:rPr lang="en-US" sz="1200" dirty="0">
                <a:solidFill>
                  <a:schemeClr val="bg2">
                    <a:lumMod val="50000"/>
                  </a:schemeClr>
                </a:solidFill>
                <a:latin typeface="Courier New" pitchFamily="34" charset="0"/>
                <a:ea typeface="Courier New" pitchFamily="34" charset="-122"/>
                <a:cs typeface="Courier New" pitchFamily="34" charset="-120"/>
              </a:rPr>
              <a:t># sich die iGPU zusätzlich zum kleinen VRAM leihen darf</a:t>
            </a:r>
            <a:endParaRPr lang="en-US" sz="1200" dirty="0">
              <a:solidFill>
                <a:schemeClr val="bg2">
                  <a:lumMod val="50000"/>
                </a:schemeClr>
              </a:solidFill>
            </a:endParaRPr>
          </a:p>
        </p:txBody>
      </p:sp>
      <p:sp>
        <p:nvSpPr>
          <p:cNvPr id="18" name="Text 16"/>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19" name="Text 17"/>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5B6478"/>
                </a:solidFill>
                <a:latin typeface="Calibri" pitchFamily="34" charset="0"/>
                <a:ea typeface="Calibri" pitchFamily="34" charset="-122"/>
                <a:cs typeface="Calibri" pitchFamily="34" charset="-120"/>
              </a:rPr>
              <a:t>13</a:t>
            </a:r>
            <a:endParaRPr lang="en-US" sz="9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5040" y="3699362"/>
            <a:ext cx="5433581" cy="28385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Shape 7"/>
          <p:cNvSpPr/>
          <p:nvPr/>
        </p:nvSpPr>
        <p:spPr>
          <a:xfrm>
            <a:off x="817830" y="3078234"/>
            <a:ext cx="502920" cy="502920"/>
          </a:xfrm>
          <a:prstGeom prst="ellipse">
            <a:avLst/>
          </a:prstGeom>
          <a:solidFill>
            <a:schemeClr val="accent5">
              <a:lumMod val="60000"/>
              <a:lumOff val="40000"/>
            </a:schemeClr>
          </a:solidFill>
          <a:ln/>
        </p:spPr>
      </p:sp>
      <p:sp>
        <p:nvSpPr>
          <p:cNvPr id="22" name="Text 8"/>
          <p:cNvSpPr txBox="1"/>
          <p:nvPr/>
        </p:nvSpPr>
        <p:spPr>
          <a:xfrm>
            <a:off x="823935" y="3091668"/>
            <a:ext cx="502920" cy="502920"/>
          </a:xfrm>
          <a:prstGeom prst="rect">
            <a:avLst/>
          </a:prstGeom>
          <a:noFill/>
          <a:ln/>
        </p:spPr>
        <p:txBody>
          <a:bodyPr wrap="square" lIns="0" tIns="0" rIns="0" bIns="0" rtlCol="0" anchor="ctr"/>
          <a:lstStyle/>
          <a:p>
            <a:pPr marL="0" indent="0" algn="ctr">
              <a:buNone/>
            </a:pPr>
            <a:r>
              <a:rPr lang="en-US" sz="1000" b="1" dirty="0">
                <a:latin typeface="Arial" pitchFamily="34" charset="0"/>
                <a:ea typeface="Arial" pitchFamily="34" charset="-122"/>
                <a:cs typeface="Arial" pitchFamily="34" charset="-120"/>
              </a:rPr>
              <a:t>N</a:t>
            </a:r>
            <a:r>
              <a:rPr lang="en-US" sz="1000" b="1" smtClean="0">
                <a:latin typeface="Arial" pitchFamily="34" charset="0"/>
                <a:ea typeface="Arial" pitchFamily="34" charset="-122"/>
                <a:cs typeface="Arial" pitchFamily="34" charset="-120"/>
              </a:rPr>
              <a:t>PU</a:t>
            </a:r>
            <a:endParaRPr lang="en-US" sz="1000" dirty="0"/>
          </a:p>
        </p:txBody>
      </p:sp>
      <p:sp>
        <p:nvSpPr>
          <p:cNvPr id="23" name="Text 9"/>
          <p:cNvSpPr txBox="1"/>
          <p:nvPr/>
        </p:nvSpPr>
        <p:spPr>
          <a:xfrm>
            <a:off x="1508760" y="3077257"/>
            <a:ext cx="4114800" cy="588891"/>
          </a:xfrm>
          <a:prstGeom prst="rect">
            <a:avLst/>
          </a:prstGeom>
          <a:noFill/>
          <a:ln/>
        </p:spPr>
        <p:txBody>
          <a:bodyPr wrap="square" lIns="0" tIns="0" rIns="0" bIns="0" rtlCol="0" anchor="t"/>
          <a:lstStyle/>
          <a:p>
            <a:r>
              <a:rPr lang="de-DE" sz="1250">
                <a:solidFill>
                  <a:srgbClr val="12172B"/>
                </a:solidFill>
                <a:latin typeface="Calibri" pitchFamily="34" charset="0"/>
                <a:ea typeface="Calibri" pitchFamily="34" charset="-122"/>
                <a:cs typeface="Calibri" pitchFamily="34" charset="-120"/>
              </a:rPr>
              <a:t>Hochspezialisierte, fest verdrahtete Rechenschaltkreise – führt Matrixoperationen extrem parallel und direkt auf der Hardware aus.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00D9C0"/>
                </a:solidFill>
                <a:latin typeface="Calibri" pitchFamily="34" charset="0"/>
                <a:ea typeface="Calibri" pitchFamily="34" charset="-122"/>
                <a:cs typeface="Calibri" pitchFamily="34" charset="-120"/>
              </a:rPr>
              <a:t>BLOCK </a:t>
            </a:r>
            <a:r>
              <a:rPr lang="en-US" sz="1300" b="1" kern="0" spc="200" dirty="0">
                <a:solidFill>
                  <a:srgbClr val="00D9C0"/>
                </a:solidFill>
                <a:latin typeface="Calibri" pitchFamily="34" charset="0"/>
                <a:ea typeface="Calibri" pitchFamily="34" charset="-122"/>
                <a:cs typeface="Calibri" pitchFamily="34" charset="-120"/>
              </a:rPr>
              <a:t>2 VERARBEITUNG</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NVIDIA-GPU vs. Apple Silicon vs. AMD-iGPU</a:t>
            </a:r>
            <a:endParaRPr lang="en-US" sz="3000" dirty="0"/>
          </a:p>
        </p:txBody>
      </p:sp>
      <p:sp>
        <p:nvSpPr>
          <p:cNvPr id="4" name="Shape 2"/>
          <p:cNvSpPr/>
          <p:nvPr/>
        </p:nvSpPr>
        <p:spPr>
          <a:xfrm>
            <a:off x="2880360" y="1691640"/>
            <a:ext cx="3108960" cy="502920"/>
          </a:xfrm>
          <a:prstGeom prst="roundRect">
            <a:avLst>
              <a:gd name="adj" fmla="val 10909"/>
            </a:avLst>
          </a:prstGeom>
          <a:solidFill>
            <a:srgbClr val="0D1321"/>
          </a:solidFill>
          <a:ln/>
        </p:spPr>
      </p:sp>
      <p:sp>
        <p:nvSpPr>
          <p:cNvPr id="5" name="Text 3"/>
          <p:cNvSpPr txBox="1"/>
          <p:nvPr/>
        </p:nvSpPr>
        <p:spPr>
          <a:xfrm>
            <a:off x="2880360" y="1691640"/>
            <a:ext cx="310896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NVIDIA dGPU</a:t>
            </a:r>
            <a:endParaRPr lang="en-US" sz="1250" dirty="0"/>
          </a:p>
        </p:txBody>
      </p:sp>
      <p:sp>
        <p:nvSpPr>
          <p:cNvPr id="6" name="Shape 4"/>
          <p:cNvSpPr/>
          <p:nvPr/>
        </p:nvSpPr>
        <p:spPr>
          <a:xfrm>
            <a:off x="6080760" y="1691640"/>
            <a:ext cx="3108960" cy="502920"/>
          </a:xfrm>
          <a:prstGeom prst="roundRect">
            <a:avLst>
              <a:gd name="adj" fmla="val 10909"/>
            </a:avLst>
          </a:prstGeom>
          <a:solidFill>
            <a:srgbClr val="00D9C0"/>
          </a:solidFill>
          <a:ln/>
        </p:spPr>
      </p:sp>
      <p:sp>
        <p:nvSpPr>
          <p:cNvPr id="7" name="Text 5"/>
          <p:cNvSpPr txBox="1"/>
          <p:nvPr/>
        </p:nvSpPr>
        <p:spPr>
          <a:xfrm>
            <a:off x="6080760" y="1691640"/>
            <a:ext cx="3108960" cy="502920"/>
          </a:xfrm>
          <a:prstGeom prst="rect">
            <a:avLst/>
          </a:prstGeom>
          <a:noFill/>
          <a:ln/>
        </p:spPr>
        <p:txBody>
          <a:bodyPr wrap="square" lIns="0" tIns="0" rIns="0" bIns="0" rtlCol="0" anchor="ctr"/>
          <a:lstStyle/>
          <a:p>
            <a:pPr marL="0" indent="0" algn="ctr">
              <a:buNone/>
            </a:pPr>
            <a:r>
              <a:rPr lang="en-US" sz="1250" b="1" dirty="0">
                <a:solidFill>
                  <a:srgbClr val="0D1321"/>
                </a:solidFill>
                <a:latin typeface="Arial" pitchFamily="34" charset="0"/>
                <a:ea typeface="Arial" pitchFamily="34" charset="-122"/>
                <a:cs typeface="Arial" pitchFamily="34" charset="-120"/>
              </a:rPr>
              <a:t>Apple Silicon</a:t>
            </a:r>
            <a:endParaRPr lang="en-US" sz="1250" dirty="0"/>
          </a:p>
        </p:txBody>
      </p:sp>
      <p:sp>
        <p:nvSpPr>
          <p:cNvPr id="8" name="Shape 6"/>
          <p:cNvSpPr/>
          <p:nvPr/>
        </p:nvSpPr>
        <p:spPr>
          <a:xfrm>
            <a:off x="9281160" y="1691640"/>
            <a:ext cx="2514600" cy="502920"/>
          </a:xfrm>
          <a:prstGeom prst="roundRect">
            <a:avLst>
              <a:gd name="adj" fmla="val 10909"/>
            </a:avLst>
          </a:prstGeom>
          <a:solidFill>
            <a:srgbClr val="FF6B4A"/>
          </a:solidFill>
          <a:ln/>
        </p:spPr>
      </p:sp>
      <p:sp>
        <p:nvSpPr>
          <p:cNvPr id="9" name="Text 7"/>
          <p:cNvSpPr txBox="1"/>
          <p:nvPr/>
        </p:nvSpPr>
        <p:spPr>
          <a:xfrm>
            <a:off x="9281160" y="1691640"/>
            <a:ext cx="251460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AMD-iGPU</a:t>
            </a:r>
            <a:endParaRPr lang="en-US" sz="1250" dirty="0"/>
          </a:p>
        </p:txBody>
      </p:sp>
      <p:sp>
        <p:nvSpPr>
          <p:cNvPr id="10" name="Shape 8"/>
          <p:cNvSpPr/>
          <p:nvPr/>
        </p:nvSpPr>
        <p:spPr>
          <a:xfrm>
            <a:off x="548640" y="2331720"/>
            <a:ext cx="11247120" cy="777240"/>
          </a:xfrm>
          <a:prstGeom prst="rect">
            <a:avLst/>
          </a:prstGeom>
          <a:solidFill>
            <a:srgbClr val="F2F5FA"/>
          </a:solidFill>
          <a:ln/>
        </p:spPr>
      </p:sp>
      <p:sp>
        <p:nvSpPr>
          <p:cNvPr id="11" name="Text 9"/>
          <p:cNvSpPr txBox="1"/>
          <p:nvPr/>
        </p:nvSpPr>
        <p:spPr>
          <a:xfrm>
            <a:off x="685800" y="2331720"/>
            <a:ext cx="2011680" cy="777240"/>
          </a:xfrm>
          <a:prstGeom prst="rect">
            <a:avLst/>
          </a:prstGeom>
          <a:noFill/>
          <a:ln/>
        </p:spPr>
        <p:txBody>
          <a:bodyPr wrap="square" lIns="0" tIns="0" rIns="0" bIns="0" rtlCol="0" anchor="ctr"/>
          <a:lstStyle/>
          <a:p>
            <a:pPr marL="0" indent="0">
              <a:buNone/>
            </a:pPr>
            <a:r>
              <a:rPr lang="en-US" sz="1300" b="1" dirty="0">
                <a:solidFill>
                  <a:srgbClr val="0D1321"/>
                </a:solidFill>
                <a:latin typeface="Arial" pitchFamily="34" charset="0"/>
                <a:ea typeface="Arial" pitchFamily="34" charset="-122"/>
                <a:cs typeface="Arial" pitchFamily="34" charset="-120"/>
              </a:rPr>
              <a:t>Speicher</a:t>
            </a:r>
            <a:endParaRPr lang="en-US" sz="1300" dirty="0"/>
          </a:p>
        </p:txBody>
      </p:sp>
      <p:sp>
        <p:nvSpPr>
          <p:cNvPr id="12" name="Text 10"/>
          <p:cNvSpPr txBox="1"/>
          <p:nvPr/>
        </p:nvSpPr>
        <p:spPr>
          <a:xfrm>
            <a:off x="3017520" y="2331720"/>
            <a:ext cx="2880360" cy="777240"/>
          </a:xfrm>
          <a:prstGeom prst="rect">
            <a:avLst/>
          </a:prstGeom>
          <a:noFill/>
          <a:ln/>
        </p:spPr>
        <p:txBody>
          <a:bodyPr wrap="square" lIns="0" tIns="0" rIns="0" bIns="0" rtlCol="0" anchor="ctr"/>
          <a:lstStyle/>
          <a:p>
            <a:pPr marL="0" indent="0">
              <a:buNone/>
            </a:pPr>
            <a:r>
              <a:rPr lang="en-US" sz="1150" dirty="0">
                <a:solidFill>
                  <a:srgbClr val="12172B"/>
                </a:solidFill>
                <a:latin typeface="Calibri" pitchFamily="34" charset="0"/>
                <a:ea typeface="Calibri" pitchFamily="34" charset="-122"/>
                <a:cs typeface="Calibri" pitchFamily="34" charset="-120"/>
              </a:rPr>
              <a:t>Getrennt: RAM + VRAM</a:t>
            </a:r>
            <a:endParaRPr lang="en-US" sz="1150" dirty="0"/>
          </a:p>
        </p:txBody>
      </p:sp>
      <p:sp>
        <p:nvSpPr>
          <p:cNvPr id="13" name="Text 11"/>
          <p:cNvSpPr txBox="1"/>
          <p:nvPr/>
        </p:nvSpPr>
        <p:spPr>
          <a:xfrm>
            <a:off x="6217920" y="2331720"/>
            <a:ext cx="2880360" cy="777240"/>
          </a:xfrm>
          <a:prstGeom prst="rect">
            <a:avLst/>
          </a:prstGeom>
          <a:noFill/>
          <a:ln/>
        </p:spPr>
        <p:txBody>
          <a:bodyPr wrap="square" lIns="0" tIns="0" rIns="0" bIns="0" rtlCol="0" anchor="ctr"/>
          <a:lstStyle/>
          <a:p>
            <a:pPr marL="0" indent="0">
              <a:buNone/>
            </a:pPr>
            <a:r>
              <a:rPr lang="en-US" sz="1150" dirty="0">
                <a:solidFill>
                  <a:srgbClr val="12172B"/>
                </a:solidFill>
                <a:latin typeface="Calibri" pitchFamily="34" charset="0"/>
                <a:ea typeface="Calibri" pitchFamily="34" charset="-122"/>
                <a:cs typeface="Calibri" pitchFamily="34" charset="-120"/>
              </a:rPr>
              <a:t>Unified </a:t>
            </a:r>
            <a:r>
              <a:rPr lang="en-US" sz="1150">
                <a:solidFill>
                  <a:srgbClr val="12172B"/>
                </a:solidFill>
                <a:latin typeface="Calibri" pitchFamily="34" charset="0"/>
                <a:ea typeface="Calibri" pitchFamily="34" charset="-122"/>
                <a:cs typeface="Calibri" pitchFamily="34" charset="-120"/>
              </a:rPr>
              <a:t>Memory </a:t>
            </a:r>
            <a:r>
              <a:rPr lang="en-US" sz="1150" smtClean="0">
                <a:solidFill>
                  <a:srgbClr val="12172B"/>
                </a:solidFill>
                <a:latin typeface="Calibri" pitchFamily="34" charset="0"/>
                <a:ea typeface="Calibri" pitchFamily="34" charset="-122"/>
                <a:cs typeface="Calibri" pitchFamily="34" charset="-120"/>
              </a:rPr>
              <a:t>auf Basis der LPDDR5X, direkt auf dem Prozessor-Chip (SoC – System on a Chip) verlötet</a:t>
            </a:r>
            <a:endParaRPr lang="en-US" sz="1150" dirty="0"/>
          </a:p>
        </p:txBody>
      </p:sp>
      <p:sp>
        <p:nvSpPr>
          <p:cNvPr id="14" name="Text 12"/>
          <p:cNvSpPr txBox="1"/>
          <p:nvPr/>
        </p:nvSpPr>
        <p:spPr>
          <a:xfrm>
            <a:off x="9418320" y="2331720"/>
            <a:ext cx="2286000" cy="777240"/>
          </a:xfrm>
          <a:prstGeom prst="rect">
            <a:avLst/>
          </a:prstGeom>
          <a:noFill/>
          <a:ln/>
        </p:spPr>
        <p:txBody>
          <a:bodyPr wrap="square" lIns="0" tIns="0" rIns="0" bIns="0" rtlCol="0" anchor="ctr"/>
          <a:lstStyle/>
          <a:p>
            <a:pPr marL="0" indent="0">
              <a:buNone/>
            </a:pPr>
            <a:r>
              <a:rPr lang="en-US" sz="1150" dirty="0">
                <a:solidFill>
                  <a:srgbClr val="12172B"/>
                </a:solidFill>
                <a:latin typeface="Calibri" pitchFamily="34" charset="0"/>
                <a:ea typeface="Calibri" pitchFamily="34" charset="-122"/>
                <a:cs typeface="Calibri" pitchFamily="34" charset="-120"/>
              </a:rPr>
              <a:t>Nutzt GTT-Bereich im System-RAM</a:t>
            </a:r>
            <a:endParaRPr lang="en-US" sz="1150" dirty="0"/>
          </a:p>
        </p:txBody>
      </p:sp>
      <p:sp>
        <p:nvSpPr>
          <p:cNvPr id="15" name="Text 13"/>
          <p:cNvSpPr txBox="1"/>
          <p:nvPr/>
        </p:nvSpPr>
        <p:spPr>
          <a:xfrm>
            <a:off x="685800" y="3108960"/>
            <a:ext cx="2011680" cy="777240"/>
          </a:xfrm>
          <a:prstGeom prst="rect">
            <a:avLst/>
          </a:prstGeom>
          <a:noFill/>
          <a:ln/>
        </p:spPr>
        <p:txBody>
          <a:bodyPr wrap="square" lIns="0" tIns="0" rIns="0" bIns="0" rtlCol="0" anchor="ctr"/>
          <a:lstStyle/>
          <a:p>
            <a:pPr marL="0" indent="0">
              <a:buNone/>
            </a:pPr>
            <a:r>
              <a:rPr lang="en-US" sz="1300" b="1" dirty="0">
                <a:solidFill>
                  <a:srgbClr val="0D1321"/>
                </a:solidFill>
                <a:latin typeface="Arial" pitchFamily="34" charset="0"/>
                <a:ea typeface="Arial" pitchFamily="34" charset="-122"/>
                <a:cs typeface="Arial" pitchFamily="34" charset="-120"/>
              </a:rPr>
              <a:t>Datentransport</a:t>
            </a:r>
            <a:endParaRPr lang="en-US" sz="1300" dirty="0"/>
          </a:p>
        </p:txBody>
      </p:sp>
      <p:sp>
        <p:nvSpPr>
          <p:cNvPr id="16" name="Text 14"/>
          <p:cNvSpPr txBox="1"/>
          <p:nvPr/>
        </p:nvSpPr>
        <p:spPr>
          <a:xfrm>
            <a:off x="3017520" y="3108960"/>
            <a:ext cx="2880360" cy="777240"/>
          </a:xfrm>
          <a:prstGeom prst="rect">
            <a:avLst/>
          </a:prstGeom>
          <a:noFill/>
          <a:ln/>
        </p:spPr>
        <p:txBody>
          <a:bodyPr wrap="square" lIns="0" tIns="0" rIns="0" bIns="0" rtlCol="0" anchor="ctr"/>
          <a:lstStyle/>
          <a:p>
            <a:pPr marL="0" indent="0">
              <a:buNone/>
            </a:pPr>
            <a:r>
              <a:rPr lang="en-US" sz="1150" dirty="0">
                <a:solidFill>
                  <a:srgbClr val="12172B"/>
                </a:solidFill>
                <a:latin typeface="Calibri" pitchFamily="34" charset="0"/>
                <a:ea typeface="Calibri" pitchFamily="34" charset="-122"/>
                <a:cs typeface="Calibri" pitchFamily="34" charset="-120"/>
              </a:rPr>
              <a:t>Kopieren über PCIe</a:t>
            </a:r>
            <a:endParaRPr lang="en-US" sz="1150" dirty="0"/>
          </a:p>
        </p:txBody>
      </p:sp>
      <p:sp>
        <p:nvSpPr>
          <p:cNvPr id="17" name="Text 15"/>
          <p:cNvSpPr txBox="1"/>
          <p:nvPr/>
        </p:nvSpPr>
        <p:spPr>
          <a:xfrm>
            <a:off x="6217920" y="3108960"/>
            <a:ext cx="2880360" cy="777240"/>
          </a:xfrm>
          <a:prstGeom prst="rect">
            <a:avLst/>
          </a:prstGeom>
          <a:noFill/>
          <a:ln/>
        </p:spPr>
        <p:txBody>
          <a:bodyPr wrap="square" lIns="0" tIns="0" rIns="0" bIns="0" rtlCol="0" anchor="ctr"/>
          <a:lstStyle/>
          <a:p>
            <a:pPr marL="0" indent="0">
              <a:buNone/>
            </a:pPr>
            <a:r>
              <a:rPr lang="en-US" sz="1150" dirty="0">
                <a:solidFill>
                  <a:srgbClr val="12172B"/>
                </a:solidFill>
                <a:latin typeface="Calibri" pitchFamily="34" charset="0"/>
                <a:ea typeface="Calibri" pitchFamily="34" charset="-122"/>
                <a:cs typeface="Calibri" pitchFamily="34" charset="-120"/>
              </a:rPr>
              <a:t>Direkter Zugriff, kein Kopieren</a:t>
            </a:r>
            <a:endParaRPr lang="en-US" sz="1150" dirty="0"/>
          </a:p>
        </p:txBody>
      </p:sp>
      <p:sp>
        <p:nvSpPr>
          <p:cNvPr id="18" name="Text 16"/>
          <p:cNvSpPr txBox="1"/>
          <p:nvPr/>
        </p:nvSpPr>
        <p:spPr>
          <a:xfrm>
            <a:off x="9418320" y="3108960"/>
            <a:ext cx="2286000" cy="777240"/>
          </a:xfrm>
          <a:prstGeom prst="rect">
            <a:avLst/>
          </a:prstGeom>
          <a:noFill/>
          <a:ln/>
        </p:spPr>
        <p:txBody>
          <a:bodyPr wrap="square" lIns="0" tIns="0" rIns="0" bIns="0" rtlCol="0" anchor="ctr"/>
          <a:lstStyle/>
          <a:p>
            <a:r>
              <a:rPr lang="en-US" sz="1150" dirty="0">
                <a:solidFill>
                  <a:srgbClr val="12172B"/>
                </a:solidFill>
                <a:latin typeface="Calibri" pitchFamily="34" charset="0"/>
                <a:ea typeface="Calibri" pitchFamily="34" charset="-122"/>
                <a:cs typeface="Calibri" pitchFamily="34" charset="-120"/>
              </a:rPr>
              <a:t>Direkter Zugriff </a:t>
            </a:r>
            <a:r>
              <a:rPr lang="en-US" sz="1150">
                <a:solidFill>
                  <a:srgbClr val="12172B"/>
                </a:solidFill>
                <a:latin typeface="Calibri" pitchFamily="34" charset="0"/>
                <a:ea typeface="Calibri" pitchFamily="34" charset="-122"/>
                <a:cs typeface="Calibri" pitchFamily="34" charset="-120"/>
              </a:rPr>
              <a:t>über </a:t>
            </a:r>
            <a:r>
              <a:rPr lang="en-US" sz="1150" smtClean="0">
                <a:solidFill>
                  <a:srgbClr val="12172B"/>
                </a:solidFill>
                <a:latin typeface="Calibri" pitchFamily="34" charset="0"/>
                <a:ea typeface="Calibri" pitchFamily="34" charset="-122"/>
                <a:cs typeface="Calibri" pitchFamily="34" charset="-120"/>
              </a:rPr>
              <a:t>ROCm / Vulkan</a:t>
            </a:r>
            <a:endParaRPr lang="en-US" sz="1150" dirty="0"/>
          </a:p>
        </p:txBody>
      </p:sp>
      <p:sp>
        <p:nvSpPr>
          <p:cNvPr id="19" name="Shape 17"/>
          <p:cNvSpPr/>
          <p:nvPr/>
        </p:nvSpPr>
        <p:spPr>
          <a:xfrm>
            <a:off x="548640" y="3886200"/>
            <a:ext cx="11247120" cy="777240"/>
          </a:xfrm>
          <a:prstGeom prst="rect">
            <a:avLst/>
          </a:prstGeom>
          <a:solidFill>
            <a:srgbClr val="F2F5FA"/>
          </a:solidFill>
          <a:ln/>
        </p:spPr>
      </p:sp>
      <p:sp>
        <p:nvSpPr>
          <p:cNvPr id="20" name="Text 18"/>
          <p:cNvSpPr txBox="1"/>
          <p:nvPr/>
        </p:nvSpPr>
        <p:spPr>
          <a:xfrm>
            <a:off x="685800" y="3886200"/>
            <a:ext cx="2011680" cy="777240"/>
          </a:xfrm>
          <a:prstGeom prst="rect">
            <a:avLst/>
          </a:prstGeom>
          <a:noFill/>
          <a:ln/>
        </p:spPr>
        <p:txBody>
          <a:bodyPr wrap="square" lIns="0" tIns="0" rIns="0" bIns="0" rtlCol="0" anchor="ctr"/>
          <a:lstStyle/>
          <a:p>
            <a:pPr marL="0" indent="0">
              <a:buNone/>
            </a:pPr>
            <a:r>
              <a:rPr lang="en-US" sz="1300" b="1" dirty="0">
                <a:solidFill>
                  <a:srgbClr val="0D1321"/>
                </a:solidFill>
                <a:latin typeface="Arial" pitchFamily="34" charset="0"/>
                <a:ea typeface="Arial" pitchFamily="34" charset="-122"/>
                <a:cs typeface="Arial" pitchFamily="34" charset="-120"/>
              </a:rPr>
              <a:t>Flaschenhals</a:t>
            </a:r>
            <a:endParaRPr lang="en-US" sz="1300" dirty="0"/>
          </a:p>
        </p:txBody>
      </p:sp>
      <p:sp>
        <p:nvSpPr>
          <p:cNvPr id="21" name="Text 19"/>
          <p:cNvSpPr txBox="1"/>
          <p:nvPr/>
        </p:nvSpPr>
        <p:spPr>
          <a:xfrm>
            <a:off x="3017520" y="3886200"/>
            <a:ext cx="2880360" cy="777240"/>
          </a:xfrm>
          <a:prstGeom prst="rect">
            <a:avLst/>
          </a:prstGeom>
          <a:noFill/>
          <a:ln/>
        </p:spPr>
        <p:txBody>
          <a:bodyPr wrap="square" lIns="0" tIns="0" rIns="0" bIns="0" rtlCol="0" anchor="ctr"/>
          <a:lstStyle/>
          <a:p>
            <a:r>
              <a:rPr lang="en-US" sz="1150" dirty="0">
                <a:solidFill>
                  <a:srgbClr val="12172B"/>
                </a:solidFill>
                <a:latin typeface="Calibri" pitchFamily="34" charset="0"/>
                <a:ea typeface="Calibri" pitchFamily="34" charset="-122"/>
                <a:cs typeface="Calibri" pitchFamily="34" charset="-120"/>
              </a:rPr>
              <a:t>VRAM-Größe </a:t>
            </a:r>
            <a:r>
              <a:rPr lang="en-US" sz="1150">
                <a:solidFill>
                  <a:srgbClr val="12172B"/>
                </a:solidFill>
                <a:latin typeface="Calibri" pitchFamily="34" charset="0"/>
                <a:ea typeface="Calibri" pitchFamily="34" charset="-122"/>
                <a:cs typeface="Calibri" pitchFamily="34" charset="-120"/>
              </a:rPr>
              <a:t>begrenzt </a:t>
            </a:r>
            <a:r>
              <a:rPr lang="en-US" sz="1150" smtClean="0">
                <a:solidFill>
                  <a:srgbClr val="12172B"/>
                </a:solidFill>
                <a:latin typeface="Calibri" pitchFamily="34" charset="0"/>
                <a:ea typeface="Calibri" pitchFamily="34" charset="-122"/>
                <a:cs typeface="Calibri" pitchFamily="34" charset="-120"/>
              </a:rPr>
              <a:t>Modell, </a:t>
            </a:r>
            <a:r>
              <a:rPr lang="de-DE" sz="1200"/>
              <a:t>PCIe-Nadelöhr bei RAM-Auslagerung</a:t>
            </a:r>
            <a:endParaRPr lang="en-US" sz="1150" dirty="0"/>
          </a:p>
        </p:txBody>
      </p:sp>
      <p:sp>
        <p:nvSpPr>
          <p:cNvPr id="22" name="Text 20"/>
          <p:cNvSpPr txBox="1"/>
          <p:nvPr/>
        </p:nvSpPr>
        <p:spPr>
          <a:xfrm>
            <a:off x="6217920" y="3886200"/>
            <a:ext cx="2880360" cy="777240"/>
          </a:xfrm>
          <a:prstGeom prst="rect">
            <a:avLst/>
          </a:prstGeom>
          <a:noFill/>
          <a:ln/>
        </p:spPr>
        <p:txBody>
          <a:bodyPr wrap="square" lIns="0" tIns="0" rIns="0" bIns="0" rtlCol="0" anchor="ctr"/>
          <a:lstStyle/>
          <a:p>
            <a:pPr marL="0" indent="0">
              <a:buNone/>
            </a:pPr>
            <a:r>
              <a:rPr lang="en-US" sz="1150" dirty="0">
                <a:solidFill>
                  <a:srgbClr val="12172B"/>
                </a:solidFill>
                <a:latin typeface="Calibri" pitchFamily="34" charset="0"/>
                <a:ea typeface="Calibri" pitchFamily="34" charset="-122"/>
                <a:cs typeface="Calibri" pitchFamily="34" charset="-120"/>
              </a:rPr>
              <a:t>Freier RAM wird dynamisch geteilt</a:t>
            </a:r>
            <a:endParaRPr lang="en-US" sz="1150" dirty="0"/>
          </a:p>
        </p:txBody>
      </p:sp>
      <p:sp>
        <p:nvSpPr>
          <p:cNvPr id="23" name="Text 21"/>
          <p:cNvSpPr txBox="1"/>
          <p:nvPr/>
        </p:nvSpPr>
        <p:spPr>
          <a:xfrm>
            <a:off x="9418320" y="3886200"/>
            <a:ext cx="2286000" cy="777240"/>
          </a:xfrm>
          <a:prstGeom prst="rect">
            <a:avLst/>
          </a:prstGeom>
          <a:noFill/>
          <a:ln/>
        </p:spPr>
        <p:txBody>
          <a:bodyPr wrap="square" lIns="0" tIns="0" rIns="0" bIns="0" rtlCol="0" anchor="ctr"/>
          <a:lstStyle/>
          <a:p>
            <a:pPr marL="0" indent="0">
              <a:buNone/>
            </a:pPr>
            <a:r>
              <a:rPr lang="en-US" sz="1150" dirty="0">
                <a:solidFill>
                  <a:srgbClr val="12172B"/>
                </a:solidFill>
                <a:latin typeface="Calibri" pitchFamily="34" charset="0"/>
                <a:ea typeface="Calibri" pitchFamily="34" charset="-122"/>
                <a:cs typeface="Calibri" pitchFamily="34" charset="-120"/>
              </a:rPr>
              <a:t>Geteilte RAM-Bandbreite</a:t>
            </a:r>
            <a:endParaRPr lang="en-US" sz="1150" dirty="0"/>
          </a:p>
        </p:txBody>
      </p:sp>
      <p:sp>
        <p:nvSpPr>
          <p:cNvPr id="24" name="Text 22"/>
          <p:cNvSpPr txBox="1"/>
          <p:nvPr/>
        </p:nvSpPr>
        <p:spPr>
          <a:xfrm>
            <a:off x="685800" y="4663440"/>
            <a:ext cx="2011680" cy="777240"/>
          </a:xfrm>
          <a:prstGeom prst="rect">
            <a:avLst/>
          </a:prstGeom>
          <a:noFill/>
          <a:ln/>
        </p:spPr>
        <p:txBody>
          <a:bodyPr wrap="square" lIns="0" tIns="0" rIns="0" bIns="0" rtlCol="0" anchor="ctr"/>
          <a:lstStyle/>
          <a:p>
            <a:pPr marL="0" indent="0">
              <a:buNone/>
            </a:pPr>
            <a:r>
              <a:rPr lang="en-US" sz="1300" b="1" dirty="0">
                <a:solidFill>
                  <a:srgbClr val="0D1321"/>
                </a:solidFill>
                <a:latin typeface="Arial" pitchFamily="34" charset="0"/>
                <a:ea typeface="Arial" pitchFamily="34" charset="-122"/>
                <a:cs typeface="Arial" pitchFamily="34" charset="-120"/>
              </a:rPr>
              <a:t>Bandbreite</a:t>
            </a:r>
            <a:endParaRPr lang="en-US" sz="1300" dirty="0"/>
          </a:p>
        </p:txBody>
      </p:sp>
      <p:sp>
        <p:nvSpPr>
          <p:cNvPr id="25" name="Text 23"/>
          <p:cNvSpPr txBox="1"/>
          <p:nvPr/>
        </p:nvSpPr>
        <p:spPr>
          <a:xfrm>
            <a:off x="3017520" y="4663440"/>
            <a:ext cx="2880360" cy="777240"/>
          </a:xfrm>
          <a:prstGeom prst="rect">
            <a:avLst/>
          </a:prstGeom>
          <a:noFill/>
          <a:ln/>
        </p:spPr>
        <p:txBody>
          <a:bodyPr wrap="square" lIns="0" tIns="0" rIns="0" bIns="0" rtlCol="0" anchor="ctr"/>
          <a:lstStyle/>
          <a:p>
            <a:pPr marL="0" indent="0">
              <a:buNone/>
            </a:pPr>
            <a:r>
              <a:rPr lang="en-US" sz="1150" dirty="0">
                <a:solidFill>
                  <a:srgbClr val="12172B"/>
                </a:solidFill>
                <a:latin typeface="Calibri" pitchFamily="34" charset="0"/>
                <a:ea typeface="Calibri" pitchFamily="34" charset="-122"/>
                <a:cs typeface="Calibri" pitchFamily="34" charset="-120"/>
              </a:rPr>
              <a:t>300+ GB/s (GDDR6)</a:t>
            </a:r>
            <a:endParaRPr lang="en-US" sz="1150" dirty="0"/>
          </a:p>
        </p:txBody>
      </p:sp>
      <p:sp>
        <p:nvSpPr>
          <p:cNvPr id="26" name="Text 24"/>
          <p:cNvSpPr txBox="1"/>
          <p:nvPr/>
        </p:nvSpPr>
        <p:spPr>
          <a:xfrm>
            <a:off x="6217920" y="4663440"/>
            <a:ext cx="2880360" cy="777240"/>
          </a:xfrm>
          <a:prstGeom prst="rect">
            <a:avLst/>
          </a:prstGeom>
          <a:noFill/>
          <a:ln/>
        </p:spPr>
        <p:txBody>
          <a:bodyPr wrap="square" lIns="0" tIns="0" rIns="0" bIns="0" rtlCol="0" anchor="ctr"/>
          <a:lstStyle/>
          <a:p>
            <a:r>
              <a:rPr lang="de-DE" sz="1100" smtClean="0"/>
              <a:t>M3</a:t>
            </a:r>
            <a:r>
              <a:rPr lang="de-DE" sz="1100"/>
              <a:t>, M4, M6 - 100 bis 120 GB/s </a:t>
            </a:r>
          </a:p>
          <a:p>
            <a:r>
              <a:rPr lang="de-DE" sz="1100"/>
              <a:t>M3 Pro, M4 Pro, M5 Pro – 150 bis 307 GB/s </a:t>
            </a:r>
          </a:p>
          <a:p>
            <a:r>
              <a:rPr lang="de-DE" sz="1100"/>
              <a:t>M3 Max, M4 Max, M5 Max – 400 bis 614 GB/s </a:t>
            </a:r>
          </a:p>
          <a:p>
            <a:r>
              <a:rPr lang="pt-BR" sz="1100"/>
              <a:t>M3 Ultra, M5 Ultra – 800 bis 1,2 TB/s</a:t>
            </a:r>
            <a:endParaRPr lang="en-US" sz="1100" dirty="0"/>
          </a:p>
        </p:txBody>
      </p:sp>
      <p:sp>
        <p:nvSpPr>
          <p:cNvPr id="27" name="Text 25"/>
          <p:cNvSpPr txBox="1"/>
          <p:nvPr/>
        </p:nvSpPr>
        <p:spPr>
          <a:xfrm>
            <a:off x="9418320" y="4663440"/>
            <a:ext cx="2286000" cy="777240"/>
          </a:xfrm>
          <a:prstGeom prst="rect">
            <a:avLst/>
          </a:prstGeom>
          <a:noFill/>
          <a:ln/>
        </p:spPr>
        <p:txBody>
          <a:bodyPr wrap="square" lIns="0" tIns="0" rIns="0" bIns="0" rtlCol="0" anchor="ctr"/>
          <a:lstStyle/>
          <a:p>
            <a:pPr marL="0" indent="0">
              <a:buNone/>
            </a:pPr>
            <a:r>
              <a:rPr lang="en-US" sz="1150" dirty="0">
                <a:solidFill>
                  <a:srgbClr val="12172B"/>
                </a:solidFill>
                <a:latin typeface="Calibri" pitchFamily="34" charset="0"/>
                <a:ea typeface="Calibri" pitchFamily="34" charset="-122"/>
                <a:cs typeface="Calibri" pitchFamily="34" charset="-120"/>
              </a:rPr>
              <a:t>≈ </a:t>
            </a:r>
            <a:r>
              <a:rPr lang="en-US" sz="1150">
                <a:solidFill>
                  <a:srgbClr val="12172B"/>
                </a:solidFill>
                <a:latin typeface="Calibri" pitchFamily="34" charset="0"/>
                <a:ea typeface="Calibri" pitchFamily="34" charset="-122"/>
                <a:cs typeface="Calibri" pitchFamily="34" charset="-120"/>
              </a:rPr>
              <a:t>50 </a:t>
            </a:r>
            <a:r>
              <a:rPr lang="en-US" sz="1150" smtClean="0">
                <a:solidFill>
                  <a:srgbClr val="12172B"/>
                </a:solidFill>
                <a:latin typeface="Calibri" pitchFamily="34" charset="0"/>
                <a:ea typeface="Calibri" pitchFamily="34" charset="-122"/>
                <a:cs typeface="Calibri" pitchFamily="34" charset="-120"/>
              </a:rPr>
              <a:t>– 100+ GB/s (DDR4 bis LPDDR5x)</a:t>
            </a:r>
          </a:p>
        </p:txBody>
      </p:sp>
      <p:sp>
        <p:nvSpPr>
          <p:cNvPr id="28" name="Shape 26"/>
          <p:cNvSpPr/>
          <p:nvPr/>
        </p:nvSpPr>
        <p:spPr>
          <a:xfrm>
            <a:off x="548640" y="5440680"/>
            <a:ext cx="11247120" cy="777240"/>
          </a:xfrm>
          <a:prstGeom prst="rect">
            <a:avLst/>
          </a:prstGeom>
          <a:solidFill>
            <a:srgbClr val="F2F5FA"/>
          </a:solidFill>
          <a:ln/>
        </p:spPr>
      </p:sp>
      <p:sp>
        <p:nvSpPr>
          <p:cNvPr id="29" name="Text 27"/>
          <p:cNvSpPr txBox="1"/>
          <p:nvPr/>
        </p:nvSpPr>
        <p:spPr>
          <a:xfrm>
            <a:off x="685800" y="5440680"/>
            <a:ext cx="2011680" cy="777240"/>
          </a:xfrm>
          <a:prstGeom prst="rect">
            <a:avLst/>
          </a:prstGeom>
          <a:noFill/>
          <a:ln/>
        </p:spPr>
        <p:txBody>
          <a:bodyPr wrap="square" lIns="0" tIns="0" rIns="0" bIns="0" rtlCol="0" anchor="ctr"/>
          <a:lstStyle/>
          <a:p>
            <a:pPr marL="0" indent="0">
              <a:buNone/>
            </a:pPr>
            <a:r>
              <a:rPr lang="en-US" sz="1300" b="1" dirty="0">
                <a:solidFill>
                  <a:srgbClr val="0D1321"/>
                </a:solidFill>
                <a:latin typeface="Arial" pitchFamily="34" charset="0"/>
                <a:ea typeface="Arial" pitchFamily="34" charset="-122"/>
                <a:cs typeface="Arial" pitchFamily="34" charset="-120"/>
              </a:rPr>
              <a:t>Energie</a:t>
            </a:r>
            <a:endParaRPr lang="en-US" sz="1300" dirty="0"/>
          </a:p>
        </p:txBody>
      </p:sp>
      <p:sp>
        <p:nvSpPr>
          <p:cNvPr id="30" name="Text 28"/>
          <p:cNvSpPr txBox="1"/>
          <p:nvPr/>
        </p:nvSpPr>
        <p:spPr>
          <a:xfrm>
            <a:off x="3017520" y="5440680"/>
            <a:ext cx="2880360" cy="777240"/>
          </a:xfrm>
          <a:prstGeom prst="rect">
            <a:avLst/>
          </a:prstGeom>
          <a:noFill/>
          <a:ln/>
        </p:spPr>
        <p:txBody>
          <a:bodyPr wrap="square" lIns="0" tIns="0" rIns="0" bIns="0" rtlCol="0" anchor="ctr"/>
          <a:lstStyle/>
          <a:p>
            <a:pPr marL="0" indent="0">
              <a:buNone/>
            </a:pPr>
            <a:r>
              <a:rPr lang="en-US" sz="1150" dirty="0">
                <a:solidFill>
                  <a:srgbClr val="12172B"/>
                </a:solidFill>
                <a:latin typeface="Calibri" pitchFamily="34" charset="0"/>
                <a:ea typeface="Calibri" pitchFamily="34" charset="-122"/>
                <a:cs typeface="Calibri" pitchFamily="34" charset="-120"/>
              </a:rPr>
              <a:t>Hoher Verbrauch, sehr stark</a:t>
            </a:r>
            <a:endParaRPr lang="en-US" sz="1150" dirty="0"/>
          </a:p>
        </p:txBody>
      </p:sp>
      <p:sp>
        <p:nvSpPr>
          <p:cNvPr id="31" name="Text 29"/>
          <p:cNvSpPr txBox="1"/>
          <p:nvPr/>
        </p:nvSpPr>
        <p:spPr>
          <a:xfrm>
            <a:off x="6217920" y="5440680"/>
            <a:ext cx="2880360" cy="777240"/>
          </a:xfrm>
          <a:prstGeom prst="rect">
            <a:avLst/>
          </a:prstGeom>
          <a:noFill/>
          <a:ln/>
        </p:spPr>
        <p:txBody>
          <a:bodyPr wrap="square" lIns="0" tIns="0" rIns="0" bIns="0" rtlCol="0" anchor="ctr"/>
          <a:lstStyle/>
          <a:p>
            <a:pPr marL="0" indent="0">
              <a:buNone/>
            </a:pPr>
            <a:r>
              <a:rPr lang="en-US" sz="1150" dirty="0">
                <a:solidFill>
                  <a:srgbClr val="12172B"/>
                </a:solidFill>
                <a:latin typeface="Calibri" pitchFamily="34" charset="0"/>
                <a:ea typeface="Calibri" pitchFamily="34" charset="-122"/>
                <a:cs typeface="Calibri" pitchFamily="34" charset="-120"/>
              </a:rPr>
              <a:t>Extrem effizient</a:t>
            </a:r>
            <a:endParaRPr lang="en-US" sz="1150" dirty="0"/>
          </a:p>
        </p:txBody>
      </p:sp>
      <p:sp>
        <p:nvSpPr>
          <p:cNvPr id="32" name="Text 30"/>
          <p:cNvSpPr txBox="1"/>
          <p:nvPr/>
        </p:nvSpPr>
        <p:spPr>
          <a:xfrm>
            <a:off x="9418320" y="5440680"/>
            <a:ext cx="2286000" cy="777240"/>
          </a:xfrm>
          <a:prstGeom prst="rect">
            <a:avLst/>
          </a:prstGeom>
          <a:noFill/>
          <a:ln/>
        </p:spPr>
        <p:txBody>
          <a:bodyPr wrap="square" lIns="0" tIns="0" rIns="0" bIns="0" rtlCol="0" anchor="ctr"/>
          <a:lstStyle/>
          <a:p>
            <a:pPr marL="0" indent="0">
              <a:buNone/>
            </a:pPr>
            <a:r>
              <a:rPr lang="en-US" sz="1150" dirty="0">
                <a:solidFill>
                  <a:srgbClr val="12172B"/>
                </a:solidFill>
                <a:latin typeface="Calibri" pitchFamily="34" charset="0"/>
                <a:ea typeface="Calibri" pitchFamily="34" charset="-122"/>
                <a:cs typeface="Calibri" pitchFamily="34" charset="-120"/>
              </a:rPr>
              <a:t>Effizient, aber begrenzt</a:t>
            </a:r>
            <a:endParaRPr lang="en-US" sz="1150" dirty="0"/>
          </a:p>
        </p:txBody>
      </p:sp>
      <p:sp>
        <p:nvSpPr>
          <p:cNvPr id="33" name="Text 31"/>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34" name="Text 32"/>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5B64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00D9C0"/>
                </a:solidFill>
                <a:latin typeface="Calibri" pitchFamily="34" charset="0"/>
                <a:ea typeface="Calibri" pitchFamily="34" charset="-122"/>
                <a:cs typeface="Calibri" pitchFamily="34" charset="-120"/>
              </a:rPr>
              <a:t>BLOCK </a:t>
            </a:r>
            <a:r>
              <a:rPr lang="en-US" sz="1300" b="1" kern="0" spc="200" dirty="0">
                <a:solidFill>
                  <a:srgbClr val="00D9C0"/>
                </a:solidFill>
                <a:latin typeface="Calibri" pitchFamily="34" charset="0"/>
                <a:ea typeface="Calibri" pitchFamily="34" charset="-122"/>
                <a:cs typeface="Calibri" pitchFamily="34" charset="-120"/>
              </a:rPr>
              <a:t>2 VERARBEITUNG</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r>
              <a:rPr lang="de-DE" sz="3200" b="1">
                <a:solidFill>
                  <a:schemeClr val="bg1"/>
                </a:solidFill>
              </a:rPr>
              <a:t>Speicherbandbreite</a:t>
            </a:r>
            <a:r>
              <a:rPr lang="en-US" sz="3000" b="1" smtClean="0">
                <a:solidFill>
                  <a:srgbClr val="FFFFFF"/>
                </a:solidFill>
                <a:latin typeface="Arial" pitchFamily="34" charset="0"/>
                <a:ea typeface="Arial" pitchFamily="34" charset="-122"/>
                <a:cs typeface="Arial" pitchFamily="34" charset="-120"/>
              </a:rPr>
              <a:t> bei dedizierten Grafikkarten (dGPU)</a:t>
            </a:r>
            <a:endParaRPr lang="en-US" sz="3000" dirty="0"/>
          </a:p>
        </p:txBody>
      </p:sp>
      <p:graphicFrame>
        <p:nvGraphicFramePr>
          <p:cNvPr id="4" name="Chart 0"/>
          <p:cNvGraphicFramePr/>
          <p:nvPr>
            <p:extLst>
              <p:ext uri="{D42A27DB-BD31-4B8C-83A1-F6EECF244321}">
                <p14:modId xmlns:p14="http://schemas.microsoft.com/office/powerpoint/2010/main" val="2260430161"/>
              </p:ext>
            </p:extLst>
          </p:nvPr>
        </p:nvGraphicFramePr>
        <p:xfrm>
          <a:off x="548639" y="1737360"/>
          <a:ext cx="11431564"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9550790" y="1628774"/>
            <a:ext cx="2109372" cy="3052953"/>
          </a:xfrm>
          <a:prstGeom prst="roundRect">
            <a:avLst>
              <a:gd name="adj" fmla="val 2410"/>
            </a:avLst>
          </a:prstGeom>
          <a:solidFill>
            <a:srgbClr val="17213D"/>
          </a:solidFill>
          <a:ln/>
        </p:spPr>
      </p:sp>
      <p:sp>
        <p:nvSpPr>
          <p:cNvPr id="6" name="Text 3"/>
          <p:cNvSpPr txBox="1"/>
          <p:nvPr/>
        </p:nvSpPr>
        <p:spPr>
          <a:xfrm>
            <a:off x="10051804" y="1717128"/>
            <a:ext cx="1866783" cy="365760"/>
          </a:xfrm>
          <a:prstGeom prst="rect">
            <a:avLst/>
          </a:prstGeom>
          <a:noFill/>
          <a:ln/>
        </p:spPr>
        <p:txBody>
          <a:bodyPr wrap="square" lIns="0" tIns="0" rIns="0" bIns="0" rtlCol="0" anchor="ctr"/>
          <a:lstStyle/>
          <a:p>
            <a:pPr marL="0" indent="0">
              <a:buNone/>
            </a:pPr>
            <a:r>
              <a:rPr lang="en-US" sz="1600" b="1" dirty="0">
                <a:solidFill>
                  <a:srgbClr val="00D9C0"/>
                </a:solidFill>
                <a:latin typeface="Arial" pitchFamily="34" charset="0"/>
                <a:ea typeface="Arial" pitchFamily="34" charset="-122"/>
                <a:cs typeface="Arial" pitchFamily="34" charset="-120"/>
              </a:rPr>
              <a:t>Faustregel</a:t>
            </a:r>
            <a:endParaRPr lang="en-US" sz="1600" dirty="0"/>
          </a:p>
        </p:txBody>
      </p:sp>
      <p:sp>
        <p:nvSpPr>
          <p:cNvPr id="7" name="Text 4"/>
          <p:cNvSpPr txBox="1"/>
          <p:nvPr/>
        </p:nvSpPr>
        <p:spPr>
          <a:xfrm>
            <a:off x="9692640" y="2347100"/>
            <a:ext cx="1810512" cy="1616300"/>
          </a:xfrm>
          <a:prstGeom prst="rect">
            <a:avLst/>
          </a:prstGeom>
          <a:noFill/>
          <a:ln/>
        </p:spPr>
        <p:txBody>
          <a:bodyPr wrap="square" lIns="0" tIns="0" rIns="0" bIns="0" rtlCol="0" anchor="ctr"/>
          <a:lstStyle/>
          <a:p>
            <a:r>
              <a:rPr lang="en-US" sz="1300" dirty="0">
                <a:solidFill>
                  <a:srgbClr val="D7DCEE"/>
                </a:solidFill>
                <a:latin typeface="Calibri" pitchFamily="34" charset="0"/>
                <a:ea typeface="Calibri" pitchFamily="34" charset="-122"/>
                <a:cs typeface="Calibri" pitchFamily="34" charset="-120"/>
              </a:rPr>
              <a:t>Je größer </a:t>
            </a:r>
            <a:r>
              <a:rPr lang="en-US" sz="1300">
                <a:solidFill>
                  <a:srgbClr val="D7DCEE"/>
                </a:solidFill>
                <a:latin typeface="Calibri" pitchFamily="34" charset="0"/>
                <a:ea typeface="Calibri" pitchFamily="34" charset="-122"/>
                <a:cs typeface="Calibri" pitchFamily="34" charset="-120"/>
              </a:rPr>
              <a:t>der </a:t>
            </a:r>
            <a:r>
              <a:rPr lang="en-US" sz="1300" smtClean="0">
                <a:solidFill>
                  <a:srgbClr val="D7DCEE"/>
                </a:solidFill>
                <a:latin typeface="Calibri" pitchFamily="34" charset="0"/>
                <a:ea typeface="Calibri" pitchFamily="34" charset="-122"/>
                <a:cs typeface="Calibri" pitchFamily="34" charset="-120"/>
              </a:rPr>
              <a:t>Modell-anteil</a:t>
            </a:r>
            <a:r>
              <a:rPr lang="en-US" sz="1300" dirty="0">
                <a:solidFill>
                  <a:srgbClr val="D7DCEE"/>
                </a:solidFill>
                <a:latin typeface="Calibri" pitchFamily="34" charset="0"/>
                <a:ea typeface="Calibri" pitchFamily="34" charset="-122"/>
                <a:cs typeface="Calibri" pitchFamily="34" charset="-120"/>
              </a:rPr>
              <a:t>, der </a:t>
            </a:r>
            <a:r>
              <a:rPr lang="en-US" sz="1300">
                <a:solidFill>
                  <a:srgbClr val="D7DCEE"/>
                </a:solidFill>
                <a:latin typeface="Calibri" pitchFamily="34" charset="0"/>
                <a:ea typeface="Calibri" pitchFamily="34" charset="-122"/>
                <a:cs typeface="Calibri" pitchFamily="34" charset="-120"/>
              </a:rPr>
              <a:t>aus </a:t>
            </a:r>
            <a:r>
              <a:rPr lang="de-DE" sz="1300">
                <a:solidFill>
                  <a:srgbClr val="D7DCEE"/>
                </a:solidFill>
                <a:latin typeface="Calibri" pitchFamily="34" charset="0"/>
                <a:ea typeface="Calibri" pitchFamily="34" charset="-122"/>
                <a:cs typeface="Calibri" pitchFamily="34" charset="-120"/>
              </a:rPr>
              <a:t>langsamem System-RAM (DDR) statt schnellem Grafikspeicher (GDDR</a:t>
            </a:r>
            <a:r>
              <a:rPr lang="de-DE" sz="1300" smtClean="0">
                <a:solidFill>
                  <a:srgbClr val="D7DCEE"/>
                </a:solidFill>
                <a:latin typeface="Calibri" pitchFamily="34" charset="0"/>
                <a:ea typeface="Calibri" pitchFamily="34" charset="-122"/>
                <a:cs typeface="Calibri" pitchFamily="34" charset="-120"/>
              </a:rPr>
              <a:t>) </a:t>
            </a:r>
            <a:r>
              <a:rPr lang="en-US" sz="1300" smtClean="0">
                <a:solidFill>
                  <a:srgbClr val="D7DCEE"/>
                </a:solidFill>
                <a:latin typeface="Calibri" pitchFamily="34" charset="0"/>
                <a:ea typeface="Calibri" pitchFamily="34" charset="-122"/>
                <a:cs typeface="Calibri" pitchFamily="34" charset="-120"/>
              </a:rPr>
              <a:t>bedient </a:t>
            </a:r>
            <a:r>
              <a:rPr lang="en-US" sz="1300" dirty="0">
                <a:solidFill>
                  <a:srgbClr val="D7DCEE"/>
                </a:solidFill>
                <a:latin typeface="Calibri" pitchFamily="34" charset="0"/>
                <a:ea typeface="Calibri" pitchFamily="34" charset="-122"/>
                <a:cs typeface="Calibri" pitchFamily="34" charset="-120"/>
              </a:rPr>
              <a:t>wird, desto stärker bricht die Geschwindigkeit ein.</a:t>
            </a:r>
            <a:endParaRPr lang="en-US" sz="1300" dirty="0"/>
          </a:p>
        </p:txBody>
      </p:sp>
      <p:sp>
        <p:nvSpPr>
          <p:cNvPr id="8" name="Shape 5"/>
          <p:cNvSpPr/>
          <p:nvPr/>
        </p:nvSpPr>
        <p:spPr>
          <a:xfrm>
            <a:off x="9883577" y="4263309"/>
            <a:ext cx="1476717" cy="0"/>
          </a:xfrm>
          <a:prstGeom prst="line">
            <a:avLst/>
          </a:prstGeom>
          <a:noFill/>
          <a:ln w="12700">
            <a:solidFill>
              <a:srgbClr val="2A365C"/>
            </a:solidFill>
            <a:prstDash val="solid"/>
          </a:ln>
        </p:spPr>
      </p:sp>
      <p:sp>
        <p:nvSpPr>
          <p:cNvPr id="10" name="Text 7"/>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9AA3C0"/>
                </a:solidFill>
                <a:latin typeface="Calibri" pitchFamily="34" charset="0"/>
                <a:ea typeface="Calibri" pitchFamily="34" charset="-122"/>
                <a:cs typeface="Calibri" pitchFamily="34" charset="-120"/>
              </a:rPr>
              <a:t>OLLAMA PERFORMANCE TUNING · iGPU</a:t>
            </a:r>
            <a:endParaRPr lang="en-US" sz="900" dirty="0"/>
          </a:p>
        </p:txBody>
      </p:sp>
      <p:sp>
        <p:nvSpPr>
          <p:cNvPr id="11" name="Text 8"/>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9AA3C0"/>
                </a:solidFill>
                <a:latin typeface="Calibri" pitchFamily="34" charset="0"/>
                <a:ea typeface="Calibri" pitchFamily="34" charset="-122"/>
                <a:cs typeface="Calibri" pitchFamily="34" charset="-120"/>
              </a:rPr>
              <a:t>15</a:t>
            </a:r>
            <a:endParaRPr lang="en-US" sz="900" dirty="0"/>
          </a:p>
        </p:txBody>
      </p:sp>
      <p:sp>
        <p:nvSpPr>
          <p:cNvPr id="12" name="Shape 5"/>
          <p:cNvSpPr/>
          <p:nvPr/>
        </p:nvSpPr>
        <p:spPr>
          <a:xfrm>
            <a:off x="9867117" y="2186859"/>
            <a:ext cx="1476717" cy="0"/>
          </a:xfrm>
          <a:prstGeom prst="line">
            <a:avLst/>
          </a:prstGeom>
          <a:noFill/>
          <a:ln w="12700">
            <a:solidFill>
              <a:srgbClr val="2A365C"/>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r>
              <a:rPr lang="en-US" sz="1300" b="1" kern="0" spc="200">
                <a:solidFill>
                  <a:srgbClr val="00D9C0"/>
                </a:solidFill>
                <a:ea typeface="Calibri" pitchFamily="34" charset="-122"/>
                <a:cs typeface="Calibri" pitchFamily="34" charset="-120"/>
              </a:rPr>
              <a:t>BLOCK 2 VERARBEITUNG</a:t>
            </a:r>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r>
              <a:rPr lang="en-US" sz="3000" b="1" dirty="0">
                <a:solidFill>
                  <a:srgbClr val="12172B"/>
                </a:solidFill>
                <a:latin typeface="Arial" pitchFamily="34" charset="0"/>
                <a:ea typeface="Arial" pitchFamily="34" charset="-122"/>
                <a:cs typeface="Arial" pitchFamily="34" charset="-120"/>
              </a:rPr>
              <a:t>Speichertechnologien im Vergleich</a:t>
            </a:r>
          </a:p>
        </p:txBody>
      </p:sp>
      <p:sp>
        <p:nvSpPr>
          <p:cNvPr id="4" name="Text 2"/>
          <p:cNvSpPr txBox="1"/>
          <p:nvPr/>
        </p:nvSpPr>
        <p:spPr>
          <a:xfrm>
            <a:off x="548640" y="1371600"/>
            <a:ext cx="10789920" cy="457200"/>
          </a:xfrm>
          <a:prstGeom prst="rect">
            <a:avLst/>
          </a:prstGeom>
          <a:noFill/>
          <a:ln/>
        </p:spPr>
        <p:txBody>
          <a:bodyPr wrap="square" lIns="0" tIns="0" rIns="0" bIns="0" rtlCol="0" anchor="ctr"/>
          <a:lstStyle/>
          <a:p>
            <a:r>
              <a:rPr lang="en-US" sz="1300" dirty="0">
                <a:solidFill>
                  <a:srgbClr val="5B6478"/>
                </a:solidFill>
                <a:ea typeface="Calibri" pitchFamily="34" charset="-122"/>
                <a:cs typeface="Calibri" pitchFamily="34" charset="-120"/>
              </a:rPr>
              <a:t>RAM-Technologien unterscheiden sich grundlegend in Architektur, Einsatzzweck und Speicherbandbreite – genau daran liegt es, wenn die iGPU bei sehr langem Kontext (z. B. 1 Mio. Tokens) einknickt.</a:t>
            </a:r>
          </a:p>
        </p:txBody>
      </p:sp>
      <p:sp>
        <p:nvSpPr>
          <p:cNvPr id="41" name="Text 39"/>
          <p:cNvSpPr txBox="1"/>
          <p:nvPr/>
        </p:nvSpPr>
        <p:spPr>
          <a:xfrm>
            <a:off x="457200" y="6537960"/>
            <a:ext cx="5486400" cy="274320"/>
          </a:xfrm>
          <a:prstGeom prst="rect">
            <a:avLst/>
          </a:prstGeom>
          <a:noFill/>
          <a:ln/>
        </p:spPr>
        <p:txBody>
          <a:bodyPr wrap="square" lIns="0" tIns="0" rIns="0" bIns="0" rtlCol="0" anchor="ctr"/>
          <a:lstStyle/>
          <a:p>
            <a:r>
              <a:rPr lang="en-US" sz="900" dirty="0">
                <a:solidFill>
                  <a:srgbClr val="5B6478"/>
                </a:solidFill>
                <a:ea typeface="Calibri" pitchFamily="34" charset="-122"/>
                <a:cs typeface="Calibri" pitchFamily="34" charset="-120"/>
              </a:rPr>
              <a:t>OLLAMA PERFORMANCE TUNING · iGPU</a:t>
            </a:r>
            <a:endParaRPr lang="en-US" sz="900" dirty="0">
              <a:solidFill>
                <a:prstClr val="black"/>
              </a:solidFill>
            </a:endParaRPr>
          </a:p>
        </p:txBody>
      </p:sp>
      <p:sp>
        <p:nvSpPr>
          <p:cNvPr id="42" name="TblHeaderBg"/>
          <p:cNvSpPr/>
          <p:nvPr/>
        </p:nvSpPr>
        <p:spPr>
          <a:xfrm>
            <a:off x="548640" y="1965960"/>
            <a:ext cx="11094720" cy="370000"/>
          </a:xfrm>
          <a:prstGeom prst="roundRect">
            <a:avLst>
              <a:gd name="adj" fmla="val 8000"/>
            </a:avLst>
          </a:prstGeom>
          <a:solidFill>
            <a:srgbClr val="0D1321"/>
          </a:solidFill>
          <a:ln/>
        </p:spPr>
      </p:sp>
      <p:sp>
        <p:nvSpPr>
          <p:cNvPr id="43" name="Text"/>
          <p:cNvSpPr txBox="1"/>
          <p:nvPr/>
        </p:nvSpPr>
        <p:spPr>
          <a:xfrm>
            <a:off x="640080" y="1965960"/>
            <a:ext cx="1700000" cy="370000"/>
          </a:xfrm>
          <a:prstGeom prst="rect">
            <a:avLst/>
          </a:prstGeom>
          <a:noFill/>
          <a:ln/>
        </p:spPr>
        <p:txBody>
          <a:bodyPr wrap="square" lIns="0" tIns="0" rIns="0" bIns="0" rtlCol="0" anchor="ctr"/>
          <a:lstStyle/>
          <a:p>
            <a:r>
              <a:rPr lang="de-DE" sz="1050" b="1" dirty="0">
                <a:solidFill>
                  <a:srgbClr val="FFFFFF"/>
                </a:solidFill>
                <a:latin typeface="Arial" pitchFamily="34" charset="0"/>
              </a:rPr>
              <a:t>Speichertyp</a:t>
            </a:r>
          </a:p>
        </p:txBody>
      </p:sp>
      <p:sp>
        <p:nvSpPr>
          <p:cNvPr id="44" name="Text"/>
          <p:cNvSpPr txBox="1"/>
          <p:nvPr/>
        </p:nvSpPr>
        <p:spPr>
          <a:xfrm>
            <a:off x="2340080" y="1965960"/>
            <a:ext cx="3000000" cy="370000"/>
          </a:xfrm>
          <a:prstGeom prst="rect">
            <a:avLst/>
          </a:prstGeom>
          <a:noFill/>
          <a:ln/>
        </p:spPr>
        <p:txBody>
          <a:bodyPr wrap="square" lIns="0" tIns="0" rIns="0" bIns="0" rtlCol="0" anchor="ctr"/>
          <a:lstStyle/>
          <a:p>
            <a:r>
              <a:rPr lang="de-DE" sz="1050" b="1" dirty="0">
                <a:solidFill>
                  <a:srgbClr val="FFFFFF"/>
                </a:solidFill>
                <a:latin typeface="Arial" pitchFamily="34" charset="0"/>
              </a:rPr>
              <a:t>Primärer Einsatzzweck</a:t>
            </a:r>
          </a:p>
        </p:txBody>
      </p:sp>
      <p:sp>
        <p:nvSpPr>
          <p:cNvPr id="45" name="Text"/>
          <p:cNvSpPr txBox="1"/>
          <p:nvPr/>
        </p:nvSpPr>
        <p:spPr>
          <a:xfrm>
            <a:off x="5340080" y="1965960"/>
            <a:ext cx="1900000" cy="370000"/>
          </a:xfrm>
          <a:prstGeom prst="rect">
            <a:avLst/>
          </a:prstGeom>
          <a:noFill/>
          <a:ln/>
        </p:spPr>
        <p:txBody>
          <a:bodyPr wrap="square" lIns="0" tIns="0" rIns="0" bIns="0" rtlCol="0" anchor="ctr"/>
          <a:lstStyle/>
          <a:p>
            <a:r>
              <a:rPr lang="de-DE" sz="1050" b="1" dirty="0">
                <a:solidFill>
                  <a:srgbClr val="FFFFFF"/>
                </a:solidFill>
                <a:latin typeface="Arial" pitchFamily="34" charset="0"/>
              </a:rPr>
              <a:t>Bandbreite</a:t>
            </a:r>
          </a:p>
        </p:txBody>
      </p:sp>
      <p:sp>
        <p:nvSpPr>
          <p:cNvPr id="46" name="Text"/>
          <p:cNvSpPr txBox="1"/>
          <p:nvPr/>
        </p:nvSpPr>
        <p:spPr>
          <a:xfrm>
            <a:off x="7240080" y="1965960"/>
            <a:ext cx="4311840" cy="370000"/>
          </a:xfrm>
          <a:prstGeom prst="rect">
            <a:avLst/>
          </a:prstGeom>
          <a:noFill/>
          <a:ln/>
        </p:spPr>
        <p:txBody>
          <a:bodyPr wrap="square" lIns="0" tIns="0" rIns="0" bIns="0" rtlCol="0" anchor="ctr"/>
          <a:lstStyle/>
          <a:p>
            <a:r>
              <a:rPr lang="de-DE" sz="1050" b="1" dirty="0">
                <a:solidFill>
                  <a:srgbClr val="FFFFFF"/>
                </a:solidFill>
                <a:latin typeface="Arial" pitchFamily="34" charset="0"/>
              </a:rPr>
              <a:t>Hauptmerkmal</a:t>
            </a:r>
          </a:p>
        </p:txBody>
      </p:sp>
      <p:sp>
        <p:nvSpPr>
          <p:cNvPr id="47" name="TblRowBg0"/>
          <p:cNvSpPr/>
          <p:nvPr/>
        </p:nvSpPr>
        <p:spPr>
          <a:xfrm>
            <a:off x="548640" y="2335960"/>
            <a:ext cx="11094720" cy="480000"/>
          </a:xfrm>
          <a:prstGeom prst="rect">
            <a:avLst/>
          </a:prstGeom>
          <a:solidFill>
            <a:srgbClr val="F2F5FA"/>
          </a:solidFill>
          <a:ln/>
        </p:spPr>
      </p:sp>
      <p:sp>
        <p:nvSpPr>
          <p:cNvPr id="48" name="Text"/>
          <p:cNvSpPr txBox="1"/>
          <p:nvPr/>
        </p:nvSpPr>
        <p:spPr>
          <a:xfrm>
            <a:off x="640080" y="2335960"/>
            <a:ext cx="1700000" cy="480000"/>
          </a:xfrm>
          <a:prstGeom prst="rect">
            <a:avLst/>
          </a:prstGeom>
          <a:noFill/>
          <a:ln/>
        </p:spPr>
        <p:txBody>
          <a:bodyPr wrap="square" lIns="0" tIns="0" rIns="0" bIns="0" rtlCol="0" anchor="ctr"/>
          <a:lstStyle/>
          <a:p>
            <a:r>
              <a:rPr lang="de-DE" sz="1050" b="1" dirty="0">
                <a:solidFill>
                  <a:srgbClr val="0D1321"/>
                </a:solidFill>
              </a:rPr>
              <a:t>DDR4 / DDR5</a:t>
            </a:r>
          </a:p>
        </p:txBody>
      </p:sp>
      <p:sp>
        <p:nvSpPr>
          <p:cNvPr id="49" name="Text"/>
          <p:cNvSpPr txBox="1"/>
          <p:nvPr/>
        </p:nvSpPr>
        <p:spPr>
          <a:xfrm>
            <a:off x="2340080" y="2335960"/>
            <a:ext cx="3000000" cy="480000"/>
          </a:xfrm>
          <a:prstGeom prst="rect">
            <a:avLst/>
          </a:prstGeom>
          <a:noFill/>
          <a:ln/>
        </p:spPr>
        <p:txBody>
          <a:bodyPr wrap="square" lIns="0" tIns="0" rIns="0" bIns="0" rtlCol="0" anchor="ctr"/>
          <a:lstStyle/>
          <a:p>
            <a:r>
              <a:rPr lang="de-DE" sz="1000" dirty="0">
                <a:solidFill>
                  <a:srgbClr val="30363F"/>
                </a:solidFill>
              </a:rPr>
              <a:t>Arbeitsspeicher (Desktop-PC, Server, Mini-PC)</a:t>
            </a:r>
          </a:p>
        </p:txBody>
      </p:sp>
      <p:sp>
        <p:nvSpPr>
          <p:cNvPr id="50" name="Text"/>
          <p:cNvSpPr txBox="1"/>
          <p:nvPr/>
        </p:nvSpPr>
        <p:spPr>
          <a:xfrm>
            <a:off x="5340080" y="2335960"/>
            <a:ext cx="1900000" cy="480000"/>
          </a:xfrm>
          <a:prstGeom prst="rect">
            <a:avLst/>
          </a:prstGeom>
          <a:noFill/>
          <a:ln/>
        </p:spPr>
        <p:txBody>
          <a:bodyPr wrap="square" lIns="0" tIns="0" rIns="0" bIns="0" rtlCol="0" anchor="ctr"/>
          <a:lstStyle/>
          <a:p>
            <a:r>
              <a:rPr lang="de-DE" sz="1000" b="1" dirty="0">
                <a:solidFill>
                  <a:srgbClr val="1F7A6C"/>
                </a:solidFill>
              </a:rPr>
              <a:t>ca. 25–90 GB/s</a:t>
            </a:r>
          </a:p>
        </p:txBody>
      </p:sp>
      <p:sp>
        <p:nvSpPr>
          <p:cNvPr id="51" name="Text"/>
          <p:cNvSpPr txBox="1"/>
          <p:nvPr/>
        </p:nvSpPr>
        <p:spPr>
          <a:xfrm>
            <a:off x="7240080" y="2335960"/>
            <a:ext cx="4311840" cy="480000"/>
          </a:xfrm>
          <a:prstGeom prst="rect">
            <a:avLst/>
          </a:prstGeom>
          <a:noFill/>
          <a:ln/>
        </p:spPr>
        <p:txBody>
          <a:bodyPr wrap="square" lIns="0" tIns="0" rIns="0" bIns="0" rtlCol="0" anchor="ctr"/>
          <a:lstStyle/>
          <a:p>
            <a:r>
              <a:rPr lang="de-DE" sz="950" dirty="0">
                <a:solidFill>
                  <a:srgbClr val="5B6478"/>
                </a:solidFill>
              </a:rPr>
              <a:t>Steckbar (DIMM/SO-DIMM). Optimiert auf niedrige Latenz statt maximaler Bandbreite.</a:t>
            </a:r>
          </a:p>
        </p:txBody>
      </p:sp>
      <p:sp>
        <p:nvSpPr>
          <p:cNvPr id="52" name="Text"/>
          <p:cNvSpPr txBox="1"/>
          <p:nvPr/>
        </p:nvSpPr>
        <p:spPr>
          <a:xfrm>
            <a:off x="640080" y="2815960"/>
            <a:ext cx="1700000" cy="480000"/>
          </a:xfrm>
          <a:prstGeom prst="rect">
            <a:avLst/>
          </a:prstGeom>
          <a:noFill/>
          <a:ln/>
        </p:spPr>
        <p:txBody>
          <a:bodyPr wrap="square" lIns="0" tIns="0" rIns="0" bIns="0" rtlCol="0" anchor="ctr"/>
          <a:lstStyle/>
          <a:p>
            <a:r>
              <a:rPr lang="de-DE" sz="1050" b="1" dirty="0">
                <a:solidFill>
                  <a:srgbClr val="0D1321"/>
                </a:solidFill>
              </a:rPr>
              <a:t>LPDDR5 / 5x</a:t>
            </a:r>
          </a:p>
        </p:txBody>
      </p:sp>
      <p:sp>
        <p:nvSpPr>
          <p:cNvPr id="53" name="Text"/>
          <p:cNvSpPr txBox="1"/>
          <p:nvPr/>
        </p:nvSpPr>
        <p:spPr>
          <a:xfrm>
            <a:off x="2340080" y="2815960"/>
            <a:ext cx="3000000" cy="480000"/>
          </a:xfrm>
          <a:prstGeom prst="rect">
            <a:avLst/>
          </a:prstGeom>
          <a:noFill/>
          <a:ln/>
        </p:spPr>
        <p:txBody>
          <a:bodyPr wrap="square" lIns="0" tIns="0" rIns="0" bIns="0" rtlCol="0" anchor="ctr"/>
          <a:lstStyle/>
          <a:p>
            <a:r>
              <a:rPr lang="de-DE" sz="1000" dirty="0">
                <a:solidFill>
                  <a:srgbClr val="30363F"/>
                </a:solidFill>
              </a:rPr>
              <a:t>Smartphones, Tablets, dünne Laptops</a:t>
            </a:r>
          </a:p>
        </p:txBody>
      </p:sp>
      <p:sp>
        <p:nvSpPr>
          <p:cNvPr id="54" name="Text"/>
          <p:cNvSpPr txBox="1"/>
          <p:nvPr/>
        </p:nvSpPr>
        <p:spPr>
          <a:xfrm>
            <a:off x="5340080" y="2815960"/>
            <a:ext cx="1900000" cy="480000"/>
          </a:xfrm>
          <a:prstGeom prst="rect">
            <a:avLst/>
          </a:prstGeom>
          <a:noFill/>
          <a:ln/>
        </p:spPr>
        <p:txBody>
          <a:bodyPr wrap="square" lIns="0" tIns="0" rIns="0" bIns="0" rtlCol="0" anchor="ctr"/>
          <a:lstStyle/>
          <a:p>
            <a:r>
              <a:rPr lang="de-DE" sz="1000" b="1" dirty="0">
                <a:solidFill>
                  <a:srgbClr val="1F7A6C"/>
                </a:solidFill>
              </a:rPr>
              <a:t>ca. 50–120 GB/s</a:t>
            </a:r>
          </a:p>
        </p:txBody>
      </p:sp>
      <p:sp>
        <p:nvSpPr>
          <p:cNvPr id="55" name="Text"/>
          <p:cNvSpPr txBox="1"/>
          <p:nvPr/>
        </p:nvSpPr>
        <p:spPr>
          <a:xfrm>
            <a:off x="7240080" y="2815960"/>
            <a:ext cx="4311840" cy="480000"/>
          </a:xfrm>
          <a:prstGeom prst="rect">
            <a:avLst/>
          </a:prstGeom>
          <a:noFill/>
          <a:ln/>
        </p:spPr>
        <p:txBody>
          <a:bodyPr wrap="square" lIns="0" tIns="0" rIns="0" bIns="0" rtlCol="0" anchor="ctr"/>
          <a:lstStyle/>
          <a:p>
            <a:r>
              <a:rPr lang="de-DE" sz="950" dirty="0">
                <a:solidFill>
                  <a:srgbClr val="5B6478"/>
                </a:solidFill>
              </a:rPr>
              <a:t>"Low Power" – fest verlötet, stromsparend, etwas höhere Latenz als DDR5.</a:t>
            </a:r>
          </a:p>
        </p:txBody>
      </p:sp>
      <p:sp>
        <p:nvSpPr>
          <p:cNvPr id="56" name="TblRowBg2"/>
          <p:cNvSpPr/>
          <p:nvPr/>
        </p:nvSpPr>
        <p:spPr>
          <a:xfrm>
            <a:off x="548640" y="3295960"/>
            <a:ext cx="11094720" cy="480000"/>
          </a:xfrm>
          <a:prstGeom prst="rect">
            <a:avLst/>
          </a:prstGeom>
          <a:solidFill>
            <a:srgbClr val="F2F5FA"/>
          </a:solidFill>
          <a:ln/>
        </p:spPr>
      </p:sp>
      <p:sp>
        <p:nvSpPr>
          <p:cNvPr id="57" name="Text"/>
          <p:cNvSpPr txBox="1"/>
          <p:nvPr/>
        </p:nvSpPr>
        <p:spPr>
          <a:xfrm>
            <a:off x="640080" y="3295960"/>
            <a:ext cx="1700000" cy="480000"/>
          </a:xfrm>
          <a:prstGeom prst="rect">
            <a:avLst/>
          </a:prstGeom>
          <a:noFill/>
          <a:ln/>
        </p:spPr>
        <p:txBody>
          <a:bodyPr wrap="square" lIns="0" tIns="0" rIns="0" bIns="0" rtlCol="0" anchor="ctr"/>
          <a:lstStyle/>
          <a:p>
            <a:r>
              <a:rPr lang="de-DE" sz="1050" b="1" dirty="0">
                <a:solidFill>
                  <a:srgbClr val="0D1321"/>
                </a:solidFill>
              </a:rPr>
              <a:t>GDDR6 / 6X</a:t>
            </a:r>
          </a:p>
        </p:txBody>
      </p:sp>
      <p:sp>
        <p:nvSpPr>
          <p:cNvPr id="58" name="Text"/>
          <p:cNvSpPr txBox="1"/>
          <p:nvPr/>
        </p:nvSpPr>
        <p:spPr>
          <a:xfrm>
            <a:off x="2340080" y="3295960"/>
            <a:ext cx="3000000" cy="480000"/>
          </a:xfrm>
          <a:prstGeom prst="rect">
            <a:avLst/>
          </a:prstGeom>
          <a:noFill/>
          <a:ln/>
        </p:spPr>
        <p:txBody>
          <a:bodyPr wrap="square" lIns="0" tIns="0" rIns="0" bIns="0" rtlCol="0" anchor="ctr"/>
          <a:lstStyle/>
          <a:p>
            <a:r>
              <a:rPr lang="de-DE" sz="1000" dirty="0">
                <a:solidFill>
                  <a:srgbClr val="30363F"/>
                </a:solidFill>
              </a:rPr>
              <a:t>Grafikkarten (VRAM), Spielekonsolen</a:t>
            </a:r>
          </a:p>
        </p:txBody>
      </p:sp>
      <p:sp>
        <p:nvSpPr>
          <p:cNvPr id="59" name="Text"/>
          <p:cNvSpPr txBox="1"/>
          <p:nvPr/>
        </p:nvSpPr>
        <p:spPr>
          <a:xfrm>
            <a:off x="5340080" y="3295960"/>
            <a:ext cx="1900000" cy="480000"/>
          </a:xfrm>
          <a:prstGeom prst="rect">
            <a:avLst/>
          </a:prstGeom>
          <a:noFill/>
          <a:ln/>
        </p:spPr>
        <p:txBody>
          <a:bodyPr wrap="square" lIns="0" tIns="0" rIns="0" bIns="0" rtlCol="0" anchor="ctr"/>
          <a:lstStyle/>
          <a:p>
            <a:r>
              <a:rPr lang="de-DE" sz="1000" b="1" dirty="0">
                <a:solidFill>
                  <a:srgbClr val="1F7A6C"/>
                </a:solidFill>
              </a:rPr>
              <a:t>ca. 500–1.000+ GB/s</a:t>
            </a:r>
          </a:p>
        </p:txBody>
      </p:sp>
      <p:sp>
        <p:nvSpPr>
          <p:cNvPr id="60" name="Text"/>
          <p:cNvSpPr txBox="1"/>
          <p:nvPr/>
        </p:nvSpPr>
        <p:spPr>
          <a:xfrm>
            <a:off x="7240080" y="3295960"/>
            <a:ext cx="4311840" cy="480000"/>
          </a:xfrm>
          <a:prstGeom prst="rect">
            <a:avLst/>
          </a:prstGeom>
          <a:noFill/>
          <a:ln/>
        </p:spPr>
        <p:txBody>
          <a:bodyPr wrap="square" lIns="0" tIns="0" rIns="0" bIns="0" rtlCol="0" anchor="ctr"/>
          <a:lstStyle/>
          <a:p>
            <a:r>
              <a:rPr lang="de-DE" sz="950" dirty="0">
                <a:solidFill>
                  <a:srgbClr val="5B6478"/>
                </a:solidFill>
              </a:rPr>
              <a:t>"Graphics" – massive Bandbreite für Texturen &amp; KI-Gewichte. Stromhungrig &amp; heiß.</a:t>
            </a:r>
          </a:p>
        </p:txBody>
      </p:sp>
      <p:sp>
        <p:nvSpPr>
          <p:cNvPr id="61" name="Text"/>
          <p:cNvSpPr txBox="1"/>
          <p:nvPr/>
        </p:nvSpPr>
        <p:spPr>
          <a:xfrm>
            <a:off x="640080" y="3775960"/>
            <a:ext cx="1700000" cy="480000"/>
          </a:xfrm>
          <a:prstGeom prst="rect">
            <a:avLst/>
          </a:prstGeom>
          <a:noFill/>
          <a:ln/>
        </p:spPr>
        <p:txBody>
          <a:bodyPr wrap="square" lIns="0" tIns="0" rIns="0" bIns="0" rtlCol="0" anchor="ctr"/>
          <a:lstStyle/>
          <a:p>
            <a:r>
              <a:rPr lang="de-DE" sz="1050" b="1" dirty="0">
                <a:solidFill>
                  <a:srgbClr val="0D1321"/>
                </a:solidFill>
              </a:rPr>
              <a:t>HBM (3 / 4)</a:t>
            </a:r>
          </a:p>
        </p:txBody>
      </p:sp>
      <p:sp>
        <p:nvSpPr>
          <p:cNvPr id="62" name="Text"/>
          <p:cNvSpPr txBox="1"/>
          <p:nvPr/>
        </p:nvSpPr>
        <p:spPr>
          <a:xfrm>
            <a:off x="2340080" y="3775960"/>
            <a:ext cx="3000000" cy="480000"/>
          </a:xfrm>
          <a:prstGeom prst="rect">
            <a:avLst/>
          </a:prstGeom>
          <a:noFill/>
          <a:ln/>
        </p:spPr>
        <p:txBody>
          <a:bodyPr wrap="square" lIns="0" tIns="0" rIns="0" bIns="0" rtlCol="0" anchor="ctr"/>
          <a:lstStyle/>
          <a:p>
            <a:r>
              <a:rPr lang="de-DE" sz="1000" dirty="0">
                <a:solidFill>
                  <a:srgbClr val="30363F"/>
                </a:solidFill>
              </a:rPr>
              <a:t>High-End-KI-Beschleuniger (NVIDIA H100, AMD MI300)</a:t>
            </a:r>
          </a:p>
        </p:txBody>
      </p:sp>
      <p:sp>
        <p:nvSpPr>
          <p:cNvPr id="63" name="Text"/>
          <p:cNvSpPr txBox="1"/>
          <p:nvPr/>
        </p:nvSpPr>
        <p:spPr>
          <a:xfrm>
            <a:off x="5340080" y="3775960"/>
            <a:ext cx="1900000" cy="480000"/>
          </a:xfrm>
          <a:prstGeom prst="rect">
            <a:avLst/>
          </a:prstGeom>
          <a:noFill/>
          <a:ln/>
        </p:spPr>
        <p:txBody>
          <a:bodyPr wrap="square" lIns="0" tIns="0" rIns="0" bIns="0" rtlCol="0" anchor="ctr"/>
          <a:lstStyle/>
          <a:p>
            <a:r>
              <a:rPr lang="de-DE" sz="1000" b="1" dirty="0">
                <a:solidFill>
                  <a:srgbClr val="1F7A6C"/>
                </a:solidFill>
              </a:rPr>
              <a:t>ca. 2.000–4.900+ GB/s</a:t>
            </a:r>
          </a:p>
        </p:txBody>
      </p:sp>
      <p:sp>
        <p:nvSpPr>
          <p:cNvPr id="64" name="Text"/>
          <p:cNvSpPr txBox="1"/>
          <p:nvPr/>
        </p:nvSpPr>
        <p:spPr>
          <a:xfrm>
            <a:off x="7240080" y="3775960"/>
            <a:ext cx="4311840" cy="480000"/>
          </a:xfrm>
          <a:prstGeom prst="rect">
            <a:avLst/>
          </a:prstGeom>
          <a:noFill/>
          <a:ln/>
        </p:spPr>
        <p:txBody>
          <a:bodyPr wrap="square" lIns="0" tIns="0" rIns="0" bIns="0" rtlCol="0" anchor="ctr"/>
          <a:lstStyle/>
          <a:p>
            <a:r>
              <a:rPr lang="de-DE" sz="950" dirty="0">
                <a:solidFill>
                  <a:srgbClr val="5B6478"/>
                </a:solidFill>
              </a:rPr>
              <a:t>Vertikal gestapelt, direkt am Chip. Leistungsmaximum – extrem teuer.</a:t>
            </a:r>
          </a:p>
        </p:txBody>
      </p:sp>
      <p:sp>
        <p:nvSpPr>
          <p:cNvPr id="65" name="Text"/>
          <p:cNvSpPr txBox="1"/>
          <p:nvPr/>
        </p:nvSpPr>
        <p:spPr>
          <a:xfrm>
            <a:off x="548640" y="4455960"/>
            <a:ext cx="11094720" cy="260000"/>
          </a:xfrm>
          <a:prstGeom prst="rect">
            <a:avLst/>
          </a:prstGeom>
          <a:noFill/>
          <a:ln/>
        </p:spPr>
        <p:txBody>
          <a:bodyPr wrap="square" lIns="0" tIns="0" rIns="0" bIns="0" rtlCol="0" anchor="ctr"/>
          <a:lstStyle/>
          <a:p>
            <a:r>
              <a:rPr lang="de-DE" sz="1250" b="1" dirty="0">
                <a:solidFill>
                  <a:srgbClr val="12172B"/>
                </a:solidFill>
              </a:rPr>
              <a:t>Bauformen: Wo sitzt der Speicher?</a:t>
            </a:r>
          </a:p>
        </p:txBody>
      </p:sp>
      <p:sp>
        <p:nvSpPr>
          <p:cNvPr id="66" name="Card0"/>
          <p:cNvSpPr/>
          <p:nvPr/>
        </p:nvSpPr>
        <p:spPr>
          <a:xfrm>
            <a:off x="548640" y="4775960"/>
            <a:ext cx="2670810" cy="1762000"/>
          </a:xfrm>
          <a:prstGeom prst="rect">
            <a:avLst/>
          </a:prstGeom>
          <a:solidFill>
            <a:srgbClr val="F2F5FA"/>
          </a:solidFill>
          <a:ln/>
        </p:spPr>
      </p:sp>
      <p:sp>
        <p:nvSpPr>
          <p:cNvPr id="67" name="Text"/>
          <p:cNvSpPr txBox="1"/>
          <p:nvPr/>
        </p:nvSpPr>
        <p:spPr>
          <a:xfrm>
            <a:off x="708640" y="4935960"/>
            <a:ext cx="2350810" cy="1442000"/>
          </a:xfrm>
          <a:prstGeom prst="rect">
            <a:avLst/>
          </a:prstGeom>
          <a:noFill/>
          <a:ln/>
        </p:spPr>
        <p:txBody>
          <a:bodyPr wrap="square" lIns="0" tIns="0" rIns="0" bIns="0" rtlCol="0" anchor="t"/>
          <a:lstStyle/>
          <a:p>
            <a:r>
              <a:rPr lang="de-DE" sz="1400" b="1" dirty="0">
                <a:solidFill>
                  <a:srgbClr val="1F7A6C"/>
                </a:solidFill>
              </a:rPr>
              <a:t>DIMM</a:t>
            </a:r>
          </a:p>
          <a:p>
            <a:r>
              <a:rPr lang="de-DE" sz="950" b="1" dirty="0">
                <a:solidFill>
                  <a:srgbClr val="5B6478"/>
                </a:solidFill>
              </a:rPr>
              <a:t>Desktop-RAM</a:t>
            </a:r>
          </a:p>
          <a:p>
            <a:r>
              <a:rPr lang="de-DE" sz="950" dirty="0">
                <a:solidFill>
                  <a:srgbClr val="30363F"/>
                </a:solidFill>
              </a:rPr>
              <a:t>Klassischer, langer Riegel für Desktop-PCs. Leicht austausch- und aufrüstbar.</a:t>
            </a:r>
          </a:p>
        </p:txBody>
      </p:sp>
      <p:sp>
        <p:nvSpPr>
          <p:cNvPr id="68" name="Card1"/>
          <p:cNvSpPr/>
          <p:nvPr/>
        </p:nvSpPr>
        <p:spPr>
          <a:xfrm>
            <a:off x="3356610" y="4775960"/>
            <a:ext cx="2670810" cy="1762000"/>
          </a:xfrm>
          <a:prstGeom prst="rect">
            <a:avLst/>
          </a:prstGeom>
          <a:solidFill>
            <a:srgbClr val="F2F5FA"/>
          </a:solidFill>
          <a:ln/>
        </p:spPr>
      </p:sp>
      <p:sp>
        <p:nvSpPr>
          <p:cNvPr id="69" name="Text"/>
          <p:cNvSpPr txBox="1"/>
          <p:nvPr/>
        </p:nvSpPr>
        <p:spPr>
          <a:xfrm>
            <a:off x="3516610" y="4935960"/>
            <a:ext cx="2350810" cy="1442000"/>
          </a:xfrm>
          <a:prstGeom prst="rect">
            <a:avLst/>
          </a:prstGeom>
          <a:noFill/>
          <a:ln/>
        </p:spPr>
        <p:txBody>
          <a:bodyPr wrap="square" lIns="0" tIns="0" rIns="0" bIns="0" rtlCol="0" anchor="t"/>
          <a:lstStyle/>
          <a:p>
            <a:r>
              <a:rPr lang="de-DE" sz="1400" b="1" dirty="0">
                <a:solidFill>
                  <a:srgbClr val="1F7A6C"/>
                </a:solidFill>
              </a:rPr>
              <a:t>SO-DIMM</a:t>
            </a:r>
          </a:p>
          <a:p>
            <a:r>
              <a:rPr lang="de-DE" sz="950" b="1" dirty="0">
                <a:solidFill>
                  <a:srgbClr val="5B6478"/>
                </a:solidFill>
              </a:rPr>
              <a:t>Laptop-RAM</a:t>
            </a:r>
          </a:p>
          <a:p>
            <a:r>
              <a:rPr lang="de-DE" sz="950" dirty="0">
                <a:solidFill>
                  <a:srgbClr val="30363F"/>
                </a:solidFill>
              </a:rPr>
              <a:t>Halbe Länge, in Laptops &amp; Mini-PCs. Aufrüstbar (24–64 GB), teilt sich aber die magere RAM-Bandbreite.</a:t>
            </a:r>
          </a:p>
        </p:txBody>
      </p:sp>
      <p:sp>
        <p:nvSpPr>
          <p:cNvPr id="70" name="Card2"/>
          <p:cNvSpPr/>
          <p:nvPr/>
        </p:nvSpPr>
        <p:spPr>
          <a:xfrm>
            <a:off x="6164580" y="4775960"/>
            <a:ext cx="2670810" cy="1762000"/>
          </a:xfrm>
          <a:prstGeom prst="rect">
            <a:avLst/>
          </a:prstGeom>
          <a:solidFill>
            <a:srgbClr val="F2F5FA"/>
          </a:solidFill>
          <a:ln/>
        </p:spPr>
      </p:sp>
      <p:sp>
        <p:nvSpPr>
          <p:cNvPr id="71" name="Text"/>
          <p:cNvSpPr txBox="1"/>
          <p:nvPr/>
        </p:nvSpPr>
        <p:spPr>
          <a:xfrm>
            <a:off x="6324580" y="4935960"/>
            <a:ext cx="2350810" cy="1442000"/>
          </a:xfrm>
          <a:prstGeom prst="rect">
            <a:avLst/>
          </a:prstGeom>
          <a:noFill/>
          <a:ln/>
        </p:spPr>
        <p:txBody>
          <a:bodyPr wrap="square" lIns="0" tIns="0" rIns="0" bIns="0" rtlCol="0" anchor="t"/>
          <a:lstStyle/>
          <a:p>
            <a:r>
              <a:rPr lang="de-DE" sz="1400" b="1" dirty="0">
                <a:solidFill>
                  <a:srgbClr val="1F7A6C"/>
                </a:solidFill>
              </a:rPr>
              <a:t>LPDDR</a:t>
            </a:r>
          </a:p>
          <a:p>
            <a:r>
              <a:rPr lang="de-DE" sz="950" b="1" dirty="0">
                <a:solidFill>
                  <a:srgbClr val="5B6478"/>
                </a:solidFill>
              </a:rPr>
              <a:t>Fest verlötet / On-Board</a:t>
            </a:r>
          </a:p>
          <a:p>
            <a:r>
              <a:rPr lang="de-DE" sz="950" dirty="0">
                <a:solidFill>
                  <a:srgbClr val="30363F"/>
                </a:solidFill>
              </a:rPr>
              <a:t>Chips direkt auf der Platine neben der CPU. Kürzere Signalwege → höhere Taktraten (bis 8533 MHz), spürbarer iGPU-Boost.</a:t>
            </a:r>
          </a:p>
        </p:txBody>
      </p:sp>
      <p:sp>
        <p:nvSpPr>
          <p:cNvPr id="72" name="Card3"/>
          <p:cNvSpPr/>
          <p:nvPr/>
        </p:nvSpPr>
        <p:spPr>
          <a:xfrm>
            <a:off x="8972550" y="4775960"/>
            <a:ext cx="2670810" cy="1762000"/>
          </a:xfrm>
          <a:prstGeom prst="rect">
            <a:avLst/>
          </a:prstGeom>
          <a:solidFill>
            <a:srgbClr val="F2F5FA"/>
          </a:solidFill>
          <a:ln/>
        </p:spPr>
      </p:sp>
      <p:sp>
        <p:nvSpPr>
          <p:cNvPr id="73" name="Text"/>
          <p:cNvSpPr txBox="1"/>
          <p:nvPr/>
        </p:nvSpPr>
        <p:spPr>
          <a:xfrm>
            <a:off x="9132550" y="4935960"/>
            <a:ext cx="2350810" cy="1442000"/>
          </a:xfrm>
          <a:prstGeom prst="rect">
            <a:avLst/>
          </a:prstGeom>
          <a:noFill/>
          <a:ln/>
        </p:spPr>
        <p:txBody>
          <a:bodyPr wrap="square" lIns="0" tIns="0" rIns="0" bIns="0" rtlCol="0" anchor="t"/>
          <a:lstStyle/>
          <a:p>
            <a:r>
              <a:rPr lang="de-DE" sz="1400" b="1" dirty="0">
                <a:solidFill>
                  <a:srgbClr val="1F7A6C"/>
                </a:solidFill>
              </a:rPr>
              <a:t>CAMM2</a:t>
            </a:r>
          </a:p>
          <a:p>
            <a:r>
              <a:rPr lang="de-DE" sz="950" b="1" dirty="0">
                <a:solidFill>
                  <a:srgbClr val="5B6478"/>
                </a:solidFill>
              </a:rPr>
              <a:t>Der neue Standard</a:t>
            </a:r>
          </a:p>
          <a:p>
            <a:r>
              <a:rPr lang="de-DE" sz="950" dirty="0">
                <a:solidFill>
                  <a:srgbClr val="30363F"/>
                </a:solidFill>
              </a:rPr>
              <a:t>Flaches, schraubbares Modul. Vereint LPDDR5x-Tempo &amp; Effizienz mit Austauschbarkeit.</a:t>
            </a:r>
          </a:p>
        </p:txBody>
      </p:sp>
      <p:sp>
        <p:nvSpPr>
          <p:cNvPr id="38" name="Text 8"/>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9AA3C0"/>
                </a:solidFill>
                <a:latin typeface="Calibri" pitchFamily="34" charset="0"/>
                <a:ea typeface="Calibri" pitchFamily="34" charset="-122"/>
                <a:cs typeface="Calibri" pitchFamily="34" charset="-120"/>
              </a:rPr>
              <a:t>16</a:t>
            </a:r>
            <a:endParaRPr lang="en-US" sz="900" dirty="0"/>
          </a:p>
        </p:txBody>
      </p:sp>
    </p:spTree>
    <p:extLst>
      <p:ext uri="{BB962C8B-B14F-4D97-AF65-F5344CB8AC3E}">
        <p14:creationId xmlns:p14="http://schemas.microsoft.com/office/powerpoint/2010/main" val="3814181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r>
              <a:rPr lang="en-US" sz="1300" b="1" kern="0" spc="200" smtClean="0">
                <a:solidFill>
                  <a:srgbClr val="00D9C0"/>
                </a:solidFill>
                <a:ea typeface="Calibri" pitchFamily="34" charset="-122"/>
                <a:cs typeface="Calibri" pitchFamily="34" charset="-120"/>
              </a:rPr>
              <a:t>BLOCK 2 VERARBEITUNG</a:t>
            </a:r>
          </a:p>
        </p:txBody>
      </p:sp>
      <p:sp>
        <p:nvSpPr>
          <p:cNvPr id="3" name="Text 1"/>
          <p:cNvSpPr txBox="1"/>
          <p:nvPr/>
        </p:nvSpPr>
        <p:spPr>
          <a:xfrm>
            <a:off x="548640" y="704088"/>
            <a:ext cx="10789920" cy="822960"/>
          </a:xfrm>
          <a:prstGeom prst="rect">
            <a:avLst/>
          </a:prstGeom>
          <a:noFill/>
          <a:ln/>
        </p:spPr>
        <p:txBody>
          <a:bodyPr wrap="square" lIns="0" tIns="0" rIns="0" bIns="0" rtlCol="0" anchor="ctr"/>
          <a:lstStyle/>
          <a:p>
            <a:r>
              <a:rPr lang="en-US" sz="3000" b="1" dirty="0">
                <a:solidFill>
                  <a:srgbClr val="12172B"/>
                </a:solidFill>
                <a:latin typeface="Arial" pitchFamily="34" charset="0"/>
                <a:ea typeface="Arial" pitchFamily="34" charset="-122"/>
                <a:cs typeface="Arial" pitchFamily="34" charset="-120"/>
              </a:rPr>
              <a:t>Speicherbandbreite berechnen: Der Dual-Channel-Check</a:t>
            </a:r>
          </a:p>
        </p:txBody>
      </p:sp>
      <p:sp>
        <p:nvSpPr>
          <p:cNvPr id="4" name="Text 2"/>
          <p:cNvSpPr txBox="1"/>
          <p:nvPr/>
        </p:nvSpPr>
        <p:spPr>
          <a:xfrm>
            <a:off x="548640" y="1371600"/>
            <a:ext cx="10789920" cy="457200"/>
          </a:xfrm>
          <a:prstGeom prst="rect">
            <a:avLst/>
          </a:prstGeom>
          <a:noFill/>
          <a:ln/>
        </p:spPr>
        <p:txBody>
          <a:bodyPr wrap="square" lIns="0" tIns="0" rIns="0" bIns="0" rtlCol="0" anchor="ctr"/>
          <a:lstStyle/>
          <a:p>
            <a:r>
              <a:rPr lang="en-US" sz="1300" dirty="0">
                <a:solidFill>
                  <a:srgbClr val="5B6478"/>
                </a:solidFill>
                <a:ea typeface="Calibri" pitchFamily="34" charset="-122"/>
                <a:cs typeface="Calibri" pitchFamily="34" charset="-120"/>
              </a:rPr>
              <a:t>Ein Blick in dmidecode verrät nicht nur, wie viel RAM verbaut ist, sondern auch, wie schnell er tatsächlich angebunden ist.</a:t>
            </a:r>
          </a:p>
        </p:txBody>
      </p:sp>
      <p:sp>
        <p:nvSpPr>
          <p:cNvPr id="5" name="Shape 3"/>
          <p:cNvSpPr/>
          <p:nvPr/>
        </p:nvSpPr>
        <p:spPr>
          <a:xfrm>
            <a:off x="548641" y="2011680"/>
            <a:ext cx="4385310" cy="2788920"/>
          </a:xfrm>
          <a:prstGeom prst="roundRect">
            <a:avLst>
              <a:gd name="adj" fmla="val 2623"/>
            </a:avLst>
          </a:prstGeom>
          <a:solidFill>
            <a:srgbClr val="0A0E1A"/>
          </a:solidFill>
          <a:ln/>
          <a:effectLst>
            <a:outerShdw blurRad="101600" dist="38100" dir="5400000" algn="bl" rotWithShape="0">
              <a:srgbClr val="000000">
                <a:alpha val="35000"/>
              </a:srgbClr>
            </a:outerShdw>
          </a:effectLst>
        </p:spPr>
      </p:sp>
      <p:sp>
        <p:nvSpPr>
          <p:cNvPr id="6" name="Shape 4"/>
          <p:cNvSpPr/>
          <p:nvPr/>
        </p:nvSpPr>
        <p:spPr>
          <a:xfrm>
            <a:off x="694944" y="2139696"/>
            <a:ext cx="91440" cy="91440"/>
          </a:xfrm>
          <a:prstGeom prst="ellipse">
            <a:avLst/>
          </a:prstGeom>
          <a:solidFill>
            <a:srgbClr val="FF5F56"/>
          </a:solidFill>
          <a:ln/>
        </p:spPr>
      </p:sp>
      <p:sp>
        <p:nvSpPr>
          <p:cNvPr id="7" name="Shape 5"/>
          <p:cNvSpPr/>
          <p:nvPr/>
        </p:nvSpPr>
        <p:spPr>
          <a:xfrm>
            <a:off x="896112" y="2139696"/>
            <a:ext cx="91440" cy="91440"/>
          </a:xfrm>
          <a:prstGeom prst="ellipse">
            <a:avLst/>
          </a:prstGeom>
          <a:solidFill>
            <a:srgbClr val="FFBD2E"/>
          </a:solidFill>
          <a:ln/>
        </p:spPr>
      </p:sp>
      <p:sp>
        <p:nvSpPr>
          <p:cNvPr id="8" name="Shape 6"/>
          <p:cNvSpPr/>
          <p:nvPr/>
        </p:nvSpPr>
        <p:spPr>
          <a:xfrm>
            <a:off x="1097280" y="2139696"/>
            <a:ext cx="91440" cy="91440"/>
          </a:xfrm>
          <a:prstGeom prst="ellipse">
            <a:avLst/>
          </a:prstGeom>
          <a:solidFill>
            <a:srgbClr val="27C93F"/>
          </a:solidFill>
          <a:ln/>
        </p:spPr>
      </p:sp>
      <p:sp>
        <p:nvSpPr>
          <p:cNvPr id="9" name="Text 7"/>
          <p:cNvSpPr txBox="1"/>
          <p:nvPr/>
        </p:nvSpPr>
        <p:spPr>
          <a:xfrm>
            <a:off x="749809" y="2359152"/>
            <a:ext cx="3974592" cy="2331720"/>
          </a:xfrm>
          <a:prstGeom prst="rect">
            <a:avLst/>
          </a:prstGeom>
          <a:noFill/>
          <a:ln/>
        </p:spPr>
        <p:txBody>
          <a:bodyPr wrap="square" lIns="0" tIns="0" rIns="0" bIns="0" rtlCol="0" anchor="t"/>
          <a:lstStyle/>
          <a:p>
            <a:pPr>
              <a:lnSpc>
                <a:spcPct val="115000"/>
              </a:lnSpc>
            </a:pPr>
            <a:r>
              <a:rPr lang="en-US" sz="1250">
                <a:solidFill>
                  <a:srgbClr val="00D9C0"/>
                </a:solidFill>
                <a:latin typeface="Courier New" pitchFamily="34" charset="0"/>
                <a:ea typeface="Courier New" pitchFamily="34" charset="-122"/>
                <a:cs typeface="Courier New" pitchFamily="34" charset="-120"/>
              </a:rPr>
              <a:t>$ sudo dmidecode --type 17 | \</a:t>
            </a:r>
          </a:p>
          <a:p>
            <a:pPr>
              <a:lnSpc>
                <a:spcPct val="115000"/>
              </a:lnSpc>
            </a:pPr>
            <a:r>
              <a:rPr lang="en-US" sz="1250">
                <a:solidFill>
                  <a:srgbClr val="00D9C0"/>
                </a:solidFill>
                <a:latin typeface="Courier New" pitchFamily="34" charset="0"/>
                <a:ea typeface="Courier New" pitchFamily="34" charset="-122"/>
                <a:cs typeface="Courier New" pitchFamily="34" charset="-120"/>
              </a:rPr>
              <a:t>    grep -E "Type:|Speed:|Size:|Locator:"</a:t>
            </a:r>
          </a:p>
          <a:p>
            <a:pPr>
              <a:lnSpc>
                <a:spcPct val="115000"/>
              </a:lnSpc>
            </a:pPr>
            <a:r>
              <a:rPr lang="en-US" sz="1250">
                <a:solidFill>
                  <a:srgbClr val="00D9C0"/>
                </a:solidFill>
                <a:latin typeface="Courier New" pitchFamily="34" charset="0"/>
                <a:ea typeface="Courier New" pitchFamily="34" charset="-122"/>
                <a:cs typeface="Courier New" pitchFamily="34" charset="-120"/>
              </a:rPr>
              <a:t> </a:t>
            </a:r>
          </a:p>
          <a:p>
            <a:pPr>
              <a:lnSpc>
                <a:spcPct val="115000"/>
              </a:lnSpc>
            </a:pPr>
            <a:r>
              <a:rPr lang="en-US" sz="1250">
                <a:solidFill>
                  <a:srgbClr val="8A93B5"/>
                </a:solidFill>
                <a:latin typeface="Courier New" pitchFamily="34" charset="0"/>
                <a:ea typeface="Courier New" pitchFamily="34" charset="-122"/>
                <a:cs typeface="Courier New" pitchFamily="34" charset="-120"/>
              </a:rPr>
              <a:t># DIMM 0 – Bank Locator: P0 CHANNEL A</a:t>
            </a:r>
          </a:p>
          <a:p>
            <a:pPr>
              <a:lnSpc>
                <a:spcPct val="115000"/>
              </a:lnSpc>
            </a:pPr>
            <a:r>
              <a:rPr lang="en-US" sz="1250">
                <a:solidFill>
                  <a:srgbClr val="00D9C0"/>
                </a:solidFill>
                <a:latin typeface="Courier New" pitchFamily="34" charset="0"/>
                <a:ea typeface="Courier New" pitchFamily="34" charset="-122"/>
                <a:cs typeface="Courier New" pitchFamily="34" charset="-120"/>
              </a:rPr>
              <a:t>Size: 16 GB      Locator: DIMM 0</a:t>
            </a:r>
          </a:p>
          <a:p>
            <a:pPr>
              <a:lnSpc>
                <a:spcPct val="115000"/>
              </a:lnSpc>
            </a:pPr>
            <a:r>
              <a:rPr lang="en-US" sz="1250">
                <a:solidFill>
                  <a:srgbClr val="00D9C0"/>
                </a:solidFill>
                <a:latin typeface="Courier New" pitchFamily="34" charset="0"/>
                <a:ea typeface="Courier New" pitchFamily="34" charset="-122"/>
                <a:cs typeface="Courier New" pitchFamily="34" charset="-120"/>
              </a:rPr>
              <a:t>Type: DDR4       Speed: 2667 MT/s</a:t>
            </a:r>
          </a:p>
          <a:p>
            <a:pPr>
              <a:lnSpc>
                <a:spcPct val="115000"/>
              </a:lnSpc>
            </a:pPr>
            <a:r>
              <a:rPr lang="en-US" sz="1250">
                <a:solidFill>
                  <a:srgbClr val="00D9C0"/>
                </a:solidFill>
                <a:latin typeface="Courier New" pitchFamily="34" charset="0"/>
                <a:ea typeface="Courier New" pitchFamily="34" charset="-122"/>
                <a:cs typeface="Courier New" pitchFamily="34" charset="-120"/>
              </a:rPr>
              <a:t> </a:t>
            </a:r>
          </a:p>
          <a:p>
            <a:pPr>
              <a:lnSpc>
                <a:spcPct val="115000"/>
              </a:lnSpc>
            </a:pPr>
            <a:r>
              <a:rPr lang="en-US" sz="1250">
                <a:solidFill>
                  <a:srgbClr val="8A93B5"/>
                </a:solidFill>
                <a:latin typeface="Courier New" pitchFamily="34" charset="0"/>
                <a:ea typeface="Courier New" pitchFamily="34" charset="-122"/>
                <a:cs typeface="Courier New" pitchFamily="34" charset="-120"/>
              </a:rPr>
              <a:t># DIMM 0 – Bank Locator: P0 CHANNEL B</a:t>
            </a:r>
          </a:p>
          <a:p>
            <a:pPr>
              <a:lnSpc>
                <a:spcPct val="115000"/>
              </a:lnSpc>
            </a:pPr>
            <a:r>
              <a:rPr lang="en-US" sz="1250">
                <a:solidFill>
                  <a:srgbClr val="00D9C0"/>
                </a:solidFill>
                <a:latin typeface="Courier New" pitchFamily="34" charset="0"/>
                <a:ea typeface="Courier New" pitchFamily="34" charset="-122"/>
                <a:cs typeface="Courier New" pitchFamily="34" charset="-120"/>
              </a:rPr>
              <a:t>Size: 16 GB      Locator: DIMM 0</a:t>
            </a:r>
          </a:p>
          <a:p>
            <a:pPr>
              <a:lnSpc>
                <a:spcPct val="115000"/>
              </a:lnSpc>
            </a:pPr>
            <a:r>
              <a:rPr lang="en-US" sz="1250">
                <a:solidFill>
                  <a:srgbClr val="00D9C0"/>
                </a:solidFill>
                <a:latin typeface="Courier New" pitchFamily="34" charset="0"/>
                <a:ea typeface="Courier New" pitchFamily="34" charset="-122"/>
                <a:cs typeface="Courier New" pitchFamily="34" charset="-120"/>
              </a:rPr>
              <a:t>Type: DDR4       Speed: 2667 MT/s</a:t>
            </a:r>
          </a:p>
        </p:txBody>
      </p:sp>
      <p:sp>
        <p:nvSpPr>
          <p:cNvPr id="10" name="Shape 8"/>
          <p:cNvSpPr/>
          <p:nvPr/>
        </p:nvSpPr>
        <p:spPr>
          <a:xfrm>
            <a:off x="548640" y="4983480"/>
            <a:ext cx="6675120" cy="1280160"/>
          </a:xfrm>
          <a:prstGeom prst="roundRect">
            <a:avLst>
              <a:gd name="adj" fmla="val 7143"/>
            </a:avLst>
          </a:prstGeom>
          <a:solidFill>
            <a:srgbClr val="F2F5FA"/>
          </a:solidFill>
          <a:ln/>
        </p:spPr>
      </p:sp>
      <p:sp>
        <p:nvSpPr>
          <p:cNvPr id="11" name="Text 9"/>
          <p:cNvSpPr txBox="1"/>
          <p:nvPr/>
        </p:nvSpPr>
        <p:spPr>
          <a:xfrm>
            <a:off x="777240" y="5102352"/>
            <a:ext cx="2926080" cy="594360"/>
          </a:xfrm>
          <a:prstGeom prst="rect">
            <a:avLst/>
          </a:prstGeom>
          <a:noFill/>
          <a:ln/>
        </p:spPr>
        <p:txBody>
          <a:bodyPr wrap="square" lIns="0" tIns="0" rIns="0" bIns="0" rtlCol="0" anchor="ctr"/>
          <a:lstStyle/>
          <a:p>
            <a:r>
              <a:rPr lang="en-US" sz="2600" b="1" dirty="0">
                <a:solidFill>
                  <a:srgbClr val="0D1321"/>
                </a:solidFill>
                <a:latin typeface="Arial" pitchFamily="34" charset="0"/>
                <a:ea typeface="Arial" pitchFamily="34" charset="-122"/>
                <a:cs typeface="Arial" pitchFamily="34" charset="-120"/>
              </a:rPr>
              <a:t>42,67 GB/s</a:t>
            </a:r>
          </a:p>
        </p:txBody>
      </p:sp>
      <p:sp>
        <p:nvSpPr>
          <p:cNvPr id="12" name="Text 10"/>
          <p:cNvSpPr txBox="1"/>
          <p:nvPr/>
        </p:nvSpPr>
        <p:spPr>
          <a:xfrm>
            <a:off x="777240" y="5669280"/>
            <a:ext cx="6217920" cy="502920"/>
          </a:xfrm>
          <a:prstGeom prst="rect">
            <a:avLst/>
          </a:prstGeom>
          <a:noFill/>
          <a:ln/>
        </p:spPr>
        <p:txBody>
          <a:bodyPr wrap="square" lIns="0" tIns="0" rIns="0" bIns="0" rtlCol="0" anchor="ctr"/>
          <a:lstStyle/>
          <a:p>
            <a:r>
              <a:rPr lang="en-US" sz="1200" dirty="0">
                <a:solidFill>
                  <a:srgbClr val="5B6478"/>
                </a:solidFill>
                <a:ea typeface="Calibri" pitchFamily="34" charset="-122"/>
                <a:cs typeface="Calibri" pitchFamily="34" charset="-120"/>
              </a:rPr>
              <a:t>Speicherbandbreite (DDR4-2667, Dual-Channel)</a:t>
            </a:r>
          </a:p>
        </p:txBody>
      </p:sp>
      <p:sp>
        <p:nvSpPr>
          <p:cNvPr id="13" name="Shape 11"/>
          <p:cNvSpPr/>
          <p:nvPr/>
        </p:nvSpPr>
        <p:spPr>
          <a:xfrm>
            <a:off x="5120641" y="2011680"/>
            <a:ext cx="6492240" cy="4251960"/>
          </a:xfrm>
          <a:prstGeom prst="roundRect">
            <a:avLst>
              <a:gd name="adj" fmla="val 2198"/>
            </a:avLst>
          </a:prstGeom>
          <a:solidFill>
            <a:srgbClr val="0D1321"/>
          </a:solidFill>
          <a:ln/>
        </p:spPr>
      </p:sp>
      <p:sp>
        <p:nvSpPr>
          <p:cNvPr id="14" name="Text 12"/>
          <p:cNvSpPr txBox="1"/>
          <p:nvPr/>
        </p:nvSpPr>
        <p:spPr>
          <a:xfrm>
            <a:off x="5290185" y="2165223"/>
            <a:ext cx="3703320" cy="320040"/>
          </a:xfrm>
          <a:prstGeom prst="rect">
            <a:avLst/>
          </a:prstGeom>
          <a:noFill/>
          <a:ln/>
        </p:spPr>
        <p:txBody>
          <a:bodyPr wrap="square" lIns="0" tIns="0" rIns="0" bIns="0" rtlCol="0" anchor="ctr"/>
          <a:lstStyle/>
          <a:p>
            <a:r>
              <a:rPr lang="en-US" sz="1300" b="1" dirty="0">
                <a:solidFill>
                  <a:srgbClr val="00D9C0"/>
                </a:solidFill>
                <a:latin typeface="Arial" pitchFamily="34" charset="0"/>
                <a:ea typeface="Arial" pitchFamily="34" charset="-122"/>
                <a:cs typeface="Arial" pitchFamily="34" charset="-120"/>
              </a:rPr>
              <a:t>Was die Ausgabe verrät</a:t>
            </a:r>
          </a:p>
        </p:txBody>
      </p:sp>
      <p:sp>
        <p:nvSpPr>
          <p:cNvPr id="15" name="Text 13"/>
          <p:cNvSpPr txBox="1"/>
          <p:nvPr/>
        </p:nvSpPr>
        <p:spPr>
          <a:xfrm>
            <a:off x="5290185" y="2485263"/>
            <a:ext cx="6212967" cy="537210"/>
          </a:xfrm>
          <a:prstGeom prst="rect">
            <a:avLst/>
          </a:prstGeom>
          <a:noFill/>
          <a:ln/>
        </p:spPr>
        <p:txBody>
          <a:bodyPr wrap="square" lIns="0" tIns="0" rIns="0" bIns="0" rtlCol="0" anchor="ctr"/>
          <a:lstStyle/>
          <a:p>
            <a:r>
              <a:rPr lang="de-DE" sz="1200">
                <a:solidFill>
                  <a:srgbClr val="D7DCEE"/>
                </a:solidFill>
                <a:ea typeface="Calibri" pitchFamily="34" charset="-122"/>
                <a:cs typeface="Calibri" pitchFamily="34" charset="-120"/>
              </a:rPr>
              <a:t>Die Werte zeigen die optimale Aufteilung deines Arbeitsspeichers für maximale Performance unter Linux. Daraus ergeben sich drei Kernaspekte:</a:t>
            </a:r>
            <a:endParaRPr lang="en-US" sz="1200" dirty="0">
              <a:solidFill>
                <a:srgbClr val="D7DCEE"/>
              </a:solidFill>
              <a:ea typeface="Calibri" pitchFamily="34" charset="-122"/>
              <a:cs typeface="Calibri" pitchFamily="34" charset="-120"/>
            </a:endParaRPr>
          </a:p>
        </p:txBody>
      </p:sp>
      <p:sp>
        <p:nvSpPr>
          <p:cNvPr id="16" name="Shape 14"/>
          <p:cNvSpPr/>
          <p:nvPr/>
        </p:nvSpPr>
        <p:spPr>
          <a:xfrm>
            <a:off x="7680960" y="3703320"/>
            <a:ext cx="3566160" cy="0"/>
          </a:xfrm>
          <a:prstGeom prst="line">
            <a:avLst/>
          </a:prstGeom>
          <a:noFill/>
          <a:ln w="12700">
            <a:solidFill>
              <a:srgbClr val="2A365C"/>
            </a:solidFill>
            <a:prstDash val="solid"/>
          </a:ln>
        </p:spPr>
      </p:sp>
      <p:sp>
        <p:nvSpPr>
          <p:cNvPr id="17" name="Text 15"/>
          <p:cNvSpPr txBox="1"/>
          <p:nvPr/>
        </p:nvSpPr>
        <p:spPr>
          <a:xfrm>
            <a:off x="5290185" y="2999613"/>
            <a:ext cx="6048375" cy="548640"/>
          </a:xfrm>
          <a:prstGeom prst="rect">
            <a:avLst/>
          </a:prstGeom>
          <a:noFill/>
          <a:ln/>
        </p:spPr>
        <p:txBody>
          <a:bodyPr wrap="square" lIns="0" tIns="0" rIns="0" bIns="0" rtlCol="0" anchor="ctr"/>
          <a:lstStyle/>
          <a:p>
            <a:r>
              <a:rPr lang="en-US" sz="1150">
                <a:solidFill>
                  <a:srgbClr val="9AA3C0"/>
                </a:solidFill>
                <a:ea typeface="Calibri" pitchFamily="34" charset="-122"/>
                <a:cs typeface="Calibri" pitchFamily="34" charset="-120"/>
              </a:rPr>
              <a:t>•  </a:t>
            </a:r>
            <a:r>
              <a:rPr lang="de-DE" sz="1150">
                <a:solidFill>
                  <a:srgbClr val="9AA3C0"/>
                </a:solidFill>
                <a:ea typeface="Calibri" pitchFamily="34" charset="-122"/>
                <a:cs typeface="Calibri" pitchFamily="34" charset="-120"/>
              </a:rPr>
              <a:t>32 GB physischer RAM (30 GiB für das OS): Es sind zwei Riegel mit jeweils 16 GB verbaut. Davon sind im BIOS lediglich 512 MB fest als VRAM reserviert. Der Kernel sieht somit fast den gesamten Speicher (ca. 30 GiB).</a:t>
            </a:r>
            <a:endParaRPr lang="en-US" sz="1150" dirty="0">
              <a:solidFill>
                <a:srgbClr val="9AA3C0"/>
              </a:solidFill>
              <a:ea typeface="Calibri" pitchFamily="34" charset="-122"/>
              <a:cs typeface="Calibri" pitchFamily="34" charset="-120"/>
            </a:endParaRPr>
          </a:p>
        </p:txBody>
      </p:sp>
      <p:sp>
        <p:nvSpPr>
          <p:cNvPr id="18" name="Text 16"/>
          <p:cNvSpPr txBox="1"/>
          <p:nvPr/>
        </p:nvSpPr>
        <p:spPr>
          <a:xfrm>
            <a:off x="5290185" y="3642360"/>
            <a:ext cx="6212967" cy="751332"/>
          </a:xfrm>
          <a:prstGeom prst="rect">
            <a:avLst/>
          </a:prstGeom>
          <a:noFill/>
          <a:ln/>
        </p:spPr>
        <p:txBody>
          <a:bodyPr wrap="square" lIns="0" tIns="0" rIns="0" bIns="0" rtlCol="0" anchor="ctr"/>
          <a:lstStyle/>
          <a:p>
            <a:r>
              <a:rPr lang="en-US" sz="1150">
                <a:solidFill>
                  <a:srgbClr val="9AA3C0"/>
                </a:solidFill>
                <a:ea typeface="Calibri" pitchFamily="34" charset="-122"/>
                <a:cs typeface="Calibri" pitchFamily="34" charset="-120"/>
              </a:rPr>
              <a:t>•  </a:t>
            </a:r>
            <a:r>
              <a:rPr lang="de-DE" sz="1150">
                <a:solidFill>
                  <a:srgbClr val="9AA3C0"/>
                </a:solidFill>
                <a:ea typeface="Calibri" pitchFamily="34" charset="-122"/>
                <a:cs typeface="Calibri" pitchFamily="34" charset="-120"/>
              </a:rPr>
              <a:t>Dynamischer Grafikspeicher (GTT): Über den Kernel-Parameter amdgpu.gttsize=26000 stehen der iGPU bei Bedarf bis zu 26.000 MB des normalen RAMs dynamisch zur Verfügung. Moderne Grafik-Schnittstellen wie Vulkan (oder ROCm für Ollama) können diesen riesigen GTT-Bereich nahtlos ansprechen, ohne dass der Speicher im BIOS blockiert werden muss.</a:t>
            </a:r>
            <a:endParaRPr lang="en-US" sz="1150" dirty="0">
              <a:solidFill>
                <a:srgbClr val="9AA3C0"/>
              </a:solidFill>
              <a:ea typeface="Calibri" pitchFamily="34" charset="-122"/>
              <a:cs typeface="Calibri" pitchFamily="34" charset="-120"/>
            </a:endParaRPr>
          </a:p>
        </p:txBody>
      </p:sp>
      <p:sp>
        <p:nvSpPr>
          <p:cNvPr id="19" name="Text 17"/>
          <p:cNvSpPr txBox="1"/>
          <p:nvPr/>
        </p:nvSpPr>
        <p:spPr>
          <a:xfrm>
            <a:off x="5290185" y="4469892"/>
            <a:ext cx="6048375" cy="548640"/>
          </a:xfrm>
          <a:prstGeom prst="rect">
            <a:avLst/>
          </a:prstGeom>
          <a:noFill/>
          <a:ln/>
        </p:spPr>
        <p:txBody>
          <a:bodyPr wrap="square" lIns="0" tIns="0" rIns="0" bIns="0" rtlCol="0" anchor="ctr"/>
          <a:lstStyle/>
          <a:p>
            <a:r>
              <a:rPr lang="en-US" sz="1150">
                <a:solidFill>
                  <a:srgbClr val="9AA3C0"/>
                </a:solidFill>
                <a:ea typeface="Calibri" pitchFamily="34" charset="-122"/>
                <a:cs typeface="Calibri" pitchFamily="34" charset="-120"/>
              </a:rPr>
              <a:t>•  </a:t>
            </a:r>
            <a:r>
              <a:rPr lang="de-DE" sz="1150">
                <a:solidFill>
                  <a:srgbClr val="9AA3C0"/>
                </a:solidFill>
                <a:ea typeface="Calibri" pitchFamily="34" charset="-122"/>
                <a:cs typeface="Calibri" pitchFamily="34" charset="-120"/>
              </a:rPr>
              <a:t>Optimaler Dual-Channel-Modus: Da sowohl CHANNEL A als auch CHANNEL B belegt sind, läuft </a:t>
            </a:r>
            <a:r>
              <a:rPr lang="de-DE" sz="1150" smtClean="0">
                <a:solidFill>
                  <a:srgbClr val="9AA3C0"/>
                </a:solidFill>
                <a:ea typeface="Calibri" pitchFamily="34" charset="-122"/>
                <a:cs typeface="Calibri" pitchFamily="34" charset="-120"/>
              </a:rPr>
              <a:t>der </a:t>
            </a:r>
            <a:r>
              <a:rPr lang="de-DE" sz="1150">
                <a:solidFill>
                  <a:srgbClr val="9AA3C0"/>
                </a:solidFill>
                <a:ea typeface="Calibri" pitchFamily="34" charset="-122"/>
                <a:cs typeface="Calibri" pitchFamily="34" charset="-120"/>
              </a:rPr>
              <a:t>RAM im Dual-Channel-Betrieb. Das verdoppelt die Datenautobahn zum Prozessor im Vergleich zu einem einzelnen Speicherriegel (Single-Channel).</a:t>
            </a:r>
            <a:endParaRPr lang="en-US" sz="1150" dirty="0">
              <a:solidFill>
                <a:srgbClr val="9AA3C0"/>
              </a:solidFill>
              <a:ea typeface="Calibri" pitchFamily="34" charset="-122"/>
              <a:cs typeface="Calibri" pitchFamily="34" charset="-120"/>
            </a:endParaRPr>
          </a:p>
        </p:txBody>
      </p:sp>
      <p:sp>
        <p:nvSpPr>
          <p:cNvPr id="20" name="Text 18"/>
          <p:cNvSpPr txBox="1"/>
          <p:nvPr/>
        </p:nvSpPr>
        <p:spPr>
          <a:xfrm>
            <a:off x="457200" y="6537960"/>
            <a:ext cx="5486400" cy="274320"/>
          </a:xfrm>
          <a:prstGeom prst="rect">
            <a:avLst/>
          </a:prstGeom>
          <a:noFill/>
          <a:ln/>
        </p:spPr>
        <p:txBody>
          <a:bodyPr wrap="square" lIns="0" tIns="0" rIns="0" bIns="0" rtlCol="0" anchor="ctr"/>
          <a:lstStyle/>
          <a:p>
            <a:r>
              <a:rPr lang="en-US" sz="900" dirty="0">
                <a:solidFill>
                  <a:srgbClr val="9AA3C0"/>
                </a:solidFill>
                <a:ea typeface="Calibri" pitchFamily="34" charset="-122"/>
                <a:cs typeface="Calibri" pitchFamily="34" charset="-120"/>
              </a:rPr>
              <a:t>OLLAMA PERFORMANCE TUNING · iGPU</a:t>
            </a:r>
            <a:endParaRPr lang="en-US" sz="900" dirty="0">
              <a:solidFill>
                <a:prstClr val="black"/>
              </a:solidFill>
            </a:endParaRPr>
          </a:p>
        </p:txBody>
      </p:sp>
      <p:sp>
        <p:nvSpPr>
          <p:cNvPr id="21" name="Text 8"/>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9AA3C0"/>
                </a:solidFill>
                <a:latin typeface="Calibri" pitchFamily="34" charset="0"/>
                <a:ea typeface="Calibri" pitchFamily="34" charset="-122"/>
                <a:cs typeface="Calibri" pitchFamily="34" charset="-120"/>
              </a:rPr>
              <a:t>17</a:t>
            </a:r>
            <a:endParaRPr lang="en-US" sz="900" dirty="0"/>
          </a:p>
        </p:txBody>
      </p:sp>
      <p:sp>
        <p:nvSpPr>
          <p:cNvPr id="22" name="Text 17"/>
          <p:cNvSpPr txBox="1"/>
          <p:nvPr/>
        </p:nvSpPr>
        <p:spPr>
          <a:xfrm>
            <a:off x="5290185" y="5004054"/>
            <a:ext cx="5984367" cy="548640"/>
          </a:xfrm>
          <a:prstGeom prst="rect">
            <a:avLst/>
          </a:prstGeom>
          <a:noFill/>
          <a:ln/>
        </p:spPr>
        <p:txBody>
          <a:bodyPr wrap="square" lIns="0" tIns="0" rIns="0" bIns="0" rtlCol="0" anchor="ctr"/>
          <a:lstStyle/>
          <a:p>
            <a:r>
              <a:rPr lang="en-US" sz="1150">
                <a:solidFill>
                  <a:srgbClr val="9AA3C0"/>
                </a:solidFill>
                <a:ea typeface="Calibri" pitchFamily="34" charset="-122"/>
                <a:cs typeface="Calibri" pitchFamily="34" charset="-120"/>
              </a:rPr>
              <a:t>•  </a:t>
            </a:r>
            <a:r>
              <a:rPr lang="de-DE" sz="1150">
                <a:solidFill>
                  <a:srgbClr val="9AA3C0"/>
                </a:solidFill>
                <a:ea typeface="Calibri" pitchFamily="34" charset="-122"/>
                <a:cs typeface="Calibri" pitchFamily="34" charset="-120"/>
              </a:rPr>
              <a:t>DDR4 mit 2667 MT/s: Dein Arbeitsspeicher führt 2.667.000.000 Datenübertragungen pro Sekunde aus.</a:t>
            </a:r>
            <a:endParaRPr lang="en-US" sz="1150" dirty="0">
              <a:solidFill>
                <a:srgbClr val="9AA3C0"/>
              </a:solidFill>
              <a:ea typeface="Calibri" pitchFamily="34" charset="-122"/>
              <a:cs typeface="Calibri" pitchFamily="34" charset="-12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9288" y="5676900"/>
            <a:ext cx="5191125"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5432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315200" cy="365760"/>
          </a:xfrm>
          <a:prstGeom prst="rect">
            <a:avLst/>
          </a:prstGeom>
          <a:noFill/>
          <a:ln/>
        </p:spPr>
        <p:txBody>
          <a:bodyPr wrap="square" lIns="0" tIns="0" rIns="0" bIns="0" rtlCol="0" anchor="ctr"/>
          <a:lstStyle/>
          <a:p>
            <a:pPr marL="0" indent="0">
              <a:buNone/>
            </a:pPr>
            <a:r>
              <a:rPr lang="en-US" sz="1500" b="1" kern="0" spc="300" dirty="0">
                <a:solidFill>
                  <a:srgbClr val="00D9C0"/>
                </a:solidFill>
                <a:latin typeface="Calibri" pitchFamily="34" charset="0"/>
                <a:ea typeface="Calibri" pitchFamily="34" charset="-122"/>
                <a:cs typeface="Calibri" pitchFamily="34" charset="-120"/>
              </a:rPr>
              <a:t>BLOCK 3 VON 4</a:t>
            </a:r>
            <a:endParaRPr lang="en-US" sz="1500" dirty="0"/>
          </a:p>
        </p:txBody>
      </p:sp>
      <p:sp>
        <p:nvSpPr>
          <p:cNvPr id="3" name="Text 1"/>
          <p:cNvSpPr txBox="1"/>
          <p:nvPr/>
        </p:nvSpPr>
        <p:spPr>
          <a:xfrm>
            <a:off x="594360" y="1783080"/>
            <a:ext cx="8686800" cy="100584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Optimierung des Mini-PCs</a:t>
            </a:r>
            <a:endParaRPr lang="en-US" sz="4000" dirty="0"/>
          </a:p>
        </p:txBody>
      </p:sp>
      <p:sp>
        <p:nvSpPr>
          <p:cNvPr id="4" name="Shape 2"/>
          <p:cNvSpPr/>
          <p:nvPr/>
        </p:nvSpPr>
        <p:spPr>
          <a:xfrm>
            <a:off x="640080" y="2880360"/>
            <a:ext cx="2377440" cy="0"/>
          </a:xfrm>
          <a:prstGeom prst="line">
            <a:avLst/>
          </a:prstGeom>
          <a:noFill/>
          <a:ln w="25400">
            <a:solidFill>
              <a:srgbClr val="00D9C0"/>
            </a:solidFill>
            <a:prstDash val="solid"/>
          </a:ln>
        </p:spPr>
      </p:sp>
      <p:sp>
        <p:nvSpPr>
          <p:cNvPr id="5" name="Shape 3"/>
          <p:cNvSpPr/>
          <p:nvPr/>
        </p:nvSpPr>
        <p:spPr>
          <a:xfrm>
            <a:off x="649605" y="3122295"/>
            <a:ext cx="420624" cy="420624"/>
          </a:xfrm>
          <a:prstGeom prst="ellipse">
            <a:avLst/>
          </a:prstGeom>
          <a:solidFill>
            <a:srgbClr val="17213D"/>
          </a:solidFill>
          <a:ln/>
        </p:spPr>
      </p:sp>
      <p:sp>
        <p:nvSpPr>
          <p:cNvPr id="6" name="Text 4"/>
          <p:cNvSpPr txBox="1"/>
          <p:nvPr/>
        </p:nvSpPr>
        <p:spPr>
          <a:xfrm>
            <a:off x="649605" y="3122295"/>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cs typeface="Arial" pitchFamily="34" charset="-120"/>
              </a:rPr>
              <a:t>1</a:t>
            </a:r>
            <a:endParaRPr lang="en-US" sz="1300" dirty="0"/>
          </a:p>
        </p:txBody>
      </p:sp>
      <p:sp>
        <p:nvSpPr>
          <p:cNvPr id="7" name="Text 5"/>
          <p:cNvSpPr txBox="1"/>
          <p:nvPr/>
        </p:nvSpPr>
        <p:spPr>
          <a:xfrm>
            <a:off x="1243965" y="3104007"/>
            <a:ext cx="4709160" cy="457200"/>
          </a:xfrm>
          <a:prstGeom prst="rect">
            <a:avLst/>
          </a:prstGeom>
          <a:noFill/>
          <a:ln/>
        </p:spPr>
        <p:txBody>
          <a:bodyPr wrap="square" lIns="0" tIns="0" rIns="0" bIns="0" rtlCol="0" anchor="ctr"/>
          <a:lstStyle/>
          <a:p>
            <a:pPr marL="0" indent="0">
              <a:buNone/>
            </a:pPr>
            <a:r>
              <a:rPr lang="en-US" sz="1500" dirty="0">
                <a:solidFill>
                  <a:srgbClr val="E4E8F5"/>
                </a:solidFill>
                <a:latin typeface="Calibri" pitchFamily="34" charset="0"/>
                <a:ea typeface="Calibri" pitchFamily="34" charset="-122"/>
                <a:cs typeface="Calibri" pitchFamily="34" charset="-120"/>
              </a:rPr>
              <a:t>Vulkan: Die iGPU für lokale KI nutzen</a:t>
            </a:r>
            <a:endParaRPr lang="en-US" sz="1500" dirty="0"/>
          </a:p>
        </p:txBody>
      </p:sp>
      <p:sp>
        <p:nvSpPr>
          <p:cNvPr id="8" name="Shape 6"/>
          <p:cNvSpPr/>
          <p:nvPr/>
        </p:nvSpPr>
        <p:spPr>
          <a:xfrm>
            <a:off x="649605" y="3584448"/>
            <a:ext cx="420624" cy="420624"/>
          </a:xfrm>
          <a:prstGeom prst="ellipse">
            <a:avLst/>
          </a:prstGeom>
          <a:solidFill>
            <a:srgbClr val="17213D"/>
          </a:solidFill>
          <a:ln/>
        </p:spPr>
      </p:sp>
      <p:sp>
        <p:nvSpPr>
          <p:cNvPr id="9" name="Text 7"/>
          <p:cNvSpPr txBox="1"/>
          <p:nvPr/>
        </p:nvSpPr>
        <p:spPr>
          <a:xfrm>
            <a:off x="649605" y="3584448"/>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cs typeface="Arial" pitchFamily="34" charset="-120"/>
              </a:rPr>
              <a:t>2</a:t>
            </a:r>
            <a:endParaRPr lang="en-US" sz="1300" dirty="0"/>
          </a:p>
        </p:txBody>
      </p:sp>
      <p:sp>
        <p:nvSpPr>
          <p:cNvPr id="10" name="Text 8"/>
          <p:cNvSpPr txBox="1"/>
          <p:nvPr/>
        </p:nvSpPr>
        <p:spPr>
          <a:xfrm>
            <a:off x="1243965" y="3566160"/>
            <a:ext cx="4709160" cy="457200"/>
          </a:xfrm>
          <a:prstGeom prst="rect">
            <a:avLst/>
          </a:prstGeom>
          <a:noFill/>
          <a:ln/>
        </p:spPr>
        <p:txBody>
          <a:bodyPr wrap="square" lIns="0" tIns="0" rIns="0" bIns="0" rtlCol="0" anchor="ctr"/>
          <a:lstStyle/>
          <a:p>
            <a:pPr marL="0" indent="0">
              <a:buNone/>
            </a:pPr>
            <a:r>
              <a:rPr lang="en-US" sz="1500" dirty="0">
                <a:solidFill>
                  <a:srgbClr val="E4E8F5"/>
                </a:solidFill>
                <a:latin typeface="Calibri" pitchFamily="34" charset="0"/>
                <a:ea typeface="Calibri" pitchFamily="34" charset="-122"/>
                <a:cs typeface="Calibri" pitchFamily="34" charset="-120"/>
              </a:rPr>
              <a:t>KI-Geschwindigkeit messen</a:t>
            </a:r>
            <a:endParaRPr lang="en-US" sz="1500" dirty="0"/>
          </a:p>
        </p:txBody>
      </p:sp>
      <p:sp>
        <p:nvSpPr>
          <p:cNvPr id="11" name="Shape 9"/>
          <p:cNvSpPr/>
          <p:nvPr/>
        </p:nvSpPr>
        <p:spPr>
          <a:xfrm>
            <a:off x="649605" y="4027551"/>
            <a:ext cx="420624" cy="420624"/>
          </a:xfrm>
          <a:prstGeom prst="ellipse">
            <a:avLst/>
          </a:prstGeom>
          <a:solidFill>
            <a:srgbClr val="17213D"/>
          </a:solidFill>
          <a:ln/>
        </p:spPr>
      </p:sp>
      <p:sp>
        <p:nvSpPr>
          <p:cNvPr id="12" name="Text 10"/>
          <p:cNvSpPr txBox="1"/>
          <p:nvPr/>
        </p:nvSpPr>
        <p:spPr>
          <a:xfrm>
            <a:off x="649605" y="4027551"/>
            <a:ext cx="420624" cy="420624"/>
          </a:xfrm>
          <a:prstGeom prst="rect">
            <a:avLst/>
          </a:prstGeom>
          <a:noFill/>
          <a:ln/>
        </p:spPr>
        <p:txBody>
          <a:bodyPr wrap="square" lIns="0" tIns="0" rIns="0" bIns="0" rtlCol="0" anchor="ctr"/>
          <a:lstStyle/>
          <a:p>
            <a:pPr marL="0" indent="0" algn="ctr">
              <a:buNone/>
            </a:pPr>
            <a:r>
              <a:rPr lang="en-US" sz="1300" b="1">
                <a:solidFill>
                  <a:srgbClr val="00D9C0"/>
                </a:solidFill>
                <a:latin typeface="Arial" pitchFamily="34" charset="0"/>
                <a:cs typeface="Arial" pitchFamily="34" charset="-120"/>
              </a:rPr>
              <a:t>3</a:t>
            </a:r>
            <a:endParaRPr lang="en-US" sz="1300" dirty="0"/>
          </a:p>
        </p:txBody>
      </p:sp>
      <p:sp>
        <p:nvSpPr>
          <p:cNvPr id="13" name="Text 11"/>
          <p:cNvSpPr txBox="1"/>
          <p:nvPr/>
        </p:nvSpPr>
        <p:spPr>
          <a:xfrm>
            <a:off x="1243965" y="4009263"/>
            <a:ext cx="4709160" cy="457200"/>
          </a:xfrm>
          <a:prstGeom prst="rect">
            <a:avLst/>
          </a:prstGeom>
          <a:noFill/>
          <a:ln/>
        </p:spPr>
        <p:txBody>
          <a:bodyPr wrap="square" lIns="0" tIns="0" rIns="0" bIns="0" rtlCol="0" anchor="ctr"/>
          <a:lstStyle/>
          <a:p>
            <a:pPr marL="0" indent="0">
              <a:buNone/>
            </a:pPr>
            <a:r>
              <a:rPr lang="en-US" sz="1500" smtClean="0">
                <a:solidFill>
                  <a:srgbClr val="E4E8F5"/>
                </a:solidFill>
                <a:latin typeface="Calibri" pitchFamily="34" charset="0"/>
                <a:ea typeface="Calibri" pitchFamily="34" charset="-122"/>
                <a:cs typeface="Calibri" pitchFamily="34" charset="-120"/>
              </a:rPr>
              <a:t>Konfiguration</a:t>
            </a:r>
            <a:r>
              <a:rPr lang="en-US" sz="1500">
                <a:solidFill>
                  <a:srgbClr val="E4E8F5"/>
                </a:solidFill>
                <a:latin typeface="Calibri" pitchFamily="34" charset="0"/>
                <a:ea typeface="Calibri" pitchFamily="34" charset="-122"/>
                <a:cs typeface="Calibri" pitchFamily="34" charset="-120"/>
              </a:rPr>
              <a:t>: </a:t>
            </a:r>
            <a:r>
              <a:rPr lang="en-US" sz="1500" smtClean="0">
                <a:solidFill>
                  <a:srgbClr val="E4E8F5"/>
                </a:solidFill>
                <a:latin typeface="Calibri" pitchFamily="34" charset="0"/>
                <a:ea typeface="Calibri" pitchFamily="34" charset="-122"/>
                <a:cs typeface="Calibri" pitchFamily="34" charset="-120"/>
              </a:rPr>
              <a:t>Wer setzt sich durch ?</a:t>
            </a:r>
            <a:endParaRPr lang="en-US" sz="1500" dirty="0">
              <a:solidFill>
                <a:srgbClr val="E4E8F5"/>
              </a:solidFill>
              <a:latin typeface="Calibri" pitchFamily="34" charset="0"/>
              <a:ea typeface="Calibri" pitchFamily="34" charset="-122"/>
              <a:cs typeface="Calibri" pitchFamily="34" charset="-120"/>
            </a:endParaRPr>
          </a:p>
        </p:txBody>
      </p:sp>
      <p:sp>
        <p:nvSpPr>
          <p:cNvPr id="14" name="Shape 12"/>
          <p:cNvSpPr/>
          <p:nvPr/>
        </p:nvSpPr>
        <p:spPr>
          <a:xfrm>
            <a:off x="649605" y="4470654"/>
            <a:ext cx="420624" cy="420624"/>
          </a:xfrm>
          <a:prstGeom prst="ellipse">
            <a:avLst/>
          </a:prstGeom>
          <a:solidFill>
            <a:srgbClr val="17213D"/>
          </a:solidFill>
          <a:ln/>
        </p:spPr>
      </p:sp>
      <p:sp>
        <p:nvSpPr>
          <p:cNvPr id="15" name="Text 13"/>
          <p:cNvSpPr txBox="1"/>
          <p:nvPr/>
        </p:nvSpPr>
        <p:spPr>
          <a:xfrm>
            <a:off x="649605" y="4470654"/>
            <a:ext cx="420624" cy="420624"/>
          </a:xfrm>
          <a:prstGeom prst="rect">
            <a:avLst/>
          </a:prstGeom>
          <a:noFill/>
          <a:ln/>
        </p:spPr>
        <p:txBody>
          <a:bodyPr wrap="square" lIns="0" tIns="0" rIns="0" bIns="0" rtlCol="0" anchor="ctr"/>
          <a:lstStyle/>
          <a:p>
            <a:pPr marL="0" indent="0" algn="ctr">
              <a:buNone/>
            </a:pPr>
            <a:r>
              <a:rPr lang="en-US" sz="1300" b="1">
                <a:solidFill>
                  <a:srgbClr val="00D9C0"/>
                </a:solidFill>
                <a:latin typeface="Arial" pitchFamily="34" charset="0"/>
                <a:cs typeface="Arial" pitchFamily="34" charset="-120"/>
              </a:rPr>
              <a:t>4</a:t>
            </a:r>
            <a:endParaRPr lang="en-US" sz="1300" dirty="0"/>
          </a:p>
        </p:txBody>
      </p:sp>
      <p:sp>
        <p:nvSpPr>
          <p:cNvPr id="16" name="Text 14"/>
          <p:cNvSpPr txBox="1"/>
          <p:nvPr/>
        </p:nvSpPr>
        <p:spPr>
          <a:xfrm>
            <a:off x="1243965" y="4452366"/>
            <a:ext cx="4709160" cy="457200"/>
          </a:xfrm>
          <a:prstGeom prst="rect">
            <a:avLst/>
          </a:prstGeom>
          <a:noFill/>
          <a:ln/>
        </p:spPr>
        <p:txBody>
          <a:bodyPr wrap="square" lIns="0" tIns="0" rIns="0" bIns="0" rtlCol="0" anchor="ctr"/>
          <a:lstStyle/>
          <a:p>
            <a:pPr marL="0" indent="0">
              <a:buNone/>
            </a:pPr>
            <a:r>
              <a:rPr lang="en-US" sz="1500" smtClean="0">
                <a:solidFill>
                  <a:srgbClr val="E4E8F5"/>
                </a:solidFill>
                <a:latin typeface="Calibri" pitchFamily="34" charset="0"/>
                <a:ea typeface="Calibri" pitchFamily="34" charset="-122"/>
                <a:cs typeface="Calibri" pitchFamily="34" charset="-120"/>
              </a:rPr>
              <a:t>docker-compose.yml: Ollama-Service</a:t>
            </a:r>
            <a:endParaRPr lang="en-US" sz="1500" dirty="0"/>
          </a:p>
        </p:txBody>
      </p:sp>
      <p:sp>
        <p:nvSpPr>
          <p:cNvPr id="17" name="Shape 15"/>
          <p:cNvSpPr/>
          <p:nvPr/>
        </p:nvSpPr>
        <p:spPr>
          <a:xfrm>
            <a:off x="649605" y="4913757"/>
            <a:ext cx="420624" cy="420624"/>
          </a:xfrm>
          <a:prstGeom prst="ellipse">
            <a:avLst/>
          </a:prstGeom>
          <a:solidFill>
            <a:srgbClr val="17213D"/>
          </a:solidFill>
          <a:ln/>
        </p:spPr>
      </p:sp>
      <p:sp>
        <p:nvSpPr>
          <p:cNvPr id="18" name="Text 16"/>
          <p:cNvSpPr txBox="1"/>
          <p:nvPr/>
        </p:nvSpPr>
        <p:spPr>
          <a:xfrm>
            <a:off x="649605" y="4913757"/>
            <a:ext cx="420624" cy="420624"/>
          </a:xfrm>
          <a:prstGeom prst="rect">
            <a:avLst/>
          </a:prstGeom>
          <a:noFill/>
          <a:ln/>
        </p:spPr>
        <p:txBody>
          <a:bodyPr wrap="square" lIns="0" tIns="0" rIns="0" bIns="0" rtlCol="0" anchor="ctr"/>
          <a:lstStyle/>
          <a:p>
            <a:pPr marL="0" indent="0" algn="ctr">
              <a:buNone/>
            </a:pPr>
            <a:r>
              <a:rPr lang="en-US" sz="1300" b="1">
                <a:solidFill>
                  <a:srgbClr val="00D9C0"/>
                </a:solidFill>
                <a:latin typeface="Arial" pitchFamily="34" charset="0"/>
                <a:cs typeface="Arial" pitchFamily="34" charset="-120"/>
              </a:rPr>
              <a:t>5</a:t>
            </a:r>
            <a:endParaRPr lang="en-US" sz="1300" dirty="0"/>
          </a:p>
        </p:txBody>
      </p:sp>
      <p:sp>
        <p:nvSpPr>
          <p:cNvPr id="19" name="Text 17"/>
          <p:cNvSpPr txBox="1"/>
          <p:nvPr/>
        </p:nvSpPr>
        <p:spPr>
          <a:xfrm>
            <a:off x="1243965" y="5019294"/>
            <a:ext cx="4709160" cy="457200"/>
          </a:xfrm>
          <a:prstGeom prst="rect">
            <a:avLst/>
          </a:prstGeom>
          <a:noFill/>
          <a:ln/>
        </p:spPr>
        <p:txBody>
          <a:bodyPr wrap="square" lIns="0" tIns="0" rIns="0" bIns="0" rtlCol="0" anchor="ctr"/>
          <a:lstStyle/>
          <a:p>
            <a:r>
              <a:rPr lang="en-US" sz="1500" dirty="0">
                <a:solidFill>
                  <a:schemeClr val="bg1">
                    <a:lumMod val="95000"/>
                  </a:schemeClr>
                </a:solidFill>
                <a:ea typeface="Calibri" pitchFamily="34" charset="-122"/>
                <a:cs typeface="Calibri" pitchFamily="34" charset="-120"/>
              </a:rPr>
              <a:t>docker-compose.yml</a:t>
            </a:r>
            <a:r>
              <a:rPr lang="en-US" sz="1500">
                <a:solidFill>
                  <a:schemeClr val="bg1">
                    <a:lumMod val="95000"/>
                  </a:schemeClr>
                </a:solidFill>
                <a:ea typeface="Calibri" pitchFamily="34" charset="-122"/>
                <a:cs typeface="Calibri" pitchFamily="34" charset="-120"/>
              </a:rPr>
              <a:t>: </a:t>
            </a:r>
            <a:r>
              <a:rPr lang="en-US" sz="1600">
                <a:solidFill>
                  <a:schemeClr val="bg1">
                    <a:lumMod val="85000"/>
                  </a:schemeClr>
                </a:solidFill>
                <a:ea typeface="Arial" pitchFamily="34" charset="-122"/>
                <a:cs typeface="Arial" pitchFamily="34" charset="-120"/>
              </a:rPr>
              <a:t>Berechtigungen &amp; Kern-Variablen</a:t>
            </a:r>
          </a:p>
          <a:p>
            <a:pPr marL="0" indent="0">
              <a:buNone/>
            </a:pPr>
            <a:endParaRPr lang="en-US" sz="1500" dirty="0">
              <a:solidFill>
                <a:srgbClr val="E4E8F5"/>
              </a:solidFill>
              <a:latin typeface="Calibri" pitchFamily="34" charset="0"/>
              <a:ea typeface="Calibri" pitchFamily="34" charset="-122"/>
              <a:cs typeface="Calibri" pitchFamily="34" charset="-120"/>
            </a:endParaRPr>
          </a:p>
        </p:txBody>
      </p:sp>
      <p:sp>
        <p:nvSpPr>
          <p:cNvPr id="20" name="Shape 18"/>
          <p:cNvSpPr/>
          <p:nvPr/>
        </p:nvSpPr>
        <p:spPr>
          <a:xfrm>
            <a:off x="8795385" y="661035"/>
            <a:ext cx="2743200" cy="1828800"/>
          </a:xfrm>
          <a:prstGeom prst="roundRect">
            <a:avLst>
              <a:gd name="adj" fmla="val 6000"/>
            </a:avLst>
          </a:prstGeom>
          <a:solidFill>
            <a:srgbClr val="17213D"/>
          </a:solidFill>
          <a:ln w="12700">
            <a:solidFill>
              <a:srgbClr val="00D9C0"/>
            </a:solidFill>
            <a:prstDash val="solid"/>
          </a:ln>
        </p:spPr>
      </p:sp>
      <p:sp>
        <p:nvSpPr>
          <p:cNvPr id="21" name="Shape 19"/>
          <p:cNvSpPr/>
          <p:nvPr/>
        </p:nvSpPr>
        <p:spPr>
          <a:xfrm>
            <a:off x="9206865" y="340995"/>
            <a:ext cx="0" cy="365760"/>
          </a:xfrm>
          <a:prstGeom prst="line">
            <a:avLst/>
          </a:prstGeom>
          <a:noFill/>
          <a:ln w="19050">
            <a:solidFill>
              <a:srgbClr val="00D9C0"/>
            </a:solidFill>
            <a:prstDash val="solid"/>
          </a:ln>
        </p:spPr>
      </p:sp>
      <p:sp>
        <p:nvSpPr>
          <p:cNvPr id="22" name="Shape 20"/>
          <p:cNvSpPr/>
          <p:nvPr/>
        </p:nvSpPr>
        <p:spPr>
          <a:xfrm>
            <a:off x="9206865" y="2444115"/>
            <a:ext cx="0" cy="411480"/>
          </a:xfrm>
          <a:prstGeom prst="line">
            <a:avLst/>
          </a:prstGeom>
          <a:noFill/>
          <a:ln w="19050">
            <a:solidFill>
              <a:srgbClr val="00D9C0"/>
            </a:solidFill>
            <a:prstDash val="solid"/>
          </a:ln>
        </p:spPr>
      </p:sp>
      <p:sp>
        <p:nvSpPr>
          <p:cNvPr id="23" name="Shape 21"/>
          <p:cNvSpPr/>
          <p:nvPr/>
        </p:nvSpPr>
        <p:spPr>
          <a:xfrm>
            <a:off x="9755505" y="340995"/>
            <a:ext cx="0" cy="365760"/>
          </a:xfrm>
          <a:prstGeom prst="line">
            <a:avLst/>
          </a:prstGeom>
          <a:noFill/>
          <a:ln w="19050">
            <a:solidFill>
              <a:srgbClr val="00D9C0"/>
            </a:solidFill>
            <a:prstDash val="solid"/>
          </a:ln>
        </p:spPr>
      </p:sp>
      <p:sp>
        <p:nvSpPr>
          <p:cNvPr id="24" name="Shape 22"/>
          <p:cNvSpPr/>
          <p:nvPr/>
        </p:nvSpPr>
        <p:spPr>
          <a:xfrm>
            <a:off x="9755505" y="2444115"/>
            <a:ext cx="0" cy="411480"/>
          </a:xfrm>
          <a:prstGeom prst="line">
            <a:avLst/>
          </a:prstGeom>
          <a:noFill/>
          <a:ln w="19050">
            <a:solidFill>
              <a:srgbClr val="00D9C0"/>
            </a:solidFill>
            <a:prstDash val="solid"/>
          </a:ln>
        </p:spPr>
      </p:sp>
      <p:sp>
        <p:nvSpPr>
          <p:cNvPr id="25" name="Shape 23"/>
          <p:cNvSpPr/>
          <p:nvPr/>
        </p:nvSpPr>
        <p:spPr>
          <a:xfrm>
            <a:off x="10304145" y="340995"/>
            <a:ext cx="0" cy="365760"/>
          </a:xfrm>
          <a:prstGeom prst="line">
            <a:avLst/>
          </a:prstGeom>
          <a:noFill/>
          <a:ln w="19050">
            <a:solidFill>
              <a:srgbClr val="00D9C0"/>
            </a:solidFill>
            <a:prstDash val="solid"/>
          </a:ln>
        </p:spPr>
      </p:sp>
      <p:sp>
        <p:nvSpPr>
          <p:cNvPr id="26" name="Shape 24"/>
          <p:cNvSpPr/>
          <p:nvPr/>
        </p:nvSpPr>
        <p:spPr>
          <a:xfrm>
            <a:off x="10304145" y="2444115"/>
            <a:ext cx="0" cy="411480"/>
          </a:xfrm>
          <a:prstGeom prst="line">
            <a:avLst/>
          </a:prstGeom>
          <a:noFill/>
          <a:ln w="19050">
            <a:solidFill>
              <a:srgbClr val="00D9C0"/>
            </a:solidFill>
            <a:prstDash val="solid"/>
          </a:ln>
        </p:spPr>
      </p:sp>
      <p:sp>
        <p:nvSpPr>
          <p:cNvPr id="27" name="Shape 25"/>
          <p:cNvSpPr/>
          <p:nvPr/>
        </p:nvSpPr>
        <p:spPr>
          <a:xfrm>
            <a:off x="10852785" y="340995"/>
            <a:ext cx="0" cy="365760"/>
          </a:xfrm>
          <a:prstGeom prst="line">
            <a:avLst/>
          </a:prstGeom>
          <a:noFill/>
          <a:ln w="19050">
            <a:solidFill>
              <a:srgbClr val="00D9C0"/>
            </a:solidFill>
            <a:prstDash val="solid"/>
          </a:ln>
        </p:spPr>
      </p:sp>
      <p:sp>
        <p:nvSpPr>
          <p:cNvPr id="28" name="Shape 26"/>
          <p:cNvSpPr/>
          <p:nvPr/>
        </p:nvSpPr>
        <p:spPr>
          <a:xfrm>
            <a:off x="10852785" y="2444115"/>
            <a:ext cx="0" cy="411480"/>
          </a:xfrm>
          <a:prstGeom prst="line">
            <a:avLst/>
          </a:prstGeom>
          <a:noFill/>
          <a:ln w="19050">
            <a:solidFill>
              <a:srgbClr val="00D9C0"/>
            </a:solidFill>
            <a:prstDash val="solid"/>
          </a:ln>
        </p:spPr>
      </p:sp>
      <p:sp>
        <p:nvSpPr>
          <p:cNvPr id="29" name="Shape 27"/>
          <p:cNvSpPr/>
          <p:nvPr/>
        </p:nvSpPr>
        <p:spPr>
          <a:xfrm>
            <a:off x="9206865" y="981075"/>
            <a:ext cx="1920240" cy="1188720"/>
          </a:xfrm>
          <a:prstGeom prst="roundRect">
            <a:avLst>
              <a:gd name="adj" fmla="val 4615"/>
            </a:avLst>
          </a:prstGeom>
          <a:solidFill>
            <a:srgbClr val="121A33"/>
          </a:solidFill>
          <a:ln w="9525">
            <a:solidFill>
              <a:srgbClr val="00D9C0"/>
            </a:solidFill>
            <a:prstDash val="solid"/>
          </a:ln>
        </p:spPr>
      </p:sp>
      <p:sp>
        <p:nvSpPr>
          <p:cNvPr id="30" name="Text 28"/>
          <p:cNvSpPr txBox="1"/>
          <p:nvPr/>
        </p:nvSpPr>
        <p:spPr>
          <a:xfrm>
            <a:off x="9206865" y="981075"/>
            <a:ext cx="1920240" cy="1188720"/>
          </a:xfrm>
          <a:prstGeom prst="rect">
            <a:avLst/>
          </a:prstGeom>
          <a:noFill/>
          <a:ln/>
        </p:spPr>
        <p:txBody>
          <a:bodyPr wrap="square" lIns="0" tIns="0" rIns="0" bIns="0" rtlCol="0" anchor="ctr"/>
          <a:lstStyle/>
          <a:p>
            <a:pPr marL="0" indent="0" algn="ctr">
              <a:buNone/>
            </a:pPr>
            <a:r>
              <a:rPr lang="en-US" sz="1600" b="1" dirty="0">
                <a:solidFill>
                  <a:srgbClr val="00D9C0"/>
                </a:solidFill>
                <a:latin typeface="Courier New" pitchFamily="34" charset="0"/>
                <a:ea typeface="Courier New" pitchFamily="34" charset="-122"/>
                <a:cs typeface="Courier New" pitchFamily="34" charset="-120"/>
              </a:rPr>
              <a:t>iGPU</a:t>
            </a:r>
            <a:endParaRPr lang="en-US" sz="1600" dirty="0"/>
          </a:p>
        </p:txBody>
      </p:sp>
      <p:sp>
        <p:nvSpPr>
          <p:cNvPr id="31" name="Text 29"/>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9AA3C0"/>
                </a:solidFill>
                <a:latin typeface="Calibri" pitchFamily="34" charset="0"/>
                <a:ea typeface="Calibri" pitchFamily="34" charset="-122"/>
                <a:cs typeface="Calibri" pitchFamily="34" charset="-120"/>
              </a:rPr>
              <a:t>OLLAMA PERFORMANCE TUNING · iGPU</a:t>
            </a:r>
            <a:endParaRPr lang="en-US" sz="900" dirty="0"/>
          </a:p>
        </p:txBody>
      </p:sp>
      <p:sp>
        <p:nvSpPr>
          <p:cNvPr id="32" name="Text 30"/>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9AA3C0"/>
                </a:solidFill>
                <a:latin typeface="Calibri" pitchFamily="34" charset="0"/>
                <a:ea typeface="Calibri" pitchFamily="34" charset="-122"/>
                <a:cs typeface="Calibri" pitchFamily="34" charset="-120"/>
              </a:rPr>
              <a:t>18</a:t>
            </a:r>
            <a:endParaRPr lang="en-US" sz="900" dirty="0"/>
          </a:p>
        </p:txBody>
      </p:sp>
      <p:sp>
        <p:nvSpPr>
          <p:cNvPr id="34" name="Shape 15"/>
          <p:cNvSpPr/>
          <p:nvPr/>
        </p:nvSpPr>
        <p:spPr>
          <a:xfrm>
            <a:off x="633412" y="5360289"/>
            <a:ext cx="420624" cy="420624"/>
          </a:xfrm>
          <a:prstGeom prst="ellipse">
            <a:avLst/>
          </a:prstGeom>
          <a:solidFill>
            <a:srgbClr val="17213D"/>
          </a:solidFill>
          <a:ln/>
        </p:spPr>
      </p:sp>
      <p:sp>
        <p:nvSpPr>
          <p:cNvPr id="35" name="Text 16"/>
          <p:cNvSpPr txBox="1"/>
          <p:nvPr/>
        </p:nvSpPr>
        <p:spPr>
          <a:xfrm>
            <a:off x="633412" y="5360289"/>
            <a:ext cx="420624" cy="420624"/>
          </a:xfrm>
          <a:prstGeom prst="rect">
            <a:avLst/>
          </a:prstGeom>
          <a:noFill/>
          <a:ln/>
        </p:spPr>
        <p:txBody>
          <a:bodyPr wrap="square" lIns="0" tIns="0" rIns="0" bIns="0" rtlCol="0" anchor="ctr"/>
          <a:lstStyle/>
          <a:p>
            <a:pPr marL="0" indent="0" algn="ctr">
              <a:buNone/>
            </a:pPr>
            <a:r>
              <a:rPr lang="en-US" sz="1300" b="1">
                <a:solidFill>
                  <a:srgbClr val="00D9C0"/>
                </a:solidFill>
                <a:latin typeface="Arial" pitchFamily="34" charset="0"/>
                <a:cs typeface="Arial" pitchFamily="34" charset="-120"/>
              </a:rPr>
              <a:t>6</a:t>
            </a:r>
            <a:endParaRPr lang="en-US" sz="1300" dirty="0"/>
          </a:p>
        </p:txBody>
      </p:sp>
      <p:sp>
        <p:nvSpPr>
          <p:cNvPr id="36" name="Text 17"/>
          <p:cNvSpPr txBox="1"/>
          <p:nvPr/>
        </p:nvSpPr>
        <p:spPr>
          <a:xfrm>
            <a:off x="1227772" y="5456682"/>
            <a:ext cx="4570095" cy="466344"/>
          </a:xfrm>
          <a:prstGeom prst="rect">
            <a:avLst/>
          </a:prstGeom>
          <a:noFill/>
          <a:ln/>
        </p:spPr>
        <p:txBody>
          <a:bodyPr wrap="square" lIns="0" tIns="0" rIns="0" bIns="0" rtlCol="0" anchor="ctr"/>
          <a:lstStyle/>
          <a:p>
            <a:r>
              <a:rPr lang="en-US" sz="1500" dirty="0">
                <a:solidFill>
                  <a:schemeClr val="bg1">
                    <a:lumMod val="95000"/>
                  </a:schemeClr>
                </a:solidFill>
                <a:ea typeface="Calibri" pitchFamily="34" charset="-122"/>
                <a:cs typeface="Calibri" pitchFamily="34" charset="-120"/>
              </a:rPr>
              <a:t>docker-compose.yml</a:t>
            </a:r>
            <a:r>
              <a:rPr lang="en-US" sz="1500">
                <a:solidFill>
                  <a:schemeClr val="bg1">
                    <a:lumMod val="95000"/>
                  </a:schemeClr>
                </a:solidFill>
                <a:ea typeface="Calibri" pitchFamily="34" charset="-122"/>
                <a:cs typeface="Calibri" pitchFamily="34" charset="-120"/>
              </a:rPr>
              <a:t>: </a:t>
            </a:r>
            <a:r>
              <a:rPr lang="en-US" sz="1600" smtClean="0">
                <a:solidFill>
                  <a:schemeClr val="bg1">
                    <a:lumMod val="85000"/>
                  </a:schemeClr>
                </a:solidFill>
                <a:ea typeface="Calibri" pitchFamily="34" charset="-122"/>
                <a:cs typeface="Arial" pitchFamily="34" charset="-120"/>
              </a:rPr>
              <a:t>Weitere Variablen</a:t>
            </a:r>
            <a:endParaRPr lang="en-US" sz="1600">
              <a:solidFill>
                <a:schemeClr val="bg1">
                  <a:lumMod val="85000"/>
                </a:schemeClr>
              </a:solidFill>
              <a:ea typeface="Arial" pitchFamily="34" charset="-122"/>
              <a:cs typeface="Arial" pitchFamily="34" charset="-120"/>
            </a:endParaRPr>
          </a:p>
          <a:p>
            <a:pPr marL="0" indent="0">
              <a:buNone/>
            </a:pPr>
            <a:endParaRPr lang="en-US" sz="1500" dirty="0">
              <a:solidFill>
                <a:srgbClr val="E4E8F5"/>
              </a:solidFill>
              <a:latin typeface="Calibri" pitchFamily="34" charset="0"/>
              <a:ea typeface="Calibri" pitchFamily="34" charset="-122"/>
              <a:cs typeface="Calibri" pitchFamily="34" charset="-120"/>
            </a:endParaRPr>
          </a:p>
        </p:txBody>
      </p:sp>
      <p:sp>
        <p:nvSpPr>
          <p:cNvPr id="37" name="Shape 15"/>
          <p:cNvSpPr/>
          <p:nvPr/>
        </p:nvSpPr>
        <p:spPr>
          <a:xfrm>
            <a:off x="633412" y="5798439"/>
            <a:ext cx="420624" cy="420624"/>
          </a:xfrm>
          <a:prstGeom prst="ellipse">
            <a:avLst/>
          </a:prstGeom>
          <a:solidFill>
            <a:srgbClr val="17213D"/>
          </a:solidFill>
          <a:ln/>
        </p:spPr>
      </p:sp>
      <p:sp>
        <p:nvSpPr>
          <p:cNvPr id="38" name="Text 16"/>
          <p:cNvSpPr txBox="1"/>
          <p:nvPr/>
        </p:nvSpPr>
        <p:spPr>
          <a:xfrm>
            <a:off x="633412" y="5798439"/>
            <a:ext cx="420624" cy="420624"/>
          </a:xfrm>
          <a:prstGeom prst="rect">
            <a:avLst/>
          </a:prstGeom>
          <a:noFill/>
          <a:ln/>
        </p:spPr>
        <p:txBody>
          <a:bodyPr wrap="square" lIns="0" tIns="0" rIns="0" bIns="0" rtlCol="0" anchor="ctr"/>
          <a:lstStyle/>
          <a:p>
            <a:pPr marL="0" indent="0" algn="ctr">
              <a:buNone/>
            </a:pPr>
            <a:r>
              <a:rPr lang="en-US" sz="1300" b="1">
                <a:solidFill>
                  <a:srgbClr val="00D9C0"/>
                </a:solidFill>
                <a:latin typeface="Arial" pitchFamily="34" charset="0"/>
                <a:cs typeface="Arial" pitchFamily="34" charset="-120"/>
              </a:rPr>
              <a:t>7</a:t>
            </a:r>
            <a:endParaRPr lang="en-US" sz="1300" dirty="0"/>
          </a:p>
        </p:txBody>
      </p:sp>
      <p:sp>
        <p:nvSpPr>
          <p:cNvPr id="39" name="Text 17"/>
          <p:cNvSpPr txBox="1"/>
          <p:nvPr/>
        </p:nvSpPr>
        <p:spPr>
          <a:xfrm>
            <a:off x="1227772" y="5894832"/>
            <a:ext cx="4570095" cy="466344"/>
          </a:xfrm>
          <a:prstGeom prst="rect">
            <a:avLst/>
          </a:prstGeom>
          <a:noFill/>
          <a:ln/>
        </p:spPr>
        <p:txBody>
          <a:bodyPr wrap="square" lIns="0" tIns="0" rIns="0" bIns="0" rtlCol="0" anchor="ctr"/>
          <a:lstStyle/>
          <a:p>
            <a:r>
              <a:rPr lang="en-US" sz="1600">
                <a:solidFill>
                  <a:schemeClr val="bg1">
                    <a:lumMod val="85000"/>
                  </a:schemeClr>
                </a:solidFill>
                <a:ea typeface="Arial" pitchFamily="34" charset="-122"/>
                <a:cs typeface="Arial" pitchFamily="34" charset="-120"/>
              </a:rPr>
              <a:t>Modelfile: Basismodell, System-Rolle &amp; Prompt-Format</a:t>
            </a:r>
          </a:p>
          <a:p>
            <a:pPr marL="0" indent="0">
              <a:buNone/>
            </a:pPr>
            <a:endParaRPr lang="en-US" sz="1500" dirty="0">
              <a:solidFill>
                <a:srgbClr val="E4E8F5"/>
              </a:solidFill>
              <a:latin typeface="Calibri" pitchFamily="34" charset="0"/>
              <a:ea typeface="Calibri" pitchFamily="34" charset="-122"/>
              <a:cs typeface="Calibri" pitchFamily="34" charset="-120"/>
            </a:endParaRPr>
          </a:p>
        </p:txBody>
      </p:sp>
      <p:sp>
        <p:nvSpPr>
          <p:cNvPr id="40" name="Shape 3"/>
          <p:cNvSpPr/>
          <p:nvPr/>
        </p:nvSpPr>
        <p:spPr>
          <a:xfrm>
            <a:off x="6383655" y="3122295"/>
            <a:ext cx="420624" cy="420624"/>
          </a:xfrm>
          <a:prstGeom prst="ellipse">
            <a:avLst/>
          </a:prstGeom>
          <a:solidFill>
            <a:srgbClr val="17213D"/>
          </a:solidFill>
          <a:ln/>
        </p:spPr>
      </p:sp>
      <p:sp>
        <p:nvSpPr>
          <p:cNvPr id="41" name="Text 4"/>
          <p:cNvSpPr txBox="1"/>
          <p:nvPr/>
        </p:nvSpPr>
        <p:spPr>
          <a:xfrm>
            <a:off x="6383655" y="3122295"/>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cs typeface="Arial" pitchFamily="34" charset="-120"/>
              </a:rPr>
              <a:t>8</a:t>
            </a:r>
            <a:endParaRPr lang="en-US" sz="1300" dirty="0"/>
          </a:p>
        </p:txBody>
      </p:sp>
      <p:sp>
        <p:nvSpPr>
          <p:cNvPr id="42" name="Text 5"/>
          <p:cNvSpPr txBox="1"/>
          <p:nvPr/>
        </p:nvSpPr>
        <p:spPr>
          <a:xfrm>
            <a:off x="6978015" y="3104007"/>
            <a:ext cx="4709160" cy="457200"/>
          </a:xfrm>
          <a:prstGeom prst="rect">
            <a:avLst/>
          </a:prstGeom>
          <a:noFill/>
          <a:ln/>
        </p:spPr>
        <p:txBody>
          <a:bodyPr wrap="square" lIns="0" tIns="0" rIns="0" bIns="0" rtlCol="0" anchor="ctr"/>
          <a:lstStyle/>
          <a:p>
            <a:pPr marL="0" indent="0">
              <a:buNone/>
            </a:pPr>
            <a:r>
              <a:rPr lang="en-US" sz="1500" dirty="0">
                <a:solidFill>
                  <a:srgbClr val="E4E8F5"/>
                </a:solidFill>
                <a:latin typeface="Calibri" pitchFamily="34" charset="0"/>
                <a:ea typeface="Calibri" pitchFamily="34" charset="-122"/>
                <a:cs typeface="Calibri" pitchFamily="34" charset="-120"/>
              </a:rPr>
              <a:t>Vulkan: Die iGPU für lokale KI nutzen</a:t>
            </a:r>
            <a:endParaRPr lang="en-US" sz="1500" dirty="0"/>
          </a:p>
        </p:txBody>
      </p:sp>
      <p:sp>
        <p:nvSpPr>
          <p:cNvPr id="43" name="Shape 6"/>
          <p:cNvSpPr/>
          <p:nvPr/>
        </p:nvSpPr>
        <p:spPr>
          <a:xfrm>
            <a:off x="6383655" y="3584448"/>
            <a:ext cx="420624" cy="420624"/>
          </a:xfrm>
          <a:prstGeom prst="ellipse">
            <a:avLst/>
          </a:prstGeom>
          <a:solidFill>
            <a:srgbClr val="17213D"/>
          </a:solidFill>
          <a:ln/>
        </p:spPr>
      </p:sp>
      <p:sp>
        <p:nvSpPr>
          <p:cNvPr id="44" name="Text 7"/>
          <p:cNvSpPr txBox="1"/>
          <p:nvPr/>
        </p:nvSpPr>
        <p:spPr>
          <a:xfrm>
            <a:off x="6383655" y="3584448"/>
            <a:ext cx="420624" cy="420624"/>
          </a:xfrm>
          <a:prstGeom prst="rect">
            <a:avLst/>
          </a:prstGeom>
          <a:noFill/>
          <a:ln/>
        </p:spPr>
        <p:txBody>
          <a:bodyPr wrap="square" lIns="0" tIns="0" rIns="0" bIns="0" rtlCol="0" anchor="ctr"/>
          <a:lstStyle/>
          <a:p>
            <a:pPr marL="0" indent="0" algn="ctr">
              <a:buNone/>
            </a:pPr>
            <a:r>
              <a:rPr lang="en-US" sz="1300" b="1" dirty="0">
                <a:solidFill>
                  <a:srgbClr val="00D9C0"/>
                </a:solidFill>
                <a:latin typeface="Arial" pitchFamily="34" charset="0"/>
                <a:cs typeface="Arial" pitchFamily="34" charset="-120"/>
              </a:rPr>
              <a:t>9</a:t>
            </a:r>
            <a:endParaRPr lang="en-US" sz="1300" dirty="0"/>
          </a:p>
        </p:txBody>
      </p:sp>
      <p:sp>
        <p:nvSpPr>
          <p:cNvPr id="45" name="Text 8"/>
          <p:cNvSpPr txBox="1"/>
          <p:nvPr/>
        </p:nvSpPr>
        <p:spPr>
          <a:xfrm>
            <a:off x="6978015" y="3566160"/>
            <a:ext cx="4709160" cy="457200"/>
          </a:xfrm>
          <a:prstGeom prst="rect">
            <a:avLst/>
          </a:prstGeom>
          <a:noFill/>
          <a:ln/>
        </p:spPr>
        <p:txBody>
          <a:bodyPr wrap="square" lIns="0" tIns="0" rIns="0" bIns="0" rtlCol="0" anchor="ctr"/>
          <a:lstStyle/>
          <a:p>
            <a:pPr marL="0" indent="0">
              <a:buNone/>
            </a:pPr>
            <a:r>
              <a:rPr lang="en-US" sz="1500" dirty="0">
                <a:solidFill>
                  <a:srgbClr val="E4E8F5"/>
                </a:solidFill>
                <a:latin typeface="Calibri" pitchFamily="34" charset="0"/>
                <a:ea typeface="Calibri" pitchFamily="34" charset="-122"/>
                <a:cs typeface="Calibri" pitchFamily="34" charset="-120"/>
              </a:rPr>
              <a:t>KI-Geschwindigkeit messen</a:t>
            </a:r>
            <a:endParaRPr lang="en-US" sz="1500" dirty="0"/>
          </a:p>
        </p:txBody>
      </p:sp>
      <p:sp>
        <p:nvSpPr>
          <p:cNvPr id="46" name="Shape 9"/>
          <p:cNvSpPr/>
          <p:nvPr/>
        </p:nvSpPr>
        <p:spPr>
          <a:xfrm>
            <a:off x="6383655" y="4027551"/>
            <a:ext cx="420624" cy="420624"/>
          </a:xfrm>
          <a:prstGeom prst="ellipse">
            <a:avLst/>
          </a:prstGeom>
          <a:solidFill>
            <a:srgbClr val="17213D"/>
          </a:solidFill>
          <a:ln/>
        </p:spPr>
      </p:sp>
      <p:sp>
        <p:nvSpPr>
          <p:cNvPr id="47" name="Text 10"/>
          <p:cNvSpPr txBox="1"/>
          <p:nvPr/>
        </p:nvSpPr>
        <p:spPr>
          <a:xfrm>
            <a:off x="6383655" y="4027551"/>
            <a:ext cx="420624" cy="420624"/>
          </a:xfrm>
          <a:prstGeom prst="rect">
            <a:avLst/>
          </a:prstGeom>
          <a:noFill/>
          <a:ln/>
        </p:spPr>
        <p:txBody>
          <a:bodyPr wrap="square" lIns="0" tIns="0" rIns="0" bIns="0" rtlCol="0" anchor="ctr"/>
          <a:lstStyle/>
          <a:p>
            <a:pPr marL="0" indent="0" algn="ctr">
              <a:buNone/>
            </a:pPr>
            <a:r>
              <a:rPr lang="en-US" sz="1300" b="1" smtClean="0">
                <a:solidFill>
                  <a:srgbClr val="00D9C0"/>
                </a:solidFill>
                <a:latin typeface="Arial" pitchFamily="34" charset="0"/>
                <a:cs typeface="Arial" pitchFamily="34" charset="-120"/>
              </a:rPr>
              <a:t>10</a:t>
            </a:r>
            <a:endParaRPr lang="en-US" sz="1300" dirty="0"/>
          </a:p>
        </p:txBody>
      </p:sp>
      <p:sp>
        <p:nvSpPr>
          <p:cNvPr id="48" name="Text 11"/>
          <p:cNvSpPr txBox="1"/>
          <p:nvPr/>
        </p:nvSpPr>
        <p:spPr>
          <a:xfrm>
            <a:off x="6978015" y="4009263"/>
            <a:ext cx="4709160" cy="457200"/>
          </a:xfrm>
          <a:prstGeom prst="rect">
            <a:avLst/>
          </a:prstGeom>
          <a:noFill/>
          <a:ln/>
        </p:spPr>
        <p:txBody>
          <a:bodyPr wrap="square" lIns="0" tIns="0" rIns="0" bIns="0" rtlCol="0" anchor="ctr"/>
          <a:lstStyle/>
          <a:p>
            <a:pPr marL="0" indent="0">
              <a:buNone/>
            </a:pPr>
            <a:r>
              <a:rPr lang="en-US" sz="1500" dirty="0">
                <a:solidFill>
                  <a:srgbClr val="E4E8F5"/>
                </a:solidFill>
                <a:latin typeface="Calibri" pitchFamily="34" charset="0"/>
                <a:ea typeface="Calibri" pitchFamily="34" charset="-122"/>
                <a:cs typeface="Calibri" pitchFamily="34" charset="-120"/>
              </a:rPr>
              <a:t>Modelfile-Konfiguration</a:t>
            </a:r>
            <a:r>
              <a:rPr lang="en-US" sz="1500">
                <a:solidFill>
                  <a:srgbClr val="E4E8F5"/>
                </a:solidFill>
                <a:latin typeface="Calibri" pitchFamily="34" charset="0"/>
                <a:ea typeface="Calibri" pitchFamily="34" charset="-122"/>
                <a:cs typeface="Calibri" pitchFamily="34" charset="-120"/>
              </a:rPr>
              <a:t>: </a:t>
            </a:r>
            <a:r>
              <a:rPr lang="en-US" sz="1500" smtClean="0">
                <a:solidFill>
                  <a:srgbClr val="E4E8F5"/>
                </a:solidFill>
                <a:latin typeface="Calibri" pitchFamily="34" charset="0"/>
                <a:ea typeface="Calibri" pitchFamily="34" charset="-122"/>
                <a:cs typeface="Calibri" pitchFamily="34" charset="-120"/>
              </a:rPr>
              <a:t>Wer setzt sich durch ?</a:t>
            </a:r>
            <a:endParaRPr lang="en-US" sz="1500" dirty="0">
              <a:solidFill>
                <a:srgbClr val="E4E8F5"/>
              </a:solidFill>
              <a:latin typeface="Calibri" pitchFamily="34" charset="0"/>
              <a:ea typeface="Calibri" pitchFamily="34" charset="-122"/>
              <a:cs typeface="Calibri" pitchFamily="34" charset="-120"/>
            </a:endParaRPr>
          </a:p>
        </p:txBody>
      </p:sp>
      <p:sp>
        <p:nvSpPr>
          <p:cNvPr id="49" name="Shape 12"/>
          <p:cNvSpPr/>
          <p:nvPr/>
        </p:nvSpPr>
        <p:spPr>
          <a:xfrm>
            <a:off x="6383655" y="4470654"/>
            <a:ext cx="420624" cy="420624"/>
          </a:xfrm>
          <a:prstGeom prst="ellipse">
            <a:avLst/>
          </a:prstGeom>
          <a:solidFill>
            <a:srgbClr val="17213D"/>
          </a:solidFill>
          <a:ln/>
        </p:spPr>
      </p:sp>
      <p:sp>
        <p:nvSpPr>
          <p:cNvPr id="50" name="Text 13"/>
          <p:cNvSpPr txBox="1"/>
          <p:nvPr/>
        </p:nvSpPr>
        <p:spPr>
          <a:xfrm>
            <a:off x="6383655" y="4470654"/>
            <a:ext cx="420624" cy="420624"/>
          </a:xfrm>
          <a:prstGeom prst="rect">
            <a:avLst/>
          </a:prstGeom>
          <a:noFill/>
          <a:ln/>
        </p:spPr>
        <p:txBody>
          <a:bodyPr wrap="square" lIns="0" tIns="0" rIns="0" bIns="0" rtlCol="0" anchor="ctr"/>
          <a:lstStyle/>
          <a:p>
            <a:pPr marL="0" indent="0" algn="ctr">
              <a:buNone/>
            </a:pPr>
            <a:r>
              <a:rPr lang="en-US" sz="1300" b="1" smtClean="0">
                <a:solidFill>
                  <a:srgbClr val="00D9C0"/>
                </a:solidFill>
                <a:latin typeface="Arial" pitchFamily="34" charset="0"/>
                <a:cs typeface="Arial" pitchFamily="34" charset="-120"/>
              </a:rPr>
              <a:t>11</a:t>
            </a:r>
            <a:endParaRPr lang="en-US" sz="1300" dirty="0"/>
          </a:p>
        </p:txBody>
      </p:sp>
      <p:sp>
        <p:nvSpPr>
          <p:cNvPr id="51" name="Text 14"/>
          <p:cNvSpPr txBox="1"/>
          <p:nvPr/>
        </p:nvSpPr>
        <p:spPr>
          <a:xfrm>
            <a:off x="6978015" y="4452366"/>
            <a:ext cx="4709160" cy="457200"/>
          </a:xfrm>
          <a:prstGeom prst="rect">
            <a:avLst/>
          </a:prstGeom>
          <a:noFill/>
          <a:ln/>
        </p:spPr>
        <p:txBody>
          <a:bodyPr wrap="square" lIns="0" tIns="0" rIns="0" bIns="0" rtlCol="0" anchor="ctr"/>
          <a:lstStyle/>
          <a:p>
            <a:pPr marL="0" indent="0">
              <a:buNone/>
            </a:pPr>
            <a:r>
              <a:rPr lang="en-US" sz="1500" smtClean="0">
                <a:solidFill>
                  <a:srgbClr val="E4E8F5"/>
                </a:solidFill>
                <a:latin typeface="Calibri" pitchFamily="34" charset="0"/>
                <a:ea typeface="Calibri" pitchFamily="34" charset="-122"/>
                <a:cs typeface="Calibri" pitchFamily="34" charset="-120"/>
              </a:rPr>
              <a:t>docker-compose.yml: Ollama-Service</a:t>
            </a:r>
            <a:endParaRPr lang="en-US" sz="1500" dirty="0"/>
          </a:p>
        </p:txBody>
      </p:sp>
      <p:sp>
        <p:nvSpPr>
          <p:cNvPr id="52" name="Shape 15"/>
          <p:cNvSpPr/>
          <p:nvPr/>
        </p:nvSpPr>
        <p:spPr>
          <a:xfrm>
            <a:off x="6383655" y="4913757"/>
            <a:ext cx="420624" cy="420624"/>
          </a:xfrm>
          <a:prstGeom prst="ellipse">
            <a:avLst/>
          </a:prstGeom>
          <a:solidFill>
            <a:srgbClr val="17213D"/>
          </a:solidFill>
          <a:ln/>
        </p:spPr>
      </p:sp>
      <p:sp>
        <p:nvSpPr>
          <p:cNvPr id="53" name="Text 16"/>
          <p:cNvSpPr txBox="1"/>
          <p:nvPr/>
        </p:nvSpPr>
        <p:spPr>
          <a:xfrm>
            <a:off x="6383655" y="4913757"/>
            <a:ext cx="420624" cy="420624"/>
          </a:xfrm>
          <a:prstGeom prst="rect">
            <a:avLst/>
          </a:prstGeom>
          <a:noFill/>
          <a:ln/>
        </p:spPr>
        <p:txBody>
          <a:bodyPr wrap="square" lIns="0" tIns="0" rIns="0" bIns="0" rtlCol="0" anchor="ctr"/>
          <a:lstStyle/>
          <a:p>
            <a:pPr marL="0" indent="0" algn="ctr">
              <a:buNone/>
            </a:pPr>
            <a:r>
              <a:rPr lang="en-US" sz="1300" b="1" smtClean="0">
                <a:solidFill>
                  <a:srgbClr val="00D9C0"/>
                </a:solidFill>
                <a:latin typeface="Arial" pitchFamily="34" charset="0"/>
                <a:cs typeface="Arial" pitchFamily="34" charset="-120"/>
              </a:rPr>
              <a:t>12</a:t>
            </a:r>
            <a:endParaRPr lang="en-US" sz="1300" dirty="0"/>
          </a:p>
        </p:txBody>
      </p:sp>
      <p:sp>
        <p:nvSpPr>
          <p:cNvPr id="54" name="Text 17"/>
          <p:cNvSpPr txBox="1"/>
          <p:nvPr/>
        </p:nvSpPr>
        <p:spPr>
          <a:xfrm>
            <a:off x="6978015" y="5019294"/>
            <a:ext cx="4709160" cy="457200"/>
          </a:xfrm>
          <a:prstGeom prst="rect">
            <a:avLst/>
          </a:prstGeom>
          <a:noFill/>
          <a:ln/>
        </p:spPr>
        <p:txBody>
          <a:bodyPr wrap="square" lIns="0" tIns="0" rIns="0" bIns="0" rtlCol="0" anchor="ctr"/>
          <a:lstStyle/>
          <a:p>
            <a:r>
              <a:rPr lang="en-US" sz="1500" dirty="0">
                <a:solidFill>
                  <a:schemeClr val="bg1">
                    <a:lumMod val="95000"/>
                  </a:schemeClr>
                </a:solidFill>
                <a:ea typeface="Calibri" pitchFamily="34" charset="-122"/>
                <a:cs typeface="Calibri" pitchFamily="34" charset="-120"/>
              </a:rPr>
              <a:t>docker-compose.yml</a:t>
            </a:r>
            <a:r>
              <a:rPr lang="en-US" sz="1500">
                <a:solidFill>
                  <a:schemeClr val="bg1">
                    <a:lumMod val="95000"/>
                  </a:schemeClr>
                </a:solidFill>
                <a:ea typeface="Calibri" pitchFamily="34" charset="-122"/>
                <a:cs typeface="Calibri" pitchFamily="34" charset="-120"/>
              </a:rPr>
              <a:t>: </a:t>
            </a:r>
            <a:r>
              <a:rPr lang="en-US" sz="1600">
                <a:solidFill>
                  <a:schemeClr val="bg1">
                    <a:lumMod val="85000"/>
                  </a:schemeClr>
                </a:solidFill>
                <a:ea typeface="Arial" pitchFamily="34" charset="-122"/>
                <a:cs typeface="Arial" pitchFamily="34" charset="-120"/>
              </a:rPr>
              <a:t>Berechtigungen &amp; Kern-Variablen</a:t>
            </a:r>
          </a:p>
          <a:p>
            <a:pPr marL="0" indent="0">
              <a:buNone/>
            </a:pPr>
            <a:endParaRPr lang="en-US" sz="1500" dirty="0">
              <a:solidFill>
                <a:srgbClr val="E4E8F5"/>
              </a:solidFill>
              <a:latin typeface="Calibri" pitchFamily="34" charset="0"/>
              <a:ea typeface="Calibri" pitchFamily="34" charset="-122"/>
              <a:cs typeface="Calibri" pitchFamily="34" charset="-120"/>
            </a:endParaRPr>
          </a:p>
        </p:txBody>
      </p:sp>
      <p:sp>
        <p:nvSpPr>
          <p:cNvPr id="55" name="Shape 15"/>
          <p:cNvSpPr/>
          <p:nvPr/>
        </p:nvSpPr>
        <p:spPr>
          <a:xfrm>
            <a:off x="6367462" y="5360289"/>
            <a:ext cx="420624" cy="420624"/>
          </a:xfrm>
          <a:prstGeom prst="ellipse">
            <a:avLst/>
          </a:prstGeom>
          <a:solidFill>
            <a:srgbClr val="17213D"/>
          </a:solidFill>
          <a:ln/>
        </p:spPr>
      </p:sp>
      <p:sp>
        <p:nvSpPr>
          <p:cNvPr id="56" name="Text 16"/>
          <p:cNvSpPr txBox="1"/>
          <p:nvPr/>
        </p:nvSpPr>
        <p:spPr>
          <a:xfrm>
            <a:off x="6367462" y="5360289"/>
            <a:ext cx="420624" cy="420624"/>
          </a:xfrm>
          <a:prstGeom prst="rect">
            <a:avLst/>
          </a:prstGeom>
          <a:noFill/>
          <a:ln/>
        </p:spPr>
        <p:txBody>
          <a:bodyPr wrap="square" lIns="0" tIns="0" rIns="0" bIns="0" rtlCol="0" anchor="ctr"/>
          <a:lstStyle/>
          <a:p>
            <a:pPr marL="0" indent="0" algn="ctr">
              <a:buNone/>
            </a:pPr>
            <a:r>
              <a:rPr lang="en-US" sz="1300" b="1" smtClean="0">
                <a:solidFill>
                  <a:srgbClr val="00D9C0"/>
                </a:solidFill>
                <a:latin typeface="Arial" pitchFamily="34" charset="0"/>
                <a:cs typeface="Arial" pitchFamily="34" charset="-120"/>
              </a:rPr>
              <a:t>13</a:t>
            </a:r>
            <a:endParaRPr lang="en-US" sz="1300" dirty="0"/>
          </a:p>
        </p:txBody>
      </p:sp>
      <p:sp>
        <p:nvSpPr>
          <p:cNvPr id="57" name="Text 17"/>
          <p:cNvSpPr txBox="1"/>
          <p:nvPr/>
        </p:nvSpPr>
        <p:spPr>
          <a:xfrm>
            <a:off x="6961822" y="5456682"/>
            <a:ext cx="4570095" cy="466344"/>
          </a:xfrm>
          <a:prstGeom prst="rect">
            <a:avLst/>
          </a:prstGeom>
          <a:noFill/>
          <a:ln/>
        </p:spPr>
        <p:txBody>
          <a:bodyPr wrap="square" lIns="0" tIns="0" rIns="0" bIns="0" rtlCol="0" anchor="ctr"/>
          <a:lstStyle/>
          <a:p>
            <a:r>
              <a:rPr lang="en-US" sz="1500" dirty="0">
                <a:solidFill>
                  <a:schemeClr val="bg1">
                    <a:lumMod val="95000"/>
                  </a:schemeClr>
                </a:solidFill>
                <a:ea typeface="Calibri" pitchFamily="34" charset="-122"/>
                <a:cs typeface="Calibri" pitchFamily="34" charset="-120"/>
              </a:rPr>
              <a:t>docker-compose.yml</a:t>
            </a:r>
            <a:r>
              <a:rPr lang="en-US" sz="1500">
                <a:solidFill>
                  <a:schemeClr val="bg1">
                    <a:lumMod val="95000"/>
                  </a:schemeClr>
                </a:solidFill>
                <a:ea typeface="Calibri" pitchFamily="34" charset="-122"/>
                <a:cs typeface="Calibri" pitchFamily="34" charset="-120"/>
              </a:rPr>
              <a:t>: </a:t>
            </a:r>
            <a:r>
              <a:rPr lang="en-US" sz="1600" smtClean="0">
                <a:solidFill>
                  <a:schemeClr val="bg1">
                    <a:lumMod val="85000"/>
                  </a:schemeClr>
                </a:solidFill>
                <a:ea typeface="Calibri" pitchFamily="34" charset="-122"/>
                <a:cs typeface="Arial" pitchFamily="34" charset="-120"/>
              </a:rPr>
              <a:t>Weitere Variablen</a:t>
            </a:r>
            <a:endParaRPr lang="en-US" sz="1600">
              <a:solidFill>
                <a:schemeClr val="bg1">
                  <a:lumMod val="85000"/>
                </a:schemeClr>
              </a:solidFill>
              <a:ea typeface="Arial" pitchFamily="34" charset="-122"/>
              <a:cs typeface="Arial" pitchFamily="34" charset="-120"/>
            </a:endParaRPr>
          </a:p>
          <a:p>
            <a:pPr marL="0" indent="0">
              <a:buNone/>
            </a:pPr>
            <a:endParaRPr lang="en-US" sz="1500" dirty="0">
              <a:solidFill>
                <a:srgbClr val="E4E8F5"/>
              </a:solidFill>
              <a:latin typeface="Calibri" pitchFamily="34" charset="0"/>
              <a:ea typeface="Calibri" pitchFamily="34" charset="-122"/>
              <a:cs typeface="Calibri" pitchFamily="34" charset="-120"/>
            </a:endParaRPr>
          </a:p>
        </p:txBody>
      </p:sp>
      <p:sp>
        <p:nvSpPr>
          <p:cNvPr id="58" name="Shape 15"/>
          <p:cNvSpPr/>
          <p:nvPr/>
        </p:nvSpPr>
        <p:spPr>
          <a:xfrm>
            <a:off x="6367462" y="5798439"/>
            <a:ext cx="420624" cy="420624"/>
          </a:xfrm>
          <a:prstGeom prst="ellipse">
            <a:avLst/>
          </a:prstGeom>
          <a:solidFill>
            <a:srgbClr val="17213D"/>
          </a:solidFill>
          <a:ln/>
        </p:spPr>
      </p:sp>
      <p:sp>
        <p:nvSpPr>
          <p:cNvPr id="59" name="Text 16"/>
          <p:cNvSpPr txBox="1"/>
          <p:nvPr/>
        </p:nvSpPr>
        <p:spPr>
          <a:xfrm>
            <a:off x="6367462" y="5798439"/>
            <a:ext cx="420624" cy="420624"/>
          </a:xfrm>
          <a:prstGeom prst="rect">
            <a:avLst/>
          </a:prstGeom>
          <a:noFill/>
          <a:ln/>
        </p:spPr>
        <p:txBody>
          <a:bodyPr wrap="square" lIns="0" tIns="0" rIns="0" bIns="0" rtlCol="0" anchor="ctr"/>
          <a:lstStyle/>
          <a:p>
            <a:pPr marL="0" indent="0" algn="ctr">
              <a:buNone/>
            </a:pPr>
            <a:r>
              <a:rPr lang="en-US" sz="1300" b="1" smtClean="0">
                <a:solidFill>
                  <a:srgbClr val="00D9C0"/>
                </a:solidFill>
                <a:latin typeface="Arial" pitchFamily="34" charset="0"/>
                <a:cs typeface="Arial" pitchFamily="34" charset="-120"/>
              </a:rPr>
              <a:t>14</a:t>
            </a:r>
            <a:endParaRPr lang="en-US" sz="1300" dirty="0"/>
          </a:p>
        </p:txBody>
      </p:sp>
      <p:sp>
        <p:nvSpPr>
          <p:cNvPr id="60" name="Text 17"/>
          <p:cNvSpPr txBox="1"/>
          <p:nvPr/>
        </p:nvSpPr>
        <p:spPr>
          <a:xfrm>
            <a:off x="6961822" y="5894832"/>
            <a:ext cx="4570095" cy="466344"/>
          </a:xfrm>
          <a:prstGeom prst="rect">
            <a:avLst/>
          </a:prstGeom>
          <a:noFill/>
          <a:ln/>
        </p:spPr>
        <p:txBody>
          <a:bodyPr wrap="square" lIns="0" tIns="0" rIns="0" bIns="0" rtlCol="0" anchor="ctr"/>
          <a:lstStyle/>
          <a:p>
            <a:r>
              <a:rPr lang="en-US" sz="1600">
                <a:solidFill>
                  <a:schemeClr val="bg1">
                    <a:lumMod val="85000"/>
                  </a:schemeClr>
                </a:solidFill>
                <a:ea typeface="Arial" pitchFamily="34" charset="-122"/>
                <a:cs typeface="Arial" pitchFamily="34" charset="-120"/>
              </a:rPr>
              <a:t>Modelfile: Basismodell, System-Rolle &amp; Prompt-Format</a:t>
            </a:r>
          </a:p>
          <a:p>
            <a:pPr marL="0" indent="0">
              <a:buNone/>
            </a:pPr>
            <a:endParaRPr lang="en-US" sz="1500" dirty="0">
              <a:solidFill>
                <a:srgbClr val="E4E8F5"/>
              </a:solidFill>
              <a:latin typeface="Calibri" pitchFamily="34" charset="0"/>
              <a:ea typeface="Calibri" pitchFamily="34" charset="-122"/>
              <a:cs typeface="Calibri" pitchFamily="34" charset="-12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00D9C0"/>
                </a:solidFill>
                <a:latin typeface="Calibri" pitchFamily="34" charset="0"/>
                <a:ea typeface="Calibri" pitchFamily="34" charset="-122"/>
                <a:cs typeface="Calibri" pitchFamily="34" charset="-120"/>
              </a:rPr>
              <a:t>BLOCK </a:t>
            </a:r>
            <a:r>
              <a:rPr lang="en-US" sz="1300" b="1" kern="0" spc="200" dirty="0">
                <a:solidFill>
                  <a:srgbClr val="00D9C0"/>
                </a:solidFill>
                <a:latin typeface="Calibri" pitchFamily="34" charset="0"/>
                <a:ea typeface="Calibri" pitchFamily="34" charset="-122"/>
                <a:cs typeface="Calibri" pitchFamily="34" charset="-120"/>
              </a:rPr>
              <a:t>3 OPTIMIERUNG</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Vulkan: die Brücke zur iGPU</a:t>
            </a:r>
            <a:endParaRPr lang="en-US" sz="3000" dirty="0"/>
          </a:p>
        </p:txBody>
      </p:sp>
      <p:sp>
        <p:nvSpPr>
          <p:cNvPr id="4" name="Shape 2"/>
          <p:cNvSpPr/>
          <p:nvPr/>
        </p:nvSpPr>
        <p:spPr>
          <a:xfrm>
            <a:off x="640080" y="1828800"/>
            <a:ext cx="457200" cy="457200"/>
          </a:xfrm>
          <a:prstGeom prst="ellipse">
            <a:avLst/>
          </a:prstGeom>
          <a:solidFill>
            <a:srgbClr val="00D9C0"/>
          </a:solidFill>
          <a:ln/>
        </p:spPr>
      </p:sp>
      <p:sp>
        <p:nvSpPr>
          <p:cNvPr id="5" name="Text 3"/>
          <p:cNvSpPr txBox="1"/>
          <p:nvPr/>
        </p:nvSpPr>
        <p:spPr>
          <a:xfrm>
            <a:off x="640080" y="1828800"/>
            <a:ext cx="457200" cy="457200"/>
          </a:xfrm>
          <a:prstGeom prst="rect">
            <a:avLst/>
          </a:prstGeom>
          <a:noFill/>
          <a:ln/>
        </p:spPr>
        <p:txBody>
          <a:bodyPr wrap="square" lIns="0" tIns="0" rIns="0" bIns="0" rtlCol="0" anchor="ctr"/>
          <a:lstStyle/>
          <a:p>
            <a:pPr marL="0" indent="0" algn="ctr">
              <a:buNone/>
            </a:pPr>
            <a:r>
              <a:rPr lang="en-US" sz="1500" b="1" dirty="0">
                <a:solidFill>
                  <a:srgbClr val="0D1321"/>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325880" y="1600200"/>
            <a:ext cx="5852160" cy="914400"/>
          </a:xfrm>
          <a:prstGeom prst="rect">
            <a:avLst/>
          </a:prstGeom>
          <a:noFill/>
          <a:ln/>
        </p:spPr>
        <p:txBody>
          <a:bodyPr wrap="square" lIns="0" tIns="0" rIns="0" bIns="0" rtlCol="0" anchor="ctr"/>
          <a:lstStyle/>
          <a:p>
            <a:pPr marL="0" indent="0">
              <a:buNone/>
            </a:pPr>
            <a:r>
              <a:rPr lang="en-US" sz="1450" dirty="0">
                <a:solidFill>
                  <a:srgbClr val="E4E8F5"/>
                </a:solidFill>
                <a:latin typeface="Calibri" pitchFamily="34" charset="0"/>
                <a:ea typeface="Calibri" pitchFamily="34" charset="-122"/>
                <a:cs typeface="Calibri" pitchFamily="34" charset="-120"/>
              </a:rPr>
              <a:t>Standard für performante 2D-/3D-Grafik – steuert im Hintergrund Millionen Geräte an</a:t>
            </a:r>
            <a:endParaRPr lang="en-US" sz="1450" dirty="0"/>
          </a:p>
        </p:txBody>
      </p:sp>
      <p:sp>
        <p:nvSpPr>
          <p:cNvPr id="7" name="Shape 5"/>
          <p:cNvSpPr/>
          <p:nvPr/>
        </p:nvSpPr>
        <p:spPr>
          <a:xfrm>
            <a:off x="640080" y="2971800"/>
            <a:ext cx="457200" cy="457200"/>
          </a:xfrm>
          <a:prstGeom prst="ellipse">
            <a:avLst/>
          </a:prstGeom>
          <a:solidFill>
            <a:srgbClr val="00D9C0"/>
          </a:solidFill>
          <a:ln/>
        </p:spPr>
      </p:sp>
      <p:sp>
        <p:nvSpPr>
          <p:cNvPr id="8" name="Text 6"/>
          <p:cNvSpPr txBox="1"/>
          <p:nvPr/>
        </p:nvSpPr>
        <p:spPr>
          <a:xfrm>
            <a:off x="640080" y="2971800"/>
            <a:ext cx="457200" cy="457200"/>
          </a:xfrm>
          <a:prstGeom prst="rect">
            <a:avLst/>
          </a:prstGeom>
          <a:noFill/>
          <a:ln/>
        </p:spPr>
        <p:txBody>
          <a:bodyPr wrap="square" lIns="0" tIns="0" rIns="0" bIns="0" rtlCol="0" anchor="ctr"/>
          <a:lstStyle/>
          <a:p>
            <a:pPr marL="0" indent="0" algn="ctr">
              <a:buNone/>
            </a:pPr>
            <a:r>
              <a:rPr lang="en-US" sz="1500" b="1" dirty="0">
                <a:solidFill>
                  <a:srgbClr val="0D1321"/>
                </a:solidFill>
                <a:latin typeface="Arial" pitchFamily="34" charset="0"/>
                <a:ea typeface="Arial" pitchFamily="34" charset="-122"/>
                <a:cs typeface="Arial" pitchFamily="34" charset="-120"/>
              </a:rPr>
              <a:t>2</a:t>
            </a:r>
            <a:endParaRPr lang="en-US" sz="1500" dirty="0"/>
          </a:p>
        </p:txBody>
      </p:sp>
      <p:sp>
        <p:nvSpPr>
          <p:cNvPr id="9" name="Text 7"/>
          <p:cNvSpPr txBox="1"/>
          <p:nvPr/>
        </p:nvSpPr>
        <p:spPr>
          <a:xfrm>
            <a:off x="1325880" y="2743200"/>
            <a:ext cx="5852160" cy="914400"/>
          </a:xfrm>
          <a:prstGeom prst="rect">
            <a:avLst/>
          </a:prstGeom>
          <a:noFill/>
          <a:ln/>
        </p:spPr>
        <p:txBody>
          <a:bodyPr wrap="square" lIns="0" tIns="0" rIns="0" bIns="0" rtlCol="0" anchor="ctr"/>
          <a:lstStyle/>
          <a:p>
            <a:pPr marL="0" indent="0">
              <a:buNone/>
            </a:pPr>
            <a:r>
              <a:rPr lang="en-US" sz="1450" dirty="0">
                <a:solidFill>
                  <a:srgbClr val="E4E8F5"/>
                </a:solidFill>
                <a:latin typeface="Calibri" pitchFamily="34" charset="0"/>
                <a:ea typeface="Calibri" pitchFamily="34" charset="-122"/>
                <a:cs typeface="Calibri" pitchFamily="34" charset="-120"/>
              </a:rPr>
              <a:t>Erkennt den GTT-Bereich und lädt das KI-Modell in den geteilten RAM</a:t>
            </a:r>
            <a:endParaRPr lang="en-US" sz="1450" dirty="0"/>
          </a:p>
        </p:txBody>
      </p:sp>
      <p:sp>
        <p:nvSpPr>
          <p:cNvPr id="10" name="Shape 8"/>
          <p:cNvSpPr/>
          <p:nvPr/>
        </p:nvSpPr>
        <p:spPr>
          <a:xfrm>
            <a:off x="640080" y="4114800"/>
            <a:ext cx="457200" cy="457200"/>
          </a:xfrm>
          <a:prstGeom prst="ellipse">
            <a:avLst/>
          </a:prstGeom>
          <a:solidFill>
            <a:srgbClr val="00D9C0"/>
          </a:solidFill>
          <a:ln/>
        </p:spPr>
      </p:sp>
      <p:sp>
        <p:nvSpPr>
          <p:cNvPr id="11" name="Text 9"/>
          <p:cNvSpPr txBox="1"/>
          <p:nvPr/>
        </p:nvSpPr>
        <p:spPr>
          <a:xfrm>
            <a:off x="640080" y="4114800"/>
            <a:ext cx="457200" cy="457200"/>
          </a:xfrm>
          <a:prstGeom prst="rect">
            <a:avLst/>
          </a:prstGeom>
          <a:noFill/>
          <a:ln/>
        </p:spPr>
        <p:txBody>
          <a:bodyPr wrap="square" lIns="0" tIns="0" rIns="0" bIns="0" rtlCol="0" anchor="ctr"/>
          <a:lstStyle/>
          <a:p>
            <a:pPr marL="0" indent="0" algn="ctr">
              <a:buNone/>
            </a:pPr>
            <a:r>
              <a:rPr lang="en-US" sz="1500" b="1" dirty="0">
                <a:solidFill>
                  <a:srgbClr val="0D1321"/>
                </a:solidFill>
                <a:latin typeface="Arial" pitchFamily="34" charset="0"/>
                <a:ea typeface="Arial" pitchFamily="34" charset="-122"/>
                <a:cs typeface="Arial" pitchFamily="34" charset="-120"/>
              </a:rPr>
              <a:t>3</a:t>
            </a:r>
            <a:endParaRPr lang="en-US" sz="1500" dirty="0"/>
          </a:p>
        </p:txBody>
      </p:sp>
      <p:sp>
        <p:nvSpPr>
          <p:cNvPr id="12" name="Text 10"/>
          <p:cNvSpPr txBox="1"/>
          <p:nvPr/>
        </p:nvSpPr>
        <p:spPr>
          <a:xfrm>
            <a:off x="1325880" y="3931920"/>
            <a:ext cx="5852160" cy="914400"/>
          </a:xfrm>
          <a:prstGeom prst="rect">
            <a:avLst/>
          </a:prstGeom>
          <a:noFill/>
          <a:ln/>
        </p:spPr>
        <p:txBody>
          <a:bodyPr wrap="square" lIns="0" tIns="0" rIns="0" bIns="0" rtlCol="0" anchor="ctr"/>
          <a:lstStyle/>
          <a:p>
            <a:pPr marL="0" indent="0">
              <a:buNone/>
            </a:pPr>
            <a:r>
              <a:rPr lang="en-US" sz="1450" dirty="0">
                <a:solidFill>
                  <a:srgbClr val="E4E8F5"/>
                </a:solidFill>
                <a:latin typeface="Calibri" pitchFamily="34" charset="0"/>
                <a:ea typeface="Calibri" pitchFamily="34" charset="-122"/>
                <a:cs typeface="Calibri" pitchFamily="34" charset="-120"/>
              </a:rPr>
              <a:t>Aktiviert die Grafikkerne der iGPU – genau deshalb ist Vulkan bei AMD-iGPUs so interessant</a:t>
            </a:r>
            <a:endParaRPr lang="en-US" sz="1450" dirty="0"/>
          </a:p>
        </p:txBody>
      </p:sp>
      <p:sp>
        <p:nvSpPr>
          <p:cNvPr id="13" name="Shape 11"/>
          <p:cNvSpPr/>
          <p:nvPr/>
        </p:nvSpPr>
        <p:spPr>
          <a:xfrm>
            <a:off x="640080" y="5394960"/>
            <a:ext cx="6537960" cy="1051560"/>
          </a:xfrm>
          <a:prstGeom prst="roundRect">
            <a:avLst>
              <a:gd name="adj" fmla="val 8696"/>
            </a:avLst>
          </a:prstGeom>
          <a:solidFill>
            <a:srgbClr val="17213D"/>
          </a:solidFill>
          <a:ln/>
        </p:spPr>
      </p:sp>
      <p:sp>
        <p:nvSpPr>
          <p:cNvPr id="14" name="Text 12"/>
          <p:cNvSpPr txBox="1"/>
          <p:nvPr/>
        </p:nvSpPr>
        <p:spPr>
          <a:xfrm>
            <a:off x="868680" y="5394960"/>
            <a:ext cx="6080760" cy="1051560"/>
          </a:xfrm>
          <a:prstGeom prst="rect">
            <a:avLst/>
          </a:prstGeom>
          <a:noFill/>
          <a:ln/>
        </p:spPr>
        <p:txBody>
          <a:bodyPr wrap="square" lIns="0" tIns="0" rIns="0" bIns="0" rtlCol="0" anchor="ctr"/>
          <a:lstStyle/>
          <a:p>
            <a:pPr marL="0" indent="0">
              <a:buNone/>
            </a:pPr>
            <a:r>
              <a:rPr lang="en-US" sz="1250" i="1" dirty="0">
                <a:solidFill>
                  <a:srgbClr val="9AA3C0"/>
                </a:solidFill>
                <a:latin typeface="Calibri" pitchFamily="34" charset="0"/>
                <a:ea typeface="Calibri" pitchFamily="34" charset="-122"/>
                <a:cs typeface="Calibri" pitchFamily="34" charset="-120"/>
              </a:rPr>
              <a:t>Ohne Vulkan sieht Ollama zwar die Hardware, nutzt aber nur die CPU – der Großteil der Rechenleistung der iGPU bleibt ungenutzt.</a:t>
            </a:r>
            <a:endParaRPr lang="en-US" sz="1250" dirty="0"/>
          </a:p>
        </p:txBody>
      </p:sp>
      <p:sp>
        <p:nvSpPr>
          <p:cNvPr id="15" name="Shape 13"/>
          <p:cNvSpPr/>
          <p:nvPr/>
        </p:nvSpPr>
        <p:spPr>
          <a:xfrm>
            <a:off x="7680960" y="1828800"/>
            <a:ext cx="3931920" cy="4617720"/>
          </a:xfrm>
          <a:prstGeom prst="roundRect">
            <a:avLst>
              <a:gd name="adj" fmla="val 2326"/>
            </a:avLst>
          </a:prstGeom>
          <a:solidFill>
            <a:srgbClr val="17213D"/>
          </a:solidFill>
          <a:ln/>
        </p:spPr>
      </p:sp>
      <p:sp>
        <p:nvSpPr>
          <p:cNvPr id="16" name="Text 14"/>
          <p:cNvSpPr txBox="1"/>
          <p:nvPr/>
        </p:nvSpPr>
        <p:spPr>
          <a:xfrm>
            <a:off x="7955280" y="2057400"/>
            <a:ext cx="3383280" cy="365760"/>
          </a:xfrm>
          <a:prstGeom prst="rect">
            <a:avLst/>
          </a:prstGeom>
          <a:noFill/>
          <a:ln/>
        </p:spPr>
        <p:txBody>
          <a:bodyPr wrap="square" lIns="0" tIns="0" rIns="0" bIns="0" rtlCol="0" anchor="ctr"/>
          <a:lstStyle/>
          <a:p>
            <a:pPr marL="0" indent="0">
              <a:buNone/>
            </a:pPr>
            <a:r>
              <a:rPr lang="en-US" sz="1400" b="1" dirty="0">
                <a:solidFill>
                  <a:srgbClr val="00D9C0"/>
                </a:solidFill>
                <a:latin typeface="Arial" pitchFamily="34" charset="0"/>
                <a:ea typeface="Arial" pitchFamily="34" charset="-122"/>
                <a:cs typeface="Arial" pitchFamily="34" charset="-120"/>
              </a:rPr>
              <a:t>Docker braucht Zugriff auf:</a:t>
            </a:r>
            <a:endParaRPr lang="en-US" sz="1400" dirty="0"/>
          </a:p>
        </p:txBody>
      </p:sp>
      <p:sp>
        <p:nvSpPr>
          <p:cNvPr id="17" name="Text 15"/>
          <p:cNvSpPr txBox="1"/>
          <p:nvPr/>
        </p:nvSpPr>
        <p:spPr>
          <a:xfrm>
            <a:off x="7955280" y="2514600"/>
            <a:ext cx="3383280" cy="3749040"/>
          </a:xfrm>
          <a:prstGeom prst="rect">
            <a:avLst/>
          </a:prstGeom>
          <a:noFill/>
          <a:ln/>
        </p:spPr>
        <p:txBody>
          <a:bodyPr wrap="square" lIns="0" tIns="0" rIns="0" bIns="0" rtlCol="0" anchor="t"/>
          <a:lstStyle/>
          <a:p>
            <a:pPr marL="0" indent="0">
              <a:buNone/>
            </a:pPr>
            <a:r>
              <a:rPr lang="en-US" sz="1300" b="1" dirty="0">
                <a:solidFill>
                  <a:srgbClr val="FFFFFF"/>
                </a:solidFill>
                <a:latin typeface="Courier New" pitchFamily="34" charset="0"/>
                <a:ea typeface="Courier New" pitchFamily="34" charset="-122"/>
                <a:cs typeface="Courier New" pitchFamily="34" charset="-120"/>
              </a:rPr>
              <a:t>/dev/dri
</a:t>
            </a:r>
            <a:endParaRPr lang="en-US" sz="1300" dirty="0"/>
          </a:p>
          <a:p>
            <a:pPr marL="0" indent="0">
              <a:buNone/>
            </a:pPr>
            <a:r>
              <a:rPr lang="en-US" sz="1250" dirty="0">
                <a:solidFill>
                  <a:srgbClr val="9AA3C0"/>
                </a:solidFill>
                <a:latin typeface="Calibri" pitchFamily="34" charset="0"/>
                <a:ea typeface="Calibri" pitchFamily="34" charset="-122"/>
                <a:cs typeface="Calibri" pitchFamily="34" charset="-120"/>
              </a:rPr>
              <a:t>Öffnet dem Container die Tür zur Grafikeinheit (Vulkan-Zugriff).
</a:t>
            </a:r>
            <a:endParaRPr lang="en-US" sz="1300" dirty="0"/>
          </a:p>
          <a:p>
            <a:pPr marL="0" indent="0">
              <a:buNone/>
            </a:pPr>
            <a:r>
              <a:rPr lang="en-US" sz="1300" b="1" dirty="0">
                <a:solidFill>
                  <a:srgbClr val="FFFFFF"/>
                </a:solidFill>
                <a:latin typeface="Courier New" pitchFamily="34" charset="0"/>
                <a:ea typeface="Courier New" pitchFamily="34" charset="-122"/>
                <a:cs typeface="Courier New" pitchFamily="34" charset="-120"/>
              </a:rPr>
              <a:t>/dev/kfd
</a:t>
            </a:r>
            <a:endParaRPr lang="en-US" sz="1300" dirty="0"/>
          </a:p>
          <a:p>
            <a:pPr marL="0" indent="0">
              <a:buNone/>
            </a:pPr>
            <a:r>
              <a:rPr lang="en-US" sz="1250" dirty="0">
                <a:solidFill>
                  <a:srgbClr val="9AA3C0"/>
                </a:solidFill>
                <a:latin typeface="Calibri" pitchFamily="34" charset="0"/>
                <a:ea typeface="Calibri" pitchFamily="34" charset="-122"/>
                <a:cs typeface="Calibri" pitchFamily="34" charset="-120"/>
              </a:rPr>
              <a:t>AMDs Spezialtür für Compute-Aufgaben – direkte Kommunikation mit dem Prozessorkern für Berechnungen.</a:t>
            </a:r>
            <a:endParaRPr lang="en-US" sz="1300" dirty="0"/>
          </a:p>
        </p:txBody>
      </p:sp>
      <p:sp>
        <p:nvSpPr>
          <p:cNvPr id="18" name="Text 16"/>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9AA3C0"/>
                </a:solidFill>
                <a:latin typeface="Calibri" pitchFamily="34" charset="0"/>
                <a:ea typeface="Calibri" pitchFamily="34" charset="-122"/>
                <a:cs typeface="Calibri" pitchFamily="34" charset="-120"/>
              </a:rPr>
              <a:t>OLLAMA PERFORMANCE TUNING · iGPU</a:t>
            </a:r>
            <a:endParaRPr lang="en-US" sz="900" dirty="0"/>
          </a:p>
        </p:txBody>
      </p:sp>
      <p:sp>
        <p:nvSpPr>
          <p:cNvPr id="19" name="Text 17"/>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9AA3C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00D9C0"/>
                </a:solidFill>
                <a:latin typeface="Calibri" pitchFamily="34" charset="0"/>
                <a:ea typeface="Calibri" pitchFamily="34" charset="-122"/>
                <a:cs typeface="Calibri" pitchFamily="34" charset="-120"/>
              </a:rPr>
              <a:t>BLOCK </a:t>
            </a:r>
            <a:r>
              <a:rPr lang="en-US" sz="1300" b="1" kern="0" spc="200" dirty="0">
                <a:solidFill>
                  <a:srgbClr val="00D9C0"/>
                </a:solidFill>
                <a:latin typeface="Calibri" pitchFamily="34" charset="0"/>
                <a:ea typeface="Calibri" pitchFamily="34" charset="-122"/>
                <a:cs typeface="Calibri" pitchFamily="34" charset="-120"/>
              </a:rPr>
              <a:t>3 OPTIMIERUNG</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KI-Geschwindigkeit messen</a:t>
            </a:r>
            <a:endParaRPr lang="en-US" sz="3000" dirty="0"/>
          </a:p>
        </p:txBody>
      </p:sp>
      <p:sp>
        <p:nvSpPr>
          <p:cNvPr id="4" name="Text 2"/>
          <p:cNvSpPr txBox="1"/>
          <p:nvPr/>
        </p:nvSpPr>
        <p:spPr>
          <a:xfrm>
            <a:off x="548640" y="1463040"/>
            <a:ext cx="10607040" cy="685800"/>
          </a:xfrm>
          <a:prstGeom prst="rect">
            <a:avLst/>
          </a:prstGeom>
          <a:noFill/>
          <a:ln/>
        </p:spPr>
        <p:txBody>
          <a:bodyPr wrap="square" lIns="0" tIns="0" rIns="0" bIns="0" rtlCol="0" anchor="ctr"/>
          <a:lstStyle/>
          <a:p>
            <a:r>
              <a:rPr lang="de-DE" sz="1400" smtClean="0">
                <a:solidFill>
                  <a:schemeClr val="tx1">
                    <a:lumMod val="65000"/>
                    <a:lumOff val="35000"/>
                  </a:schemeClr>
                </a:solidFill>
              </a:rPr>
              <a:t>Die Anzahl der Parameter in Llama3.1:8b ist hoch im Vergleich zu Llama3.2 und sollte verwendet werden für </a:t>
            </a:r>
            <a:r>
              <a:rPr lang="de-DE" sz="1400">
                <a:solidFill>
                  <a:schemeClr val="tx1">
                    <a:lumMod val="65000"/>
                    <a:lumOff val="35000"/>
                  </a:schemeClr>
                </a:solidFill>
              </a:rPr>
              <a:t>Komplexe, mehrsprachige Übersetzungen (Nuancen), Tiefes Fach- und Faktenwissen (Deep Knowledge), Programmierung und Code-Generierung und Komplexe Logik und mehrstufige Workflows (Reasoning</a:t>
            </a:r>
            <a:r>
              <a:rPr lang="de-DE" sz="1400"/>
              <a:t>)</a:t>
            </a:r>
            <a:endParaRPr lang="en-US" sz="1300" dirty="0">
              <a:solidFill>
                <a:schemeClr val="tx1">
                  <a:lumMod val="65000"/>
                  <a:lumOff val="35000"/>
                </a:schemeClr>
              </a:solidFill>
            </a:endParaRPr>
          </a:p>
        </p:txBody>
      </p:sp>
      <p:graphicFrame>
        <p:nvGraphicFramePr>
          <p:cNvPr id="5" name="Chart 0"/>
          <p:cNvGraphicFramePr/>
          <p:nvPr>
            <p:extLst>
              <p:ext uri="{D42A27DB-BD31-4B8C-83A1-F6EECF244321}">
                <p14:modId xmlns:p14="http://schemas.microsoft.com/office/powerpoint/2010/main" val="1670398605"/>
              </p:ext>
            </p:extLst>
          </p:nvPr>
        </p:nvGraphicFramePr>
        <p:xfrm>
          <a:off x="548640" y="2148840"/>
          <a:ext cx="63093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178040" y="2148840"/>
            <a:ext cx="4434840" cy="1828800"/>
          </a:xfrm>
          <a:prstGeom prst="roundRect">
            <a:avLst>
              <a:gd name="adj" fmla="val 5000"/>
            </a:avLst>
          </a:prstGeom>
          <a:solidFill>
            <a:srgbClr val="0D1321"/>
          </a:solidFill>
          <a:ln/>
        </p:spPr>
      </p:sp>
      <p:sp>
        <p:nvSpPr>
          <p:cNvPr id="7" name="Text 4"/>
          <p:cNvSpPr txBox="1"/>
          <p:nvPr/>
        </p:nvSpPr>
        <p:spPr>
          <a:xfrm>
            <a:off x="8639908" y="2303145"/>
            <a:ext cx="2743200" cy="914400"/>
          </a:xfrm>
          <a:prstGeom prst="rect">
            <a:avLst/>
          </a:prstGeom>
          <a:noFill/>
          <a:ln/>
        </p:spPr>
        <p:txBody>
          <a:bodyPr wrap="square" lIns="0" tIns="0" rIns="0" bIns="0" rtlCol="0" anchor="ctr"/>
          <a:lstStyle/>
          <a:p>
            <a:pPr marL="0" indent="0">
              <a:buNone/>
            </a:pPr>
            <a:r>
              <a:rPr lang="en-US" sz="4400" b="1" dirty="0">
                <a:solidFill>
                  <a:srgbClr val="00D9C0"/>
                </a:solidFill>
                <a:latin typeface="Arial" pitchFamily="34" charset="0"/>
                <a:ea typeface="Arial" pitchFamily="34" charset="-122"/>
                <a:cs typeface="Arial" pitchFamily="34" charset="-120"/>
              </a:rPr>
              <a:t>~2×</a:t>
            </a:r>
            <a:endParaRPr lang="en-US" sz="4400" dirty="0"/>
          </a:p>
        </p:txBody>
      </p:sp>
      <p:sp>
        <p:nvSpPr>
          <p:cNvPr id="8" name="Text 5"/>
          <p:cNvSpPr txBox="1"/>
          <p:nvPr/>
        </p:nvSpPr>
        <p:spPr>
          <a:xfrm>
            <a:off x="8296304" y="3063240"/>
            <a:ext cx="2011680" cy="777240"/>
          </a:xfrm>
          <a:prstGeom prst="rect">
            <a:avLst/>
          </a:prstGeom>
          <a:noFill/>
          <a:ln/>
        </p:spPr>
        <p:txBody>
          <a:bodyPr wrap="square" lIns="0" tIns="0" rIns="0" bIns="0" rtlCol="0" anchor="ctr"/>
          <a:lstStyle/>
          <a:p>
            <a:pPr marL="0" indent="0">
              <a:buNone/>
            </a:pPr>
            <a:r>
              <a:rPr lang="en-US" sz="1300" dirty="0">
                <a:solidFill>
                  <a:srgbClr val="D7DCEE"/>
                </a:solidFill>
                <a:latin typeface="Calibri" pitchFamily="34" charset="0"/>
                <a:ea typeface="Calibri" pitchFamily="34" charset="-122"/>
                <a:cs typeface="Calibri" pitchFamily="34" charset="-120"/>
              </a:rPr>
              <a:t>schneller mit llama3.2:latest</a:t>
            </a:r>
            <a:endParaRPr lang="en-US" sz="1300" dirty="0"/>
          </a:p>
          <a:p>
            <a:pPr marL="0" indent="0">
              <a:buNone/>
            </a:pPr>
            <a:r>
              <a:rPr lang="en-US" sz="1300" dirty="0">
                <a:solidFill>
                  <a:srgbClr val="D7DCEE"/>
                </a:solidFill>
                <a:latin typeface="Calibri" pitchFamily="34" charset="0"/>
                <a:ea typeface="Calibri" pitchFamily="34" charset="-122"/>
                <a:cs typeface="Calibri" pitchFamily="34" charset="-120"/>
              </a:rPr>
              <a:t>im direkten Codewort-Test</a:t>
            </a:r>
            <a:endParaRPr lang="en-US" sz="1300" dirty="0"/>
          </a:p>
        </p:txBody>
      </p:sp>
      <p:sp>
        <p:nvSpPr>
          <p:cNvPr id="9" name="Shape 6"/>
          <p:cNvSpPr/>
          <p:nvPr/>
        </p:nvSpPr>
        <p:spPr>
          <a:xfrm>
            <a:off x="7178040" y="4160520"/>
            <a:ext cx="4434840" cy="2103120"/>
          </a:xfrm>
          <a:prstGeom prst="roundRect">
            <a:avLst>
              <a:gd name="adj" fmla="val 4348"/>
            </a:avLst>
          </a:prstGeom>
          <a:solidFill>
            <a:srgbClr val="F2F5FA"/>
          </a:solidFill>
          <a:ln/>
        </p:spPr>
      </p:sp>
      <p:sp>
        <p:nvSpPr>
          <p:cNvPr id="10" name="Text 7"/>
          <p:cNvSpPr txBox="1"/>
          <p:nvPr/>
        </p:nvSpPr>
        <p:spPr>
          <a:xfrm>
            <a:off x="7336184" y="4235156"/>
            <a:ext cx="3931920" cy="914401"/>
          </a:xfrm>
          <a:prstGeom prst="rect">
            <a:avLst/>
          </a:prstGeom>
          <a:noFill/>
          <a:ln/>
        </p:spPr>
        <p:txBody>
          <a:bodyPr wrap="square" lIns="0" tIns="0" rIns="0" bIns="0" rtlCol="0" anchor="ctr"/>
          <a:lstStyle/>
          <a:p>
            <a:r>
              <a:rPr lang="en-US" sz="900" b="1">
                <a:solidFill>
                  <a:srgbClr val="0D1321"/>
                </a:solidFill>
                <a:latin typeface="Consolas" panose="020B0609020204030204" pitchFamily="49" charset="0"/>
                <a:ea typeface="Arial" pitchFamily="34" charset="-122"/>
                <a:cs typeface="Arial" pitchFamily="34" charset="-120"/>
              </a:rPr>
              <a:t>$ docker exec -it ollama_container ollama run llama3.1:8b "Lies den folgenden Text aufmerksam durch. Ganz am Ende steht ein geheimes Codewort nach dem Wort 'GEHEIMWORT:'. Nenne mir NUR dieses eine Codewort und absolut nichts anderes! Hier ist der Text: $(cat ki-test.txt)" --verbose</a:t>
            </a:r>
            <a:endParaRPr lang="en-US" sz="900" dirty="0">
              <a:latin typeface="Consolas" panose="020B0609020204030204" pitchFamily="49" charset="0"/>
            </a:endParaRPr>
          </a:p>
        </p:txBody>
      </p:sp>
      <p:sp>
        <p:nvSpPr>
          <p:cNvPr id="11" name="Text 8"/>
          <p:cNvSpPr txBox="1"/>
          <p:nvPr/>
        </p:nvSpPr>
        <p:spPr>
          <a:xfrm>
            <a:off x="7336184" y="5149557"/>
            <a:ext cx="2675324" cy="1089465"/>
          </a:xfrm>
          <a:prstGeom prst="rect">
            <a:avLst/>
          </a:prstGeom>
          <a:noFill/>
          <a:ln/>
        </p:spPr>
        <p:txBody>
          <a:bodyPr wrap="square" lIns="0" tIns="0" rIns="0" bIns="0" rtlCol="0" anchor="ctr"/>
          <a:lstStyle/>
          <a:p>
            <a:pPr marL="0" indent="0">
              <a:buNone/>
            </a:pPr>
            <a:r>
              <a:rPr lang="en-US" sz="1000" b="1" dirty="0">
                <a:solidFill>
                  <a:srgbClr val="5B6478"/>
                </a:solidFill>
                <a:latin typeface="Calibri" pitchFamily="34" charset="0"/>
                <a:ea typeface="Calibri" pitchFamily="34" charset="-122"/>
                <a:cs typeface="Calibri" pitchFamily="34" charset="-120"/>
              </a:rPr>
              <a:t>prompt eval rate</a:t>
            </a:r>
            <a:r>
              <a:rPr lang="en-US" sz="1000" b="1">
                <a:solidFill>
                  <a:srgbClr val="5B6478"/>
                </a:solidFill>
                <a:latin typeface="Calibri" pitchFamily="34" charset="0"/>
                <a:ea typeface="Calibri" pitchFamily="34" charset="-122"/>
                <a:cs typeface="Calibri" pitchFamily="34" charset="-120"/>
              </a:rPr>
              <a:t>: </a:t>
            </a:r>
            <a:endParaRPr lang="en-US" sz="1000" b="1" smtClean="0">
              <a:solidFill>
                <a:srgbClr val="5B6478"/>
              </a:solidFill>
              <a:latin typeface="Calibri" pitchFamily="34" charset="0"/>
              <a:ea typeface="Calibri" pitchFamily="34" charset="-122"/>
              <a:cs typeface="Calibri" pitchFamily="34" charset="-120"/>
            </a:endParaRPr>
          </a:p>
          <a:p>
            <a:r>
              <a:rPr lang="en-US" sz="1000">
                <a:solidFill>
                  <a:srgbClr val="5B6478"/>
                </a:solidFill>
                <a:latin typeface="Calibri" pitchFamily="34" charset="0"/>
                <a:ea typeface="Calibri" pitchFamily="34" charset="-122"/>
                <a:cs typeface="Calibri" pitchFamily="34" charset="-120"/>
              </a:rPr>
              <a:t>zeigt, wie schnell der Eingabetext eingelesen wird.</a:t>
            </a:r>
            <a:endParaRPr lang="en-US" sz="1000" dirty="0"/>
          </a:p>
          <a:p>
            <a:pPr marL="0" indent="0">
              <a:buNone/>
            </a:pPr>
            <a:endParaRPr lang="en-US" sz="1000" b="1" smtClean="0">
              <a:solidFill>
                <a:srgbClr val="5B6478"/>
              </a:solidFill>
              <a:latin typeface="Calibri" pitchFamily="34" charset="0"/>
              <a:ea typeface="Calibri" pitchFamily="34" charset="-122"/>
              <a:cs typeface="Calibri" pitchFamily="34" charset="-120"/>
            </a:endParaRPr>
          </a:p>
          <a:p>
            <a:pPr marL="0" indent="0">
              <a:buNone/>
            </a:pPr>
            <a:r>
              <a:rPr lang="en-US" sz="1000" b="1" smtClean="0">
                <a:solidFill>
                  <a:srgbClr val="5B6478"/>
                </a:solidFill>
                <a:latin typeface="Calibri" pitchFamily="34" charset="0"/>
                <a:ea typeface="Calibri" pitchFamily="34" charset="-122"/>
                <a:cs typeface="Calibri" pitchFamily="34" charset="-120"/>
              </a:rPr>
              <a:t>eval </a:t>
            </a:r>
            <a:r>
              <a:rPr lang="en-US" sz="1000" b="1" dirty="0">
                <a:solidFill>
                  <a:srgbClr val="5B6478"/>
                </a:solidFill>
                <a:latin typeface="Calibri" pitchFamily="34" charset="0"/>
                <a:ea typeface="Calibri" pitchFamily="34" charset="-122"/>
                <a:cs typeface="Calibri" pitchFamily="34" charset="-120"/>
              </a:rPr>
              <a:t>rate</a:t>
            </a:r>
            <a:r>
              <a:rPr lang="en-US" sz="1000">
                <a:solidFill>
                  <a:srgbClr val="5B6478"/>
                </a:solidFill>
                <a:latin typeface="Calibri" pitchFamily="34" charset="0"/>
                <a:ea typeface="Calibri" pitchFamily="34" charset="-122"/>
                <a:cs typeface="Calibri" pitchFamily="34" charset="-120"/>
              </a:rPr>
              <a:t>: </a:t>
            </a:r>
            <a:endParaRPr lang="en-US" sz="1000" smtClean="0">
              <a:solidFill>
                <a:srgbClr val="5B6478"/>
              </a:solidFill>
              <a:latin typeface="Calibri" pitchFamily="34" charset="0"/>
              <a:ea typeface="Calibri" pitchFamily="34" charset="-122"/>
              <a:cs typeface="Calibri" pitchFamily="34" charset="-120"/>
            </a:endParaRPr>
          </a:p>
          <a:p>
            <a:r>
              <a:rPr lang="de-DE" sz="1000">
                <a:solidFill>
                  <a:schemeClr val="tx1">
                    <a:lumMod val="65000"/>
                    <a:lumOff val="35000"/>
                  </a:schemeClr>
                </a:solidFill>
              </a:rPr>
              <a:t>Die Generierungsgeschwindigkeit (Eval Rate) zeigt, wie viele Tokens das Modell pro Sekunde ausgibt.</a:t>
            </a:r>
            <a:endParaRPr lang="en-US" sz="1000" dirty="0">
              <a:solidFill>
                <a:schemeClr val="tx1">
                  <a:lumMod val="65000"/>
                  <a:lumOff val="35000"/>
                </a:schemeClr>
              </a:solidFill>
            </a:endParaRPr>
          </a:p>
        </p:txBody>
      </p:sp>
      <p:sp>
        <p:nvSpPr>
          <p:cNvPr id="12" name="Text 9"/>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13" name="Text 10"/>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5B647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00D9C0"/>
                </a:solidFill>
                <a:latin typeface="Calibri" pitchFamily="34" charset="0"/>
                <a:ea typeface="Calibri" pitchFamily="34" charset="-122"/>
                <a:cs typeface="Calibri" pitchFamily="34" charset="-120"/>
              </a:rPr>
              <a:t>BLOCK </a:t>
            </a:r>
            <a:r>
              <a:rPr lang="en-US" sz="1300" b="1" kern="0" spc="200" dirty="0">
                <a:solidFill>
                  <a:srgbClr val="00D9C0"/>
                </a:solidFill>
                <a:latin typeface="Calibri" pitchFamily="34" charset="0"/>
                <a:ea typeface="Calibri" pitchFamily="34" charset="-122"/>
                <a:cs typeface="Calibri" pitchFamily="34" charset="-120"/>
              </a:rPr>
              <a:t>3 OPTIMIERUNG</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smtClean="0">
                <a:solidFill>
                  <a:srgbClr val="12172B"/>
                </a:solidFill>
                <a:latin typeface="Arial" pitchFamily="34" charset="0"/>
                <a:ea typeface="Arial" pitchFamily="34" charset="-122"/>
                <a:cs typeface="Arial" pitchFamily="34" charset="-120"/>
              </a:rPr>
              <a:t>Konfiguration</a:t>
            </a:r>
            <a:r>
              <a:rPr lang="en-US" sz="3000" b="1" dirty="0">
                <a:solidFill>
                  <a:srgbClr val="12172B"/>
                </a:solidFill>
                <a:latin typeface="Arial" pitchFamily="34" charset="0"/>
                <a:ea typeface="Arial" pitchFamily="34" charset="-122"/>
                <a:cs typeface="Arial" pitchFamily="34" charset="-120"/>
              </a:rPr>
              <a:t>: Wer setzt sich durch?</a:t>
            </a:r>
          </a:p>
        </p:txBody>
      </p:sp>
      <p:sp>
        <p:nvSpPr>
          <p:cNvPr id="4" name="Shape 2"/>
          <p:cNvSpPr/>
          <p:nvPr/>
        </p:nvSpPr>
        <p:spPr>
          <a:xfrm>
            <a:off x="548640" y="1600200"/>
            <a:ext cx="11064240" cy="1188720"/>
          </a:xfrm>
          <a:prstGeom prst="roundRect">
            <a:avLst>
              <a:gd name="adj" fmla="val 7692"/>
            </a:avLst>
          </a:prstGeom>
          <a:solidFill>
            <a:srgbClr val="0D1321"/>
          </a:solidFill>
          <a:ln/>
        </p:spPr>
      </p:sp>
      <p:sp>
        <p:nvSpPr>
          <p:cNvPr id="5" name="Shape 3"/>
          <p:cNvSpPr/>
          <p:nvPr/>
        </p:nvSpPr>
        <p:spPr>
          <a:xfrm>
            <a:off x="777240" y="1810512"/>
            <a:ext cx="3566160" cy="548640"/>
          </a:xfrm>
          <a:prstGeom prst="roundRect">
            <a:avLst>
              <a:gd name="adj" fmla="val 10000"/>
            </a:avLst>
          </a:prstGeom>
          <a:solidFill>
            <a:srgbClr val="17213D"/>
          </a:solidFill>
          <a:ln/>
        </p:spPr>
      </p:sp>
      <p:sp>
        <p:nvSpPr>
          <p:cNvPr id="6" name="Text 4"/>
          <p:cNvSpPr txBox="1"/>
          <p:nvPr/>
        </p:nvSpPr>
        <p:spPr>
          <a:xfrm>
            <a:off x="777240" y="1810512"/>
            <a:ext cx="3566160" cy="548640"/>
          </a:xfrm>
          <a:prstGeom prst="rect">
            <a:avLst/>
          </a:prstGeom>
          <a:noFill/>
          <a:ln/>
        </p:spPr>
        <p:txBody>
          <a:bodyPr wrap="square" lIns="0" tIns="0" rIns="0" bIns="0" rtlCol="0" anchor="ctr"/>
          <a:lstStyle/>
          <a:p>
            <a:pPr marL="0" indent="0" algn="ctr">
              <a:buNone/>
            </a:pPr>
            <a:r>
              <a:rPr lang="en-US" sz="1200" b="1" dirty="0">
                <a:solidFill>
                  <a:srgbClr val="00D9C0"/>
                </a:solidFill>
                <a:latin typeface="Courier New" pitchFamily="34" charset="0"/>
                <a:ea typeface="Courier New" pitchFamily="34" charset="-122"/>
                <a:cs typeface="Courier New" pitchFamily="34" charset="-120"/>
              </a:rPr>
              <a:t>REQUEST &gt; MODELFILE &gt; COMPOSE</a:t>
            </a:r>
          </a:p>
        </p:txBody>
      </p:sp>
      <p:sp>
        <p:nvSpPr>
          <p:cNvPr id="7" name="Text 5"/>
          <p:cNvSpPr txBox="1"/>
          <p:nvPr/>
        </p:nvSpPr>
        <p:spPr>
          <a:xfrm>
            <a:off x="4572000" y="1600200"/>
            <a:ext cx="6766560" cy="1188720"/>
          </a:xfrm>
          <a:prstGeom prst="rect">
            <a:avLst/>
          </a:prstGeom>
          <a:noFill/>
          <a:ln/>
        </p:spPr>
        <p:txBody>
          <a:bodyPr wrap="square" lIns="0" tIns="0" rIns="0" bIns="0" rtlCol="0" anchor="ctr"/>
          <a:lstStyle/>
          <a:p>
            <a:pPr marL="0" indent="0">
              <a:buNone/>
            </a:pPr>
            <a:r>
              <a:rPr lang="en-US" sz="1300" dirty="0">
                <a:solidFill>
                  <a:srgbClr val="E4E8F5"/>
                </a:solidFill>
                <a:latin typeface="Calibri" pitchFamily="34" charset="0"/>
                <a:ea typeface="Calibri" pitchFamily="34" charset="-122"/>
                <a:cs typeface="Calibri" pitchFamily="34" charset="-120"/>
              </a:rPr>
              <a:t>Der Wert in der API-Anfrage sticht das Modelfile immer aus. Das Modelfile dient als Fallback – hier hinterlegst du die optimalen Werte als globale Standardwerte.</a:t>
            </a:r>
          </a:p>
        </p:txBody>
      </p:sp>
      <p:sp>
        <p:nvSpPr>
          <p:cNvPr id="8" name="Text 6"/>
          <p:cNvSpPr txBox="1"/>
          <p:nvPr/>
        </p:nvSpPr>
        <p:spPr>
          <a:xfrm>
            <a:off x="548640" y="3063240"/>
            <a:ext cx="8229600" cy="365760"/>
          </a:xfrm>
          <a:prstGeom prst="rect">
            <a:avLst/>
          </a:prstGeom>
          <a:noFill/>
          <a:ln/>
        </p:spPr>
        <p:txBody>
          <a:bodyPr wrap="square" lIns="0" tIns="0" rIns="0" bIns="0" rtlCol="0" anchor="ctr"/>
          <a:lstStyle/>
          <a:p>
            <a:pPr marL="0" indent="0">
              <a:buNone/>
            </a:pPr>
            <a:r>
              <a:rPr lang="en-US" sz="1500" b="1" dirty="0">
                <a:solidFill>
                  <a:srgbClr val="0D1321"/>
                </a:solidFill>
                <a:latin typeface="Arial" pitchFamily="34" charset="0"/>
                <a:ea typeface="Arial" pitchFamily="34" charset="-122"/>
                <a:cs typeface="Arial" pitchFamily="34" charset="-120"/>
              </a:rPr>
              <a:t>Wo wird der Wert tatsächlich gesetzt?</a:t>
            </a:r>
          </a:p>
        </p:txBody>
      </p:sp>
      <p:sp>
        <p:nvSpPr>
          <p:cNvPr id="9" name="Shape 7"/>
          <p:cNvSpPr/>
          <p:nvPr/>
        </p:nvSpPr>
        <p:spPr>
          <a:xfrm>
            <a:off x="548640" y="3429000"/>
            <a:ext cx="11064240" cy="512064"/>
          </a:xfrm>
          <a:prstGeom prst="roundRect">
            <a:avLst>
              <a:gd name="adj" fmla="val 12500"/>
            </a:avLst>
          </a:prstGeom>
          <a:solidFill>
            <a:srgbClr val="F2F5FA"/>
          </a:solidFill>
          <a:ln/>
        </p:spPr>
      </p:sp>
      <p:sp>
        <p:nvSpPr>
          <p:cNvPr id="10" name="Text 8"/>
          <p:cNvSpPr txBox="1"/>
          <p:nvPr/>
        </p:nvSpPr>
        <p:spPr>
          <a:xfrm>
            <a:off x="731520" y="3429000"/>
            <a:ext cx="2834640" cy="512064"/>
          </a:xfrm>
          <a:prstGeom prst="rect">
            <a:avLst/>
          </a:prstGeom>
          <a:noFill/>
          <a:ln/>
        </p:spPr>
        <p:txBody>
          <a:bodyPr wrap="square" lIns="0" tIns="0" rIns="0" bIns="0" rtlCol="0" anchor="ctr"/>
          <a:lstStyle/>
          <a:p>
            <a:pPr marL="0" indent="0">
              <a:buNone/>
            </a:pPr>
            <a:r>
              <a:rPr lang="en-US" sz="1250" b="1" dirty="0">
                <a:solidFill>
                  <a:srgbClr val="0D1321"/>
                </a:solidFill>
                <a:latin typeface="Arial" pitchFamily="34" charset="0"/>
                <a:ea typeface="Arial" pitchFamily="34" charset="-122"/>
                <a:cs typeface="Arial" pitchFamily="34" charset="-120"/>
              </a:rPr>
              <a:t>n8n Node Einstellungen</a:t>
            </a:r>
          </a:p>
        </p:txBody>
      </p:sp>
      <p:sp>
        <p:nvSpPr>
          <p:cNvPr id="11" name="Text 9"/>
          <p:cNvSpPr txBox="1"/>
          <p:nvPr/>
        </p:nvSpPr>
        <p:spPr>
          <a:xfrm>
            <a:off x="3657600" y="3429000"/>
            <a:ext cx="5852160" cy="512064"/>
          </a:xfrm>
          <a:prstGeom prst="rect">
            <a:avLst/>
          </a:prstGeom>
          <a:noFill/>
          <a:ln/>
        </p:spPr>
        <p:txBody>
          <a:bodyPr wrap="square" lIns="0" tIns="0" rIns="0" bIns="0" rtlCol="0" anchor="ctr"/>
          <a:lstStyle/>
          <a:p>
            <a:pPr marL="0" indent="0">
              <a:buNone/>
            </a:pPr>
            <a:r>
              <a:rPr lang="en-US" sz="1150" dirty="0">
                <a:solidFill>
                  <a:srgbClr val="5B6478"/>
                </a:solidFill>
                <a:latin typeface="Calibri" pitchFamily="34" charset="0"/>
                <a:ea typeface="Calibri" pitchFamily="34" charset="-122"/>
                <a:cs typeface="Calibri" pitchFamily="34" charset="-120"/>
              </a:rPr>
              <a:t>Wird zur Laufzeit jeder Anfrage mitgeschickt – sticht IMMER alle anderen Werte aus</a:t>
            </a:r>
          </a:p>
        </p:txBody>
      </p:sp>
      <p:sp>
        <p:nvSpPr>
          <p:cNvPr id="12" name="Shape 10"/>
          <p:cNvSpPr/>
          <p:nvPr/>
        </p:nvSpPr>
        <p:spPr>
          <a:xfrm>
            <a:off x="9646920" y="3502152"/>
            <a:ext cx="1783080" cy="365760"/>
          </a:xfrm>
          <a:prstGeom prst="roundRect">
            <a:avLst>
              <a:gd name="adj" fmla="val 50000"/>
            </a:avLst>
          </a:prstGeom>
          <a:solidFill>
            <a:srgbClr val="00D9C0"/>
          </a:solidFill>
          <a:ln/>
        </p:spPr>
      </p:sp>
      <p:sp>
        <p:nvSpPr>
          <p:cNvPr id="13" name="Text 11"/>
          <p:cNvSpPr txBox="1"/>
          <p:nvPr/>
        </p:nvSpPr>
        <p:spPr>
          <a:xfrm>
            <a:off x="9646920" y="3502152"/>
            <a:ext cx="1783080" cy="365760"/>
          </a:xfrm>
          <a:prstGeom prst="rect">
            <a:avLst/>
          </a:prstGeom>
          <a:noFill/>
          <a:ln/>
        </p:spPr>
        <p:txBody>
          <a:bodyPr wrap="square" lIns="0" tIns="0" rIns="0" bIns="0" rtlCol="0" anchor="ctr"/>
          <a:lstStyle/>
          <a:p>
            <a:pPr marL="0" indent="0" algn="ctr">
              <a:buNone/>
            </a:pPr>
            <a:r>
              <a:rPr lang="en-US" sz="1100" b="1" dirty="0">
                <a:solidFill>
                  <a:srgbClr val="0D1321"/>
                </a:solidFill>
                <a:latin typeface="Calibri" pitchFamily="34" charset="0"/>
                <a:ea typeface="Calibri" pitchFamily="34" charset="-122"/>
                <a:cs typeface="Calibri" pitchFamily="34" charset="-120"/>
              </a:rPr>
              <a:t>Höchste Prio</a:t>
            </a:r>
          </a:p>
        </p:txBody>
      </p:sp>
      <p:sp>
        <p:nvSpPr>
          <p:cNvPr id="14" name="Shape 12"/>
          <p:cNvSpPr/>
          <p:nvPr/>
        </p:nvSpPr>
        <p:spPr>
          <a:xfrm>
            <a:off x="548640" y="4005072"/>
            <a:ext cx="11064240" cy="512064"/>
          </a:xfrm>
          <a:prstGeom prst="roundRect">
            <a:avLst>
              <a:gd name="adj" fmla="val 12500"/>
            </a:avLst>
          </a:prstGeom>
          <a:solidFill>
            <a:srgbClr val="F2F5FA"/>
          </a:solidFill>
          <a:ln/>
        </p:spPr>
      </p:sp>
      <p:sp>
        <p:nvSpPr>
          <p:cNvPr id="15" name="Text 13"/>
          <p:cNvSpPr txBox="1"/>
          <p:nvPr/>
        </p:nvSpPr>
        <p:spPr>
          <a:xfrm>
            <a:off x="731520" y="4005072"/>
            <a:ext cx="2834640" cy="512064"/>
          </a:xfrm>
          <a:prstGeom prst="rect">
            <a:avLst/>
          </a:prstGeom>
          <a:noFill/>
          <a:ln/>
        </p:spPr>
        <p:txBody>
          <a:bodyPr wrap="square" lIns="0" tIns="0" rIns="0" bIns="0" rtlCol="0" anchor="ctr"/>
          <a:lstStyle/>
          <a:p>
            <a:pPr marL="0" indent="0">
              <a:buNone/>
            </a:pPr>
            <a:r>
              <a:rPr lang="en-US" sz="1250" b="1" dirty="0">
                <a:solidFill>
                  <a:srgbClr val="0D1321"/>
                </a:solidFill>
                <a:latin typeface="Arial" pitchFamily="34" charset="0"/>
                <a:ea typeface="Arial" pitchFamily="34" charset="-122"/>
                <a:cs typeface="Arial" pitchFamily="34" charset="-120"/>
              </a:rPr>
              <a:t>Modelfile</a:t>
            </a:r>
          </a:p>
        </p:txBody>
      </p:sp>
      <p:sp>
        <p:nvSpPr>
          <p:cNvPr id="16" name="Text 14"/>
          <p:cNvSpPr txBox="1"/>
          <p:nvPr/>
        </p:nvSpPr>
        <p:spPr>
          <a:xfrm>
            <a:off x="3657600" y="4005072"/>
            <a:ext cx="5852160" cy="512064"/>
          </a:xfrm>
          <a:prstGeom prst="rect">
            <a:avLst/>
          </a:prstGeom>
          <a:noFill/>
          <a:ln/>
        </p:spPr>
        <p:txBody>
          <a:bodyPr wrap="square" lIns="0" tIns="0" rIns="0" bIns="0" rtlCol="0" anchor="ctr"/>
          <a:lstStyle/>
          <a:p>
            <a:pPr marL="0" indent="0">
              <a:buNone/>
            </a:pPr>
            <a:r>
              <a:rPr lang="en-US" sz="1150" dirty="0">
                <a:solidFill>
                  <a:srgbClr val="5B6478"/>
                </a:solidFill>
                <a:latin typeface="Calibri" pitchFamily="34" charset="0"/>
                <a:ea typeface="Calibri" pitchFamily="34" charset="-122"/>
                <a:cs typeface="Calibri" pitchFamily="34" charset="-120"/>
              </a:rPr>
              <a:t>Der Standardwert des Modells – greift, wenn die Anfrage selbst nichts vorgibt</a:t>
            </a:r>
          </a:p>
        </p:txBody>
      </p:sp>
      <p:sp>
        <p:nvSpPr>
          <p:cNvPr id="17" name="Shape 15"/>
          <p:cNvSpPr/>
          <p:nvPr/>
        </p:nvSpPr>
        <p:spPr>
          <a:xfrm>
            <a:off x="9646920" y="4078224"/>
            <a:ext cx="1783080" cy="365760"/>
          </a:xfrm>
          <a:prstGeom prst="roundRect">
            <a:avLst>
              <a:gd name="adj" fmla="val 50000"/>
            </a:avLst>
          </a:prstGeom>
          <a:solidFill>
            <a:srgbClr val="FF6B4A"/>
          </a:solidFill>
          <a:ln/>
        </p:spPr>
      </p:sp>
      <p:sp>
        <p:nvSpPr>
          <p:cNvPr id="18" name="Text 16"/>
          <p:cNvSpPr txBox="1"/>
          <p:nvPr/>
        </p:nvSpPr>
        <p:spPr>
          <a:xfrm>
            <a:off x="9646920" y="4078224"/>
            <a:ext cx="1783080" cy="365760"/>
          </a:xfrm>
          <a:prstGeom prst="rect">
            <a:avLst/>
          </a:prstGeom>
          <a:noFill/>
          <a:ln/>
        </p:spPr>
        <p:txBody>
          <a:bodyPr wrap="square" lIns="0" tIns="0" rIns="0" bIns="0" rtlCol="0" anchor="ctr"/>
          <a:lstStyle/>
          <a:p>
            <a:pPr marL="0" indent="0" algn="ctr">
              <a:buNone/>
            </a:pPr>
            <a:r>
              <a:rPr lang="en-US" sz="1100" b="1" dirty="0">
                <a:solidFill>
                  <a:srgbClr val="0D1321"/>
                </a:solidFill>
                <a:latin typeface="Calibri" pitchFamily="34" charset="0"/>
                <a:ea typeface="Calibri" pitchFamily="34" charset="-122"/>
                <a:cs typeface="Calibri" pitchFamily="34" charset="-120"/>
              </a:rPr>
              <a:t>Fallback</a:t>
            </a:r>
          </a:p>
        </p:txBody>
      </p:sp>
      <p:sp>
        <p:nvSpPr>
          <p:cNvPr id="19" name="Shape 17"/>
          <p:cNvSpPr/>
          <p:nvPr/>
        </p:nvSpPr>
        <p:spPr>
          <a:xfrm>
            <a:off x="548640" y="4581144"/>
            <a:ext cx="11064240" cy="512064"/>
          </a:xfrm>
          <a:prstGeom prst="roundRect">
            <a:avLst>
              <a:gd name="adj" fmla="val 12500"/>
            </a:avLst>
          </a:prstGeom>
          <a:solidFill>
            <a:srgbClr val="F2F5FA"/>
          </a:solidFill>
          <a:ln/>
        </p:spPr>
      </p:sp>
      <p:sp>
        <p:nvSpPr>
          <p:cNvPr id="20" name="Text 18"/>
          <p:cNvSpPr txBox="1"/>
          <p:nvPr/>
        </p:nvSpPr>
        <p:spPr>
          <a:xfrm>
            <a:off x="731520" y="4581144"/>
            <a:ext cx="2834640" cy="512064"/>
          </a:xfrm>
          <a:prstGeom prst="rect">
            <a:avLst/>
          </a:prstGeom>
          <a:noFill/>
          <a:ln/>
        </p:spPr>
        <p:txBody>
          <a:bodyPr wrap="square" lIns="0" tIns="0" rIns="0" bIns="0" rtlCol="0" anchor="ctr"/>
          <a:lstStyle/>
          <a:p>
            <a:pPr marL="0" indent="0">
              <a:buNone/>
            </a:pPr>
            <a:r>
              <a:rPr lang="en-US" sz="1250" b="1" dirty="0">
                <a:solidFill>
                  <a:srgbClr val="0D1321"/>
                </a:solidFill>
                <a:latin typeface="Arial" pitchFamily="34" charset="0"/>
                <a:ea typeface="Arial" pitchFamily="34" charset="-122"/>
                <a:cs typeface="Arial" pitchFamily="34" charset="-120"/>
              </a:rPr>
              <a:t>docker-compose.yml</a:t>
            </a:r>
          </a:p>
        </p:txBody>
      </p:sp>
      <p:sp>
        <p:nvSpPr>
          <p:cNvPr id="21" name="Text 19"/>
          <p:cNvSpPr txBox="1"/>
          <p:nvPr/>
        </p:nvSpPr>
        <p:spPr>
          <a:xfrm>
            <a:off x="3657600" y="4581144"/>
            <a:ext cx="5852160" cy="512064"/>
          </a:xfrm>
          <a:prstGeom prst="rect">
            <a:avLst/>
          </a:prstGeom>
          <a:noFill/>
          <a:ln/>
        </p:spPr>
        <p:txBody>
          <a:bodyPr wrap="square" lIns="0" tIns="0" rIns="0" bIns="0" rtlCol="0" anchor="ctr"/>
          <a:lstStyle/>
          <a:p>
            <a:pPr marL="0" indent="0">
              <a:buNone/>
            </a:pPr>
            <a:r>
              <a:rPr lang="en-US" sz="1150" dirty="0">
                <a:solidFill>
                  <a:srgbClr val="5B6478"/>
                </a:solidFill>
                <a:latin typeface="Calibri" pitchFamily="34" charset="0"/>
                <a:ea typeface="Calibri" pitchFamily="34" charset="-122"/>
                <a:cs typeface="Calibri" pitchFamily="34" charset="-120"/>
              </a:rPr>
              <a:t>Der globale Server-Deckel – harte Obergrenze für alle Modelle im Container</a:t>
            </a:r>
          </a:p>
        </p:txBody>
      </p:sp>
      <p:sp>
        <p:nvSpPr>
          <p:cNvPr id="22" name="Shape 20"/>
          <p:cNvSpPr/>
          <p:nvPr/>
        </p:nvSpPr>
        <p:spPr>
          <a:xfrm>
            <a:off x="9646920" y="4654296"/>
            <a:ext cx="1783080" cy="365760"/>
          </a:xfrm>
          <a:prstGeom prst="roundRect">
            <a:avLst>
              <a:gd name="adj" fmla="val 50000"/>
            </a:avLst>
          </a:prstGeom>
          <a:solidFill>
            <a:srgbClr val="9AA3C0"/>
          </a:solidFill>
          <a:ln/>
        </p:spPr>
      </p:sp>
      <p:sp>
        <p:nvSpPr>
          <p:cNvPr id="23" name="Text 21"/>
          <p:cNvSpPr txBox="1"/>
          <p:nvPr/>
        </p:nvSpPr>
        <p:spPr>
          <a:xfrm>
            <a:off x="9646920" y="4654296"/>
            <a:ext cx="17830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Deckel</a:t>
            </a:r>
          </a:p>
        </p:txBody>
      </p:sp>
      <p:sp>
        <p:nvSpPr>
          <p:cNvPr id="24" name="Shape 22"/>
          <p:cNvSpPr/>
          <p:nvPr/>
        </p:nvSpPr>
        <p:spPr>
          <a:xfrm>
            <a:off x="548640" y="5157216"/>
            <a:ext cx="11064240" cy="512064"/>
          </a:xfrm>
          <a:prstGeom prst="roundRect">
            <a:avLst>
              <a:gd name="adj" fmla="val 12500"/>
            </a:avLst>
          </a:prstGeom>
          <a:solidFill>
            <a:srgbClr val="F2F5FA"/>
          </a:solidFill>
          <a:ln/>
        </p:spPr>
      </p:sp>
      <p:sp>
        <p:nvSpPr>
          <p:cNvPr id="25" name="Text 23"/>
          <p:cNvSpPr txBox="1"/>
          <p:nvPr/>
        </p:nvSpPr>
        <p:spPr>
          <a:xfrm>
            <a:off x="731520" y="5157216"/>
            <a:ext cx="2834640" cy="512064"/>
          </a:xfrm>
          <a:prstGeom prst="rect">
            <a:avLst/>
          </a:prstGeom>
          <a:noFill/>
          <a:ln/>
        </p:spPr>
        <p:txBody>
          <a:bodyPr wrap="square" lIns="0" tIns="0" rIns="0" bIns="0" rtlCol="0" anchor="ctr"/>
          <a:lstStyle/>
          <a:p>
            <a:pPr marL="0" indent="0">
              <a:buNone/>
            </a:pPr>
            <a:r>
              <a:rPr lang="en-US" sz="1250" b="1" dirty="0">
                <a:solidFill>
                  <a:srgbClr val="0D1321"/>
                </a:solidFill>
                <a:latin typeface="Arial" pitchFamily="34" charset="0"/>
                <a:ea typeface="Arial" pitchFamily="34" charset="-122"/>
                <a:cs typeface="Arial" pitchFamily="34" charset="-120"/>
              </a:rPr>
              <a:t>Praxis-Regel</a:t>
            </a:r>
          </a:p>
        </p:txBody>
      </p:sp>
      <p:sp>
        <p:nvSpPr>
          <p:cNvPr id="26" name="Text 24"/>
          <p:cNvSpPr txBox="1"/>
          <p:nvPr/>
        </p:nvSpPr>
        <p:spPr>
          <a:xfrm>
            <a:off x="3657600" y="5157216"/>
            <a:ext cx="5852160" cy="512064"/>
          </a:xfrm>
          <a:prstGeom prst="rect">
            <a:avLst/>
          </a:prstGeom>
          <a:noFill/>
          <a:ln/>
        </p:spPr>
        <p:txBody>
          <a:bodyPr wrap="square" lIns="0" tIns="0" rIns="0" bIns="0" rtlCol="0" anchor="ctr"/>
          <a:lstStyle/>
          <a:p>
            <a:pPr marL="0" indent="0">
              <a:buNone/>
            </a:pPr>
            <a:r>
              <a:rPr lang="en-US" sz="1150" dirty="0">
                <a:solidFill>
                  <a:srgbClr val="5B6478"/>
                </a:solidFill>
                <a:latin typeface="Calibri" pitchFamily="34" charset="0"/>
                <a:ea typeface="Calibri" pitchFamily="34" charset="-122"/>
                <a:cs typeface="Calibri" pitchFamily="34" charset="-120"/>
              </a:rPr>
              <a:t>Optimale Werte als globalen Standard im Modelfile hinterlegen, Ausnahmen gezielt per n8n-Node überschreiben</a:t>
            </a:r>
          </a:p>
        </p:txBody>
      </p:sp>
      <p:sp>
        <p:nvSpPr>
          <p:cNvPr id="27" name="Shape 25"/>
          <p:cNvSpPr/>
          <p:nvPr/>
        </p:nvSpPr>
        <p:spPr>
          <a:xfrm>
            <a:off x="9646920" y="5230368"/>
            <a:ext cx="1783080" cy="365760"/>
          </a:xfrm>
          <a:prstGeom prst="roundRect">
            <a:avLst>
              <a:gd name="adj" fmla="val 50000"/>
            </a:avLst>
          </a:prstGeom>
          <a:solidFill>
            <a:srgbClr val="00D9C0"/>
          </a:solidFill>
          <a:ln/>
        </p:spPr>
      </p:sp>
      <p:sp>
        <p:nvSpPr>
          <p:cNvPr id="28" name="Text 26"/>
          <p:cNvSpPr txBox="1"/>
          <p:nvPr/>
        </p:nvSpPr>
        <p:spPr>
          <a:xfrm>
            <a:off x="9646920" y="5230368"/>
            <a:ext cx="17830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Empfehlung</a:t>
            </a:r>
          </a:p>
        </p:txBody>
      </p:sp>
      <p:sp>
        <p:nvSpPr>
          <p:cNvPr id="34" name="Text 32"/>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35" name="Text 33"/>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5B6478"/>
                </a:solidFill>
                <a:latin typeface="Calibri" pitchFamily="34" charset="0"/>
                <a:ea typeface="Calibri" pitchFamily="34" charset="-122"/>
                <a:cs typeface="Calibri" pitchFamily="34" charset="-120"/>
              </a:rPr>
              <a:t>21</a:t>
            </a:r>
            <a:endParaRPr lang="en-US" sz="9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r>
              <a:rPr lang="en-US" sz="1300" b="1" kern="0" spc="200" smtClean="0">
                <a:solidFill>
                  <a:srgbClr val="00D9C0"/>
                </a:solidFill>
                <a:ea typeface="Calibri" pitchFamily="34" charset="-122"/>
                <a:cs typeface="Calibri" pitchFamily="34" charset="-120"/>
              </a:rPr>
              <a:t>BLOCK </a:t>
            </a:r>
            <a:r>
              <a:rPr lang="en-US" sz="1300" b="1" kern="0" spc="200" dirty="0">
                <a:solidFill>
                  <a:srgbClr val="00D9C0"/>
                </a:solidFill>
                <a:ea typeface="Calibri" pitchFamily="34" charset="-122"/>
                <a:cs typeface="Calibri" pitchFamily="34" charset="-120"/>
              </a:rPr>
              <a:t>3 OPTIMIERUNG</a:t>
            </a:r>
            <a:endParaRPr lang="en-US" sz="1300" dirty="0">
              <a:solidFill>
                <a:prstClr val="black"/>
              </a:solidFill>
            </a:endParaRPr>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r>
              <a:rPr lang="en-US" sz="3000" b="1" dirty="0">
                <a:solidFill>
                  <a:srgbClr val="12172B"/>
                </a:solidFill>
                <a:latin typeface="Arial" pitchFamily="34" charset="0"/>
                <a:ea typeface="Arial" pitchFamily="34" charset="-122"/>
                <a:cs typeface="Arial" pitchFamily="34" charset="-120"/>
              </a:rPr>
              <a:t>docker-compose.yml</a:t>
            </a:r>
            <a:r>
              <a:rPr lang="en-US" sz="3000" b="1">
                <a:solidFill>
                  <a:srgbClr val="12172B"/>
                </a:solidFill>
                <a:latin typeface="Arial" pitchFamily="34" charset="0"/>
                <a:ea typeface="Arial" pitchFamily="34" charset="-122"/>
                <a:cs typeface="Arial" pitchFamily="34" charset="-120"/>
              </a:rPr>
              <a:t>: </a:t>
            </a:r>
            <a:r>
              <a:rPr lang="en-US" sz="3000" b="1" smtClean="0">
                <a:solidFill>
                  <a:srgbClr val="12172B"/>
                </a:solidFill>
                <a:latin typeface="Arial" pitchFamily="34" charset="0"/>
                <a:ea typeface="Arial" pitchFamily="34" charset="-122"/>
                <a:cs typeface="Arial" pitchFamily="34" charset="-120"/>
              </a:rPr>
              <a:t>Ollama-Service</a:t>
            </a:r>
            <a:endParaRPr lang="en-US" sz="3000" b="1" dirty="0">
              <a:solidFill>
                <a:srgbClr val="12172B"/>
              </a:solidFill>
              <a:latin typeface="Arial" pitchFamily="34" charset="0"/>
              <a:ea typeface="Arial" pitchFamily="34" charset="-122"/>
              <a:cs typeface="Arial" pitchFamily="34" charset="-120"/>
            </a:endParaRPr>
          </a:p>
        </p:txBody>
      </p:sp>
      <p:sp>
        <p:nvSpPr>
          <p:cNvPr id="4" name="Shape 2"/>
          <p:cNvSpPr/>
          <p:nvPr/>
        </p:nvSpPr>
        <p:spPr>
          <a:xfrm>
            <a:off x="548640" y="1600200"/>
            <a:ext cx="11064240" cy="1188720"/>
          </a:xfrm>
          <a:prstGeom prst="roundRect">
            <a:avLst>
              <a:gd name="adj" fmla="val 7692"/>
            </a:avLst>
          </a:prstGeom>
          <a:solidFill>
            <a:srgbClr val="0D1321"/>
          </a:solidFill>
          <a:ln/>
        </p:spPr>
      </p:sp>
      <p:sp>
        <p:nvSpPr>
          <p:cNvPr id="5" name="Shape 3"/>
          <p:cNvSpPr/>
          <p:nvPr/>
        </p:nvSpPr>
        <p:spPr>
          <a:xfrm>
            <a:off x="815340" y="1916049"/>
            <a:ext cx="3566160" cy="548640"/>
          </a:xfrm>
          <a:prstGeom prst="roundRect">
            <a:avLst>
              <a:gd name="adj" fmla="val 10000"/>
            </a:avLst>
          </a:prstGeom>
          <a:solidFill>
            <a:srgbClr val="17213D"/>
          </a:solidFill>
          <a:ln/>
        </p:spPr>
      </p:sp>
      <p:sp>
        <p:nvSpPr>
          <p:cNvPr id="6" name="Text 4"/>
          <p:cNvSpPr txBox="1"/>
          <p:nvPr/>
        </p:nvSpPr>
        <p:spPr>
          <a:xfrm>
            <a:off x="777240" y="1929765"/>
            <a:ext cx="3566160" cy="548640"/>
          </a:xfrm>
          <a:prstGeom prst="rect">
            <a:avLst/>
          </a:prstGeom>
          <a:noFill/>
          <a:ln/>
        </p:spPr>
        <p:txBody>
          <a:bodyPr wrap="square" lIns="0" tIns="0" rIns="0" bIns="0" rtlCol="0" anchor="ctr"/>
          <a:lstStyle/>
          <a:p>
            <a:pPr algn="ctr"/>
            <a:r>
              <a:rPr lang="en-US" sz="1200" b="1" dirty="0">
                <a:solidFill>
                  <a:srgbClr val="00D9C0"/>
                </a:solidFill>
                <a:latin typeface="Courier New" pitchFamily="34" charset="0"/>
                <a:ea typeface="Courier New" pitchFamily="34" charset="-122"/>
                <a:cs typeface="Courier New" pitchFamily="34" charset="-120"/>
              </a:rPr>
              <a:t>image: ollama/ollama:latest</a:t>
            </a:r>
          </a:p>
        </p:txBody>
      </p:sp>
      <p:sp>
        <p:nvSpPr>
          <p:cNvPr id="7" name="Text 5"/>
          <p:cNvSpPr txBox="1"/>
          <p:nvPr/>
        </p:nvSpPr>
        <p:spPr>
          <a:xfrm>
            <a:off x="4572000" y="1600200"/>
            <a:ext cx="6766560" cy="1188720"/>
          </a:xfrm>
          <a:prstGeom prst="rect">
            <a:avLst/>
          </a:prstGeom>
          <a:noFill/>
          <a:ln/>
        </p:spPr>
        <p:txBody>
          <a:bodyPr wrap="square" lIns="0" tIns="0" rIns="0" bIns="0" rtlCol="0" anchor="ctr"/>
          <a:lstStyle/>
          <a:p>
            <a:r>
              <a:rPr lang="en-US" sz="1300" dirty="0">
                <a:solidFill>
                  <a:srgbClr val="E4E8F5"/>
                </a:solidFill>
                <a:ea typeface="Calibri" pitchFamily="34" charset="-122"/>
                <a:cs typeface="Calibri" pitchFamily="34" charset="-120"/>
              </a:rPr>
              <a:t>Der Container läuft als eigener Service – Port, Volumes und Geräte-Zugriffe werden hier zentral für alle Modelle festgelegt.</a:t>
            </a:r>
          </a:p>
        </p:txBody>
      </p:sp>
      <p:sp>
        <p:nvSpPr>
          <p:cNvPr id="8" name="Text 6"/>
          <p:cNvSpPr txBox="1"/>
          <p:nvPr/>
        </p:nvSpPr>
        <p:spPr>
          <a:xfrm>
            <a:off x="548640" y="2929890"/>
            <a:ext cx="8229600" cy="365760"/>
          </a:xfrm>
          <a:prstGeom prst="rect">
            <a:avLst/>
          </a:prstGeom>
          <a:noFill/>
          <a:ln/>
        </p:spPr>
        <p:txBody>
          <a:bodyPr wrap="square" lIns="0" tIns="0" rIns="0" bIns="0" rtlCol="0" anchor="ctr"/>
          <a:lstStyle/>
          <a:p>
            <a:r>
              <a:rPr lang="en-US" sz="1500" b="1" dirty="0">
                <a:solidFill>
                  <a:srgbClr val="0D1321"/>
                </a:solidFill>
                <a:latin typeface="Arial" pitchFamily="34" charset="0"/>
                <a:ea typeface="Arial" pitchFamily="34" charset="-122"/>
                <a:cs typeface="Arial" pitchFamily="34" charset="-120"/>
              </a:rPr>
              <a:t>Die wichtigsten Bausteine des Service-Blocks</a:t>
            </a:r>
          </a:p>
        </p:txBody>
      </p:sp>
      <p:sp>
        <p:nvSpPr>
          <p:cNvPr id="9" name="Shape 7"/>
          <p:cNvSpPr/>
          <p:nvPr/>
        </p:nvSpPr>
        <p:spPr>
          <a:xfrm>
            <a:off x="548640" y="3429000"/>
            <a:ext cx="11064240" cy="512064"/>
          </a:xfrm>
          <a:prstGeom prst="roundRect">
            <a:avLst>
              <a:gd name="adj" fmla="val 12500"/>
            </a:avLst>
          </a:prstGeom>
          <a:solidFill>
            <a:srgbClr val="F2F5FA"/>
          </a:solidFill>
          <a:ln/>
        </p:spPr>
      </p:sp>
      <p:sp>
        <p:nvSpPr>
          <p:cNvPr id="11" name="Text 9"/>
          <p:cNvSpPr txBox="1"/>
          <p:nvPr/>
        </p:nvSpPr>
        <p:spPr>
          <a:xfrm>
            <a:off x="4648200" y="3429000"/>
            <a:ext cx="4886325" cy="512064"/>
          </a:xfrm>
          <a:prstGeom prst="rect">
            <a:avLst/>
          </a:prstGeom>
          <a:noFill/>
          <a:ln/>
        </p:spPr>
        <p:txBody>
          <a:bodyPr wrap="square" lIns="0" tIns="0" rIns="0" bIns="0" rtlCol="0" anchor="ctr"/>
          <a:lstStyle/>
          <a:p>
            <a:r>
              <a:rPr lang="en-US" sz="1150" dirty="0">
                <a:solidFill>
                  <a:srgbClr val="5B6478"/>
                </a:solidFill>
                <a:ea typeface="Calibri" pitchFamily="34" charset="-122"/>
                <a:cs typeface="Calibri" pitchFamily="34" charset="-120"/>
              </a:rPr>
              <a:t>Veröffentlicht die Ollama-API auf dem Standard-Port des Hosts</a:t>
            </a:r>
          </a:p>
        </p:txBody>
      </p:sp>
      <p:sp>
        <p:nvSpPr>
          <p:cNvPr id="12" name="Shape 10"/>
          <p:cNvSpPr/>
          <p:nvPr/>
        </p:nvSpPr>
        <p:spPr>
          <a:xfrm>
            <a:off x="9646920" y="3502152"/>
            <a:ext cx="1783080" cy="365760"/>
          </a:xfrm>
          <a:prstGeom prst="roundRect">
            <a:avLst>
              <a:gd name="adj" fmla="val 50000"/>
            </a:avLst>
          </a:prstGeom>
          <a:solidFill>
            <a:srgbClr val="00D9C0"/>
          </a:solidFill>
          <a:ln/>
        </p:spPr>
      </p:sp>
      <p:sp>
        <p:nvSpPr>
          <p:cNvPr id="13" name="Text 11"/>
          <p:cNvSpPr txBox="1"/>
          <p:nvPr/>
        </p:nvSpPr>
        <p:spPr>
          <a:xfrm>
            <a:off x="9646920" y="3502152"/>
            <a:ext cx="1783080" cy="365760"/>
          </a:xfrm>
          <a:prstGeom prst="rect">
            <a:avLst/>
          </a:prstGeom>
          <a:noFill/>
          <a:ln/>
        </p:spPr>
        <p:txBody>
          <a:bodyPr wrap="square" lIns="0" tIns="0" rIns="0" bIns="0" rtlCol="0" anchor="ctr"/>
          <a:lstStyle/>
          <a:p>
            <a:pPr algn="ctr"/>
            <a:r>
              <a:rPr lang="en-US" sz="1100" b="1" dirty="0">
                <a:solidFill>
                  <a:srgbClr val="0D1321"/>
                </a:solidFill>
                <a:ea typeface="Calibri" pitchFamily="34" charset="-122"/>
                <a:cs typeface="Calibri" pitchFamily="34" charset="-120"/>
              </a:rPr>
              <a:t>Pflicht</a:t>
            </a:r>
          </a:p>
        </p:txBody>
      </p:sp>
      <p:sp>
        <p:nvSpPr>
          <p:cNvPr id="14" name="Shape 12"/>
          <p:cNvSpPr/>
          <p:nvPr/>
        </p:nvSpPr>
        <p:spPr>
          <a:xfrm>
            <a:off x="548640" y="4005072"/>
            <a:ext cx="11064240" cy="512064"/>
          </a:xfrm>
          <a:prstGeom prst="roundRect">
            <a:avLst>
              <a:gd name="adj" fmla="val 12500"/>
            </a:avLst>
          </a:prstGeom>
          <a:solidFill>
            <a:srgbClr val="F2F5FA"/>
          </a:solidFill>
          <a:ln/>
        </p:spPr>
      </p:sp>
      <p:sp>
        <p:nvSpPr>
          <p:cNvPr id="16" name="Text 14"/>
          <p:cNvSpPr txBox="1"/>
          <p:nvPr/>
        </p:nvSpPr>
        <p:spPr>
          <a:xfrm>
            <a:off x="4657725" y="4005072"/>
            <a:ext cx="5229225" cy="512064"/>
          </a:xfrm>
          <a:prstGeom prst="rect">
            <a:avLst/>
          </a:prstGeom>
          <a:noFill/>
          <a:ln/>
        </p:spPr>
        <p:txBody>
          <a:bodyPr wrap="square" lIns="0" tIns="0" rIns="0" bIns="0" rtlCol="0" anchor="ctr"/>
          <a:lstStyle/>
          <a:p>
            <a:r>
              <a:rPr lang="en-US" sz="1150" dirty="0">
                <a:solidFill>
                  <a:srgbClr val="5B6478"/>
                </a:solidFill>
                <a:ea typeface="Calibri" pitchFamily="34" charset="-122"/>
                <a:cs typeface="Calibri" pitchFamily="34" charset="-120"/>
              </a:rPr>
              <a:t>Speichert Modelle &amp; Modelfiles dauerhaft außerhalb </a:t>
            </a:r>
            <a:r>
              <a:rPr lang="en-US" sz="1150">
                <a:solidFill>
                  <a:srgbClr val="5B6478"/>
                </a:solidFill>
                <a:ea typeface="Calibri" pitchFamily="34" charset="-122"/>
                <a:cs typeface="Calibri" pitchFamily="34" charset="-120"/>
              </a:rPr>
              <a:t>des </a:t>
            </a:r>
            <a:r>
              <a:rPr lang="en-US" sz="1150" smtClean="0">
                <a:solidFill>
                  <a:srgbClr val="5B6478"/>
                </a:solidFill>
                <a:ea typeface="Calibri" pitchFamily="34" charset="-122"/>
                <a:cs typeface="Calibri" pitchFamily="34" charset="-120"/>
              </a:rPr>
              <a:t>Containers0</a:t>
            </a:r>
            <a:endParaRPr lang="en-US" sz="1150" dirty="0">
              <a:solidFill>
                <a:srgbClr val="5B6478"/>
              </a:solidFill>
              <a:ea typeface="Calibri" pitchFamily="34" charset="-122"/>
              <a:cs typeface="Calibri" pitchFamily="34" charset="-120"/>
            </a:endParaRPr>
          </a:p>
        </p:txBody>
      </p:sp>
      <p:sp>
        <p:nvSpPr>
          <p:cNvPr id="17" name="Shape 15"/>
          <p:cNvSpPr/>
          <p:nvPr/>
        </p:nvSpPr>
        <p:spPr>
          <a:xfrm>
            <a:off x="9646920" y="4078224"/>
            <a:ext cx="1783080" cy="365760"/>
          </a:xfrm>
          <a:prstGeom prst="roundRect">
            <a:avLst>
              <a:gd name="adj" fmla="val 50000"/>
            </a:avLst>
          </a:prstGeom>
          <a:solidFill>
            <a:srgbClr val="00D9C0"/>
          </a:solidFill>
          <a:ln/>
        </p:spPr>
      </p:sp>
      <p:sp>
        <p:nvSpPr>
          <p:cNvPr id="18" name="Text 16"/>
          <p:cNvSpPr txBox="1"/>
          <p:nvPr/>
        </p:nvSpPr>
        <p:spPr>
          <a:xfrm>
            <a:off x="9646920" y="4078224"/>
            <a:ext cx="1783080" cy="365760"/>
          </a:xfrm>
          <a:prstGeom prst="rect">
            <a:avLst/>
          </a:prstGeom>
          <a:noFill/>
          <a:ln/>
        </p:spPr>
        <p:txBody>
          <a:bodyPr wrap="square" lIns="0" tIns="0" rIns="0" bIns="0" rtlCol="0" anchor="ctr"/>
          <a:lstStyle/>
          <a:p>
            <a:pPr algn="ctr"/>
            <a:r>
              <a:rPr lang="en-US" sz="1100" b="1" dirty="0">
                <a:solidFill>
                  <a:srgbClr val="0D1321"/>
                </a:solidFill>
                <a:ea typeface="Calibri" pitchFamily="34" charset="-122"/>
                <a:cs typeface="Calibri" pitchFamily="34" charset="-120"/>
              </a:rPr>
              <a:t>Pflicht</a:t>
            </a:r>
          </a:p>
        </p:txBody>
      </p:sp>
      <p:sp>
        <p:nvSpPr>
          <p:cNvPr id="19" name="Shape 17"/>
          <p:cNvSpPr/>
          <p:nvPr/>
        </p:nvSpPr>
        <p:spPr>
          <a:xfrm>
            <a:off x="548640" y="4581144"/>
            <a:ext cx="11064240" cy="512064"/>
          </a:xfrm>
          <a:prstGeom prst="roundRect">
            <a:avLst>
              <a:gd name="adj" fmla="val 12500"/>
            </a:avLst>
          </a:prstGeom>
          <a:solidFill>
            <a:srgbClr val="F2F5FA"/>
          </a:solidFill>
          <a:ln/>
        </p:spPr>
      </p:sp>
      <p:sp>
        <p:nvSpPr>
          <p:cNvPr id="21" name="Text 19"/>
          <p:cNvSpPr txBox="1"/>
          <p:nvPr/>
        </p:nvSpPr>
        <p:spPr>
          <a:xfrm>
            <a:off x="4676775" y="4581144"/>
            <a:ext cx="4686300" cy="512064"/>
          </a:xfrm>
          <a:prstGeom prst="rect">
            <a:avLst/>
          </a:prstGeom>
          <a:noFill/>
          <a:ln/>
        </p:spPr>
        <p:txBody>
          <a:bodyPr wrap="square" lIns="0" tIns="0" rIns="0" bIns="0" rtlCol="0" anchor="ctr"/>
          <a:lstStyle/>
          <a:p>
            <a:r>
              <a:rPr lang="en-US" sz="1150" dirty="0">
                <a:solidFill>
                  <a:srgbClr val="5B6478"/>
                </a:solidFill>
                <a:ea typeface="Calibri" pitchFamily="34" charset="-122"/>
                <a:cs typeface="Calibri" pitchFamily="34" charset="-120"/>
              </a:rPr>
              <a:t>Gibt der iGPU direkten Hardware-Zugriff für Vulkan-Beschleunigung</a:t>
            </a:r>
          </a:p>
        </p:txBody>
      </p:sp>
      <p:sp>
        <p:nvSpPr>
          <p:cNvPr id="22" name="Shape 20"/>
          <p:cNvSpPr/>
          <p:nvPr/>
        </p:nvSpPr>
        <p:spPr>
          <a:xfrm>
            <a:off x="9646920" y="4654296"/>
            <a:ext cx="1783080" cy="365760"/>
          </a:xfrm>
          <a:prstGeom prst="roundRect">
            <a:avLst>
              <a:gd name="adj" fmla="val 50000"/>
            </a:avLst>
          </a:prstGeom>
          <a:solidFill>
            <a:srgbClr val="00D9C0"/>
          </a:solidFill>
          <a:ln/>
        </p:spPr>
      </p:sp>
      <p:sp>
        <p:nvSpPr>
          <p:cNvPr id="23" name="Text 21"/>
          <p:cNvSpPr txBox="1"/>
          <p:nvPr/>
        </p:nvSpPr>
        <p:spPr>
          <a:xfrm>
            <a:off x="9646920" y="4654296"/>
            <a:ext cx="1783080" cy="365760"/>
          </a:xfrm>
          <a:prstGeom prst="rect">
            <a:avLst/>
          </a:prstGeom>
          <a:noFill/>
          <a:ln/>
        </p:spPr>
        <p:txBody>
          <a:bodyPr wrap="square" lIns="0" tIns="0" rIns="0" bIns="0" rtlCol="0" anchor="ctr"/>
          <a:lstStyle/>
          <a:p>
            <a:pPr algn="ctr"/>
            <a:r>
              <a:rPr lang="en-US" sz="1100" b="1" dirty="0">
                <a:ea typeface="Calibri" pitchFamily="34" charset="-122"/>
                <a:cs typeface="Calibri" pitchFamily="34" charset="-120"/>
              </a:rPr>
              <a:t>Pflicht</a:t>
            </a:r>
          </a:p>
        </p:txBody>
      </p:sp>
      <p:sp>
        <p:nvSpPr>
          <p:cNvPr id="24" name="Shape 22"/>
          <p:cNvSpPr/>
          <p:nvPr/>
        </p:nvSpPr>
        <p:spPr>
          <a:xfrm>
            <a:off x="548640" y="5157216"/>
            <a:ext cx="11064240" cy="512064"/>
          </a:xfrm>
          <a:prstGeom prst="roundRect">
            <a:avLst>
              <a:gd name="adj" fmla="val 12500"/>
            </a:avLst>
          </a:prstGeom>
          <a:solidFill>
            <a:srgbClr val="F2F5FA"/>
          </a:solidFill>
          <a:ln/>
        </p:spPr>
      </p:sp>
      <p:sp>
        <p:nvSpPr>
          <p:cNvPr id="25" name="Text 23"/>
          <p:cNvSpPr txBox="1"/>
          <p:nvPr/>
        </p:nvSpPr>
        <p:spPr>
          <a:xfrm>
            <a:off x="731520" y="5157216"/>
            <a:ext cx="2834640" cy="512064"/>
          </a:xfrm>
          <a:prstGeom prst="rect">
            <a:avLst/>
          </a:prstGeom>
          <a:noFill/>
          <a:ln/>
        </p:spPr>
        <p:txBody>
          <a:bodyPr wrap="square" lIns="0" tIns="0" rIns="0" bIns="0" rtlCol="0" anchor="ctr"/>
          <a:lstStyle/>
          <a:p>
            <a:endParaRPr lang="en-US" sz="1200" b="1" dirty="0">
              <a:solidFill>
                <a:srgbClr val="00D9C0"/>
              </a:solidFill>
              <a:latin typeface="Consolas" panose="020B0609020204030204" pitchFamily="49" charset="0"/>
              <a:ea typeface="Arial" pitchFamily="34" charset="-122"/>
              <a:cs typeface="Arial" pitchFamily="34" charset="-120"/>
            </a:endParaRPr>
          </a:p>
        </p:txBody>
      </p:sp>
      <p:sp>
        <p:nvSpPr>
          <p:cNvPr id="26" name="Text 24"/>
          <p:cNvSpPr txBox="1"/>
          <p:nvPr/>
        </p:nvSpPr>
        <p:spPr>
          <a:xfrm>
            <a:off x="4705350" y="5157216"/>
            <a:ext cx="4297680" cy="512064"/>
          </a:xfrm>
          <a:prstGeom prst="rect">
            <a:avLst/>
          </a:prstGeom>
          <a:noFill/>
          <a:ln/>
        </p:spPr>
        <p:txBody>
          <a:bodyPr wrap="square" lIns="0" tIns="0" rIns="0" bIns="0" rtlCol="0" anchor="ctr"/>
          <a:lstStyle/>
          <a:p>
            <a:r>
              <a:rPr lang="en-US" sz="1150" dirty="0">
                <a:solidFill>
                  <a:srgbClr val="5B6478"/>
                </a:solidFill>
                <a:ea typeface="Calibri" pitchFamily="34" charset="-122"/>
                <a:cs typeface="Calibri" pitchFamily="34" charset="-120"/>
              </a:rPr>
              <a:t>Fügt den Container zu den render-/video-Gruppen des Hosts hinzu</a:t>
            </a:r>
          </a:p>
        </p:txBody>
      </p:sp>
      <p:sp>
        <p:nvSpPr>
          <p:cNvPr id="27" name="Shape 25"/>
          <p:cNvSpPr/>
          <p:nvPr/>
        </p:nvSpPr>
        <p:spPr>
          <a:xfrm>
            <a:off x="9646920" y="5230368"/>
            <a:ext cx="1783080" cy="365760"/>
          </a:xfrm>
          <a:prstGeom prst="roundRect">
            <a:avLst>
              <a:gd name="adj" fmla="val 50000"/>
            </a:avLst>
          </a:prstGeom>
          <a:solidFill>
            <a:srgbClr val="FF6B4A"/>
          </a:solidFill>
          <a:ln/>
        </p:spPr>
      </p:sp>
      <p:sp>
        <p:nvSpPr>
          <p:cNvPr id="28" name="Text 26"/>
          <p:cNvSpPr txBox="1"/>
          <p:nvPr/>
        </p:nvSpPr>
        <p:spPr>
          <a:xfrm>
            <a:off x="9646920" y="5230368"/>
            <a:ext cx="1783080" cy="365760"/>
          </a:xfrm>
          <a:prstGeom prst="rect">
            <a:avLst/>
          </a:prstGeom>
          <a:noFill/>
          <a:ln/>
        </p:spPr>
        <p:txBody>
          <a:bodyPr wrap="square" lIns="0" tIns="0" rIns="0" bIns="0" rtlCol="0" anchor="ctr"/>
          <a:lstStyle/>
          <a:p>
            <a:pPr algn="ctr"/>
            <a:r>
              <a:rPr lang="en-US" sz="1100" b="1" dirty="0">
                <a:ea typeface="Calibri" pitchFamily="34" charset="-122"/>
                <a:cs typeface="Calibri" pitchFamily="34" charset="-120"/>
              </a:rPr>
              <a:t>Wichtig</a:t>
            </a:r>
          </a:p>
        </p:txBody>
      </p:sp>
      <p:sp>
        <p:nvSpPr>
          <p:cNvPr id="29" name="Shape 27"/>
          <p:cNvSpPr/>
          <p:nvPr/>
        </p:nvSpPr>
        <p:spPr>
          <a:xfrm>
            <a:off x="548640" y="5733288"/>
            <a:ext cx="11064240" cy="512064"/>
          </a:xfrm>
          <a:prstGeom prst="roundRect">
            <a:avLst>
              <a:gd name="adj" fmla="val 12500"/>
            </a:avLst>
          </a:prstGeom>
          <a:solidFill>
            <a:srgbClr val="F2F5FA"/>
          </a:solidFill>
          <a:ln/>
        </p:spPr>
      </p:sp>
      <p:sp>
        <p:nvSpPr>
          <p:cNvPr id="31" name="Text 29"/>
          <p:cNvSpPr txBox="1"/>
          <p:nvPr/>
        </p:nvSpPr>
        <p:spPr>
          <a:xfrm>
            <a:off x="4714875" y="5733288"/>
            <a:ext cx="4533900" cy="512064"/>
          </a:xfrm>
          <a:prstGeom prst="rect">
            <a:avLst/>
          </a:prstGeom>
          <a:noFill/>
          <a:ln/>
        </p:spPr>
        <p:txBody>
          <a:bodyPr wrap="square" lIns="0" tIns="0" rIns="0" bIns="0" rtlCol="0" anchor="ctr"/>
          <a:lstStyle/>
          <a:p>
            <a:r>
              <a:rPr lang="en-US" sz="1150" dirty="0">
                <a:solidFill>
                  <a:srgbClr val="5B6478"/>
                </a:solidFill>
                <a:ea typeface="Calibri" pitchFamily="34" charset="-122"/>
                <a:cs typeface="Calibri" pitchFamily="34" charset="-120"/>
              </a:rPr>
              <a:t>Startet den Container nach Absturz oder Host-Neustart automatisch neu</a:t>
            </a:r>
          </a:p>
        </p:txBody>
      </p:sp>
      <p:sp>
        <p:nvSpPr>
          <p:cNvPr id="32" name="Shape 30"/>
          <p:cNvSpPr/>
          <p:nvPr/>
        </p:nvSpPr>
        <p:spPr>
          <a:xfrm>
            <a:off x="9646920" y="5806440"/>
            <a:ext cx="1783080" cy="365760"/>
          </a:xfrm>
          <a:prstGeom prst="roundRect">
            <a:avLst>
              <a:gd name="adj" fmla="val 50000"/>
            </a:avLst>
          </a:prstGeom>
          <a:solidFill>
            <a:srgbClr val="9AA3C0"/>
          </a:solidFill>
          <a:ln/>
        </p:spPr>
      </p:sp>
      <p:sp>
        <p:nvSpPr>
          <p:cNvPr id="33" name="Text 31"/>
          <p:cNvSpPr txBox="1"/>
          <p:nvPr/>
        </p:nvSpPr>
        <p:spPr>
          <a:xfrm>
            <a:off x="9646920" y="5806440"/>
            <a:ext cx="1783080" cy="365760"/>
          </a:xfrm>
          <a:prstGeom prst="rect">
            <a:avLst/>
          </a:prstGeom>
          <a:noFill/>
          <a:ln/>
        </p:spPr>
        <p:txBody>
          <a:bodyPr wrap="square" lIns="0" tIns="0" rIns="0" bIns="0" rtlCol="0" anchor="ctr"/>
          <a:lstStyle/>
          <a:p>
            <a:pPr algn="ctr"/>
            <a:r>
              <a:rPr lang="en-US" sz="1100" b="1" dirty="0">
                <a:solidFill>
                  <a:srgbClr val="0D1321"/>
                </a:solidFill>
                <a:ea typeface="Calibri" pitchFamily="34" charset="-122"/>
                <a:cs typeface="Calibri" pitchFamily="34" charset="-120"/>
              </a:rPr>
              <a:t>Empfohlen</a:t>
            </a:r>
          </a:p>
        </p:txBody>
      </p:sp>
      <p:sp>
        <p:nvSpPr>
          <p:cNvPr id="34" name="Text 32"/>
          <p:cNvSpPr txBox="1"/>
          <p:nvPr/>
        </p:nvSpPr>
        <p:spPr>
          <a:xfrm>
            <a:off x="457200" y="6537960"/>
            <a:ext cx="5486400" cy="274320"/>
          </a:xfrm>
          <a:prstGeom prst="rect">
            <a:avLst/>
          </a:prstGeom>
          <a:noFill/>
          <a:ln/>
        </p:spPr>
        <p:txBody>
          <a:bodyPr wrap="square" lIns="0" tIns="0" rIns="0" bIns="0" rtlCol="0" anchor="ctr"/>
          <a:lstStyle/>
          <a:p>
            <a:r>
              <a:rPr lang="en-US" sz="900" dirty="0">
                <a:solidFill>
                  <a:srgbClr val="5B6478"/>
                </a:solidFill>
                <a:ea typeface="Calibri" pitchFamily="34" charset="-122"/>
                <a:cs typeface="Calibri" pitchFamily="34" charset="-120"/>
              </a:rPr>
              <a:t>OLLAMA PERFORMANCE TUNING · iGPU</a:t>
            </a:r>
            <a:endParaRPr lang="en-US" sz="900" dirty="0">
              <a:solidFill>
                <a:prstClr val="black"/>
              </a:solidFill>
            </a:endParaRPr>
          </a:p>
        </p:txBody>
      </p:sp>
      <p:sp>
        <p:nvSpPr>
          <p:cNvPr id="35" name="Text 33"/>
          <p:cNvSpPr txBox="1"/>
          <p:nvPr/>
        </p:nvSpPr>
        <p:spPr>
          <a:xfrm>
            <a:off x="11274552" y="6537960"/>
            <a:ext cx="457200" cy="274320"/>
          </a:xfrm>
          <a:prstGeom prst="rect">
            <a:avLst/>
          </a:prstGeom>
          <a:noFill/>
          <a:ln/>
        </p:spPr>
        <p:txBody>
          <a:bodyPr wrap="square" lIns="0" tIns="0" rIns="0" bIns="0" rtlCol="0" anchor="ctr"/>
          <a:lstStyle/>
          <a:p>
            <a:pPr algn="r"/>
            <a:r>
              <a:rPr lang="en-US" sz="900" smtClean="0">
                <a:solidFill>
                  <a:srgbClr val="5B6478"/>
                </a:solidFill>
                <a:ea typeface="Calibri" pitchFamily="34" charset="-122"/>
                <a:cs typeface="Calibri" pitchFamily="34" charset="-120"/>
              </a:rPr>
              <a:t>22</a:t>
            </a:r>
            <a:endParaRPr lang="en-US" sz="900" dirty="0">
              <a:solidFill>
                <a:prstClr val="black"/>
              </a:solidFill>
            </a:endParaRPr>
          </a:p>
        </p:txBody>
      </p:sp>
      <p:sp>
        <p:nvSpPr>
          <p:cNvPr id="37" name="Shape 3"/>
          <p:cNvSpPr/>
          <p:nvPr/>
        </p:nvSpPr>
        <p:spPr>
          <a:xfrm>
            <a:off x="574357" y="3404235"/>
            <a:ext cx="3566160" cy="548640"/>
          </a:xfrm>
          <a:prstGeom prst="roundRect">
            <a:avLst>
              <a:gd name="adj" fmla="val 10000"/>
            </a:avLst>
          </a:prstGeom>
          <a:solidFill>
            <a:srgbClr val="17213D"/>
          </a:solidFill>
          <a:ln/>
        </p:spPr>
      </p:sp>
      <p:sp>
        <p:nvSpPr>
          <p:cNvPr id="38" name="Text 4"/>
          <p:cNvSpPr txBox="1"/>
          <p:nvPr/>
        </p:nvSpPr>
        <p:spPr>
          <a:xfrm>
            <a:off x="583882" y="3404235"/>
            <a:ext cx="3556635" cy="548640"/>
          </a:xfrm>
          <a:prstGeom prst="rect">
            <a:avLst/>
          </a:prstGeom>
          <a:noFill/>
          <a:ln/>
        </p:spPr>
        <p:txBody>
          <a:bodyPr wrap="square" lIns="0" tIns="0" rIns="0" bIns="0" rtlCol="0" anchor="ctr"/>
          <a:lstStyle/>
          <a:p>
            <a:pPr lvl="0" algn="ctr"/>
            <a:r>
              <a:rPr lang="en-US" sz="1200" b="1">
                <a:solidFill>
                  <a:srgbClr val="00D9C0"/>
                </a:solidFill>
                <a:latin typeface="Courier New" panose="02070309020205020404" pitchFamily="49" charset="0"/>
                <a:ea typeface="Arial" pitchFamily="34" charset="-122"/>
                <a:cs typeface="Courier New" panose="02070309020205020404" pitchFamily="49" charset="0"/>
              </a:rPr>
              <a:t>ports: "11434:11434"</a:t>
            </a:r>
            <a:endParaRPr lang="en-US" sz="1200" b="1" dirty="0">
              <a:solidFill>
                <a:srgbClr val="00D9C0"/>
              </a:solidFill>
              <a:latin typeface="Courier New" panose="02070309020205020404" pitchFamily="49" charset="0"/>
              <a:ea typeface="Arial" pitchFamily="34" charset="-122"/>
              <a:cs typeface="Courier New" panose="02070309020205020404" pitchFamily="49" charset="0"/>
            </a:endParaRPr>
          </a:p>
        </p:txBody>
      </p:sp>
      <p:sp>
        <p:nvSpPr>
          <p:cNvPr id="39" name="Shape 3"/>
          <p:cNvSpPr/>
          <p:nvPr/>
        </p:nvSpPr>
        <p:spPr>
          <a:xfrm>
            <a:off x="555307" y="5713095"/>
            <a:ext cx="3566160" cy="548640"/>
          </a:xfrm>
          <a:prstGeom prst="roundRect">
            <a:avLst>
              <a:gd name="adj" fmla="val 10000"/>
            </a:avLst>
          </a:prstGeom>
          <a:solidFill>
            <a:srgbClr val="17213D"/>
          </a:solidFill>
          <a:ln/>
        </p:spPr>
      </p:sp>
      <p:sp>
        <p:nvSpPr>
          <p:cNvPr id="40" name="Text 4"/>
          <p:cNvSpPr txBox="1"/>
          <p:nvPr/>
        </p:nvSpPr>
        <p:spPr>
          <a:xfrm>
            <a:off x="564832" y="5713095"/>
            <a:ext cx="3556635" cy="548640"/>
          </a:xfrm>
          <a:prstGeom prst="rect">
            <a:avLst/>
          </a:prstGeom>
          <a:noFill/>
          <a:ln/>
        </p:spPr>
        <p:txBody>
          <a:bodyPr wrap="square" lIns="0" tIns="0" rIns="0" bIns="0" rtlCol="0" anchor="ctr"/>
          <a:lstStyle/>
          <a:p>
            <a:pPr algn="ctr"/>
            <a:r>
              <a:rPr lang="en-US" sz="1200" b="1">
                <a:solidFill>
                  <a:srgbClr val="00D9C0"/>
                </a:solidFill>
                <a:latin typeface="Courier New" panose="02070309020205020404" pitchFamily="49" charset="0"/>
                <a:ea typeface="Arial" pitchFamily="34" charset="-122"/>
                <a:cs typeface="Courier New" panose="02070309020205020404" pitchFamily="49" charset="0"/>
              </a:rPr>
              <a:t>restart: unless-stopped</a:t>
            </a:r>
            <a:endParaRPr lang="en-US" sz="1200" b="1" dirty="0">
              <a:solidFill>
                <a:srgbClr val="00D9C0"/>
              </a:solidFill>
              <a:latin typeface="Courier New" panose="02070309020205020404" pitchFamily="49" charset="0"/>
              <a:ea typeface="Arial" pitchFamily="34" charset="-122"/>
              <a:cs typeface="Courier New" panose="02070309020205020404" pitchFamily="49" charset="0"/>
            </a:endParaRPr>
          </a:p>
        </p:txBody>
      </p:sp>
      <p:sp>
        <p:nvSpPr>
          <p:cNvPr id="41" name="Shape 3"/>
          <p:cNvSpPr/>
          <p:nvPr/>
        </p:nvSpPr>
        <p:spPr>
          <a:xfrm>
            <a:off x="577215" y="3989070"/>
            <a:ext cx="3566160" cy="548640"/>
          </a:xfrm>
          <a:prstGeom prst="roundRect">
            <a:avLst>
              <a:gd name="adj" fmla="val 10000"/>
            </a:avLst>
          </a:prstGeom>
          <a:solidFill>
            <a:srgbClr val="17213D"/>
          </a:solidFill>
          <a:ln/>
        </p:spPr>
      </p:sp>
      <p:sp>
        <p:nvSpPr>
          <p:cNvPr id="42" name="Text 4"/>
          <p:cNvSpPr txBox="1"/>
          <p:nvPr/>
        </p:nvSpPr>
        <p:spPr>
          <a:xfrm>
            <a:off x="586740" y="3989070"/>
            <a:ext cx="3556635" cy="548640"/>
          </a:xfrm>
          <a:prstGeom prst="rect">
            <a:avLst/>
          </a:prstGeom>
          <a:noFill/>
          <a:ln/>
        </p:spPr>
        <p:txBody>
          <a:bodyPr wrap="square" lIns="0" tIns="0" rIns="0" bIns="0" rtlCol="0" anchor="ctr"/>
          <a:lstStyle/>
          <a:p>
            <a:pPr algn="ctr"/>
            <a:r>
              <a:rPr lang="en-US" sz="1200" b="1">
                <a:solidFill>
                  <a:srgbClr val="00D9C0"/>
                </a:solidFill>
                <a:latin typeface="Courier New" panose="02070309020205020404" pitchFamily="49" charset="0"/>
                <a:ea typeface="Arial" pitchFamily="34" charset="-122"/>
                <a:cs typeface="Courier New" panose="02070309020205020404" pitchFamily="49" charset="0"/>
              </a:rPr>
              <a:t>volumes: ./ollama_data:/root/.ollama</a:t>
            </a:r>
            <a:endParaRPr lang="en-US" sz="1200" b="1" dirty="0">
              <a:solidFill>
                <a:srgbClr val="00D9C0"/>
              </a:solidFill>
              <a:latin typeface="Courier New" panose="02070309020205020404" pitchFamily="49" charset="0"/>
              <a:ea typeface="Arial" pitchFamily="34" charset="-122"/>
              <a:cs typeface="Courier New" panose="02070309020205020404" pitchFamily="49" charset="0"/>
            </a:endParaRPr>
          </a:p>
        </p:txBody>
      </p:sp>
      <p:sp>
        <p:nvSpPr>
          <p:cNvPr id="43" name="Shape 3"/>
          <p:cNvSpPr/>
          <p:nvPr/>
        </p:nvSpPr>
        <p:spPr>
          <a:xfrm>
            <a:off x="564832" y="4560570"/>
            <a:ext cx="3566160" cy="548640"/>
          </a:xfrm>
          <a:prstGeom prst="roundRect">
            <a:avLst>
              <a:gd name="adj" fmla="val 10000"/>
            </a:avLst>
          </a:prstGeom>
          <a:solidFill>
            <a:srgbClr val="17213D"/>
          </a:solidFill>
          <a:ln/>
        </p:spPr>
      </p:sp>
      <p:sp>
        <p:nvSpPr>
          <p:cNvPr id="44" name="Text 4"/>
          <p:cNvSpPr txBox="1"/>
          <p:nvPr/>
        </p:nvSpPr>
        <p:spPr>
          <a:xfrm>
            <a:off x="574357" y="4560570"/>
            <a:ext cx="3556635" cy="548640"/>
          </a:xfrm>
          <a:prstGeom prst="rect">
            <a:avLst/>
          </a:prstGeom>
          <a:noFill/>
          <a:ln/>
        </p:spPr>
        <p:txBody>
          <a:bodyPr wrap="square" lIns="0" tIns="0" rIns="0" bIns="0" rtlCol="0" anchor="ctr"/>
          <a:lstStyle/>
          <a:p>
            <a:pPr algn="ctr"/>
            <a:r>
              <a:rPr lang="en-US" sz="1200" b="1">
                <a:solidFill>
                  <a:srgbClr val="00D9C0"/>
                </a:solidFill>
                <a:latin typeface="Courier New" panose="02070309020205020404" pitchFamily="49" charset="0"/>
                <a:ea typeface="Arial" pitchFamily="34" charset="-122"/>
                <a:cs typeface="Courier New" panose="02070309020205020404" pitchFamily="49" charset="0"/>
              </a:rPr>
              <a:t>devices: /dev/dri, /dev/kfd</a:t>
            </a:r>
            <a:endParaRPr lang="en-US" sz="1200" b="1" dirty="0">
              <a:solidFill>
                <a:srgbClr val="00D9C0"/>
              </a:solidFill>
              <a:latin typeface="Courier New" panose="02070309020205020404" pitchFamily="49" charset="0"/>
              <a:ea typeface="Arial" pitchFamily="34" charset="-122"/>
              <a:cs typeface="Courier New" panose="02070309020205020404" pitchFamily="49" charset="0"/>
            </a:endParaRPr>
          </a:p>
        </p:txBody>
      </p:sp>
      <p:sp>
        <p:nvSpPr>
          <p:cNvPr id="45" name="Shape 3"/>
          <p:cNvSpPr/>
          <p:nvPr/>
        </p:nvSpPr>
        <p:spPr>
          <a:xfrm>
            <a:off x="555307" y="5132070"/>
            <a:ext cx="3566160" cy="548640"/>
          </a:xfrm>
          <a:prstGeom prst="roundRect">
            <a:avLst>
              <a:gd name="adj" fmla="val 10000"/>
            </a:avLst>
          </a:prstGeom>
          <a:solidFill>
            <a:srgbClr val="17213D"/>
          </a:solidFill>
          <a:ln/>
        </p:spPr>
      </p:sp>
      <p:sp>
        <p:nvSpPr>
          <p:cNvPr id="46" name="Text 4"/>
          <p:cNvSpPr txBox="1"/>
          <p:nvPr/>
        </p:nvSpPr>
        <p:spPr>
          <a:xfrm>
            <a:off x="564832" y="5132070"/>
            <a:ext cx="3556635" cy="548640"/>
          </a:xfrm>
          <a:prstGeom prst="rect">
            <a:avLst/>
          </a:prstGeom>
          <a:noFill/>
          <a:ln/>
        </p:spPr>
        <p:txBody>
          <a:bodyPr wrap="square" lIns="0" tIns="0" rIns="0" bIns="0" rtlCol="0" anchor="ctr"/>
          <a:lstStyle/>
          <a:p>
            <a:pPr algn="ctr"/>
            <a:r>
              <a:rPr lang="en-US" sz="1200" b="1">
                <a:solidFill>
                  <a:srgbClr val="00D9C0"/>
                </a:solidFill>
                <a:latin typeface="Courier New" panose="02070309020205020404" pitchFamily="49" charset="0"/>
                <a:ea typeface="Arial" pitchFamily="34" charset="-122"/>
                <a:cs typeface="Courier New" panose="02070309020205020404" pitchFamily="49" charset="0"/>
              </a:rPr>
              <a:t>group_add: "44", "993"</a:t>
            </a:r>
            <a:endParaRPr lang="en-US" sz="1200" b="1" dirty="0">
              <a:solidFill>
                <a:srgbClr val="00D9C0"/>
              </a:solidFill>
              <a:latin typeface="Courier New" panose="02070309020205020404" pitchFamily="49" charset="0"/>
              <a:ea typeface="Arial" pitchFamily="34" charset="-122"/>
              <a:cs typeface="Courier New" panose="02070309020205020404" pitchFamily="49" charset="0"/>
            </a:endParaRPr>
          </a:p>
        </p:txBody>
      </p:sp>
    </p:spTree>
    <p:extLst>
      <p:ext uri="{BB962C8B-B14F-4D97-AF65-F5344CB8AC3E}">
        <p14:creationId xmlns:p14="http://schemas.microsoft.com/office/powerpoint/2010/main" val="183883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r>
              <a:rPr lang="en-US" sz="1300" b="1" kern="0" spc="200" smtClean="0">
                <a:solidFill>
                  <a:srgbClr val="00D9C0"/>
                </a:solidFill>
                <a:ea typeface="Calibri" pitchFamily="34" charset="-122"/>
                <a:cs typeface="Calibri" pitchFamily="34" charset="-120"/>
              </a:rPr>
              <a:t>BLOCK 3 OPTIMIERUNG</a:t>
            </a:r>
            <a:endParaRPr lang="en-US" sz="1300" dirty="0">
              <a:solidFill>
                <a:prstClr val="black"/>
              </a:solidFill>
            </a:endParaRPr>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r>
              <a:rPr lang="en-US" sz="3000" b="1" dirty="0">
                <a:solidFill>
                  <a:srgbClr val="12172B"/>
                </a:solidFill>
                <a:latin typeface="Arial" pitchFamily="34" charset="0"/>
                <a:ea typeface="Arial" pitchFamily="34" charset="-122"/>
                <a:cs typeface="Arial" pitchFamily="34" charset="-120"/>
              </a:rPr>
              <a:t>docker-compose.yml: Berechtigungen &amp; Kern-Variablen</a:t>
            </a:r>
          </a:p>
        </p:txBody>
      </p:sp>
      <p:sp>
        <p:nvSpPr>
          <p:cNvPr id="4" name="Text 2"/>
          <p:cNvSpPr txBox="1"/>
          <p:nvPr/>
        </p:nvSpPr>
        <p:spPr>
          <a:xfrm>
            <a:off x="548640" y="1371600"/>
            <a:ext cx="10789920" cy="502920"/>
          </a:xfrm>
          <a:prstGeom prst="rect">
            <a:avLst/>
          </a:prstGeom>
          <a:noFill/>
          <a:ln/>
        </p:spPr>
        <p:txBody>
          <a:bodyPr wrap="square" lIns="0" tIns="0" rIns="0" bIns="0" rtlCol="0" anchor="ctr"/>
          <a:lstStyle/>
          <a:p>
            <a:r>
              <a:rPr lang="en-US" sz="1250" dirty="0">
                <a:solidFill>
                  <a:srgbClr val="5B6478"/>
                </a:solidFill>
                <a:ea typeface="Calibri" pitchFamily="34" charset="-122"/>
                <a:cs typeface="Calibri" pitchFamily="34" charset="-120"/>
              </a:rPr>
              <a:t>Neben Geräten und Gruppen-Berechtigungen sorgen diese Einstellungen dafür, dass Ollama die iGPU überhaupt zuverlässig nutzen kann.</a:t>
            </a:r>
          </a:p>
        </p:txBody>
      </p:sp>
      <p:sp>
        <p:nvSpPr>
          <p:cNvPr id="5" name="Text 3"/>
          <p:cNvSpPr txBox="1"/>
          <p:nvPr/>
        </p:nvSpPr>
        <p:spPr>
          <a:xfrm>
            <a:off x="596265" y="1992630"/>
            <a:ext cx="5394960" cy="274320"/>
          </a:xfrm>
          <a:prstGeom prst="rect">
            <a:avLst/>
          </a:prstGeom>
          <a:noFill/>
          <a:ln/>
        </p:spPr>
        <p:txBody>
          <a:bodyPr wrap="square" lIns="0" tIns="0" rIns="0" bIns="0" rtlCol="0" anchor="ctr"/>
          <a:lstStyle/>
          <a:p>
            <a:r>
              <a:rPr lang="en-US" sz="1100" b="1" kern="0" spc="100" dirty="0">
                <a:solidFill>
                  <a:schemeClr val="accent2"/>
                </a:solidFill>
                <a:ea typeface="Calibri" pitchFamily="34" charset="-122"/>
                <a:cs typeface="Calibri" pitchFamily="34" charset="-120"/>
              </a:rPr>
              <a:t>DOCKER-COMPOSE-EBENE</a:t>
            </a:r>
          </a:p>
        </p:txBody>
      </p:sp>
      <p:sp>
        <p:nvSpPr>
          <p:cNvPr id="6" name="Shape 4"/>
          <p:cNvSpPr/>
          <p:nvPr/>
        </p:nvSpPr>
        <p:spPr>
          <a:xfrm>
            <a:off x="596265" y="2312670"/>
            <a:ext cx="5394960" cy="1600200"/>
          </a:xfrm>
          <a:prstGeom prst="roundRect">
            <a:avLst>
              <a:gd name="adj" fmla="val 5714"/>
            </a:avLst>
          </a:prstGeom>
          <a:solidFill>
            <a:srgbClr val="F2F5FA"/>
          </a:solidFill>
          <a:ln/>
        </p:spPr>
      </p:sp>
      <p:sp>
        <p:nvSpPr>
          <p:cNvPr id="7" name="Shape 5"/>
          <p:cNvSpPr/>
          <p:nvPr/>
        </p:nvSpPr>
        <p:spPr>
          <a:xfrm>
            <a:off x="779145" y="2495550"/>
            <a:ext cx="3931920" cy="384048"/>
          </a:xfrm>
          <a:prstGeom prst="roundRect">
            <a:avLst>
              <a:gd name="adj" fmla="val 14286"/>
            </a:avLst>
          </a:prstGeom>
          <a:solidFill>
            <a:srgbClr val="0D1321"/>
          </a:solidFill>
          <a:ln/>
        </p:spPr>
      </p:sp>
      <p:sp>
        <p:nvSpPr>
          <p:cNvPr id="8" name="Text 6"/>
          <p:cNvSpPr txBox="1"/>
          <p:nvPr/>
        </p:nvSpPr>
        <p:spPr>
          <a:xfrm>
            <a:off x="779145" y="2495550"/>
            <a:ext cx="3931920" cy="384048"/>
          </a:xfrm>
          <a:prstGeom prst="rect">
            <a:avLst/>
          </a:prstGeom>
          <a:noFill/>
          <a:ln/>
        </p:spPr>
        <p:txBody>
          <a:bodyPr wrap="square" lIns="0" tIns="0" rIns="0" bIns="0" rtlCol="0" anchor="ctr"/>
          <a:lstStyle/>
          <a:p>
            <a:pPr algn="ctr"/>
            <a:r>
              <a:rPr lang="en-US" sz="1200" b="1" dirty="0">
                <a:solidFill>
                  <a:srgbClr val="00D9C0"/>
                </a:solidFill>
                <a:latin typeface="Courier New" pitchFamily="34" charset="0"/>
                <a:ea typeface="Courier New" pitchFamily="34" charset="-122"/>
                <a:cs typeface="Courier New" pitchFamily="34" charset="-120"/>
              </a:rPr>
              <a:t>ipc: host</a:t>
            </a:r>
          </a:p>
        </p:txBody>
      </p:sp>
      <p:sp>
        <p:nvSpPr>
          <p:cNvPr id="9" name="Text 7"/>
          <p:cNvSpPr txBox="1"/>
          <p:nvPr/>
        </p:nvSpPr>
        <p:spPr>
          <a:xfrm>
            <a:off x="779145" y="2998470"/>
            <a:ext cx="4937760" cy="822960"/>
          </a:xfrm>
          <a:prstGeom prst="rect">
            <a:avLst/>
          </a:prstGeom>
          <a:noFill/>
          <a:ln/>
        </p:spPr>
        <p:txBody>
          <a:bodyPr wrap="square" lIns="0" tIns="0" rIns="0" bIns="0" rtlCol="0" anchor="ctr"/>
          <a:lstStyle/>
          <a:p>
            <a:r>
              <a:rPr lang="en-US" sz="1150" dirty="0">
                <a:solidFill>
                  <a:srgbClr val="12172B"/>
                </a:solidFill>
                <a:ea typeface="Calibri" pitchFamily="34" charset="-122"/>
                <a:cs typeface="Calibri" pitchFamily="34" charset="-120"/>
              </a:rPr>
              <a:t>Container teilt den IPC-Namespace mit dem Host – nötig, damit GPU-Treiber Shared Memory zwischen Prozessen nutzen können</a:t>
            </a:r>
          </a:p>
        </p:txBody>
      </p:sp>
      <p:sp>
        <p:nvSpPr>
          <p:cNvPr id="10" name="Shape 8"/>
          <p:cNvSpPr/>
          <p:nvPr/>
        </p:nvSpPr>
        <p:spPr>
          <a:xfrm>
            <a:off x="596265" y="4095750"/>
            <a:ext cx="5394960" cy="1600200"/>
          </a:xfrm>
          <a:prstGeom prst="roundRect">
            <a:avLst>
              <a:gd name="adj" fmla="val 5714"/>
            </a:avLst>
          </a:prstGeom>
          <a:solidFill>
            <a:srgbClr val="F2F5FA"/>
          </a:solidFill>
          <a:ln/>
        </p:spPr>
      </p:sp>
      <p:sp>
        <p:nvSpPr>
          <p:cNvPr id="11" name="Shape 9"/>
          <p:cNvSpPr/>
          <p:nvPr/>
        </p:nvSpPr>
        <p:spPr>
          <a:xfrm>
            <a:off x="779145" y="4278629"/>
            <a:ext cx="3931920" cy="988695"/>
          </a:xfrm>
          <a:prstGeom prst="roundRect">
            <a:avLst>
              <a:gd name="adj" fmla="val 14286"/>
            </a:avLst>
          </a:prstGeom>
          <a:solidFill>
            <a:srgbClr val="0D1321"/>
          </a:solidFill>
          <a:ln/>
        </p:spPr>
      </p:sp>
      <p:sp>
        <p:nvSpPr>
          <p:cNvPr id="12" name="Text 10"/>
          <p:cNvSpPr txBox="1"/>
          <p:nvPr/>
        </p:nvSpPr>
        <p:spPr>
          <a:xfrm>
            <a:off x="1979295" y="4450080"/>
            <a:ext cx="1876425" cy="617220"/>
          </a:xfrm>
          <a:prstGeom prst="rect">
            <a:avLst/>
          </a:prstGeom>
          <a:noFill/>
          <a:ln/>
        </p:spPr>
        <p:txBody>
          <a:bodyPr wrap="square" lIns="0" tIns="0" rIns="0" bIns="0" rtlCol="0" anchor="ctr"/>
          <a:lstStyle/>
          <a:p>
            <a:r>
              <a:rPr lang="en-US" sz="1200" b="1" dirty="0">
                <a:solidFill>
                  <a:srgbClr val="00D9C0"/>
                </a:solidFill>
                <a:latin typeface="Courier New" pitchFamily="34" charset="0"/>
                <a:ea typeface="Courier New" pitchFamily="34" charset="-122"/>
                <a:cs typeface="Courier New" pitchFamily="34" charset="-120"/>
              </a:rPr>
              <a:t>ulimits</a:t>
            </a:r>
            <a:r>
              <a:rPr lang="en-US" sz="1200" b="1">
                <a:solidFill>
                  <a:srgbClr val="00D9C0"/>
                </a:solidFill>
                <a:latin typeface="Courier New" pitchFamily="34" charset="0"/>
                <a:ea typeface="Courier New" pitchFamily="34" charset="-122"/>
                <a:cs typeface="Courier New" pitchFamily="34" charset="-120"/>
              </a:rPr>
              <a:t>: </a:t>
            </a:r>
            <a:endParaRPr lang="en-US" sz="1200" b="1" smtClean="0">
              <a:solidFill>
                <a:srgbClr val="00D9C0"/>
              </a:solidFill>
              <a:latin typeface="Courier New" pitchFamily="34" charset="0"/>
              <a:ea typeface="Courier New" pitchFamily="34" charset="-122"/>
              <a:cs typeface="Courier New" pitchFamily="34" charset="-120"/>
            </a:endParaRPr>
          </a:p>
          <a:p>
            <a:r>
              <a:rPr lang="en-US" sz="1200" b="1" smtClean="0">
                <a:solidFill>
                  <a:srgbClr val="00D9C0"/>
                </a:solidFill>
                <a:latin typeface="Courier New" pitchFamily="34" charset="0"/>
                <a:ea typeface="Courier New" pitchFamily="34" charset="-122"/>
                <a:cs typeface="Courier New" pitchFamily="34" charset="-120"/>
              </a:rPr>
              <a:t>   memlock:</a:t>
            </a:r>
          </a:p>
          <a:p>
            <a:r>
              <a:rPr lang="en-US" sz="1200" b="1">
                <a:solidFill>
                  <a:srgbClr val="00D9C0"/>
                </a:solidFill>
                <a:latin typeface="Courier New" pitchFamily="34" charset="0"/>
                <a:ea typeface="Courier New" pitchFamily="34" charset="-122"/>
                <a:cs typeface="Courier New" pitchFamily="34" charset="-120"/>
              </a:rPr>
              <a:t> </a:t>
            </a:r>
            <a:r>
              <a:rPr lang="en-US" sz="1200" b="1" smtClean="0">
                <a:solidFill>
                  <a:srgbClr val="00D9C0"/>
                </a:solidFill>
                <a:latin typeface="Courier New" pitchFamily="34" charset="0"/>
                <a:ea typeface="Courier New" pitchFamily="34" charset="-122"/>
                <a:cs typeface="Courier New" pitchFamily="34" charset="-120"/>
              </a:rPr>
              <a:t>    soft: </a:t>
            </a:r>
            <a:r>
              <a:rPr lang="en-US" sz="1200" b="1">
                <a:solidFill>
                  <a:srgbClr val="00D9C0"/>
                </a:solidFill>
                <a:latin typeface="Courier New" pitchFamily="34" charset="0"/>
                <a:ea typeface="Courier New" pitchFamily="34" charset="-122"/>
                <a:cs typeface="Courier New" pitchFamily="34" charset="-120"/>
              </a:rPr>
              <a:t>-</a:t>
            </a:r>
            <a:r>
              <a:rPr lang="en-US" sz="1200" b="1" smtClean="0">
                <a:solidFill>
                  <a:srgbClr val="00D9C0"/>
                </a:solidFill>
                <a:latin typeface="Courier New" pitchFamily="34" charset="0"/>
                <a:ea typeface="Courier New" pitchFamily="34" charset="-122"/>
                <a:cs typeface="Courier New" pitchFamily="34" charset="-120"/>
              </a:rPr>
              <a:t>1</a:t>
            </a:r>
          </a:p>
          <a:p>
            <a:r>
              <a:rPr lang="en-US" sz="1200" b="1">
                <a:solidFill>
                  <a:srgbClr val="00D9C0"/>
                </a:solidFill>
                <a:latin typeface="Courier New" pitchFamily="34" charset="0"/>
                <a:ea typeface="Courier New" pitchFamily="34" charset="-122"/>
                <a:cs typeface="Courier New" pitchFamily="34" charset="-120"/>
              </a:rPr>
              <a:t> </a:t>
            </a:r>
            <a:r>
              <a:rPr lang="en-US" sz="1200" b="1" smtClean="0">
                <a:solidFill>
                  <a:srgbClr val="00D9C0"/>
                </a:solidFill>
                <a:latin typeface="Courier New" pitchFamily="34" charset="0"/>
                <a:ea typeface="Courier New" pitchFamily="34" charset="-122"/>
                <a:cs typeface="Courier New" pitchFamily="34" charset="-120"/>
              </a:rPr>
              <a:t>    hard: -1</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13" name="Text 11"/>
          <p:cNvSpPr txBox="1"/>
          <p:nvPr/>
        </p:nvSpPr>
        <p:spPr>
          <a:xfrm>
            <a:off x="779145" y="5133975"/>
            <a:ext cx="4937760" cy="647700"/>
          </a:xfrm>
          <a:prstGeom prst="rect">
            <a:avLst/>
          </a:prstGeom>
          <a:noFill/>
          <a:ln/>
        </p:spPr>
        <p:txBody>
          <a:bodyPr wrap="square" lIns="0" tIns="0" rIns="0" bIns="0" rtlCol="0" anchor="ctr"/>
          <a:lstStyle/>
          <a:p>
            <a:r>
              <a:rPr lang="en-US" sz="1150" dirty="0">
                <a:solidFill>
                  <a:srgbClr val="12172B"/>
                </a:solidFill>
                <a:ea typeface="Calibri" pitchFamily="34" charset="-122"/>
                <a:cs typeface="Calibri" pitchFamily="34" charset="-120"/>
              </a:rPr>
              <a:t>Hebt das Limit für gesperrten (nicht auslagerbaren) Speicher auf, damit der Treiber genug GPU-Speicher reservieren kann</a:t>
            </a:r>
          </a:p>
        </p:txBody>
      </p:sp>
      <p:sp>
        <p:nvSpPr>
          <p:cNvPr id="14" name="Text 12"/>
          <p:cNvSpPr txBox="1"/>
          <p:nvPr/>
        </p:nvSpPr>
        <p:spPr>
          <a:xfrm>
            <a:off x="6196965" y="1983105"/>
            <a:ext cx="5394960" cy="274320"/>
          </a:xfrm>
          <a:prstGeom prst="rect">
            <a:avLst/>
          </a:prstGeom>
          <a:noFill/>
          <a:ln/>
        </p:spPr>
        <p:txBody>
          <a:bodyPr wrap="square" lIns="0" tIns="0" rIns="0" bIns="0" rtlCol="0" anchor="ctr"/>
          <a:lstStyle/>
          <a:p>
            <a:r>
              <a:rPr lang="en-US" sz="1100" b="1" kern="0" spc="100" dirty="0">
                <a:solidFill>
                  <a:schemeClr val="accent2"/>
                </a:solidFill>
                <a:ea typeface="Calibri" pitchFamily="34" charset="-122"/>
                <a:cs typeface="Calibri" pitchFamily="34" charset="-120"/>
              </a:rPr>
              <a:t>OLLAMA-UMGEBUNGSVARIABLEN</a:t>
            </a:r>
          </a:p>
        </p:txBody>
      </p:sp>
      <p:sp>
        <p:nvSpPr>
          <p:cNvPr id="15" name="Shape 13"/>
          <p:cNvSpPr/>
          <p:nvPr/>
        </p:nvSpPr>
        <p:spPr>
          <a:xfrm>
            <a:off x="6196965" y="2303145"/>
            <a:ext cx="5394960" cy="800100"/>
          </a:xfrm>
          <a:prstGeom prst="roundRect">
            <a:avLst>
              <a:gd name="adj" fmla="val 8696"/>
            </a:avLst>
          </a:prstGeom>
          <a:solidFill>
            <a:srgbClr val="E7ECF5"/>
          </a:solidFill>
          <a:ln/>
        </p:spPr>
      </p:sp>
      <p:sp>
        <p:nvSpPr>
          <p:cNvPr id="16" name="Shape 14"/>
          <p:cNvSpPr/>
          <p:nvPr/>
        </p:nvSpPr>
        <p:spPr>
          <a:xfrm>
            <a:off x="6379845" y="2440305"/>
            <a:ext cx="4206240" cy="347472"/>
          </a:xfrm>
          <a:prstGeom prst="roundRect">
            <a:avLst>
              <a:gd name="adj" fmla="val 15789"/>
            </a:avLst>
          </a:prstGeom>
          <a:solidFill>
            <a:srgbClr val="0D1321"/>
          </a:solidFill>
          <a:ln/>
        </p:spPr>
      </p:sp>
      <p:sp>
        <p:nvSpPr>
          <p:cNvPr id="17" name="Text 15"/>
          <p:cNvSpPr txBox="1"/>
          <p:nvPr/>
        </p:nvSpPr>
        <p:spPr>
          <a:xfrm>
            <a:off x="6379845" y="2440305"/>
            <a:ext cx="4206240" cy="347472"/>
          </a:xfrm>
          <a:prstGeom prst="rect">
            <a:avLst/>
          </a:prstGeom>
          <a:noFill/>
          <a:ln/>
        </p:spPr>
        <p:txBody>
          <a:bodyPr wrap="square" lIns="0" tIns="0" rIns="0" bIns="0" rtlCol="0" anchor="ctr"/>
          <a:lstStyle/>
          <a:p>
            <a:pPr algn="ctr"/>
            <a:r>
              <a:rPr lang="en-US" sz="1200" b="1" dirty="0">
                <a:solidFill>
                  <a:srgbClr val="00D9C0"/>
                </a:solidFill>
                <a:latin typeface="Courier New" pitchFamily="34" charset="0"/>
                <a:ea typeface="Courier New" pitchFamily="34" charset="-122"/>
                <a:cs typeface="Courier New" pitchFamily="34" charset="-120"/>
              </a:rPr>
              <a:t>OLLAMA_VULKAN=1</a:t>
            </a:r>
          </a:p>
        </p:txBody>
      </p:sp>
      <p:sp>
        <p:nvSpPr>
          <p:cNvPr id="18" name="Text 16"/>
          <p:cNvSpPr txBox="1"/>
          <p:nvPr/>
        </p:nvSpPr>
        <p:spPr>
          <a:xfrm>
            <a:off x="6379845" y="2813685"/>
            <a:ext cx="5029200" cy="251460"/>
          </a:xfrm>
          <a:prstGeom prst="rect">
            <a:avLst/>
          </a:prstGeom>
          <a:noFill/>
          <a:ln/>
        </p:spPr>
        <p:txBody>
          <a:bodyPr wrap="square" lIns="0" tIns="0" rIns="0" bIns="0" rtlCol="0" anchor="ctr"/>
          <a:lstStyle/>
          <a:p>
            <a:r>
              <a:rPr lang="en-US" sz="1100" dirty="0">
                <a:solidFill>
                  <a:srgbClr val="12172B"/>
                </a:solidFill>
                <a:ea typeface="Calibri" pitchFamily="34" charset="-122"/>
                <a:cs typeface="Calibri" pitchFamily="34" charset="-120"/>
              </a:rPr>
              <a:t>Aktiviert das </a:t>
            </a:r>
            <a:r>
              <a:rPr lang="en-US" sz="1100">
                <a:solidFill>
                  <a:srgbClr val="12172B"/>
                </a:solidFill>
                <a:ea typeface="Calibri" pitchFamily="34" charset="-122"/>
                <a:cs typeface="Calibri" pitchFamily="34" charset="-120"/>
              </a:rPr>
              <a:t>Vulkan-Backend </a:t>
            </a:r>
            <a:r>
              <a:rPr lang="en-US" sz="1100" smtClean="0">
                <a:solidFill>
                  <a:srgbClr val="12172B"/>
                </a:solidFill>
                <a:ea typeface="Calibri" pitchFamily="34" charset="-122"/>
                <a:cs typeface="Calibri" pitchFamily="34" charset="-120"/>
              </a:rPr>
              <a:t>, </a:t>
            </a:r>
            <a:r>
              <a:rPr lang="en-US" sz="1100" dirty="0">
                <a:solidFill>
                  <a:srgbClr val="12172B"/>
                </a:solidFill>
                <a:ea typeface="Calibri" pitchFamily="34" charset="-122"/>
                <a:cs typeface="Calibri" pitchFamily="34" charset="-120"/>
              </a:rPr>
              <a:t>über die Ollama die iGPU überhaupt anspricht</a:t>
            </a:r>
          </a:p>
        </p:txBody>
      </p:sp>
      <p:sp>
        <p:nvSpPr>
          <p:cNvPr id="19" name="Shape 17"/>
          <p:cNvSpPr/>
          <p:nvPr/>
        </p:nvSpPr>
        <p:spPr>
          <a:xfrm>
            <a:off x="6196965" y="3200400"/>
            <a:ext cx="5394960" cy="1343025"/>
          </a:xfrm>
          <a:prstGeom prst="roundRect">
            <a:avLst>
              <a:gd name="adj" fmla="val 8696"/>
            </a:avLst>
          </a:prstGeom>
          <a:solidFill>
            <a:srgbClr val="E7ECF5"/>
          </a:solidFill>
          <a:ln/>
        </p:spPr>
      </p:sp>
      <p:sp>
        <p:nvSpPr>
          <p:cNvPr id="20" name="Shape 18"/>
          <p:cNvSpPr/>
          <p:nvPr/>
        </p:nvSpPr>
        <p:spPr>
          <a:xfrm>
            <a:off x="6379845" y="3343275"/>
            <a:ext cx="4206240" cy="347472"/>
          </a:xfrm>
          <a:prstGeom prst="roundRect">
            <a:avLst>
              <a:gd name="adj" fmla="val 15789"/>
            </a:avLst>
          </a:prstGeom>
          <a:solidFill>
            <a:srgbClr val="0D1321"/>
          </a:solidFill>
          <a:ln/>
        </p:spPr>
      </p:sp>
      <p:sp>
        <p:nvSpPr>
          <p:cNvPr id="21" name="Text 19"/>
          <p:cNvSpPr txBox="1"/>
          <p:nvPr/>
        </p:nvSpPr>
        <p:spPr>
          <a:xfrm>
            <a:off x="6379845" y="3343275"/>
            <a:ext cx="4206240" cy="347472"/>
          </a:xfrm>
          <a:prstGeom prst="rect">
            <a:avLst/>
          </a:prstGeom>
          <a:noFill/>
          <a:ln/>
        </p:spPr>
        <p:txBody>
          <a:bodyPr wrap="square" lIns="0" tIns="0" rIns="0" bIns="0" rtlCol="0" anchor="ctr"/>
          <a:lstStyle/>
          <a:p>
            <a:pPr algn="ctr"/>
            <a:r>
              <a:rPr lang="en-US" sz="1200" b="1" dirty="0">
                <a:solidFill>
                  <a:srgbClr val="00D9C0"/>
                </a:solidFill>
                <a:latin typeface="Courier New" pitchFamily="34" charset="0"/>
                <a:ea typeface="Courier New" pitchFamily="34" charset="-122"/>
                <a:cs typeface="Courier New" pitchFamily="34" charset="-120"/>
              </a:rPr>
              <a:t>OLLAMA_FLASH_ATTENTION=1</a:t>
            </a:r>
          </a:p>
        </p:txBody>
      </p:sp>
      <p:sp>
        <p:nvSpPr>
          <p:cNvPr id="22" name="Text 20"/>
          <p:cNvSpPr txBox="1"/>
          <p:nvPr/>
        </p:nvSpPr>
        <p:spPr>
          <a:xfrm>
            <a:off x="6379845" y="3878580"/>
            <a:ext cx="5029200" cy="457200"/>
          </a:xfrm>
          <a:prstGeom prst="rect">
            <a:avLst/>
          </a:prstGeom>
          <a:noFill/>
          <a:ln/>
        </p:spPr>
        <p:txBody>
          <a:bodyPr wrap="square" lIns="0" tIns="0" rIns="0" bIns="0" rtlCol="0" anchor="ctr"/>
          <a:lstStyle/>
          <a:p>
            <a:r>
              <a:rPr lang="de-DE" sz="1100"/>
              <a:t>zerlegt diese Aufgaben stattdessen in winzige Blöcke, sodass sie direkt im ultraschnellen Speicher des Grafikchips verarbeitet werden. Dadurch wird der ständige Zugriff auf den DDR4-RAM während der Berechnung verhindert, was die Verarbeitungsgeschwindigkeit erhöht und den Arbeitsspeicher spürbar</a:t>
            </a:r>
            <a:endParaRPr lang="en-US" sz="1100" dirty="0">
              <a:solidFill>
                <a:srgbClr val="12172B"/>
              </a:solidFill>
              <a:ea typeface="Calibri" pitchFamily="34" charset="-122"/>
              <a:cs typeface="Calibri" pitchFamily="34" charset="-120"/>
            </a:endParaRPr>
          </a:p>
        </p:txBody>
      </p:sp>
      <p:sp>
        <p:nvSpPr>
          <p:cNvPr id="23" name="Shape 21"/>
          <p:cNvSpPr/>
          <p:nvPr/>
        </p:nvSpPr>
        <p:spPr>
          <a:xfrm>
            <a:off x="6196965" y="4652010"/>
            <a:ext cx="5394960" cy="1051560"/>
          </a:xfrm>
          <a:prstGeom prst="roundRect">
            <a:avLst>
              <a:gd name="adj" fmla="val 8696"/>
            </a:avLst>
          </a:prstGeom>
          <a:solidFill>
            <a:srgbClr val="E7ECF5"/>
          </a:solidFill>
          <a:ln/>
        </p:spPr>
      </p:sp>
      <p:sp>
        <p:nvSpPr>
          <p:cNvPr id="24" name="Shape 22"/>
          <p:cNvSpPr/>
          <p:nvPr/>
        </p:nvSpPr>
        <p:spPr>
          <a:xfrm>
            <a:off x="6379845" y="4789170"/>
            <a:ext cx="4206240" cy="347472"/>
          </a:xfrm>
          <a:prstGeom prst="roundRect">
            <a:avLst>
              <a:gd name="adj" fmla="val 15789"/>
            </a:avLst>
          </a:prstGeom>
          <a:solidFill>
            <a:srgbClr val="0D1321"/>
          </a:solidFill>
          <a:ln/>
        </p:spPr>
      </p:sp>
      <p:sp>
        <p:nvSpPr>
          <p:cNvPr id="25" name="Text 23"/>
          <p:cNvSpPr txBox="1"/>
          <p:nvPr/>
        </p:nvSpPr>
        <p:spPr>
          <a:xfrm>
            <a:off x="6379845" y="4789170"/>
            <a:ext cx="4206240" cy="347472"/>
          </a:xfrm>
          <a:prstGeom prst="rect">
            <a:avLst/>
          </a:prstGeom>
          <a:noFill/>
          <a:ln/>
        </p:spPr>
        <p:txBody>
          <a:bodyPr wrap="square" lIns="0" tIns="0" rIns="0" bIns="0" rtlCol="0" anchor="ctr"/>
          <a:lstStyle/>
          <a:p>
            <a:pPr algn="ctr"/>
            <a:r>
              <a:rPr lang="en-US" sz="1200" b="1" dirty="0">
                <a:solidFill>
                  <a:srgbClr val="00D9C0"/>
                </a:solidFill>
                <a:latin typeface="Courier New" pitchFamily="34" charset="0"/>
                <a:ea typeface="Courier New" pitchFamily="34" charset="-122"/>
                <a:cs typeface="Courier New" pitchFamily="34" charset="-120"/>
              </a:rPr>
              <a:t>OLLAMA_KV_CACHE_TYPE=q4_0</a:t>
            </a:r>
          </a:p>
        </p:txBody>
      </p:sp>
      <p:sp>
        <p:nvSpPr>
          <p:cNvPr id="26" name="Text 24"/>
          <p:cNvSpPr txBox="1"/>
          <p:nvPr/>
        </p:nvSpPr>
        <p:spPr>
          <a:xfrm>
            <a:off x="6379845" y="5200650"/>
            <a:ext cx="5029200" cy="457200"/>
          </a:xfrm>
          <a:prstGeom prst="rect">
            <a:avLst/>
          </a:prstGeom>
          <a:noFill/>
          <a:ln/>
        </p:spPr>
        <p:txBody>
          <a:bodyPr wrap="square" lIns="0" tIns="0" rIns="0" bIns="0" rtlCol="0" anchor="ctr"/>
          <a:lstStyle/>
          <a:p>
            <a:r>
              <a:rPr lang="en-US" sz="1100" dirty="0">
                <a:solidFill>
                  <a:srgbClr val="12172B"/>
                </a:solidFill>
                <a:ea typeface="Calibri" pitchFamily="34" charset="-122"/>
                <a:cs typeface="Calibri" pitchFamily="34" charset="-120"/>
              </a:rPr>
              <a:t>Quantisiert den KV-Cache global für den Container – reduziert den Speicherbedarf </a:t>
            </a:r>
            <a:r>
              <a:rPr lang="en-US" sz="1100">
                <a:solidFill>
                  <a:srgbClr val="12172B"/>
                </a:solidFill>
                <a:ea typeface="Calibri" pitchFamily="34" charset="-122"/>
                <a:cs typeface="Calibri" pitchFamily="34" charset="-120"/>
              </a:rPr>
              <a:t>um </a:t>
            </a:r>
            <a:r>
              <a:rPr lang="en-US" sz="1100" smtClean="0">
                <a:solidFill>
                  <a:srgbClr val="12172B"/>
                </a:solidFill>
                <a:ea typeface="Calibri" pitchFamily="34" charset="-122"/>
                <a:cs typeface="Calibri" pitchFamily="34" charset="-120"/>
              </a:rPr>
              <a:t>bis zu </a:t>
            </a:r>
            <a:r>
              <a:rPr lang="en-US" sz="1100" dirty="0">
                <a:solidFill>
                  <a:srgbClr val="12172B"/>
                </a:solidFill>
                <a:ea typeface="Calibri" pitchFamily="34" charset="-122"/>
                <a:cs typeface="Calibri" pitchFamily="34" charset="-120"/>
              </a:rPr>
              <a:t>72%</a:t>
            </a:r>
          </a:p>
        </p:txBody>
      </p:sp>
      <p:sp>
        <p:nvSpPr>
          <p:cNvPr id="27" name="Text 25"/>
          <p:cNvSpPr txBox="1"/>
          <p:nvPr/>
        </p:nvSpPr>
        <p:spPr>
          <a:xfrm>
            <a:off x="457200" y="6537960"/>
            <a:ext cx="5486400" cy="274320"/>
          </a:xfrm>
          <a:prstGeom prst="rect">
            <a:avLst/>
          </a:prstGeom>
          <a:noFill/>
          <a:ln/>
        </p:spPr>
        <p:txBody>
          <a:bodyPr wrap="square" lIns="0" tIns="0" rIns="0" bIns="0" rtlCol="0" anchor="ctr"/>
          <a:lstStyle/>
          <a:p>
            <a:r>
              <a:rPr lang="en-US" sz="900" dirty="0">
                <a:solidFill>
                  <a:srgbClr val="5B6478"/>
                </a:solidFill>
                <a:ea typeface="Calibri" pitchFamily="34" charset="-122"/>
                <a:cs typeface="Calibri" pitchFamily="34" charset="-120"/>
              </a:rPr>
              <a:t>OLLAMA PERFORMANCE TUNING · iGPU</a:t>
            </a:r>
            <a:endParaRPr lang="en-US" sz="900" dirty="0">
              <a:solidFill>
                <a:prstClr val="black"/>
              </a:solidFill>
            </a:endParaRPr>
          </a:p>
        </p:txBody>
      </p:sp>
      <p:sp>
        <p:nvSpPr>
          <p:cNvPr id="28" name="Text 26"/>
          <p:cNvSpPr txBox="1"/>
          <p:nvPr/>
        </p:nvSpPr>
        <p:spPr>
          <a:xfrm>
            <a:off x="11274552" y="6537960"/>
            <a:ext cx="457200" cy="274320"/>
          </a:xfrm>
          <a:prstGeom prst="rect">
            <a:avLst/>
          </a:prstGeom>
          <a:noFill/>
          <a:ln/>
        </p:spPr>
        <p:txBody>
          <a:bodyPr wrap="square" lIns="0" tIns="0" rIns="0" bIns="0" rtlCol="0" anchor="ctr"/>
          <a:lstStyle/>
          <a:p>
            <a:pPr algn="r"/>
            <a:r>
              <a:rPr lang="en-US" sz="900" smtClean="0">
                <a:solidFill>
                  <a:srgbClr val="5B6478"/>
                </a:solidFill>
                <a:ea typeface="Calibri" pitchFamily="34" charset="-122"/>
                <a:cs typeface="Calibri" pitchFamily="34" charset="-120"/>
              </a:rPr>
              <a:t>23</a:t>
            </a:r>
            <a:endParaRPr lang="en-US" sz="900" dirty="0">
              <a:solidFill>
                <a:prstClr val="black"/>
              </a:solidFill>
            </a:endParaRPr>
          </a:p>
        </p:txBody>
      </p:sp>
    </p:spTree>
    <p:extLst>
      <p:ext uri="{BB962C8B-B14F-4D97-AF65-F5344CB8AC3E}">
        <p14:creationId xmlns:p14="http://schemas.microsoft.com/office/powerpoint/2010/main" val="20482733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r>
              <a:rPr lang="en-US" sz="1300" b="1" kern="0" spc="200">
                <a:solidFill>
                  <a:srgbClr val="00D9C0"/>
                </a:solidFill>
                <a:ea typeface="Calibri" pitchFamily="34" charset="-122"/>
                <a:cs typeface="Calibri" pitchFamily="34" charset="-120"/>
              </a:rPr>
              <a:t>BLOCK 3 OPTIMIERUNG</a:t>
            </a:r>
            <a:endParaRPr lang="en-US" sz="1300" dirty="0">
              <a:solidFill>
                <a:prstClr val="black"/>
              </a:solidFill>
            </a:endParaRPr>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r>
              <a:rPr lang="en-US" sz="3000" b="1" dirty="0">
                <a:solidFill>
                  <a:srgbClr val="12172B"/>
                </a:solidFill>
                <a:latin typeface="Arial" pitchFamily="34" charset="0"/>
                <a:ea typeface="Arial" pitchFamily="34" charset="-122"/>
                <a:cs typeface="Arial" pitchFamily="34" charset="-120"/>
              </a:rPr>
              <a:t>docker-compose.yml: </a:t>
            </a:r>
            <a:r>
              <a:rPr lang="en-US" sz="3000" b="1">
                <a:solidFill>
                  <a:srgbClr val="12172B"/>
                </a:solidFill>
                <a:latin typeface="Arial" pitchFamily="34" charset="0"/>
                <a:ea typeface="Arial" pitchFamily="34" charset="-122"/>
                <a:cs typeface="Arial" pitchFamily="34" charset="-120"/>
              </a:rPr>
              <a:t>Weitere </a:t>
            </a:r>
            <a:r>
              <a:rPr lang="en-US" sz="3000" b="1" smtClean="0">
                <a:solidFill>
                  <a:srgbClr val="12172B"/>
                </a:solidFill>
                <a:latin typeface="Arial" pitchFamily="34" charset="0"/>
                <a:ea typeface="Arial" pitchFamily="34" charset="-122"/>
                <a:cs typeface="Arial" pitchFamily="34" charset="-120"/>
              </a:rPr>
              <a:t>Variablen</a:t>
            </a:r>
            <a:endParaRPr lang="en-US" sz="3000" b="1" dirty="0">
              <a:solidFill>
                <a:srgbClr val="12172B"/>
              </a:solidFill>
              <a:latin typeface="Arial" pitchFamily="34" charset="0"/>
              <a:ea typeface="Arial" pitchFamily="34" charset="-122"/>
              <a:cs typeface="Arial" pitchFamily="34" charset="-120"/>
            </a:endParaRPr>
          </a:p>
        </p:txBody>
      </p:sp>
      <p:sp>
        <p:nvSpPr>
          <p:cNvPr id="4" name="Text 2"/>
          <p:cNvSpPr txBox="1"/>
          <p:nvPr/>
        </p:nvSpPr>
        <p:spPr>
          <a:xfrm>
            <a:off x="548640" y="1285875"/>
            <a:ext cx="7919083" cy="457200"/>
          </a:xfrm>
          <a:prstGeom prst="rect">
            <a:avLst/>
          </a:prstGeom>
          <a:noFill/>
          <a:ln/>
        </p:spPr>
        <p:txBody>
          <a:bodyPr wrap="square" lIns="0" tIns="0" rIns="0" bIns="0" rtlCol="0" anchor="ctr"/>
          <a:lstStyle/>
          <a:p>
            <a:r>
              <a:rPr lang="en-US" sz="1300" dirty="0">
                <a:solidFill>
                  <a:srgbClr val="5B6478"/>
                </a:solidFill>
                <a:ea typeface="Calibri" pitchFamily="34" charset="-122"/>
                <a:cs typeface="Calibri" pitchFamily="34" charset="-120"/>
              </a:rPr>
              <a:t>Diese Variablen wirken global für den </a:t>
            </a:r>
            <a:r>
              <a:rPr lang="en-US" sz="1300">
                <a:solidFill>
                  <a:srgbClr val="5B6478"/>
                </a:solidFill>
                <a:ea typeface="Calibri" pitchFamily="34" charset="-122"/>
                <a:cs typeface="Calibri" pitchFamily="34" charset="-120"/>
              </a:rPr>
              <a:t>gesamten </a:t>
            </a:r>
            <a:r>
              <a:rPr lang="en-US" sz="1300" smtClean="0">
                <a:solidFill>
                  <a:srgbClr val="5B6478"/>
                </a:solidFill>
                <a:ea typeface="Calibri" pitchFamily="34" charset="-122"/>
                <a:cs typeface="Calibri" pitchFamily="34" charset="-120"/>
              </a:rPr>
              <a:t>Container.</a:t>
            </a:r>
            <a:endParaRPr lang="en-US" sz="1300" dirty="0">
              <a:solidFill>
                <a:srgbClr val="5B6478"/>
              </a:solidFill>
              <a:ea typeface="Calibri" pitchFamily="34" charset="-122"/>
              <a:cs typeface="Calibri" pitchFamily="34" charset="-120"/>
            </a:endParaRPr>
          </a:p>
        </p:txBody>
      </p:sp>
      <p:sp>
        <p:nvSpPr>
          <p:cNvPr id="5" name="Shape 3"/>
          <p:cNvSpPr/>
          <p:nvPr/>
        </p:nvSpPr>
        <p:spPr>
          <a:xfrm>
            <a:off x="548640" y="1756410"/>
            <a:ext cx="7938134" cy="457200"/>
          </a:xfrm>
          <a:prstGeom prst="roundRect">
            <a:avLst>
              <a:gd name="adj" fmla="val 12000"/>
            </a:avLst>
          </a:prstGeom>
          <a:solidFill>
            <a:srgbClr val="0D1321"/>
          </a:solidFill>
          <a:ln/>
        </p:spPr>
      </p:sp>
      <p:sp>
        <p:nvSpPr>
          <p:cNvPr id="6" name="Text 4"/>
          <p:cNvSpPr txBox="1"/>
          <p:nvPr/>
        </p:nvSpPr>
        <p:spPr>
          <a:xfrm>
            <a:off x="640080" y="1756410"/>
            <a:ext cx="1691640" cy="457200"/>
          </a:xfrm>
          <a:prstGeom prst="rect">
            <a:avLst/>
          </a:prstGeom>
          <a:noFill/>
          <a:ln/>
        </p:spPr>
        <p:txBody>
          <a:bodyPr wrap="square" lIns="0" tIns="0" rIns="0" bIns="0" rtlCol="0" anchor="ctr"/>
          <a:lstStyle/>
          <a:p>
            <a:pPr algn="ctr"/>
            <a:r>
              <a:rPr lang="en-US" sz="1150" b="1" smtClean="0">
                <a:solidFill>
                  <a:srgbClr val="FFFFFF"/>
                </a:solidFill>
                <a:latin typeface="Arial" pitchFamily="34" charset="0"/>
                <a:ea typeface="Arial" pitchFamily="34" charset="-122"/>
                <a:cs typeface="Arial" pitchFamily="34" charset="-120"/>
              </a:rPr>
              <a:t>Variable</a:t>
            </a:r>
            <a:endParaRPr lang="en-US" sz="1150" b="1" dirty="0">
              <a:solidFill>
                <a:srgbClr val="FFFFFF"/>
              </a:solidFill>
              <a:latin typeface="Arial" pitchFamily="34" charset="0"/>
              <a:ea typeface="Arial" pitchFamily="34" charset="-122"/>
              <a:cs typeface="Arial" pitchFamily="34" charset="-120"/>
            </a:endParaRPr>
          </a:p>
        </p:txBody>
      </p:sp>
      <p:sp>
        <p:nvSpPr>
          <p:cNvPr id="7" name="Text 5"/>
          <p:cNvSpPr txBox="1"/>
          <p:nvPr/>
        </p:nvSpPr>
        <p:spPr>
          <a:xfrm>
            <a:off x="2423160" y="1756410"/>
            <a:ext cx="1691640" cy="457200"/>
          </a:xfrm>
          <a:prstGeom prst="rect">
            <a:avLst/>
          </a:prstGeom>
          <a:noFill/>
          <a:ln/>
        </p:spPr>
        <p:txBody>
          <a:bodyPr wrap="square" lIns="0" tIns="0" rIns="0" bIns="0" rtlCol="0" anchor="ctr"/>
          <a:lstStyle/>
          <a:p>
            <a:pPr algn="ctr"/>
            <a:r>
              <a:rPr lang="en-US" sz="1150" b="1" dirty="0">
                <a:solidFill>
                  <a:srgbClr val="FFFFFF"/>
                </a:solidFill>
                <a:latin typeface="Arial" pitchFamily="34" charset="0"/>
                <a:ea typeface="Arial" pitchFamily="34" charset="-122"/>
                <a:cs typeface="Arial" pitchFamily="34" charset="-120"/>
              </a:rPr>
              <a:t>Wert</a:t>
            </a:r>
          </a:p>
        </p:txBody>
      </p:sp>
      <p:sp>
        <p:nvSpPr>
          <p:cNvPr id="8" name="Text 6"/>
          <p:cNvSpPr txBox="1"/>
          <p:nvPr/>
        </p:nvSpPr>
        <p:spPr>
          <a:xfrm>
            <a:off x="4206240" y="1756410"/>
            <a:ext cx="1965960" cy="457200"/>
          </a:xfrm>
          <a:prstGeom prst="rect">
            <a:avLst/>
          </a:prstGeom>
          <a:noFill/>
          <a:ln/>
        </p:spPr>
        <p:txBody>
          <a:bodyPr wrap="square" lIns="0" tIns="0" rIns="0" bIns="0" rtlCol="0" anchor="ctr"/>
          <a:lstStyle/>
          <a:p>
            <a:pPr algn="ctr"/>
            <a:r>
              <a:rPr lang="en-US" sz="1150" b="1" dirty="0">
                <a:solidFill>
                  <a:srgbClr val="FFFFFF"/>
                </a:solidFill>
                <a:latin typeface="Arial" pitchFamily="34" charset="0"/>
                <a:ea typeface="Arial" pitchFamily="34" charset="-122"/>
                <a:cs typeface="Arial" pitchFamily="34" charset="-120"/>
              </a:rPr>
              <a:t>Zweck</a:t>
            </a:r>
          </a:p>
        </p:txBody>
      </p:sp>
      <p:sp>
        <p:nvSpPr>
          <p:cNvPr id="9" name="Shape 7"/>
          <p:cNvSpPr/>
          <p:nvPr/>
        </p:nvSpPr>
        <p:spPr>
          <a:xfrm>
            <a:off x="548639" y="2213610"/>
            <a:ext cx="7938135" cy="621792"/>
          </a:xfrm>
          <a:prstGeom prst="rect">
            <a:avLst/>
          </a:prstGeom>
          <a:solidFill>
            <a:srgbClr val="F2F5FA"/>
          </a:solidFill>
          <a:ln/>
        </p:spPr>
      </p:sp>
      <p:sp>
        <p:nvSpPr>
          <p:cNvPr id="11" name="Text 9"/>
          <p:cNvSpPr txBox="1"/>
          <p:nvPr/>
        </p:nvSpPr>
        <p:spPr>
          <a:xfrm>
            <a:off x="3794760" y="2213610"/>
            <a:ext cx="1691640" cy="621792"/>
          </a:xfrm>
          <a:prstGeom prst="rect">
            <a:avLst/>
          </a:prstGeom>
          <a:noFill/>
          <a:ln/>
        </p:spPr>
        <p:txBody>
          <a:bodyPr wrap="square" lIns="0" tIns="0" rIns="0" bIns="0" rtlCol="0" anchor="ctr"/>
          <a:lstStyle/>
          <a:p>
            <a:pPr algn="ctr"/>
            <a:r>
              <a:rPr lang="en-US" sz="1250" dirty="0">
                <a:solidFill>
                  <a:srgbClr val="12172B"/>
                </a:solidFill>
                <a:latin typeface="Courier New" pitchFamily="34" charset="0"/>
                <a:ea typeface="Courier New" pitchFamily="34" charset="-122"/>
                <a:cs typeface="Courier New" pitchFamily="34" charset="-120"/>
              </a:rPr>
              <a:t>1</a:t>
            </a:r>
          </a:p>
        </p:txBody>
      </p:sp>
      <p:sp>
        <p:nvSpPr>
          <p:cNvPr id="12" name="Text 10"/>
          <p:cNvSpPr txBox="1"/>
          <p:nvPr/>
        </p:nvSpPr>
        <p:spPr>
          <a:xfrm>
            <a:off x="5234940" y="2213610"/>
            <a:ext cx="3242308" cy="621792"/>
          </a:xfrm>
          <a:prstGeom prst="rect">
            <a:avLst/>
          </a:prstGeom>
          <a:noFill/>
          <a:ln/>
        </p:spPr>
        <p:txBody>
          <a:bodyPr wrap="square" lIns="0" tIns="0" rIns="0" bIns="0" rtlCol="0" anchor="ctr"/>
          <a:lstStyle/>
          <a:p>
            <a:r>
              <a:rPr lang="en-US" sz="1200" dirty="0">
                <a:ea typeface="Calibri" pitchFamily="34" charset="-122"/>
                <a:cs typeface="Calibri" pitchFamily="34" charset="-120"/>
              </a:rPr>
              <a:t>Schaltet die iGPU-Unterstützung im Container grundsätzlich frei</a:t>
            </a:r>
          </a:p>
        </p:txBody>
      </p:sp>
      <p:sp>
        <p:nvSpPr>
          <p:cNvPr id="15" name="Text 13"/>
          <p:cNvSpPr txBox="1"/>
          <p:nvPr/>
        </p:nvSpPr>
        <p:spPr>
          <a:xfrm>
            <a:off x="3794760" y="2835402"/>
            <a:ext cx="1691640" cy="621792"/>
          </a:xfrm>
          <a:prstGeom prst="rect">
            <a:avLst/>
          </a:prstGeom>
          <a:noFill/>
          <a:ln/>
        </p:spPr>
        <p:txBody>
          <a:bodyPr wrap="square" lIns="0" tIns="0" rIns="0" bIns="0" rtlCol="0" anchor="ctr"/>
          <a:lstStyle/>
          <a:p>
            <a:pPr algn="ctr"/>
            <a:r>
              <a:rPr lang="en-US" sz="1250" dirty="0">
                <a:solidFill>
                  <a:srgbClr val="12172B"/>
                </a:solidFill>
                <a:latin typeface="Courier New" pitchFamily="34" charset="0"/>
                <a:ea typeface="Courier New" pitchFamily="34" charset="-122"/>
                <a:cs typeface="Courier New" pitchFamily="34" charset="-120"/>
              </a:rPr>
              <a:t>1</a:t>
            </a:r>
          </a:p>
        </p:txBody>
      </p:sp>
      <p:sp>
        <p:nvSpPr>
          <p:cNvPr id="16" name="Text 14"/>
          <p:cNvSpPr txBox="1"/>
          <p:nvPr/>
        </p:nvSpPr>
        <p:spPr>
          <a:xfrm>
            <a:off x="5234940" y="2835402"/>
            <a:ext cx="3242309" cy="621792"/>
          </a:xfrm>
          <a:prstGeom prst="rect">
            <a:avLst/>
          </a:prstGeom>
          <a:noFill/>
          <a:ln/>
        </p:spPr>
        <p:txBody>
          <a:bodyPr wrap="square" lIns="0" tIns="0" rIns="0" bIns="0" rtlCol="0" anchor="ctr"/>
          <a:lstStyle/>
          <a:p>
            <a:r>
              <a:rPr lang="en-US" sz="1200" dirty="0">
                <a:ea typeface="Calibri" pitchFamily="34" charset="-122"/>
                <a:cs typeface="Calibri" pitchFamily="34" charset="-120"/>
              </a:rPr>
              <a:t>NUMA-Awareness für Systeme mit mehreren Speicher-/CPU-Knoten</a:t>
            </a:r>
          </a:p>
        </p:txBody>
      </p:sp>
      <p:sp>
        <p:nvSpPr>
          <p:cNvPr id="18" name="Shape 16"/>
          <p:cNvSpPr/>
          <p:nvPr/>
        </p:nvSpPr>
        <p:spPr>
          <a:xfrm>
            <a:off x="548639" y="3457194"/>
            <a:ext cx="7938136" cy="621792"/>
          </a:xfrm>
          <a:prstGeom prst="rect">
            <a:avLst/>
          </a:prstGeom>
          <a:solidFill>
            <a:srgbClr val="F2F5FA"/>
          </a:solidFill>
          <a:ln/>
        </p:spPr>
      </p:sp>
      <p:sp>
        <p:nvSpPr>
          <p:cNvPr id="20" name="Text 18"/>
          <p:cNvSpPr txBox="1"/>
          <p:nvPr/>
        </p:nvSpPr>
        <p:spPr>
          <a:xfrm>
            <a:off x="3804285" y="3457194"/>
            <a:ext cx="1691640" cy="621792"/>
          </a:xfrm>
          <a:prstGeom prst="rect">
            <a:avLst/>
          </a:prstGeom>
          <a:noFill/>
          <a:ln/>
        </p:spPr>
        <p:txBody>
          <a:bodyPr wrap="square" lIns="0" tIns="0" rIns="0" bIns="0" rtlCol="0" anchor="ctr"/>
          <a:lstStyle/>
          <a:p>
            <a:pPr algn="ctr"/>
            <a:r>
              <a:rPr lang="en-US" sz="1250" dirty="0">
                <a:solidFill>
                  <a:srgbClr val="12172B"/>
                </a:solidFill>
                <a:latin typeface="Courier New" pitchFamily="34" charset="0"/>
                <a:ea typeface="Courier New" pitchFamily="34" charset="-122"/>
                <a:cs typeface="Courier New" pitchFamily="34" charset="-120"/>
              </a:rPr>
              <a:t>1</a:t>
            </a:r>
          </a:p>
        </p:txBody>
      </p:sp>
      <p:sp>
        <p:nvSpPr>
          <p:cNvPr id="21" name="Text 19"/>
          <p:cNvSpPr txBox="1"/>
          <p:nvPr/>
        </p:nvSpPr>
        <p:spPr>
          <a:xfrm>
            <a:off x="5225414" y="3457194"/>
            <a:ext cx="3242309" cy="621792"/>
          </a:xfrm>
          <a:prstGeom prst="rect">
            <a:avLst/>
          </a:prstGeom>
          <a:noFill/>
          <a:ln/>
        </p:spPr>
        <p:txBody>
          <a:bodyPr wrap="square" lIns="0" tIns="0" rIns="0" bIns="0" rtlCol="0" anchor="ctr"/>
          <a:lstStyle/>
          <a:p>
            <a:r>
              <a:rPr lang="en-US" sz="1200" dirty="0">
                <a:ea typeface="Calibri" pitchFamily="34" charset="-122"/>
                <a:cs typeface="Calibri" pitchFamily="34" charset="-120"/>
              </a:rPr>
              <a:t>Begrenzt gleichzeitige Anfragen – kein paralleles Batching</a:t>
            </a:r>
          </a:p>
        </p:txBody>
      </p:sp>
      <p:sp>
        <p:nvSpPr>
          <p:cNvPr id="24" name="Text 22"/>
          <p:cNvSpPr txBox="1"/>
          <p:nvPr/>
        </p:nvSpPr>
        <p:spPr>
          <a:xfrm>
            <a:off x="3813810" y="4078986"/>
            <a:ext cx="1691640" cy="621792"/>
          </a:xfrm>
          <a:prstGeom prst="rect">
            <a:avLst/>
          </a:prstGeom>
          <a:noFill/>
          <a:ln/>
        </p:spPr>
        <p:txBody>
          <a:bodyPr wrap="square" lIns="0" tIns="0" rIns="0" bIns="0" rtlCol="0" anchor="ctr"/>
          <a:lstStyle/>
          <a:p>
            <a:pPr algn="ctr"/>
            <a:r>
              <a:rPr lang="en-US" sz="1250" dirty="0">
                <a:solidFill>
                  <a:srgbClr val="12172B"/>
                </a:solidFill>
                <a:latin typeface="Courier New" pitchFamily="34" charset="0"/>
                <a:ea typeface="Courier New" pitchFamily="34" charset="-122"/>
                <a:cs typeface="Courier New" pitchFamily="34" charset="-120"/>
              </a:rPr>
              <a:t>1</a:t>
            </a:r>
          </a:p>
        </p:txBody>
      </p:sp>
      <p:sp>
        <p:nvSpPr>
          <p:cNvPr id="25" name="Text 23"/>
          <p:cNvSpPr txBox="1"/>
          <p:nvPr/>
        </p:nvSpPr>
        <p:spPr>
          <a:xfrm>
            <a:off x="5234939" y="4078986"/>
            <a:ext cx="3242309" cy="621792"/>
          </a:xfrm>
          <a:prstGeom prst="rect">
            <a:avLst/>
          </a:prstGeom>
          <a:noFill/>
          <a:ln/>
        </p:spPr>
        <p:txBody>
          <a:bodyPr wrap="square" lIns="0" tIns="0" rIns="0" bIns="0" rtlCol="0" anchor="ctr"/>
          <a:lstStyle/>
          <a:p>
            <a:r>
              <a:rPr lang="en-US" sz="1200" dirty="0">
                <a:ea typeface="Calibri" pitchFamily="34" charset="-122"/>
                <a:cs typeface="Calibri" pitchFamily="34" charset="-120"/>
              </a:rPr>
              <a:t>Nur ein Modell gleichzeitig geladen</a:t>
            </a:r>
          </a:p>
        </p:txBody>
      </p:sp>
      <p:sp>
        <p:nvSpPr>
          <p:cNvPr id="31" name="Text 29"/>
          <p:cNvSpPr txBox="1"/>
          <p:nvPr/>
        </p:nvSpPr>
        <p:spPr>
          <a:xfrm>
            <a:off x="8839200" y="806958"/>
            <a:ext cx="2606040" cy="274320"/>
          </a:xfrm>
          <a:prstGeom prst="rect">
            <a:avLst/>
          </a:prstGeom>
          <a:noFill/>
          <a:ln/>
        </p:spPr>
        <p:txBody>
          <a:bodyPr wrap="square" lIns="0" tIns="0" rIns="0" bIns="0" rtlCol="0" anchor="ctr"/>
          <a:lstStyle/>
          <a:p>
            <a:r>
              <a:rPr lang="en-US" sz="1100" kern="0" spc="100" smtClean="0">
                <a:ea typeface="Calibri" pitchFamily="34" charset="-122"/>
                <a:cs typeface="Calibri" pitchFamily="34" charset="-120"/>
              </a:rPr>
              <a:t>Inhalt der docker-compose.yml</a:t>
            </a:r>
            <a:endParaRPr lang="en-US" sz="1100" kern="0" spc="100" dirty="0">
              <a:ea typeface="Calibri" pitchFamily="34" charset="-122"/>
              <a:cs typeface="Calibri" pitchFamily="34" charset="-120"/>
            </a:endParaRPr>
          </a:p>
        </p:txBody>
      </p:sp>
      <p:sp>
        <p:nvSpPr>
          <p:cNvPr id="32" name="Shape 30"/>
          <p:cNvSpPr/>
          <p:nvPr/>
        </p:nvSpPr>
        <p:spPr>
          <a:xfrm>
            <a:off x="8743949" y="1097280"/>
            <a:ext cx="3178303" cy="5440679"/>
          </a:xfrm>
          <a:prstGeom prst="roundRect">
            <a:avLst>
              <a:gd name="adj" fmla="val 2540"/>
            </a:avLst>
          </a:prstGeom>
          <a:solidFill>
            <a:srgbClr val="0A0E1A"/>
          </a:solidFill>
          <a:ln/>
          <a:effectLst>
            <a:outerShdw blurRad="101600" dist="38100" dir="5400000" algn="bl" rotWithShape="0">
              <a:srgbClr val="000000">
                <a:alpha val="35000"/>
              </a:srgbClr>
            </a:outerShdw>
          </a:effectLst>
        </p:spPr>
      </p:sp>
      <p:sp>
        <p:nvSpPr>
          <p:cNvPr id="33" name="Shape 31"/>
          <p:cNvSpPr/>
          <p:nvPr/>
        </p:nvSpPr>
        <p:spPr>
          <a:xfrm>
            <a:off x="8966454" y="1328166"/>
            <a:ext cx="91440" cy="91440"/>
          </a:xfrm>
          <a:prstGeom prst="ellipse">
            <a:avLst/>
          </a:prstGeom>
          <a:solidFill>
            <a:srgbClr val="FF5F56"/>
          </a:solidFill>
          <a:ln/>
        </p:spPr>
      </p:sp>
      <p:sp>
        <p:nvSpPr>
          <p:cNvPr id="34" name="Shape 32"/>
          <p:cNvSpPr/>
          <p:nvPr/>
        </p:nvSpPr>
        <p:spPr>
          <a:xfrm>
            <a:off x="9167622" y="1328166"/>
            <a:ext cx="91440" cy="91440"/>
          </a:xfrm>
          <a:prstGeom prst="ellipse">
            <a:avLst/>
          </a:prstGeom>
          <a:solidFill>
            <a:srgbClr val="FFBD2E"/>
          </a:solidFill>
          <a:ln/>
        </p:spPr>
      </p:sp>
      <p:sp>
        <p:nvSpPr>
          <p:cNvPr id="35" name="Shape 33"/>
          <p:cNvSpPr/>
          <p:nvPr/>
        </p:nvSpPr>
        <p:spPr>
          <a:xfrm>
            <a:off x="9368790" y="1328166"/>
            <a:ext cx="91440" cy="91440"/>
          </a:xfrm>
          <a:prstGeom prst="ellipse">
            <a:avLst/>
          </a:prstGeom>
          <a:solidFill>
            <a:srgbClr val="27C93F"/>
          </a:solidFill>
          <a:ln/>
        </p:spPr>
      </p:sp>
      <p:sp>
        <p:nvSpPr>
          <p:cNvPr id="36" name="Text 34"/>
          <p:cNvSpPr txBox="1"/>
          <p:nvPr/>
        </p:nvSpPr>
        <p:spPr>
          <a:xfrm>
            <a:off x="9015984" y="1538859"/>
            <a:ext cx="3048762" cy="4913757"/>
          </a:xfrm>
          <a:prstGeom prst="rect">
            <a:avLst/>
          </a:prstGeom>
          <a:noFill/>
          <a:ln/>
        </p:spPr>
        <p:txBody>
          <a:bodyPr wrap="square" lIns="0" tIns="0" rIns="0" bIns="0" rtlCol="0" anchor="t"/>
          <a:lstStyle/>
          <a:p>
            <a:pPr>
              <a:lnSpc>
                <a:spcPct val="115000"/>
              </a:lnSpc>
            </a:pPr>
            <a:r>
              <a:rPr lang="en-US" sz="930">
                <a:solidFill>
                  <a:srgbClr val="00D9C0"/>
                </a:solidFill>
                <a:latin typeface="Courier New" pitchFamily="34" charset="0"/>
                <a:ea typeface="Courier New" pitchFamily="34" charset="-122"/>
                <a:cs typeface="Courier New" pitchFamily="34" charset="-120"/>
              </a:rPr>
              <a:t>ollama:</a:t>
            </a:r>
          </a:p>
          <a:p>
            <a:pPr>
              <a:lnSpc>
                <a:spcPct val="115000"/>
              </a:lnSpc>
            </a:pPr>
            <a:r>
              <a:rPr lang="en-US" sz="930">
                <a:solidFill>
                  <a:srgbClr val="00D9C0"/>
                </a:solidFill>
                <a:latin typeface="Courier New" pitchFamily="34" charset="0"/>
                <a:ea typeface="Courier New" pitchFamily="34" charset="-122"/>
                <a:cs typeface="Courier New" pitchFamily="34" charset="-120"/>
              </a:rPr>
              <a:t>    image: ollama/ollama:latest</a:t>
            </a:r>
          </a:p>
          <a:p>
            <a:pPr>
              <a:lnSpc>
                <a:spcPct val="115000"/>
              </a:lnSpc>
            </a:pPr>
            <a:r>
              <a:rPr lang="en-US" sz="930">
                <a:solidFill>
                  <a:srgbClr val="00D9C0"/>
                </a:solidFill>
                <a:latin typeface="Courier New" pitchFamily="34" charset="0"/>
                <a:ea typeface="Courier New" pitchFamily="34" charset="-122"/>
                <a:cs typeface="Courier New" pitchFamily="34" charset="-120"/>
              </a:rPr>
              <a:t>    container_name: ollama_container</a:t>
            </a:r>
          </a:p>
          <a:p>
            <a:pPr>
              <a:lnSpc>
                <a:spcPct val="115000"/>
              </a:lnSpc>
            </a:pPr>
            <a:r>
              <a:rPr lang="en-US" sz="930">
                <a:solidFill>
                  <a:srgbClr val="00D9C0"/>
                </a:solidFill>
                <a:latin typeface="Courier New" pitchFamily="34" charset="0"/>
                <a:ea typeface="Courier New" pitchFamily="34" charset="-122"/>
                <a:cs typeface="Courier New" pitchFamily="34" charset="-120"/>
              </a:rPr>
              <a:t>    ports:</a:t>
            </a:r>
          </a:p>
          <a:p>
            <a:pPr>
              <a:lnSpc>
                <a:spcPct val="115000"/>
              </a:lnSpc>
            </a:pPr>
            <a:r>
              <a:rPr lang="en-US" sz="930">
                <a:solidFill>
                  <a:srgbClr val="00D9C0"/>
                </a:solidFill>
                <a:latin typeface="Courier New" pitchFamily="34" charset="0"/>
                <a:ea typeface="Courier New" pitchFamily="34" charset="-122"/>
                <a:cs typeface="Courier New" pitchFamily="34" charset="-120"/>
              </a:rPr>
              <a:t>      - "11434:11434"</a:t>
            </a:r>
          </a:p>
          <a:p>
            <a:pPr>
              <a:lnSpc>
                <a:spcPct val="115000"/>
              </a:lnSpc>
            </a:pPr>
            <a:r>
              <a:rPr lang="en-US" sz="930">
                <a:solidFill>
                  <a:srgbClr val="00D9C0"/>
                </a:solidFill>
                <a:latin typeface="Courier New" pitchFamily="34" charset="0"/>
                <a:ea typeface="Courier New" pitchFamily="34" charset="-122"/>
                <a:cs typeface="Courier New" pitchFamily="34" charset="-120"/>
              </a:rPr>
              <a:t>    volumes:</a:t>
            </a:r>
          </a:p>
          <a:p>
            <a:pPr>
              <a:lnSpc>
                <a:spcPct val="115000"/>
              </a:lnSpc>
            </a:pPr>
            <a:r>
              <a:rPr lang="en-US" sz="930">
                <a:solidFill>
                  <a:srgbClr val="00D9C0"/>
                </a:solidFill>
                <a:latin typeface="Courier New" pitchFamily="34" charset="0"/>
                <a:ea typeface="Courier New" pitchFamily="34" charset="-122"/>
                <a:cs typeface="Courier New" pitchFamily="34" charset="-120"/>
              </a:rPr>
              <a:t>      - ./ollama_data:/root/.ollama</a:t>
            </a:r>
          </a:p>
          <a:p>
            <a:pPr>
              <a:lnSpc>
                <a:spcPct val="115000"/>
              </a:lnSpc>
            </a:pPr>
            <a:r>
              <a:rPr lang="en-US" sz="930">
                <a:solidFill>
                  <a:srgbClr val="00D9C0"/>
                </a:solidFill>
                <a:latin typeface="Courier New" pitchFamily="34" charset="0"/>
                <a:ea typeface="Courier New" pitchFamily="34" charset="-122"/>
                <a:cs typeface="Courier New" pitchFamily="34" charset="-120"/>
              </a:rPr>
              <a:t>    devices:</a:t>
            </a:r>
          </a:p>
          <a:p>
            <a:pPr>
              <a:lnSpc>
                <a:spcPct val="115000"/>
              </a:lnSpc>
            </a:pPr>
            <a:r>
              <a:rPr lang="en-US" sz="930">
                <a:solidFill>
                  <a:srgbClr val="00D9C0"/>
                </a:solidFill>
                <a:latin typeface="Courier New" pitchFamily="34" charset="0"/>
                <a:ea typeface="Courier New" pitchFamily="34" charset="-122"/>
                <a:cs typeface="Courier New" pitchFamily="34" charset="-120"/>
              </a:rPr>
              <a:t>      - "/dev/dri"</a:t>
            </a:r>
          </a:p>
          <a:p>
            <a:pPr>
              <a:lnSpc>
                <a:spcPct val="115000"/>
              </a:lnSpc>
            </a:pPr>
            <a:r>
              <a:rPr lang="en-US" sz="930">
                <a:solidFill>
                  <a:srgbClr val="00D9C0"/>
                </a:solidFill>
                <a:latin typeface="Courier New" pitchFamily="34" charset="0"/>
                <a:ea typeface="Courier New" pitchFamily="34" charset="-122"/>
                <a:cs typeface="Courier New" pitchFamily="34" charset="-120"/>
              </a:rPr>
              <a:t>      - "/dev/kfd"</a:t>
            </a:r>
          </a:p>
          <a:p>
            <a:pPr>
              <a:lnSpc>
                <a:spcPct val="115000"/>
              </a:lnSpc>
            </a:pPr>
            <a:r>
              <a:rPr lang="en-US" sz="930">
                <a:solidFill>
                  <a:srgbClr val="00D9C0"/>
                </a:solidFill>
                <a:latin typeface="Courier New" pitchFamily="34" charset="0"/>
                <a:ea typeface="Courier New" pitchFamily="34" charset="-122"/>
                <a:cs typeface="Courier New" pitchFamily="34" charset="-120"/>
              </a:rPr>
              <a:t>    group_add:</a:t>
            </a:r>
          </a:p>
          <a:p>
            <a:pPr>
              <a:lnSpc>
                <a:spcPct val="115000"/>
              </a:lnSpc>
            </a:pPr>
            <a:r>
              <a:rPr lang="en-US" sz="930">
                <a:solidFill>
                  <a:srgbClr val="00D9C0"/>
                </a:solidFill>
                <a:latin typeface="Courier New" pitchFamily="34" charset="0"/>
                <a:ea typeface="Courier New" pitchFamily="34" charset="-122"/>
                <a:cs typeface="Courier New" pitchFamily="34" charset="-120"/>
              </a:rPr>
              <a:t>      - "44"</a:t>
            </a:r>
          </a:p>
          <a:p>
            <a:pPr>
              <a:lnSpc>
                <a:spcPct val="115000"/>
              </a:lnSpc>
            </a:pPr>
            <a:r>
              <a:rPr lang="en-US" sz="930">
                <a:solidFill>
                  <a:srgbClr val="00D9C0"/>
                </a:solidFill>
                <a:latin typeface="Courier New" pitchFamily="34" charset="0"/>
                <a:ea typeface="Courier New" pitchFamily="34" charset="-122"/>
                <a:cs typeface="Courier New" pitchFamily="34" charset="-120"/>
              </a:rPr>
              <a:t>      - "993"</a:t>
            </a:r>
          </a:p>
          <a:p>
            <a:pPr>
              <a:lnSpc>
                <a:spcPct val="115000"/>
              </a:lnSpc>
            </a:pPr>
            <a:r>
              <a:rPr lang="en-US" sz="930">
                <a:solidFill>
                  <a:srgbClr val="00D9C0"/>
                </a:solidFill>
                <a:latin typeface="Courier New" pitchFamily="34" charset="0"/>
                <a:ea typeface="Courier New" pitchFamily="34" charset="-122"/>
                <a:cs typeface="Courier New" pitchFamily="34" charset="-120"/>
              </a:rPr>
              <a:t>    ipc: host</a:t>
            </a:r>
          </a:p>
          <a:p>
            <a:pPr>
              <a:lnSpc>
                <a:spcPct val="115000"/>
              </a:lnSpc>
            </a:pPr>
            <a:r>
              <a:rPr lang="en-US" sz="930">
                <a:solidFill>
                  <a:srgbClr val="00D9C0"/>
                </a:solidFill>
                <a:latin typeface="Courier New" pitchFamily="34" charset="0"/>
                <a:ea typeface="Courier New" pitchFamily="34" charset="-122"/>
                <a:cs typeface="Courier New" pitchFamily="34" charset="-120"/>
              </a:rPr>
              <a:t>    ulimits:</a:t>
            </a:r>
          </a:p>
          <a:p>
            <a:pPr>
              <a:lnSpc>
                <a:spcPct val="115000"/>
              </a:lnSpc>
            </a:pPr>
            <a:r>
              <a:rPr lang="en-US" sz="930">
                <a:solidFill>
                  <a:srgbClr val="00D9C0"/>
                </a:solidFill>
                <a:latin typeface="Courier New" pitchFamily="34" charset="0"/>
                <a:ea typeface="Courier New" pitchFamily="34" charset="-122"/>
                <a:cs typeface="Courier New" pitchFamily="34" charset="-120"/>
              </a:rPr>
              <a:t>      memlock:</a:t>
            </a:r>
          </a:p>
          <a:p>
            <a:pPr>
              <a:lnSpc>
                <a:spcPct val="115000"/>
              </a:lnSpc>
            </a:pPr>
            <a:r>
              <a:rPr lang="en-US" sz="930">
                <a:solidFill>
                  <a:srgbClr val="00D9C0"/>
                </a:solidFill>
                <a:latin typeface="Courier New" pitchFamily="34" charset="0"/>
                <a:ea typeface="Courier New" pitchFamily="34" charset="-122"/>
                <a:cs typeface="Courier New" pitchFamily="34" charset="-120"/>
              </a:rPr>
              <a:t>        soft: -1</a:t>
            </a:r>
          </a:p>
          <a:p>
            <a:pPr>
              <a:lnSpc>
                <a:spcPct val="115000"/>
              </a:lnSpc>
            </a:pPr>
            <a:r>
              <a:rPr lang="en-US" sz="930">
                <a:solidFill>
                  <a:srgbClr val="00D9C0"/>
                </a:solidFill>
                <a:latin typeface="Courier New" pitchFamily="34" charset="0"/>
                <a:ea typeface="Courier New" pitchFamily="34" charset="-122"/>
                <a:cs typeface="Courier New" pitchFamily="34" charset="-120"/>
              </a:rPr>
              <a:t>        hard: -1</a:t>
            </a:r>
          </a:p>
          <a:p>
            <a:pPr>
              <a:lnSpc>
                <a:spcPct val="115000"/>
              </a:lnSpc>
            </a:pPr>
            <a:r>
              <a:rPr lang="en-US" sz="930">
                <a:solidFill>
                  <a:srgbClr val="00D9C0"/>
                </a:solidFill>
                <a:latin typeface="Courier New" pitchFamily="34" charset="0"/>
                <a:ea typeface="Courier New" pitchFamily="34" charset="-122"/>
                <a:cs typeface="Courier New" pitchFamily="34" charset="-120"/>
              </a:rPr>
              <a:t>    environment:</a:t>
            </a:r>
          </a:p>
          <a:p>
            <a:pPr>
              <a:lnSpc>
                <a:spcPct val="115000"/>
              </a:lnSpc>
            </a:pPr>
            <a:r>
              <a:rPr lang="en-US" sz="930">
                <a:solidFill>
                  <a:srgbClr val="00D9C0"/>
                </a:solidFill>
                <a:latin typeface="Courier New" pitchFamily="34" charset="0"/>
                <a:ea typeface="Courier New" pitchFamily="34" charset="-122"/>
                <a:cs typeface="Courier New" pitchFamily="34" charset="-120"/>
              </a:rPr>
              <a:t>      - OLLAMA_VULKAN=1</a:t>
            </a:r>
          </a:p>
          <a:p>
            <a:pPr>
              <a:lnSpc>
                <a:spcPct val="115000"/>
              </a:lnSpc>
            </a:pPr>
            <a:r>
              <a:rPr lang="en-US" sz="930">
                <a:solidFill>
                  <a:srgbClr val="00D9C0"/>
                </a:solidFill>
                <a:latin typeface="Courier New" pitchFamily="34" charset="0"/>
                <a:ea typeface="Courier New" pitchFamily="34" charset="-122"/>
                <a:cs typeface="Courier New" pitchFamily="34" charset="-120"/>
              </a:rPr>
              <a:t>      - OLLAMA_IGPU_ENABLE=1</a:t>
            </a:r>
          </a:p>
          <a:p>
            <a:pPr>
              <a:lnSpc>
                <a:spcPct val="115000"/>
              </a:lnSpc>
            </a:pPr>
            <a:r>
              <a:rPr lang="en-US" sz="930">
                <a:solidFill>
                  <a:srgbClr val="00D9C0"/>
                </a:solidFill>
                <a:latin typeface="Courier New" pitchFamily="34" charset="0"/>
                <a:ea typeface="Courier New" pitchFamily="34" charset="-122"/>
                <a:cs typeface="Courier New" pitchFamily="34" charset="-120"/>
              </a:rPr>
              <a:t>      - OLLAMA_NUMA=1</a:t>
            </a:r>
          </a:p>
          <a:p>
            <a:pPr>
              <a:lnSpc>
                <a:spcPct val="115000"/>
              </a:lnSpc>
            </a:pPr>
            <a:r>
              <a:rPr lang="en-US" sz="930">
                <a:solidFill>
                  <a:srgbClr val="00D9C0"/>
                </a:solidFill>
                <a:latin typeface="Courier New" pitchFamily="34" charset="0"/>
                <a:ea typeface="Courier New" pitchFamily="34" charset="-122"/>
                <a:cs typeface="Courier New" pitchFamily="34" charset="-120"/>
              </a:rPr>
              <a:t>      - OLLAMA_FLASH_ATTENTION=1</a:t>
            </a:r>
          </a:p>
          <a:p>
            <a:pPr>
              <a:lnSpc>
                <a:spcPct val="115000"/>
              </a:lnSpc>
            </a:pPr>
            <a:r>
              <a:rPr lang="en-US" sz="930">
                <a:solidFill>
                  <a:srgbClr val="00D9C0"/>
                </a:solidFill>
                <a:latin typeface="Courier New" pitchFamily="34" charset="0"/>
                <a:ea typeface="Courier New" pitchFamily="34" charset="-122"/>
                <a:cs typeface="Courier New" pitchFamily="34" charset="-120"/>
              </a:rPr>
              <a:t>      - OLLAMA_KV_CACHE_TYPE=q4_0</a:t>
            </a:r>
          </a:p>
          <a:p>
            <a:pPr>
              <a:lnSpc>
                <a:spcPct val="115000"/>
              </a:lnSpc>
            </a:pPr>
            <a:r>
              <a:rPr lang="en-US" sz="930">
                <a:solidFill>
                  <a:srgbClr val="00D9C0"/>
                </a:solidFill>
                <a:latin typeface="Courier New" pitchFamily="34" charset="0"/>
                <a:ea typeface="Courier New" pitchFamily="34" charset="-122"/>
                <a:cs typeface="Courier New" pitchFamily="34" charset="-120"/>
              </a:rPr>
              <a:t>      - OLLAMA_NUM_PARALLEL=1</a:t>
            </a:r>
          </a:p>
          <a:p>
            <a:pPr>
              <a:lnSpc>
                <a:spcPct val="115000"/>
              </a:lnSpc>
            </a:pPr>
            <a:r>
              <a:rPr lang="en-US" sz="930">
                <a:solidFill>
                  <a:srgbClr val="00D9C0"/>
                </a:solidFill>
                <a:latin typeface="Courier New" pitchFamily="34" charset="0"/>
                <a:ea typeface="Courier New" pitchFamily="34" charset="-122"/>
                <a:cs typeface="Courier New" pitchFamily="34" charset="-120"/>
              </a:rPr>
              <a:t>      - OLLAMA_MAX_LOADED_MODELS=1</a:t>
            </a:r>
          </a:p>
          <a:p>
            <a:pPr>
              <a:lnSpc>
                <a:spcPct val="115000"/>
              </a:lnSpc>
            </a:pPr>
            <a:r>
              <a:rPr lang="en-US" sz="930">
                <a:solidFill>
                  <a:srgbClr val="00D9C0"/>
                </a:solidFill>
                <a:latin typeface="Courier New" pitchFamily="34" charset="0"/>
                <a:ea typeface="Courier New" pitchFamily="34" charset="-122"/>
                <a:cs typeface="Courier New" pitchFamily="34" charset="-120"/>
              </a:rPr>
              <a:t>      - OLLAMA_KEEP_ALIVE=-1</a:t>
            </a:r>
          </a:p>
          <a:p>
            <a:pPr>
              <a:lnSpc>
                <a:spcPct val="115000"/>
              </a:lnSpc>
            </a:pPr>
            <a:r>
              <a:rPr lang="en-US" sz="930">
                <a:solidFill>
                  <a:srgbClr val="00D9C0"/>
                </a:solidFill>
                <a:latin typeface="Courier New" pitchFamily="34" charset="0"/>
                <a:ea typeface="Courier New" pitchFamily="34" charset="-122"/>
                <a:cs typeface="Courier New" pitchFamily="34" charset="-120"/>
              </a:rPr>
              <a:t> </a:t>
            </a:r>
            <a:r>
              <a:rPr lang="en-US" sz="930" smtClean="0">
                <a:solidFill>
                  <a:srgbClr val="00D9C0"/>
                </a:solidFill>
                <a:latin typeface="Courier New" pitchFamily="34" charset="0"/>
                <a:ea typeface="Courier New" pitchFamily="34" charset="-122"/>
                <a:cs typeface="Courier New" pitchFamily="34" charset="-120"/>
              </a:rPr>
              <a:t>    #- </a:t>
            </a:r>
            <a:r>
              <a:rPr lang="en-US" sz="930">
                <a:solidFill>
                  <a:srgbClr val="00D9C0"/>
                </a:solidFill>
                <a:latin typeface="Courier New" pitchFamily="34" charset="0"/>
                <a:ea typeface="Courier New" pitchFamily="34" charset="-122"/>
                <a:cs typeface="Courier New" pitchFamily="34" charset="-120"/>
              </a:rPr>
              <a:t>OLLAMA_CONTEXT_LENGTH=8192</a:t>
            </a:r>
          </a:p>
          <a:p>
            <a:pPr>
              <a:lnSpc>
                <a:spcPct val="115000"/>
              </a:lnSpc>
            </a:pPr>
            <a:r>
              <a:rPr lang="en-US" sz="930" smtClean="0">
                <a:solidFill>
                  <a:srgbClr val="00D9C0"/>
                </a:solidFill>
                <a:latin typeface="Courier New" pitchFamily="34" charset="0"/>
                <a:ea typeface="Courier New" pitchFamily="34" charset="-122"/>
                <a:cs typeface="Courier New" pitchFamily="34" charset="-120"/>
              </a:rPr>
              <a:t>restart</a:t>
            </a:r>
            <a:r>
              <a:rPr lang="en-US" sz="930">
                <a:solidFill>
                  <a:srgbClr val="00D9C0"/>
                </a:solidFill>
                <a:latin typeface="Courier New" pitchFamily="34" charset="0"/>
                <a:ea typeface="Courier New" pitchFamily="34" charset="-122"/>
                <a:cs typeface="Courier New" pitchFamily="34" charset="-120"/>
              </a:rPr>
              <a:t>: unless-stopped</a:t>
            </a:r>
            <a:endParaRPr lang="en-US" sz="930">
              <a:solidFill>
                <a:srgbClr val="D7DCEE"/>
              </a:solidFill>
              <a:latin typeface="Courier New" pitchFamily="34" charset="0"/>
              <a:ea typeface="Courier New" pitchFamily="34" charset="-122"/>
              <a:cs typeface="Courier New" pitchFamily="34" charset="-120"/>
            </a:endParaRPr>
          </a:p>
        </p:txBody>
      </p:sp>
      <p:sp>
        <p:nvSpPr>
          <p:cNvPr id="41" name="Text 39"/>
          <p:cNvSpPr txBox="1"/>
          <p:nvPr/>
        </p:nvSpPr>
        <p:spPr>
          <a:xfrm>
            <a:off x="457200" y="6537960"/>
            <a:ext cx="5486400" cy="274320"/>
          </a:xfrm>
          <a:prstGeom prst="rect">
            <a:avLst/>
          </a:prstGeom>
          <a:noFill/>
          <a:ln/>
        </p:spPr>
        <p:txBody>
          <a:bodyPr wrap="square" lIns="0" tIns="0" rIns="0" bIns="0" rtlCol="0" anchor="ctr"/>
          <a:lstStyle/>
          <a:p>
            <a:r>
              <a:rPr lang="en-US" sz="900" dirty="0">
                <a:solidFill>
                  <a:srgbClr val="5B6478"/>
                </a:solidFill>
                <a:ea typeface="Calibri" pitchFamily="34" charset="-122"/>
                <a:cs typeface="Calibri" pitchFamily="34" charset="-120"/>
              </a:rPr>
              <a:t>OLLAMA PERFORMANCE TUNING · iGPU</a:t>
            </a:r>
            <a:endParaRPr lang="en-US" sz="900" dirty="0">
              <a:solidFill>
                <a:prstClr val="black"/>
              </a:solidFill>
            </a:endParaRPr>
          </a:p>
        </p:txBody>
      </p:sp>
      <p:sp>
        <p:nvSpPr>
          <p:cNvPr id="42" name="Text 40"/>
          <p:cNvSpPr txBox="1"/>
          <p:nvPr/>
        </p:nvSpPr>
        <p:spPr>
          <a:xfrm>
            <a:off x="11474577" y="6537960"/>
            <a:ext cx="457200" cy="274320"/>
          </a:xfrm>
          <a:prstGeom prst="rect">
            <a:avLst/>
          </a:prstGeom>
          <a:noFill/>
          <a:ln/>
        </p:spPr>
        <p:txBody>
          <a:bodyPr wrap="square" lIns="0" tIns="0" rIns="0" bIns="0" rtlCol="0" anchor="ctr"/>
          <a:lstStyle/>
          <a:p>
            <a:pPr algn="r"/>
            <a:r>
              <a:rPr lang="en-US" sz="900" smtClean="0">
                <a:solidFill>
                  <a:srgbClr val="5B6478"/>
                </a:solidFill>
                <a:ea typeface="Calibri" pitchFamily="34" charset="-122"/>
                <a:cs typeface="Calibri" pitchFamily="34" charset="-120"/>
              </a:rPr>
              <a:t>24</a:t>
            </a:r>
            <a:endParaRPr lang="en-US" sz="900" dirty="0">
              <a:solidFill>
                <a:prstClr val="black"/>
              </a:solidFill>
            </a:endParaRPr>
          </a:p>
        </p:txBody>
      </p:sp>
      <p:sp>
        <p:nvSpPr>
          <p:cNvPr id="43" name="Shape 16"/>
          <p:cNvSpPr/>
          <p:nvPr/>
        </p:nvSpPr>
        <p:spPr>
          <a:xfrm>
            <a:off x="558164" y="4685919"/>
            <a:ext cx="7928611" cy="621792"/>
          </a:xfrm>
          <a:prstGeom prst="rect">
            <a:avLst/>
          </a:prstGeom>
          <a:solidFill>
            <a:srgbClr val="F2F5FA"/>
          </a:solidFill>
          <a:ln/>
        </p:spPr>
      </p:sp>
      <p:sp>
        <p:nvSpPr>
          <p:cNvPr id="45" name="Text 18"/>
          <p:cNvSpPr txBox="1"/>
          <p:nvPr/>
        </p:nvSpPr>
        <p:spPr>
          <a:xfrm>
            <a:off x="3813810" y="4685919"/>
            <a:ext cx="1691640" cy="621792"/>
          </a:xfrm>
          <a:prstGeom prst="rect">
            <a:avLst/>
          </a:prstGeom>
          <a:noFill/>
          <a:ln/>
        </p:spPr>
        <p:txBody>
          <a:bodyPr wrap="square" lIns="0" tIns="0" rIns="0" bIns="0" rtlCol="0" anchor="ctr"/>
          <a:lstStyle/>
          <a:p>
            <a:pPr algn="ctr"/>
            <a:r>
              <a:rPr lang="en-US" sz="1250" smtClean="0">
                <a:solidFill>
                  <a:srgbClr val="12172B"/>
                </a:solidFill>
                <a:latin typeface="Courier New" pitchFamily="34" charset="0"/>
                <a:ea typeface="Courier New" pitchFamily="34" charset="-122"/>
                <a:cs typeface="Courier New" pitchFamily="34" charset="-120"/>
              </a:rPr>
              <a:t>-1</a:t>
            </a:r>
            <a:endParaRPr lang="en-US" sz="1250" dirty="0">
              <a:solidFill>
                <a:srgbClr val="12172B"/>
              </a:solidFill>
              <a:latin typeface="Courier New" pitchFamily="34" charset="0"/>
              <a:ea typeface="Courier New" pitchFamily="34" charset="-122"/>
              <a:cs typeface="Courier New" pitchFamily="34" charset="-120"/>
            </a:endParaRPr>
          </a:p>
        </p:txBody>
      </p:sp>
      <p:sp>
        <p:nvSpPr>
          <p:cNvPr id="46" name="Text 19"/>
          <p:cNvSpPr txBox="1"/>
          <p:nvPr/>
        </p:nvSpPr>
        <p:spPr>
          <a:xfrm>
            <a:off x="5234939" y="4685919"/>
            <a:ext cx="3232784" cy="621792"/>
          </a:xfrm>
          <a:prstGeom prst="rect">
            <a:avLst/>
          </a:prstGeom>
          <a:noFill/>
          <a:ln/>
        </p:spPr>
        <p:txBody>
          <a:bodyPr wrap="square" lIns="0" tIns="0" rIns="0" bIns="0" rtlCol="0" anchor="ctr"/>
          <a:lstStyle/>
          <a:p>
            <a:pPr lvl="0"/>
            <a:r>
              <a:rPr lang="en-US" sz="1200">
                <a:ea typeface="Calibri" pitchFamily="34" charset="-122"/>
                <a:cs typeface="Calibri" pitchFamily="34" charset="-120"/>
              </a:rPr>
              <a:t>Hält das Modell dauerhaft im Speicher geladen – kein Neuladen bei jeder Anfrage, kostet aber permanent RAM/VRAM.</a:t>
            </a:r>
            <a:endParaRPr lang="en-US" sz="1200" dirty="0">
              <a:ea typeface="Calibri" pitchFamily="34" charset="-122"/>
              <a:cs typeface="Calibri" pitchFamily="34" charset="-120"/>
            </a:endParaRPr>
          </a:p>
        </p:txBody>
      </p:sp>
      <p:sp>
        <p:nvSpPr>
          <p:cNvPr id="48" name="Text 22"/>
          <p:cNvSpPr txBox="1"/>
          <p:nvPr/>
        </p:nvSpPr>
        <p:spPr>
          <a:xfrm>
            <a:off x="4147185" y="5307711"/>
            <a:ext cx="986790" cy="621792"/>
          </a:xfrm>
          <a:prstGeom prst="rect">
            <a:avLst/>
          </a:prstGeom>
          <a:noFill/>
          <a:ln/>
        </p:spPr>
        <p:txBody>
          <a:bodyPr wrap="square" lIns="0" tIns="0" rIns="0" bIns="0" rtlCol="0" anchor="ctr"/>
          <a:lstStyle/>
          <a:p>
            <a:pPr algn="ctr"/>
            <a:r>
              <a:rPr lang="en-US" sz="1250" smtClean="0">
                <a:solidFill>
                  <a:srgbClr val="12172B"/>
                </a:solidFill>
                <a:latin typeface="Courier New" pitchFamily="34" charset="0"/>
                <a:ea typeface="Courier New" pitchFamily="34" charset="-122"/>
                <a:cs typeface="Courier New" pitchFamily="34" charset="-120"/>
              </a:rPr>
              <a:t>11.0.0</a:t>
            </a:r>
            <a:endParaRPr lang="en-US" sz="1250" dirty="0">
              <a:solidFill>
                <a:srgbClr val="12172B"/>
              </a:solidFill>
              <a:latin typeface="Courier New" pitchFamily="34" charset="0"/>
              <a:ea typeface="Courier New" pitchFamily="34" charset="-122"/>
              <a:cs typeface="Courier New" pitchFamily="34" charset="-120"/>
            </a:endParaRPr>
          </a:p>
        </p:txBody>
      </p:sp>
      <p:sp>
        <p:nvSpPr>
          <p:cNvPr id="49" name="Text 23"/>
          <p:cNvSpPr txBox="1"/>
          <p:nvPr/>
        </p:nvSpPr>
        <p:spPr>
          <a:xfrm>
            <a:off x="5225414" y="5307711"/>
            <a:ext cx="3242309" cy="621792"/>
          </a:xfrm>
          <a:prstGeom prst="rect">
            <a:avLst/>
          </a:prstGeom>
          <a:noFill/>
          <a:ln/>
        </p:spPr>
        <p:txBody>
          <a:bodyPr wrap="square" lIns="0" tIns="0" rIns="0" bIns="0" rtlCol="0" anchor="ctr"/>
          <a:lstStyle/>
          <a:p>
            <a:r>
              <a:rPr lang="de-DE" sz="1200"/>
              <a:t>Täuscht </a:t>
            </a:r>
            <a:r>
              <a:rPr lang="de-DE" sz="1200" smtClean="0"/>
              <a:t>für Ollama eine </a:t>
            </a:r>
            <a:r>
              <a:rPr lang="de-DE" sz="1200"/>
              <a:t>offiziell unterstützte AMD-Grafikarchitektur vor, um die ROCm-Treiber zu </a:t>
            </a:r>
            <a:r>
              <a:rPr lang="de-DE" sz="1200" smtClean="0"/>
              <a:t>überlisten (funktioniert mit spez. Grafikkarten).</a:t>
            </a:r>
            <a:endParaRPr lang="en-US" sz="1200" dirty="0">
              <a:ea typeface="Calibri" pitchFamily="34" charset="-122"/>
              <a:cs typeface="Calibri" pitchFamily="34" charset="-120"/>
            </a:endParaRPr>
          </a:p>
        </p:txBody>
      </p:sp>
      <p:sp>
        <p:nvSpPr>
          <p:cNvPr id="50" name="Shape 16"/>
          <p:cNvSpPr/>
          <p:nvPr/>
        </p:nvSpPr>
        <p:spPr>
          <a:xfrm>
            <a:off x="567689" y="5914644"/>
            <a:ext cx="7919086" cy="621792"/>
          </a:xfrm>
          <a:prstGeom prst="rect">
            <a:avLst/>
          </a:prstGeom>
          <a:solidFill>
            <a:srgbClr val="F2F5FA"/>
          </a:solidFill>
          <a:ln/>
        </p:spPr>
      </p:sp>
      <p:sp>
        <p:nvSpPr>
          <p:cNvPr id="52" name="Text 18"/>
          <p:cNvSpPr txBox="1"/>
          <p:nvPr/>
        </p:nvSpPr>
        <p:spPr>
          <a:xfrm>
            <a:off x="4175760" y="5914644"/>
            <a:ext cx="1024890" cy="621792"/>
          </a:xfrm>
          <a:prstGeom prst="rect">
            <a:avLst/>
          </a:prstGeom>
          <a:noFill/>
          <a:ln/>
        </p:spPr>
        <p:txBody>
          <a:bodyPr wrap="square" lIns="0" tIns="0" rIns="0" bIns="0" rtlCol="0" anchor="ctr"/>
          <a:lstStyle/>
          <a:p>
            <a:pPr algn="ctr"/>
            <a:r>
              <a:rPr lang="en-US" sz="1250" dirty="0">
                <a:solidFill>
                  <a:srgbClr val="12172B"/>
                </a:solidFill>
                <a:latin typeface="Courier New" pitchFamily="34" charset="0"/>
                <a:ea typeface="Courier New" pitchFamily="34" charset="-122"/>
                <a:cs typeface="Courier New" pitchFamily="34" charset="-120"/>
              </a:rPr>
              <a:t>1</a:t>
            </a:r>
          </a:p>
        </p:txBody>
      </p:sp>
      <p:sp>
        <p:nvSpPr>
          <p:cNvPr id="53" name="Text 19"/>
          <p:cNvSpPr txBox="1"/>
          <p:nvPr/>
        </p:nvSpPr>
        <p:spPr>
          <a:xfrm>
            <a:off x="5234939" y="5914644"/>
            <a:ext cx="3232784" cy="621792"/>
          </a:xfrm>
          <a:prstGeom prst="rect">
            <a:avLst/>
          </a:prstGeom>
          <a:noFill/>
          <a:ln/>
        </p:spPr>
        <p:txBody>
          <a:bodyPr wrap="square" lIns="0" tIns="0" rIns="0" bIns="0" rtlCol="0" anchor="ctr"/>
          <a:lstStyle/>
          <a:p>
            <a:pPr lvl="0"/>
            <a:r>
              <a:rPr lang="de-DE" sz="1200"/>
              <a:t>Schaltet bestimmte mathematische Beschleunigungsbefehle (DP4A) im Vulkan-Treiber gezielt </a:t>
            </a:r>
            <a:r>
              <a:rPr lang="de-DE" sz="1200" smtClean="0"/>
              <a:t>ab (Prozessor Bug).</a:t>
            </a:r>
            <a:endParaRPr lang="en-US" sz="1200" dirty="0">
              <a:ea typeface="Calibri" pitchFamily="34" charset="-122"/>
              <a:cs typeface="Calibri" pitchFamily="34" charset="-120"/>
            </a:endParaRPr>
          </a:p>
        </p:txBody>
      </p:sp>
      <p:sp>
        <p:nvSpPr>
          <p:cNvPr id="54" name="Shape 5"/>
          <p:cNvSpPr/>
          <p:nvPr/>
        </p:nvSpPr>
        <p:spPr>
          <a:xfrm>
            <a:off x="573406" y="2332482"/>
            <a:ext cx="3456623" cy="384048"/>
          </a:xfrm>
          <a:prstGeom prst="roundRect">
            <a:avLst>
              <a:gd name="adj" fmla="val 14286"/>
            </a:avLst>
          </a:prstGeom>
          <a:solidFill>
            <a:srgbClr val="0D1321"/>
          </a:solidFill>
          <a:ln/>
        </p:spPr>
      </p:sp>
      <p:sp>
        <p:nvSpPr>
          <p:cNvPr id="55" name="Text 6"/>
          <p:cNvSpPr txBox="1"/>
          <p:nvPr/>
        </p:nvSpPr>
        <p:spPr>
          <a:xfrm>
            <a:off x="563880" y="2332482"/>
            <a:ext cx="3456623"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OLLAMA_IGPU_ENABLE</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57" name="Shape 5"/>
          <p:cNvSpPr/>
          <p:nvPr/>
        </p:nvSpPr>
        <p:spPr>
          <a:xfrm>
            <a:off x="582932" y="2954274"/>
            <a:ext cx="3456623" cy="384048"/>
          </a:xfrm>
          <a:prstGeom prst="roundRect">
            <a:avLst>
              <a:gd name="adj" fmla="val 14286"/>
            </a:avLst>
          </a:prstGeom>
          <a:solidFill>
            <a:srgbClr val="0D1321"/>
          </a:solidFill>
          <a:ln/>
        </p:spPr>
      </p:sp>
      <p:sp>
        <p:nvSpPr>
          <p:cNvPr id="58" name="Text 6"/>
          <p:cNvSpPr txBox="1"/>
          <p:nvPr/>
        </p:nvSpPr>
        <p:spPr>
          <a:xfrm>
            <a:off x="573406" y="2954274"/>
            <a:ext cx="3456623"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OLLAMA_NUM</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59" name="Shape 5"/>
          <p:cNvSpPr/>
          <p:nvPr/>
        </p:nvSpPr>
        <p:spPr>
          <a:xfrm>
            <a:off x="582932" y="3576066"/>
            <a:ext cx="3456623" cy="384048"/>
          </a:xfrm>
          <a:prstGeom prst="roundRect">
            <a:avLst>
              <a:gd name="adj" fmla="val 14286"/>
            </a:avLst>
          </a:prstGeom>
          <a:solidFill>
            <a:srgbClr val="0D1321"/>
          </a:solidFill>
          <a:ln/>
        </p:spPr>
      </p:sp>
      <p:sp>
        <p:nvSpPr>
          <p:cNvPr id="60" name="Text 6"/>
          <p:cNvSpPr txBox="1"/>
          <p:nvPr/>
        </p:nvSpPr>
        <p:spPr>
          <a:xfrm>
            <a:off x="573406" y="3576066"/>
            <a:ext cx="3456623"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OLLAMA_NUM_PARALLEL</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61" name="Shape 5"/>
          <p:cNvSpPr/>
          <p:nvPr/>
        </p:nvSpPr>
        <p:spPr>
          <a:xfrm>
            <a:off x="592457" y="4197858"/>
            <a:ext cx="3456623" cy="384048"/>
          </a:xfrm>
          <a:prstGeom prst="roundRect">
            <a:avLst>
              <a:gd name="adj" fmla="val 14286"/>
            </a:avLst>
          </a:prstGeom>
          <a:solidFill>
            <a:srgbClr val="0D1321"/>
          </a:solidFill>
          <a:ln/>
        </p:spPr>
      </p:sp>
      <p:sp>
        <p:nvSpPr>
          <p:cNvPr id="62" name="Text 6"/>
          <p:cNvSpPr txBox="1"/>
          <p:nvPr/>
        </p:nvSpPr>
        <p:spPr>
          <a:xfrm>
            <a:off x="582931" y="4197858"/>
            <a:ext cx="3456623"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OLLAMA_MAX_LOADED_MODELS</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63" name="Shape 5"/>
          <p:cNvSpPr/>
          <p:nvPr/>
        </p:nvSpPr>
        <p:spPr>
          <a:xfrm>
            <a:off x="592456" y="4792980"/>
            <a:ext cx="3456623" cy="384048"/>
          </a:xfrm>
          <a:prstGeom prst="roundRect">
            <a:avLst>
              <a:gd name="adj" fmla="val 14286"/>
            </a:avLst>
          </a:prstGeom>
          <a:solidFill>
            <a:srgbClr val="0D1321"/>
          </a:solidFill>
          <a:ln/>
        </p:spPr>
      </p:sp>
      <p:sp>
        <p:nvSpPr>
          <p:cNvPr id="64" name="Text 6"/>
          <p:cNvSpPr txBox="1"/>
          <p:nvPr/>
        </p:nvSpPr>
        <p:spPr>
          <a:xfrm>
            <a:off x="582930" y="4792980"/>
            <a:ext cx="3456623"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OLLAMA_KEEP_ALIVE</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65" name="Shape 5"/>
          <p:cNvSpPr/>
          <p:nvPr/>
        </p:nvSpPr>
        <p:spPr>
          <a:xfrm>
            <a:off x="581978" y="5426583"/>
            <a:ext cx="3456623" cy="384048"/>
          </a:xfrm>
          <a:prstGeom prst="roundRect">
            <a:avLst>
              <a:gd name="adj" fmla="val 14286"/>
            </a:avLst>
          </a:prstGeom>
          <a:solidFill>
            <a:srgbClr val="0D1321"/>
          </a:solidFill>
          <a:ln/>
        </p:spPr>
      </p:sp>
      <p:sp>
        <p:nvSpPr>
          <p:cNvPr id="66" name="Text 6"/>
          <p:cNvSpPr txBox="1"/>
          <p:nvPr/>
        </p:nvSpPr>
        <p:spPr>
          <a:xfrm>
            <a:off x="572452" y="5426583"/>
            <a:ext cx="3456623"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HSA_OVERRIDE_GFX_VERSION</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67" name="Shape 5"/>
          <p:cNvSpPr/>
          <p:nvPr/>
        </p:nvSpPr>
        <p:spPr>
          <a:xfrm>
            <a:off x="582932" y="6033516"/>
            <a:ext cx="3456623" cy="384048"/>
          </a:xfrm>
          <a:prstGeom prst="roundRect">
            <a:avLst>
              <a:gd name="adj" fmla="val 14286"/>
            </a:avLst>
          </a:prstGeom>
          <a:solidFill>
            <a:srgbClr val="0D1321"/>
          </a:solidFill>
          <a:ln/>
        </p:spPr>
      </p:sp>
      <p:sp>
        <p:nvSpPr>
          <p:cNvPr id="68" name="Text 6"/>
          <p:cNvSpPr txBox="1"/>
          <p:nvPr/>
        </p:nvSpPr>
        <p:spPr>
          <a:xfrm>
            <a:off x="573406" y="6033516"/>
            <a:ext cx="3456623"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GGML_VK_DISABLE_INTEGER_DOT_PRODUCT</a:t>
            </a:r>
            <a:endParaRPr lang="en-US" sz="1200" b="1" dirty="0">
              <a:solidFill>
                <a:srgbClr val="00D9C0"/>
              </a:solidFill>
              <a:latin typeface="Courier New" pitchFamily="34" charset="0"/>
              <a:ea typeface="Courier New" pitchFamily="34" charset="-122"/>
              <a:cs typeface="Courier New" pitchFamily="34" charset="-120"/>
            </a:endParaRPr>
          </a:p>
        </p:txBody>
      </p:sp>
    </p:spTree>
    <p:extLst>
      <p:ext uri="{BB962C8B-B14F-4D97-AF65-F5344CB8AC3E}">
        <p14:creationId xmlns:p14="http://schemas.microsoft.com/office/powerpoint/2010/main" val="787840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00D9C0"/>
                </a:solidFill>
                <a:latin typeface="Calibri" pitchFamily="34" charset="0"/>
                <a:ea typeface="Calibri" pitchFamily="34" charset="-122"/>
                <a:cs typeface="Calibri" pitchFamily="34" charset="-120"/>
              </a:rPr>
              <a:t>BLOCK </a:t>
            </a:r>
            <a:r>
              <a:rPr lang="en-US" sz="1300" b="1" kern="0" spc="200" dirty="0">
                <a:solidFill>
                  <a:srgbClr val="00D9C0"/>
                </a:solidFill>
                <a:latin typeface="Calibri" pitchFamily="34" charset="0"/>
                <a:ea typeface="Calibri" pitchFamily="34" charset="-122"/>
                <a:cs typeface="Calibri" pitchFamily="34" charset="-120"/>
              </a:rPr>
              <a:t>3 OPTIMIERUNG</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Modelfile: Basismodell, System-Rolle &amp; Prompt-Format</a:t>
            </a:r>
          </a:p>
        </p:txBody>
      </p:sp>
      <p:sp>
        <p:nvSpPr>
          <p:cNvPr id="4" name="Text 2"/>
          <p:cNvSpPr txBox="1"/>
          <p:nvPr/>
        </p:nvSpPr>
        <p:spPr>
          <a:xfrm>
            <a:off x="548640" y="1463040"/>
            <a:ext cx="10607040" cy="594360"/>
          </a:xfrm>
          <a:prstGeom prst="rect">
            <a:avLst/>
          </a:prstGeom>
          <a:noFill/>
          <a:ln/>
        </p:spPr>
        <p:txBody>
          <a:bodyPr wrap="square" lIns="0" tIns="0" rIns="0" bIns="0" rtlCol="0" anchor="ctr"/>
          <a:lstStyle/>
          <a:p>
            <a:r>
              <a:rPr lang="en-US" sz="1300">
                <a:solidFill>
                  <a:srgbClr val="5B6478"/>
                </a:solidFill>
                <a:latin typeface="Calibri" pitchFamily="34" charset="0"/>
                <a:ea typeface="Calibri" pitchFamily="34" charset="-122"/>
                <a:cs typeface="Calibri" pitchFamily="34" charset="-120"/>
              </a:rPr>
              <a:t>FROM legt das Basismodell fest, SYSTEM definiert die permanente Rolle der KI und TEMPLATE bestimmt das exakte Prompt-Format – die Grundstruktur jeder Modelfile-Konfiguration.</a:t>
            </a:r>
          </a:p>
        </p:txBody>
      </p:sp>
      <p:sp>
        <p:nvSpPr>
          <p:cNvPr id="5" name="Shape 3"/>
          <p:cNvSpPr/>
          <p:nvPr/>
        </p:nvSpPr>
        <p:spPr>
          <a:xfrm>
            <a:off x="548640" y="2286000"/>
            <a:ext cx="6309360" cy="3739662"/>
          </a:xfrm>
          <a:prstGeom prst="roundRect">
            <a:avLst>
              <a:gd name="adj" fmla="val 2254"/>
            </a:avLst>
          </a:prstGeom>
          <a:solidFill>
            <a:srgbClr val="0A0E1A"/>
          </a:solidFill>
          <a:ln/>
          <a:effectLst>
            <a:outerShdw blurRad="101600" dist="38100" dir="5400000" algn="bl" rotWithShape="0">
              <a:srgbClr val="000000">
                <a:alpha val="35000"/>
              </a:srgbClr>
            </a:outerShdw>
          </a:effectLst>
        </p:spPr>
      </p:sp>
      <p:sp>
        <p:nvSpPr>
          <p:cNvPr id="6" name="Shape 4"/>
          <p:cNvSpPr/>
          <p:nvPr/>
        </p:nvSpPr>
        <p:spPr>
          <a:xfrm>
            <a:off x="694944" y="2414016"/>
            <a:ext cx="91440" cy="91440"/>
          </a:xfrm>
          <a:prstGeom prst="ellipse">
            <a:avLst/>
          </a:prstGeom>
          <a:solidFill>
            <a:srgbClr val="FF5F56"/>
          </a:solidFill>
          <a:ln/>
        </p:spPr>
      </p:sp>
      <p:sp>
        <p:nvSpPr>
          <p:cNvPr id="7" name="Shape 5"/>
          <p:cNvSpPr/>
          <p:nvPr/>
        </p:nvSpPr>
        <p:spPr>
          <a:xfrm>
            <a:off x="896112" y="2414016"/>
            <a:ext cx="91440" cy="91440"/>
          </a:xfrm>
          <a:prstGeom prst="ellipse">
            <a:avLst/>
          </a:prstGeom>
          <a:solidFill>
            <a:srgbClr val="FFBD2E"/>
          </a:solidFill>
          <a:ln/>
        </p:spPr>
      </p:sp>
      <p:sp>
        <p:nvSpPr>
          <p:cNvPr id="8" name="Shape 6"/>
          <p:cNvSpPr/>
          <p:nvPr/>
        </p:nvSpPr>
        <p:spPr>
          <a:xfrm>
            <a:off x="1097280" y="2414016"/>
            <a:ext cx="91440" cy="91440"/>
          </a:xfrm>
          <a:prstGeom prst="ellipse">
            <a:avLst/>
          </a:prstGeom>
          <a:solidFill>
            <a:srgbClr val="27C93F"/>
          </a:solidFill>
          <a:ln/>
        </p:spPr>
      </p:sp>
      <p:sp>
        <p:nvSpPr>
          <p:cNvPr id="9" name="Text 7"/>
          <p:cNvSpPr txBox="1"/>
          <p:nvPr/>
        </p:nvSpPr>
        <p:spPr>
          <a:xfrm>
            <a:off x="749808" y="2633471"/>
            <a:ext cx="5907024" cy="3267143"/>
          </a:xfrm>
          <a:prstGeom prst="rect">
            <a:avLst/>
          </a:prstGeom>
          <a:noFill/>
          <a:ln/>
        </p:spPr>
        <p:txBody>
          <a:bodyPr wrap="square" lIns="0" tIns="0" rIns="0" bIns="0" rtlCol="0" anchor="t"/>
          <a:lstStyle/>
          <a:p>
            <a:pPr>
              <a:lnSpc>
                <a:spcPct val="115000"/>
              </a:lnSpc>
            </a:pPr>
            <a:r>
              <a:rPr lang="en-US" sz="1200">
                <a:solidFill>
                  <a:srgbClr val="00D9C0"/>
                </a:solidFill>
                <a:latin typeface="Courier New" pitchFamily="34" charset="0"/>
                <a:ea typeface="Courier New" pitchFamily="34" charset="-122"/>
                <a:cs typeface="Courier New" pitchFamily="34" charset="-120"/>
              </a:rPr>
              <a:t>$ cat Modelfile</a:t>
            </a:r>
          </a:p>
          <a:p>
            <a:pPr>
              <a:lnSpc>
                <a:spcPct val="115000"/>
              </a:lnSpc>
            </a:pPr>
            <a:r>
              <a:rPr lang="en-US" sz="1200">
                <a:solidFill>
                  <a:srgbClr val="00D9C0"/>
                </a:solidFill>
                <a:latin typeface="Courier New" pitchFamily="34" charset="0"/>
                <a:ea typeface="Courier New" pitchFamily="34" charset="-122"/>
                <a:cs typeface="Courier New" pitchFamily="34" charset="-120"/>
              </a:rPr>
              <a:t>FROM qwen2.5:14b</a:t>
            </a:r>
          </a:p>
          <a:p>
            <a:pPr>
              <a:lnSpc>
                <a:spcPct val="115000"/>
              </a:lnSpc>
            </a:pPr>
            <a:r>
              <a:rPr lang="en-US" sz="1200">
                <a:solidFill>
                  <a:srgbClr val="00D9C0"/>
                </a:solidFill>
                <a:latin typeface="Courier New" pitchFamily="34" charset="0"/>
                <a:ea typeface="Courier New" pitchFamily="34" charset="-122"/>
                <a:cs typeface="Courier New" pitchFamily="34" charset="-120"/>
              </a:rPr>
              <a:t> </a:t>
            </a:r>
          </a:p>
          <a:p>
            <a:pPr>
              <a:lnSpc>
                <a:spcPct val="115000"/>
              </a:lnSpc>
            </a:pPr>
            <a:r>
              <a:rPr lang="en-US" sz="1200">
                <a:solidFill>
                  <a:srgbClr val="00D9C0"/>
                </a:solidFill>
                <a:latin typeface="Courier New" pitchFamily="34" charset="0"/>
                <a:ea typeface="Courier New" pitchFamily="34" charset="-122"/>
                <a:cs typeface="Courier New" pitchFamily="34" charset="-120"/>
              </a:rPr>
              <a:t>SYSTEM """</a:t>
            </a:r>
          </a:p>
          <a:p>
            <a:pPr>
              <a:lnSpc>
                <a:spcPct val="115000"/>
              </a:lnSpc>
            </a:pPr>
            <a:r>
              <a:rPr lang="en-US" sz="1200">
                <a:solidFill>
                  <a:srgbClr val="00D9C0"/>
                </a:solidFill>
                <a:latin typeface="Courier New" pitchFamily="34" charset="0"/>
                <a:ea typeface="Courier New" pitchFamily="34" charset="-122"/>
                <a:cs typeface="Courier New" pitchFamily="34" charset="-120"/>
              </a:rPr>
              <a:t>Du bist ein hochpräzises, sachliches</a:t>
            </a:r>
          </a:p>
          <a:p>
            <a:pPr>
              <a:lnSpc>
                <a:spcPct val="115000"/>
              </a:lnSpc>
            </a:pPr>
            <a:r>
              <a:rPr lang="en-US" sz="1200">
                <a:solidFill>
                  <a:srgbClr val="00D9C0"/>
                </a:solidFill>
                <a:latin typeface="Courier New" pitchFamily="34" charset="0"/>
                <a:ea typeface="Courier New" pitchFamily="34" charset="-122"/>
                <a:cs typeface="Courier New" pitchFamily="34" charset="-120"/>
              </a:rPr>
              <a:t>KI-Modell. Du extrahierst Fakten exakt</a:t>
            </a:r>
          </a:p>
          <a:p>
            <a:pPr>
              <a:lnSpc>
                <a:spcPct val="115000"/>
              </a:lnSpc>
            </a:pPr>
            <a:r>
              <a:rPr lang="en-US" sz="1200">
                <a:solidFill>
                  <a:srgbClr val="00D9C0"/>
                </a:solidFill>
                <a:latin typeface="Courier New" pitchFamily="34" charset="0"/>
                <a:ea typeface="Courier New" pitchFamily="34" charset="-122"/>
                <a:cs typeface="Courier New" pitchFamily="34" charset="-120"/>
              </a:rPr>
              <a:t>und halluzinierst nicht.</a:t>
            </a:r>
          </a:p>
          <a:p>
            <a:pPr>
              <a:lnSpc>
                <a:spcPct val="115000"/>
              </a:lnSpc>
            </a:pPr>
            <a:r>
              <a:rPr lang="en-US" sz="1200">
                <a:solidFill>
                  <a:srgbClr val="00D9C0"/>
                </a:solidFill>
                <a:latin typeface="Courier New" pitchFamily="34" charset="0"/>
                <a:ea typeface="Courier New" pitchFamily="34" charset="-122"/>
                <a:cs typeface="Courier New" pitchFamily="34" charset="-120"/>
              </a:rPr>
              <a:t>"""</a:t>
            </a:r>
          </a:p>
          <a:p>
            <a:pPr>
              <a:lnSpc>
                <a:spcPct val="115000"/>
              </a:lnSpc>
            </a:pPr>
            <a:r>
              <a:rPr lang="en-US" sz="1200">
                <a:solidFill>
                  <a:srgbClr val="00D9C0"/>
                </a:solidFill>
                <a:latin typeface="Courier New" pitchFamily="34" charset="0"/>
                <a:ea typeface="Courier New" pitchFamily="34" charset="-122"/>
                <a:cs typeface="Courier New" pitchFamily="34" charset="-120"/>
              </a:rPr>
              <a:t> </a:t>
            </a:r>
          </a:p>
          <a:p>
            <a:pPr>
              <a:lnSpc>
                <a:spcPct val="115000"/>
              </a:lnSpc>
            </a:pPr>
            <a:r>
              <a:rPr lang="en-US" sz="1200">
                <a:solidFill>
                  <a:srgbClr val="00D9C0"/>
                </a:solidFill>
                <a:latin typeface="Courier New" pitchFamily="34" charset="0"/>
                <a:ea typeface="Courier New" pitchFamily="34" charset="-122"/>
                <a:cs typeface="Courier New" pitchFamily="34" charset="-120"/>
              </a:rPr>
              <a:t>TEMPLATE """</a:t>
            </a:r>
          </a:p>
          <a:p>
            <a:pPr>
              <a:lnSpc>
                <a:spcPct val="115000"/>
              </a:lnSpc>
            </a:pPr>
            <a:r>
              <a:rPr lang="en-US" sz="1200">
                <a:solidFill>
                  <a:srgbClr val="00D9C0"/>
                </a:solidFill>
                <a:latin typeface="Courier New" pitchFamily="34" charset="0"/>
                <a:ea typeface="Courier New" pitchFamily="34" charset="-122"/>
                <a:cs typeface="Courier New" pitchFamily="34" charset="-120"/>
              </a:rPr>
              <a:t>{{ if .System }}&lt;|im_start|&gt;system</a:t>
            </a:r>
          </a:p>
          <a:p>
            <a:pPr>
              <a:lnSpc>
                <a:spcPct val="115000"/>
              </a:lnSpc>
            </a:pPr>
            <a:r>
              <a:rPr lang="en-US" sz="1200">
                <a:solidFill>
                  <a:srgbClr val="00D9C0"/>
                </a:solidFill>
                <a:latin typeface="Courier New" pitchFamily="34" charset="0"/>
                <a:ea typeface="Courier New" pitchFamily="34" charset="-122"/>
                <a:cs typeface="Courier New" pitchFamily="34" charset="-120"/>
              </a:rPr>
              <a:t>{{ .System }}&lt;|im_end|&gt;{{ end }}</a:t>
            </a:r>
          </a:p>
          <a:p>
            <a:pPr>
              <a:lnSpc>
                <a:spcPct val="115000"/>
              </a:lnSpc>
            </a:pPr>
            <a:r>
              <a:rPr lang="en-US" sz="1200">
                <a:solidFill>
                  <a:srgbClr val="00D9C0"/>
                </a:solidFill>
                <a:latin typeface="Courier New" pitchFamily="34" charset="0"/>
                <a:ea typeface="Courier New" pitchFamily="34" charset="-122"/>
                <a:cs typeface="Courier New" pitchFamily="34" charset="-120"/>
              </a:rPr>
              <a:t>&lt;|im_start|&gt;assistant ...</a:t>
            </a:r>
          </a:p>
          <a:p>
            <a:pPr>
              <a:lnSpc>
                <a:spcPct val="115000"/>
              </a:lnSpc>
            </a:pPr>
            <a:r>
              <a:rPr lang="en-US" sz="1200">
                <a:solidFill>
                  <a:srgbClr val="00D9C0"/>
                </a:solidFill>
                <a:latin typeface="Courier New" pitchFamily="34" charset="0"/>
                <a:ea typeface="Courier New" pitchFamily="34" charset="-122"/>
                <a:cs typeface="Courier New" pitchFamily="34" charset="-120"/>
              </a:rPr>
              <a:t>"""</a:t>
            </a:r>
          </a:p>
        </p:txBody>
      </p:sp>
      <p:sp>
        <p:nvSpPr>
          <p:cNvPr id="10" name="Shape 8"/>
          <p:cNvSpPr/>
          <p:nvPr/>
        </p:nvSpPr>
        <p:spPr>
          <a:xfrm>
            <a:off x="7086600" y="2286000"/>
            <a:ext cx="4572000" cy="3739662"/>
          </a:xfrm>
          <a:prstGeom prst="roundRect">
            <a:avLst>
              <a:gd name="adj" fmla="val 2817"/>
            </a:avLst>
          </a:prstGeom>
          <a:solidFill>
            <a:srgbClr val="F2F5FA"/>
          </a:solidFill>
          <a:ln/>
        </p:spPr>
      </p:sp>
      <p:sp>
        <p:nvSpPr>
          <p:cNvPr id="11" name="Text 9"/>
          <p:cNvSpPr txBox="1"/>
          <p:nvPr/>
        </p:nvSpPr>
        <p:spPr>
          <a:xfrm>
            <a:off x="7315200" y="2468880"/>
            <a:ext cx="4023360" cy="320040"/>
          </a:xfrm>
          <a:prstGeom prst="rect">
            <a:avLst/>
          </a:prstGeom>
          <a:noFill/>
          <a:ln/>
        </p:spPr>
        <p:txBody>
          <a:bodyPr wrap="square" lIns="0" tIns="0" rIns="0" bIns="0" rtlCol="0" anchor="ctr"/>
          <a:lstStyle/>
          <a:p>
            <a:pPr marL="0" indent="0">
              <a:buNone/>
            </a:pPr>
            <a:r>
              <a:rPr lang="en-US" sz="1300" b="1" dirty="0">
                <a:solidFill>
                  <a:srgbClr val="0D1321"/>
                </a:solidFill>
                <a:latin typeface="Arial" pitchFamily="34" charset="0"/>
                <a:ea typeface="Arial" pitchFamily="34" charset="-122"/>
                <a:cs typeface="Arial" pitchFamily="34" charset="-120"/>
              </a:rPr>
              <a:t>Die drei Bausteine der Modelfile</a:t>
            </a:r>
          </a:p>
        </p:txBody>
      </p:sp>
      <p:sp>
        <p:nvSpPr>
          <p:cNvPr id="12" name="Text 10"/>
          <p:cNvSpPr txBox="1"/>
          <p:nvPr/>
        </p:nvSpPr>
        <p:spPr>
          <a:xfrm>
            <a:off x="7315200" y="2880360"/>
            <a:ext cx="1005840" cy="594360"/>
          </a:xfrm>
          <a:prstGeom prst="rect">
            <a:avLst/>
          </a:prstGeom>
          <a:noFill/>
          <a:ln/>
        </p:spPr>
        <p:txBody>
          <a:bodyPr wrap="square" lIns="0" tIns="0" rIns="0" bIns="0" rtlCol="0" anchor="ctr"/>
          <a:lstStyle/>
          <a:p>
            <a:pPr marL="0" indent="0">
              <a:buNone/>
            </a:pPr>
            <a:r>
              <a:rPr lang="en-US" sz="2600" b="1" dirty="0">
                <a:solidFill>
                  <a:srgbClr val="FF6B4A"/>
                </a:solidFill>
                <a:latin typeface="Arial" pitchFamily="34" charset="0"/>
                <a:ea typeface="Arial" pitchFamily="34" charset="-122"/>
                <a:cs typeface="Arial" pitchFamily="34" charset="-120"/>
              </a:rPr>
              <a:t>1</a:t>
            </a:r>
          </a:p>
        </p:txBody>
      </p:sp>
      <p:sp>
        <p:nvSpPr>
          <p:cNvPr id="13" name="Text 11"/>
          <p:cNvSpPr txBox="1"/>
          <p:nvPr/>
        </p:nvSpPr>
        <p:spPr>
          <a:xfrm>
            <a:off x="8321040" y="2880360"/>
            <a:ext cx="3108960" cy="594360"/>
          </a:xfrm>
          <a:prstGeom prst="rect">
            <a:avLst/>
          </a:prstGeom>
          <a:noFill/>
          <a:ln/>
        </p:spPr>
        <p:txBody>
          <a:bodyPr wrap="square" lIns="0" tIns="0" rIns="0" bIns="0" rtlCol="0" anchor="ctr"/>
          <a:lstStyle/>
          <a:p>
            <a:pPr marL="0" indent="0">
              <a:buNone/>
            </a:pPr>
            <a:r>
              <a:rPr lang="en-US" sz="1250" dirty="0">
                <a:solidFill>
                  <a:srgbClr val="12172B"/>
                </a:solidFill>
                <a:latin typeface="Calibri" pitchFamily="34" charset="0"/>
                <a:ea typeface="Calibri" pitchFamily="34" charset="-122"/>
                <a:cs typeface="Calibri" pitchFamily="34" charset="-120"/>
              </a:rPr>
              <a:t>FROM – Basismodell (Pflichtfeld)</a:t>
            </a:r>
          </a:p>
        </p:txBody>
      </p:sp>
      <p:sp>
        <p:nvSpPr>
          <p:cNvPr id="14" name="Text 12"/>
          <p:cNvSpPr txBox="1"/>
          <p:nvPr/>
        </p:nvSpPr>
        <p:spPr>
          <a:xfrm>
            <a:off x="7315200" y="3593592"/>
            <a:ext cx="1005840" cy="594360"/>
          </a:xfrm>
          <a:prstGeom prst="rect">
            <a:avLst/>
          </a:prstGeom>
          <a:noFill/>
          <a:ln/>
        </p:spPr>
        <p:txBody>
          <a:bodyPr wrap="square" lIns="0" tIns="0" rIns="0" bIns="0" rtlCol="0" anchor="ctr"/>
          <a:lstStyle/>
          <a:p>
            <a:pPr marL="0" indent="0">
              <a:buNone/>
            </a:pPr>
            <a:r>
              <a:rPr lang="en-US" sz="2600" b="1" dirty="0">
                <a:solidFill>
                  <a:srgbClr val="FF6B4A"/>
                </a:solidFill>
                <a:latin typeface="Arial" pitchFamily="34" charset="0"/>
                <a:ea typeface="Arial" pitchFamily="34" charset="-122"/>
                <a:cs typeface="Arial" pitchFamily="34" charset="-120"/>
              </a:rPr>
              <a:t>2</a:t>
            </a:r>
          </a:p>
        </p:txBody>
      </p:sp>
      <p:sp>
        <p:nvSpPr>
          <p:cNvPr id="15" name="Text 13"/>
          <p:cNvSpPr txBox="1"/>
          <p:nvPr/>
        </p:nvSpPr>
        <p:spPr>
          <a:xfrm>
            <a:off x="8321040" y="3593592"/>
            <a:ext cx="3108960" cy="594360"/>
          </a:xfrm>
          <a:prstGeom prst="rect">
            <a:avLst/>
          </a:prstGeom>
          <a:noFill/>
          <a:ln/>
        </p:spPr>
        <p:txBody>
          <a:bodyPr wrap="square" lIns="0" tIns="0" rIns="0" bIns="0" rtlCol="0" anchor="ctr"/>
          <a:lstStyle/>
          <a:p>
            <a:pPr marL="0" indent="0">
              <a:buNone/>
            </a:pPr>
            <a:r>
              <a:rPr lang="en-US" sz="1250" dirty="0">
                <a:solidFill>
                  <a:srgbClr val="12172B"/>
                </a:solidFill>
                <a:latin typeface="Calibri" pitchFamily="34" charset="0"/>
                <a:ea typeface="Calibri" pitchFamily="34" charset="-122"/>
                <a:cs typeface="Calibri" pitchFamily="34" charset="-120"/>
              </a:rPr>
              <a:t>SYSTEM – permanente Rolle/Identität</a:t>
            </a:r>
          </a:p>
        </p:txBody>
      </p:sp>
      <p:sp>
        <p:nvSpPr>
          <p:cNvPr id="16" name="Text 14"/>
          <p:cNvSpPr txBox="1"/>
          <p:nvPr/>
        </p:nvSpPr>
        <p:spPr>
          <a:xfrm>
            <a:off x="7315200" y="4306824"/>
            <a:ext cx="1005840" cy="594360"/>
          </a:xfrm>
          <a:prstGeom prst="rect">
            <a:avLst/>
          </a:prstGeom>
          <a:noFill/>
          <a:ln/>
        </p:spPr>
        <p:txBody>
          <a:bodyPr wrap="square" lIns="0" tIns="0" rIns="0" bIns="0" rtlCol="0" anchor="ctr"/>
          <a:lstStyle/>
          <a:p>
            <a:pPr marL="0" indent="0">
              <a:buNone/>
            </a:pPr>
            <a:r>
              <a:rPr lang="en-US" sz="2600" b="1" dirty="0">
                <a:solidFill>
                  <a:srgbClr val="FF6B4A"/>
                </a:solidFill>
                <a:latin typeface="Arial" pitchFamily="34" charset="0"/>
                <a:cs typeface="Arial" pitchFamily="34" charset="-120"/>
              </a:rPr>
              <a:t>3</a:t>
            </a:r>
          </a:p>
        </p:txBody>
      </p:sp>
      <p:sp>
        <p:nvSpPr>
          <p:cNvPr id="17" name="Text 15"/>
          <p:cNvSpPr txBox="1"/>
          <p:nvPr/>
        </p:nvSpPr>
        <p:spPr>
          <a:xfrm>
            <a:off x="8321040" y="4306824"/>
            <a:ext cx="3108960" cy="594360"/>
          </a:xfrm>
          <a:prstGeom prst="rect">
            <a:avLst/>
          </a:prstGeom>
          <a:noFill/>
          <a:ln/>
        </p:spPr>
        <p:txBody>
          <a:bodyPr wrap="square" lIns="0" tIns="0" rIns="0" bIns="0" rtlCol="0" anchor="ctr"/>
          <a:lstStyle/>
          <a:p>
            <a:pPr marL="0" indent="0">
              <a:buNone/>
            </a:pPr>
            <a:r>
              <a:rPr lang="en-US" sz="1250" dirty="0">
                <a:solidFill>
                  <a:srgbClr val="12172B"/>
                </a:solidFill>
                <a:latin typeface="Calibri" pitchFamily="34" charset="0"/>
                <a:ea typeface="Calibri" pitchFamily="34" charset="-122"/>
                <a:cs typeface="Calibri" pitchFamily="34" charset="-120"/>
              </a:rPr>
              <a:t>TEMPLATE – exaktes Prompt-Format (Go-Syntax)</a:t>
            </a:r>
          </a:p>
        </p:txBody>
      </p:sp>
      <p:sp>
        <p:nvSpPr>
          <p:cNvPr id="18" name="Shape 16"/>
          <p:cNvSpPr/>
          <p:nvPr/>
        </p:nvSpPr>
        <p:spPr>
          <a:xfrm>
            <a:off x="7315200" y="5065776"/>
            <a:ext cx="4023360" cy="0"/>
          </a:xfrm>
          <a:prstGeom prst="line">
            <a:avLst/>
          </a:prstGeom>
          <a:noFill/>
          <a:ln w="12700">
            <a:solidFill>
              <a:srgbClr val="D5DBE8"/>
            </a:solidFill>
            <a:prstDash val="solid"/>
          </a:ln>
        </p:spPr>
      </p:sp>
      <p:sp>
        <p:nvSpPr>
          <p:cNvPr id="19" name="Text 17"/>
          <p:cNvSpPr txBox="1"/>
          <p:nvPr/>
        </p:nvSpPr>
        <p:spPr>
          <a:xfrm>
            <a:off x="7360920" y="5121890"/>
            <a:ext cx="4023360" cy="721126"/>
          </a:xfrm>
          <a:prstGeom prst="rect">
            <a:avLst/>
          </a:prstGeom>
          <a:noFill/>
          <a:ln/>
        </p:spPr>
        <p:txBody>
          <a:bodyPr wrap="square" lIns="0" tIns="0" rIns="0" bIns="0" rtlCol="0" anchor="ctr"/>
          <a:lstStyle/>
          <a:p>
            <a:pPr marL="0" indent="0">
              <a:buNone/>
            </a:pPr>
            <a:r>
              <a:rPr lang="en-US" sz="1150" i="1" dirty="0">
                <a:solidFill>
                  <a:srgbClr val="5B6478"/>
                </a:solidFill>
                <a:latin typeface="Calibri" pitchFamily="34" charset="0"/>
                <a:ea typeface="Calibri" pitchFamily="34" charset="-122"/>
                <a:cs typeface="Calibri" pitchFamily="34" charset="-120"/>
              </a:rPr>
              <a:t>→ FROM ist Pflicht; SYSTEM und TEMPLATE sind optional, aber entscheidend für Tonalität und Formatstabilität. Zusätzliche MESSAGE-Paare liefern </a:t>
            </a:r>
            <a:r>
              <a:rPr lang="en-US" sz="1150" i="1">
                <a:solidFill>
                  <a:srgbClr val="5B6478"/>
                </a:solidFill>
                <a:latin typeface="Calibri" pitchFamily="34" charset="0"/>
                <a:ea typeface="Calibri" pitchFamily="34" charset="-122"/>
                <a:cs typeface="Calibri" pitchFamily="34" charset="-120"/>
              </a:rPr>
              <a:t>Few-Shot-Beispiele</a:t>
            </a:r>
            <a:r>
              <a:rPr lang="en-US" sz="1150" i="1" smtClean="0">
                <a:solidFill>
                  <a:srgbClr val="5B6478"/>
                </a:solidFill>
                <a:latin typeface="Calibri" pitchFamily="34" charset="0"/>
                <a:ea typeface="Calibri" pitchFamily="34" charset="-122"/>
                <a:cs typeface="Calibri" pitchFamily="34" charset="-120"/>
              </a:rPr>
              <a:t>. </a:t>
            </a:r>
            <a:endParaRPr lang="en-US" sz="1150" i="1" dirty="0">
              <a:solidFill>
                <a:srgbClr val="5B6478"/>
              </a:solidFill>
              <a:latin typeface="Calibri" pitchFamily="34" charset="0"/>
              <a:ea typeface="Calibri" pitchFamily="34" charset="-122"/>
              <a:cs typeface="Calibri" pitchFamily="34" charset="-120"/>
            </a:endParaRPr>
          </a:p>
        </p:txBody>
      </p:sp>
      <p:sp>
        <p:nvSpPr>
          <p:cNvPr id="20" name="Text 18"/>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21" name="Text 19"/>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5B6478"/>
                </a:solidFill>
                <a:latin typeface="Calibri" pitchFamily="34" charset="0"/>
                <a:ea typeface="Calibri" pitchFamily="34" charset="-122"/>
                <a:cs typeface="Calibri" pitchFamily="34" charset="-120"/>
              </a:rPr>
              <a:t>25</a:t>
            </a:r>
            <a:endParaRPr lang="en-US" sz="9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r>
              <a:rPr lang="en-US" sz="1300" b="1" kern="0" spc="200">
                <a:solidFill>
                  <a:srgbClr val="00D9C0"/>
                </a:solidFill>
                <a:latin typeface="Calibri" pitchFamily="34" charset="0"/>
                <a:ea typeface="Calibri" pitchFamily="34" charset="-122"/>
                <a:cs typeface="Calibri" pitchFamily="34" charset="-120"/>
              </a:rPr>
              <a:t>BLOCK 3 OPTIMIERUNG</a:t>
            </a:r>
            <a:endParaRPr lang="en-US" sz="1300" dirty="0"/>
          </a:p>
        </p:txBody>
      </p:sp>
      <p:sp>
        <p:nvSpPr>
          <p:cNvPr id="3" name="Text 1"/>
          <p:cNvSpPr txBox="1"/>
          <p:nvPr/>
        </p:nvSpPr>
        <p:spPr>
          <a:xfrm>
            <a:off x="548639" y="685800"/>
            <a:ext cx="11519535"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Modelfile</a:t>
            </a:r>
            <a:r>
              <a:rPr lang="en-US" sz="3000" b="1">
                <a:solidFill>
                  <a:srgbClr val="12172B"/>
                </a:solidFill>
                <a:latin typeface="Arial" pitchFamily="34" charset="0"/>
                <a:ea typeface="Arial" pitchFamily="34" charset="-122"/>
                <a:cs typeface="Arial" pitchFamily="34" charset="-120"/>
              </a:rPr>
              <a:t>: </a:t>
            </a:r>
            <a:r>
              <a:rPr lang="en-US" sz="3000" b="1" smtClean="0">
                <a:solidFill>
                  <a:srgbClr val="12172B"/>
                </a:solidFill>
                <a:latin typeface="Arial" pitchFamily="34" charset="0"/>
                <a:ea typeface="Arial" pitchFamily="34" charset="-122"/>
                <a:cs typeface="Arial" pitchFamily="34" charset="-120"/>
              </a:rPr>
              <a:t>Parameter </a:t>
            </a:r>
            <a:r>
              <a:rPr lang="en-US" sz="3000" b="1">
                <a:solidFill>
                  <a:srgbClr val="12172B"/>
                </a:solidFill>
                <a:latin typeface="Arial" pitchFamily="34" charset="0"/>
                <a:ea typeface="Arial" pitchFamily="34" charset="-122"/>
                <a:cs typeface="Arial" pitchFamily="34" charset="-120"/>
              </a:rPr>
              <a:t>gegen </a:t>
            </a:r>
            <a:r>
              <a:rPr lang="en-US" sz="3000" b="1" smtClean="0">
                <a:solidFill>
                  <a:srgbClr val="12172B"/>
                </a:solidFill>
                <a:latin typeface="Arial" pitchFamily="34" charset="0"/>
                <a:ea typeface="Arial" pitchFamily="34" charset="-122"/>
                <a:cs typeface="Arial" pitchFamily="34" charset="-120"/>
              </a:rPr>
              <a:t>Halluzinationen &amp; Wiederholungen</a:t>
            </a:r>
            <a:endParaRPr lang="en-US" sz="3000" b="1" dirty="0">
              <a:solidFill>
                <a:srgbClr val="12172B"/>
              </a:solidFill>
              <a:latin typeface="Arial" pitchFamily="34" charset="0"/>
              <a:ea typeface="Arial" pitchFamily="34" charset="-122"/>
              <a:cs typeface="Arial" pitchFamily="34" charset="-120"/>
            </a:endParaRPr>
          </a:p>
        </p:txBody>
      </p:sp>
      <p:sp>
        <p:nvSpPr>
          <p:cNvPr id="4" name="Text 2"/>
          <p:cNvSpPr txBox="1"/>
          <p:nvPr/>
        </p:nvSpPr>
        <p:spPr>
          <a:xfrm>
            <a:off x="548640" y="1371600"/>
            <a:ext cx="10789920" cy="457200"/>
          </a:xfrm>
          <a:prstGeom prst="rect">
            <a:avLst/>
          </a:prstGeom>
          <a:noFill/>
          <a:ln/>
        </p:spPr>
        <p:txBody>
          <a:bodyPr wrap="square" lIns="0" tIns="0" rIns="0" bIns="0" rtlCol="0" anchor="ctr"/>
          <a:lstStyle/>
          <a:p>
            <a:r>
              <a:rPr lang="en-US" sz="1300" dirty="0">
                <a:solidFill>
                  <a:srgbClr val="5B6478"/>
                </a:solidFill>
                <a:latin typeface="Calibri" pitchFamily="34" charset="0"/>
                <a:ea typeface="Calibri" pitchFamily="34" charset="-122"/>
                <a:cs typeface="Calibri" pitchFamily="34" charset="-120"/>
              </a:rPr>
              <a:t>Diese Parameter steuern, wie kreativ oder faktentreu das Modell </a:t>
            </a:r>
            <a:r>
              <a:rPr lang="en-US" sz="1300">
                <a:solidFill>
                  <a:srgbClr val="5B6478"/>
                </a:solidFill>
                <a:latin typeface="Calibri" pitchFamily="34" charset="0"/>
                <a:ea typeface="Calibri" pitchFamily="34" charset="-122"/>
                <a:cs typeface="Calibri" pitchFamily="34" charset="-120"/>
              </a:rPr>
              <a:t>antwortet – optimiert für </a:t>
            </a:r>
            <a:r>
              <a:rPr lang="en-US" sz="1300" smtClean="0">
                <a:solidFill>
                  <a:srgbClr val="5B6478"/>
                </a:solidFill>
                <a:latin typeface="Calibri" pitchFamily="34" charset="0"/>
                <a:ea typeface="Calibri" pitchFamily="34" charset="-122"/>
                <a:cs typeface="Calibri" pitchFamily="34" charset="-120"/>
              </a:rPr>
              <a:t>Modell </a:t>
            </a:r>
            <a:r>
              <a:rPr lang="en-US" sz="1300">
                <a:solidFill>
                  <a:srgbClr val="5B6478"/>
                </a:solidFill>
                <a:latin typeface="Calibri" pitchFamily="34" charset="0"/>
                <a:ea typeface="Calibri" pitchFamily="34" charset="-122"/>
                <a:cs typeface="Calibri" pitchFamily="34" charset="-120"/>
              </a:rPr>
              <a:t>qwen2.5:14b.</a:t>
            </a:r>
            <a:endParaRPr lang="en-US" sz="1300" dirty="0">
              <a:solidFill>
                <a:srgbClr val="5B6478"/>
              </a:solidFill>
              <a:latin typeface="Calibri" pitchFamily="34" charset="0"/>
              <a:ea typeface="Calibri" pitchFamily="34" charset="-122"/>
              <a:cs typeface="Calibri" pitchFamily="34" charset="-120"/>
            </a:endParaRPr>
          </a:p>
        </p:txBody>
      </p:sp>
      <p:sp>
        <p:nvSpPr>
          <p:cNvPr id="5" name="Shape 3"/>
          <p:cNvSpPr/>
          <p:nvPr/>
        </p:nvSpPr>
        <p:spPr>
          <a:xfrm>
            <a:off x="548640" y="1965960"/>
            <a:ext cx="5518785" cy="457200"/>
          </a:xfrm>
          <a:prstGeom prst="roundRect">
            <a:avLst>
              <a:gd name="adj" fmla="val 12000"/>
            </a:avLst>
          </a:prstGeom>
          <a:solidFill>
            <a:srgbClr val="0D1321"/>
          </a:solidFill>
          <a:ln/>
        </p:spPr>
      </p:sp>
      <p:sp>
        <p:nvSpPr>
          <p:cNvPr id="6" name="Text 4"/>
          <p:cNvSpPr txBox="1"/>
          <p:nvPr/>
        </p:nvSpPr>
        <p:spPr>
          <a:xfrm>
            <a:off x="640080" y="1965960"/>
            <a:ext cx="1691640" cy="457200"/>
          </a:xfrm>
          <a:prstGeom prst="rect">
            <a:avLst/>
          </a:prstGeom>
          <a:noFill/>
          <a:ln/>
        </p:spPr>
        <p:txBody>
          <a:bodyPr wrap="square" lIns="0" tIns="0" rIns="0" bIns="0" rtlCol="0" anchor="ctr"/>
          <a:lstStyle/>
          <a:p>
            <a:pPr marL="0" indent="0">
              <a:buNone/>
            </a:pPr>
            <a:r>
              <a:rPr lang="en-US" sz="1150" b="1" smtClean="0">
                <a:solidFill>
                  <a:srgbClr val="FFFFFF"/>
                </a:solidFill>
                <a:latin typeface="Arial" pitchFamily="34" charset="0"/>
                <a:ea typeface="Arial" pitchFamily="34" charset="-122"/>
                <a:cs typeface="Arial" pitchFamily="34" charset="-120"/>
              </a:rPr>
              <a:t>Parameter (Halluzinationen)</a:t>
            </a:r>
            <a:endParaRPr lang="en-US" sz="1150" b="1" dirty="0">
              <a:solidFill>
                <a:srgbClr val="FFFFFF"/>
              </a:solidFill>
              <a:latin typeface="Arial" pitchFamily="34" charset="0"/>
              <a:ea typeface="Arial" pitchFamily="34" charset="-122"/>
              <a:cs typeface="Arial" pitchFamily="34" charset="-120"/>
            </a:endParaRPr>
          </a:p>
        </p:txBody>
      </p:sp>
      <p:sp>
        <p:nvSpPr>
          <p:cNvPr id="7" name="Text 5"/>
          <p:cNvSpPr txBox="1"/>
          <p:nvPr/>
        </p:nvSpPr>
        <p:spPr>
          <a:xfrm>
            <a:off x="2594610" y="1965960"/>
            <a:ext cx="731520" cy="457200"/>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Wert</a:t>
            </a:r>
          </a:p>
        </p:txBody>
      </p:sp>
      <p:sp>
        <p:nvSpPr>
          <p:cNvPr id="8" name="Text 6"/>
          <p:cNvSpPr txBox="1"/>
          <p:nvPr/>
        </p:nvSpPr>
        <p:spPr>
          <a:xfrm>
            <a:off x="3891915" y="1965960"/>
            <a:ext cx="908685" cy="457200"/>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Wirkung</a:t>
            </a:r>
          </a:p>
        </p:txBody>
      </p:sp>
      <p:sp>
        <p:nvSpPr>
          <p:cNvPr id="9" name="Shape 7"/>
          <p:cNvSpPr/>
          <p:nvPr/>
        </p:nvSpPr>
        <p:spPr>
          <a:xfrm>
            <a:off x="554355" y="2423160"/>
            <a:ext cx="5513070" cy="797814"/>
          </a:xfrm>
          <a:prstGeom prst="rect">
            <a:avLst/>
          </a:prstGeom>
          <a:solidFill>
            <a:srgbClr val="F2F5FA"/>
          </a:solidFill>
          <a:ln/>
        </p:spPr>
      </p:sp>
      <p:sp>
        <p:nvSpPr>
          <p:cNvPr id="11" name="Text 9"/>
          <p:cNvSpPr txBox="1"/>
          <p:nvPr/>
        </p:nvSpPr>
        <p:spPr>
          <a:xfrm>
            <a:off x="2613660" y="2480310"/>
            <a:ext cx="701040" cy="621792"/>
          </a:xfrm>
          <a:prstGeom prst="rect">
            <a:avLst/>
          </a:prstGeom>
          <a:noFill/>
          <a:ln/>
        </p:spPr>
        <p:txBody>
          <a:bodyPr wrap="square" lIns="0" tIns="0" rIns="0" bIns="0" rtlCol="0" anchor="ctr"/>
          <a:lstStyle/>
          <a:p>
            <a:pPr marL="0" indent="0">
              <a:buNone/>
            </a:pPr>
            <a:r>
              <a:rPr lang="en-US" sz="1250" smtClean="0">
                <a:solidFill>
                  <a:srgbClr val="12172B"/>
                </a:solidFill>
                <a:latin typeface="Courier New" pitchFamily="34" charset="0"/>
                <a:ea typeface="Courier New" pitchFamily="34" charset="-122"/>
                <a:cs typeface="Courier New" pitchFamily="34" charset="-120"/>
              </a:rPr>
              <a:t>0.7</a:t>
            </a:r>
            <a:endParaRPr lang="en-US" sz="1250" dirty="0">
              <a:solidFill>
                <a:srgbClr val="12172B"/>
              </a:solidFill>
              <a:latin typeface="Courier New" pitchFamily="34" charset="0"/>
              <a:ea typeface="Courier New" pitchFamily="34" charset="-122"/>
              <a:cs typeface="Courier New" pitchFamily="34" charset="-120"/>
            </a:endParaRPr>
          </a:p>
        </p:txBody>
      </p:sp>
      <p:sp>
        <p:nvSpPr>
          <p:cNvPr id="12" name="Text 10"/>
          <p:cNvSpPr txBox="1"/>
          <p:nvPr/>
        </p:nvSpPr>
        <p:spPr>
          <a:xfrm>
            <a:off x="3355655" y="2514981"/>
            <a:ext cx="2727961" cy="621792"/>
          </a:xfrm>
          <a:prstGeom prst="rect">
            <a:avLst/>
          </a:prstGeom>
          <a:noFill/>
          <a:ln/>
        </p:spPr>
        <p:txBody>
          <a:bodyPr wrap="square" lIns="0" tIns="0" rIns="0" bIns="0" rtlCol="0" anchor="ctr"/>
          <a:lstStyle/>
          <a:p>
            <a:r>
              <a:rPr lang="de-DE" sz="1200" b="1"/>
              <a:t>Zufallsgenerator</a:t>
            </a:r>
            <a:endParaRPr lang="en-US" sz="1200" b="1" smtClean="0">
              <a:solidFill>
                <a:srgbClr val="0D1321"/>
              </a:solidFill>
              <a:latin typeface="Calibri" pitchFamily="34" charset="0"/>
              <a:ea typeface="Calibri" pitchFamily="34" charset="-122"/>
              <a:cs typeface="Calibri" pitchFamily="34" charset="-120"/>
            </a:endParaRPr>
          </a:p>
          <a:p>
            <a:pPr marL="0" indent="0">
              <a:buNone/>
            </a:pPr>
            <a:r>
              <a:rPr lang="en-US" sz="1200" smtClean="0">
                <a:solidFill>
                  <a:srgbClr val="0D1321"/>
                </a:solidFill>
                <a:latin typeface="Calibri" pitchFamily="34" charset="0"/>
                <a:ea typeface="Calibri" pitchFamily="34" charset="-122"/>
                <a:cs typeface="Calibri" pitchFamily="34" charset="-120"/>
              </a:rPr>
              <a:t>Niedrigere Werte machen die KI berechenbarer und fokussierter (Tools), höhere Werte experimentierfreudiger</a:t>
            </a:r>
            <a:endParaRPr lang="en-US" sz="1200" dirty="0">
              <a:solidFill>
                <a:srgbClr val="0D1321"/>
              </a:solidFill>
              <a:latin typeface="Calibri" pitchFamily="34" charset="0"/>
              <a:ea typeface="Calibri" pitchFamily="34" charset="-122"/>
              <a:cs typeface="Calibri" pitchFamily="34" charset="-120"/>
            </a:endParaRPr>
          </a:p>
        </p:txBody>
      </p:sp>
      <p:sp>
        <p:nvSpPr>
          <p:cNvPr id="15" name="Text 13"/>
          <p:cNvSpPr txBox="1"/>
          <p:nvPr/>
        </p:nvSpPr>
        <p:spPr>
          <a:xfrm>
            <a:off x="2623185" y="3206877"/>
            <a:ext cx="701040" cy="621792"/>
          </a:xfrm>
          <a:prstGeom prst="rect">
            <a:avLst/>
          </a:prstGeom>
          <a:noFill/>
          <a:ln/>
        </p:spPr>
        <p:txBody>
          <a:bodyPr wrap="square" lIns="0" tIns="0" rIns="0" bIns="0" rtlCol="0" anchor="ctr"/>
          <a:lstStyle/>
          <a:p>
            <a:pPr marL="0" indent="0">
              <a:buNone/>
            </a:pPr>
            <a:r>
              <a:rPr lang="en-US" sz="1250" smtClean="0">
                <a:solidFill>
                  <a:srgbClr val="12172B"/>
                </a:solidFill>
                <a:latin typeface="Courier New" pitchFamily="34" charset="0"/>
                <a:ea typeface="Courier New" pitchFamily="34" charset="-122"/>
                <a:cs typeface="Courier New" pitchFamily="34" charset="-120"/>
              </a:rPr>
              <a:t>0.8</a:t>
            </a:r>
            <a:endParaRPr lang="en-US" sz="1250" dirty="0">
              <a:solidFill>
                <a:srgbClr val="12172B"/>
              </a:solidFill>
              <a:latin typeface="Courier New" pitchFamily="34" charset="0"/>
              <a:ea typeface="Courier New" pitchFamily="34" charset="-122"/>
              <a:cs typeface="Courier New" pitchFamily="34" charset="-120"/>
            </a:endParaRPr>
          </a:p>
        </p:txBody>
      </p:sp>
      <p:sp>
        <p:nvSpPr>
          <p:cNvPr id="16" name="Text 14"/>
          <p:cNvSpPr txBox="1"/>
          <p:nvPr/>
        </p:nvSpPr>
        <p:spPr>
          <a:xfrm>
            <a:off x="3371849" y="3225546"/>
            <a:ext cx="2695575" cy="621792"/>
          </a:xfrm>
          <a:prstGeom prst="rect">
            <a:avLst/>
          </a:prstGeom>
          <a:noFill/>
          <a:ln/>
        </p:spPr>
        <p:txBody>
          <a:bodyPr wrap="square" lIns="0" tIns="0" rIns="0" bIns="0" rtlCol="0" anchor="ctr"/>
          <a:lstStyle/>
          <a:p>
            <a:pPr marL="0" indent="0">
              <a:buNone/>
            </a:pPr>
            <a:r>
              <a:rPr lang="en-US" sz="1200" b="1" smtClean="0">
                <a:latin typeface="Calibri" pitchFamily="34" charset="0"/>
                <a:ea typeface="Calibri" pitchFamily="34" charset="-122"/>
                <a:cs typeface="Calibri" pitchFamily="34" charset="-120"/>
              </a:rPr>
              <a:t>Themen-Filter</a:t>
            </a:r>
          </a:p>
          <a:p>
            <a:pPr marL="0" indent="0">
              <a:buNone/>
            </a:pPr>
            <a:r>
              <a:rPr lang="en-US" sz="1200" smtClean="0">
                <a:latin typeface="Calibri" pitchFamily="34" charset="0"/>
                <a:ea typeface="Calibri" pitchFamily="34" charset="-122"/>
                <a:cs typeface="Calibri" pitchFamily="34" charset="-120"/>
              </a:rPr>
              <a:t>Lässt die KI nur aus dem Pool der 80% wahrscheinlichsten Wörter wählen.</a:t>
            </a:r>
            <a:endParaRPr lang="en-US" sz="1200" dirty="0">
              <a:latin typeface="Calibri" pitchFamily="34" charset="0"/>
              <a:ea typeface="Calibri" pitchFamily="34" charset="-122"/>
              <a:cs typeface="Calibri" pitchFamily="34" charset="-120"/>
            </a:endParaRPr>
          </a:p>
        </p:txBody>
      </p:sp>
      <p:sp>
        <p:nvSpPr>
          <p:cNvPr id="18" name="Shape 16"/>
          <p:cNvSpPr/>
          <p:nvPr/>
        </p:nvSpPr>
        <p:spPr>
          <a:xfrm>
            <a:off x="548640" y="3838194"/>
            <a:ext cx="5518785" cy="621792"/>
          </a:xfrm>
          <a:prstGeom prst="rect">
            <a:avLst/>
          </a:prstGeom>
          <a:solidFill>
            <a:srgbClr val="F2F5FA"/>
          </a:solidFill>
          <a:ln/>
        </p:spPr>
      </p:sp>
      <p:sp>
        <p:nvSpPr>
          <p:cNvPr id="20" name="Text 18"/>
          <p:cNvSpPr txBox="1"/>
          <p:nvPr/>
        </p:nvSpPr>
        <p:spPr>
          <a:xfrm>
            <a:off x="2727960" y="3838194"/>
            <a:ext cx="605790" cy="621792"/>
          </a:xfrm>
          <a:prstGeom prst="rect">
            <a:avLst/>
          </a:prstGeom>
          <a:noFill/>
          <a:ln/>
        </p:spPr>
        <p:txBody>
          <a:bodyPr wrap="square" lIns="0" tIns="0" rIns="0" bIns="0" rtlCol="0" anchor="ctr"/>
          <a:lstStyle/>
          <a:p>
            <a:pPr marL="0" indent="0">
              <a:buNone/>
            </a:pPr>
            <a:r>
              <a:rPr lang="en-US" sz="1250" dirty="0">
                <a:solidFill>
                  <a:srgbClr val="12172B"/>
                </a:solidFill>
                <a:latin typeface="Courier New" pitchFamily="34" charset="0"/>
                <a:ea typeface="Courier New" pitchFamily="34" charset="-122"/>
                <a:cs typeface="Courier New" pitchFamily="34" charset="-120"/>
              </a:rPr>
              <a:t>2</a:t>
            </a:r>
            <a:r>
              <a:rPr lang="en-US" sz="1250" smtClean="0">
                <a:solidFill>
                  <a:srgbClr val="12172B"/>
                </a:solidFill>
                <a:latin typeface="Courier New" pitchFamily="34" charset="0"/>
                <a:ea typeface="Courier New" pitchFamily="34" charset="-122"/>
                <a:cs typeface="Courier New" pitchFamily="34" charset="-120"/>
              </a:rPr>
              <a:t>0</a:t>
            </a:r>
            <a:endParaRPr lang="en-US" sz="1250" dirty="0">
              <a:solidFill>
                <a:srgbClr val="12172B"/>
              </a:solidFill>
              <a:latin typeface="Courier New" pitchFamily="34" charset="0"/>
              <a:ea typeface="Courier New" pitchFamily="34" charset="-122"/>
              <a:cs typeface="Courier New" pitchFamily="34" charset="-120"/>
            </a:endParaRPr>
          </a:p>
        </p:txBody>
      </p:sp>
      <p:sp>
        <p:nvSpPr>
          <p:cNvPr id="21" name="Text 19"/>
          <p:cNvSpPr txBox="1"/>
          <p:nvPr/>
        </p:nvSpPr>
        <p:spPr>
          <a:xfrm>
            <a:off x="3371850" y="3838194"/>
            <a:ext cx="2695575" cy="621792"/>
          </a:xfrm>
          <a:prstGeom prst="rect">
            <a:avLst/>
          </a:prstGeom>
          <a:noFill/>
          <a:ln/>
        </p:spPr>
        <p:txBody>
          <a:bodyPr wrap="square" lIns="0" tIns="0" rIns="0" bIns="0" rtlCol="0" anchor="ctr"/>
          <a:lstStyle/>
          <a:p>
            <a:pPr marL="0" indent="0">
              <a:buNone/>
            </a:pPr>
            <a:r>
              <a:rPr lang="en-US" sz="1200" b="1" smtClean="0">
                <a:solidFill>
                  <a:srgbClr val="0D1321"/>
                </a:solidFill>
                <a:latin typeface="Calibri" pitchFamily="34" charset="0"/>
                <a:ea typeface="Calibri" pitchFamily="34" charset="-122"/>
                <a:cs typeface="Calibri" pitchFamily="34" charset="-120"/>
              </a:rPr>
              <a:t>Wortschatz-Bremse</a:t>
            </a:r>
          </a:p>
          <a:p>
            <a:pPr marL="0" indent="0">
              <a:buNone/>
            </a:pPr>
            <a:r>
              <a:rPr lang="en-US" sz="1200" smtClean="0">
                <a:solidFill>
                  <a:srgbClr val="0D1321"/>
                </a:solidFill>
                <a:latin typeface="Calibri" pitchFamily="34" charset="0"/>
                <a:ea typeface="Calibri" pitchFamily="34" charset="-122"/>
                <a:cs typeface="Calibri" pitchFamily="34" charset="-120"/>
              </a:rPr>
              <a:t>Begrenzt die Auswahl bei jedem Schritt strikt auf die 20 besten Wörter</a:t>
            </a:r>
            <a:endParaRPr lang="en-US" sz="1200" dirty="0">
              <a:solidFill>
                <a:srgbClr val="0D1321"/>
              </a:solidFill>
              <a:latin typeface="Calibri" pitchFamily="34" charset="0"/>
              <a:ea typeface="Calibri" pitchFamily="34" charset="-122"/>
              <a:cs typeface="Calibri" pitchFamily="34" charset="-120"/>
            </a:endParaRPr>
          </a:p>
        </p:txBody>
      </p:sp>
      <p:sp>
        <p:nvSpPr>
          <p:cNvPr id="24" name="Text 22"/>
          <p:cNvSpPr txBox="1"/>
          <p:nvPr/>
        </p:nvSpPr>
        <p:spPr>
          <a:xfrm>
            <a:off x="2546985" y="4526661"/>
            <a:ext cx="777240" cy="621792"/>
          </a:xfrm>
          <a:prstGeom prst="rect">
            <a:avLst/>
          </a:prstGeom>
          <a:noFill/>
          <a:ln/>
        </p:spPr>
        <p:txBody>
          <a:bodyPr wrap="square" lIns="0" tIns="0" rIns="0" bIns="0" rtlCol="0" anchor="ctr"/>
          <a:lstStyle/>
          <a:p>
            <a:pPr marL="0" indent="0">
              <a:buNone/>
            </a:pPr>
            <a:r>
              <a:rPr lang="en-US" sz="1250" dirty="0">
                <a:solidFill>
                  <a:srgbClr val="12172B"/>
                </a:solidFill>
                <a:latin typeface="Courier New" pitchFamily="34" charset="0"/>
                <a:ea typeface="Courier New" pitchFamily="34" charset="-122"/>
                <a:cs typeface="Courier New" pitchFamily="34" charset="-120"/>
              </a:rPr>
              <a:t>0.05</a:t>
            </a:r>
          </a:p>
        </p:txBody>
      </p:sp>
      <p:sp>
        <p:nvSpPr>
          <p:cNvPr id="25" name="Text 23"/>
          <p:cNvSpPr txBox="1"/>
          <p:nvPr/>
        </p:nvSpPr>
        <p:spPr>
          <a:xfrm>
            <a:off x="3381375" y="4526661"/>
            <a:ext cx="2432685" cy="621792"/>
          </a:xfrm>
          <a:prstGeom prst="rect">
            <a:avLst/>
          </a:prstGeom>
          <a:noFill/>
          <a:ln/>
        </p:spPr>
        <p:txBody>
          <a:bodyPr wrap="square" lIns="0" tIns="0" rIns="0" bIns="0" rtlCol="0" anchor="ctr"/>
          <a:lstStyle/>
          <a:p>
            <a:pPr marL="0" indent="0">
              <a:buNone/>
            </a:pPr>
            <a:r>
              <a:rPr lang="en-US" sz="1200" b="1" smtClean="0">
                <a:solidFill>
                  <a:srgbClr val="0D1321"/>
                </a:solidFill>
                <a:latin typeface="Calibri" pitchFamily="34" charset="0"/>
                <a:ea typeface="Calibri" pitchFamily="34" charset="-122"/>
                <a:cs typeface="Calibri" pitchFamily="34" charset="-120"/>
              </a:rPr>
              <a:t>Qualitätsfilter</a:t>
            </a:r>
          </a:p>
          <a:p>
            <a:pPr marL="0" indent="0">
              <a:buNone/>
            </a:pPr>
            <a:r>
              <a:rPr lang="en-US" sz="1200" smtClean="0">
                <a:solidFill>
                  <a:srgbClr val="0D1321"/>
                </a:solidFill>
                <a:latin typeface="Calibri" pitchFamily="34" charset="0"/>
                <a:ea typeface="Calibri" pitchFamily="34" charset="-122"/>
                <a:cs typeface="Calibri" pitchFamily="34" charset="-120"/>
              </a:rPr>
              <a:t>Sortiert unlogische Wörter aus, die weniger als 5% Wahrscheinlichkeit haben.</a:t>
            </a:r>
            <a:endParaRPr lang="en-US" sz="1200" dirty="0">
              <a:solidFill>
                <a:srgbClr val="0D1321"/>
              </a:solidFill>
              <a:latin typeface="Calibri" pitchFamily="34" charset="0"/>
              <a:ea typeface="Calibri" pitchFamily="34" charset="-122"/>
              <a:cs typeface="Calibri" pitchFamily="34" charset="-120"/>
            </a:endParaRPr>
          </a:p>
        </p:txBody>
      </p:sp>
      <p:sp>
        <p:nvSpPr>
          <p:cNvPr id="41" name="Text 39"/>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42" name="Text 40"/>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5B6478"/>
                </a:solidFill>
                <a:latin typeface="Calibri" pitchFamily="34" charset="0"/>
                <a:ea typeface="Calibri" pitchFamily="34" charset="-122"/>
                <a:cs typeface="Calibri" pitchFamily="34" charset="-120"/>
              </a:rPr>
              <a:t>26</a:t>
            </a:r>
            <a:endParaRPr lang="en-US" sz="900" dirty="0"/>
          </a:p>
        </p:txBody>
      </p:sp>
      <p:sp>
        <p:nvSpPr>
          <p:cNvPr id="43" name="Shape 16"/>
          <p:cNvSpPr/>
          <p:nvPr/>
        </p:nvSpPr>
        <p:spPr>
          <a:xfrm>
            <a:off x="6235065" y="5662803"/>
            <a:ext cx="5674995" cy="804672"/>
          </a:xfrm>
          <a:prstGeom prst="rect">
            <a:avLst/>
          </a:prstGeom>
          <a:solidFill>
            <a:srgbClr val="F2F5FA"/>
          </a:solidFill>
          <a:ln/>
        </p:spPr>
      </p:sp>
      <p:sp>
        <p:nvSpPr>
          <p:cNvPr id="45" name="Text 18"/>
          <p:cNvSpPr txBox="1"/>
          <p:nvPr/>
        </p:nvSpPr>
        <p:spPr>
          <a:xfrm>
            <a:off x="8338185" y="5758053"/>
            <a:ext cx="681990" cy="621792"/>
          </a:xfrm>
          <a:prstGeom prst="rect">
            <a:avLst/>
          </a:prstGeom>
          <a:noFill/>
          <a:ln/>
        </p:spPr>
        <p:txBody>
          <a:bodyPr wrap="square" lIns="0" tIns="0" rIns="0" bIns="0" rtlCol="0" anchor="ctr"/>
          <a:lstStyle/>
          <a:p>
            <a:pPr marL="0" indent="0">
              <a:buNone/>
            </a:pPr>
            <a:r>
              <a:rPr lang="en-US" sz="1250" smtClean="0">
                <a:solidFill>
                  <a:srgbClr val="12172B"/>
                </a:solidFill>
                <a:latin typeface="Courier New" pitchFamily="34" charset="0"/>
                <a:ea typeface="Courier New" pitchFamily="34" charset="-122"/>
                <a:cs typeface="Courier New" pitchFamily="34" charset="-120"/>
              </a:rPr>
              <a:t>-1</a:t>
            </a:r>
            <a:endParaRPr lang="en-US" sz="1250" dirty="0">
              <a:solidFill>
                <a:srgbClr val="12172B"/>
              </a:solidFill>
              <a:latin typeface="Courier New" pitchFamily="34" charset="0"/>
              <a:ea typeface="Courier New" pitchFamily="34" charset="-122"/>
              <a:cs typeface="Courier New" pitchFamily="34" charset="-120"/>
            </a:endParaRPr>
          </a:p>
        </p:txBody>
      </p:sp>
      <p:sp>
        <p:nvSpPr>
          <p:cNvPr id="46" name="Text 19"/>
          <p:cNvSpPr txBox="1"/>
          <p:nvPr/>
        </p:nvSpPr>
        <p:spPr>
          <a:xfrm>
            <a:off x="9067800" y="5756148"/>
            <a:ext cx="2686050" cy="621792"/>
          </a:xfrm>
          <a:prstGeom prst="rect">
            <a:avLst/>
          </a:prstGeom>
          <a:noFill/>
          <a:ln/>
        </p:spPr>
        <p:txBody>
          <a:bodyPr wrap="square" lIns="0" tIns="0" rIns="0" bIns="0" rtlCol="0" anchor="ctr"/>
          <a:lstStyle/>
          <a:p>
            <a:pPr marL="0" indent="0">
              <a:buNone/>
            </a:pPr>
            <a:r>
              <a:rPr lang="en-US" sz="1200" b="1" smtClean="0">
                <a:solidFill>
                  <a:srgbClr val="0D1321"/>
                </a:solidFill>
                <a:latin typeface="Calibri" pitchFamily="34" charset="0"/>
                <a:ea typeface="Calibri" pitchFamily="34" charset="-122"/>
                <a:cs typeface="Calibri" pitchFamily="34" charset="-120"/>
              </a:rPr>
              <a:t>Not-Ausschalter</a:t>
            </a:r>
          </a:p>
          <a:p>
            <a:pPr marL="0" indent="0">
              <a:buNone/>
            </a:pPr>
            <a:r>
              <a:rPr lang="en-US" sz="1200" smtClean="0">
                <a:solidFill>
                  <a:srgbClr val="0D1321"/>
                </a:solidFill>
                <a:latin typeface="Calibri" pitchFamily="34" charset="0"/>
                <a:ea typeface="Calibri" pitchFamily="34" charset="-122"/>
                <a:cs typeface="Calibri" pitchFamily="34" charset="-120"/>
              </a:rPr>
              <a:t>Schneidet die Antwort nicht ab, sondern schreibt bis zum Ende.</a:t>
            </a:r>
            <a:endParaRPr lang="en-US" sz="1200" dirty="0">
              <a:solidFill>
                <a:srgbClr val="0D1321"/>
              </a:solidFill>
              <a:latin typeface="Calibri" pitchFamily="34" charset="0"/>
              <a:ea typeface="Calibri" pitchFamily="34" charset="-122"/>
              <a:cs typeface="Calibri" pitchFamily="34" charset="-120"/>
            </a:endParaRPr>
          </a:p>
        </p:txBody>
      </p:sp>
      <p:sp>
        <p:nvSpPr>
          <p:cNvPr id="49" name="Shape 5"/>
          <p:cNvSpPr/>
          <p:nvPr/>
        </p:nvSpPr>
        <p:spPr>
          <a:xfrm>
            <a:off x="565310" y="2608707"/>
            <a:ext cx="1718785" cy="384048"/>
          </a:xfrm>
          <a:prstGeom prst="roundRect">
            <a:avLst>
              <a:gd name="adj" fmla="val 14286"/>
            </a:avLst>
          </a:prstGeom>
          <a:solidFill>
            <a:srgbClr val="0D1321"/>
          </a:solidFill>
          <a:ln/>
        </p:spPr>
      </p:sp>
      <p:sp>
        <p:nvSpPr>
          <p:cNvPr id="50" name="Text 6"/>
          <p:cNvSpPr txBox="1"/>
          <p:nvPr/>
        </p:nvSpPr>
        <p:spPr>
          <a:xfrm>
            <a:off x="555784" y="2608707"/>
            <a:ext cx="1728311"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temperature</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51" name="Shape 5"/>
          <p:cNvSpPr/>
          <p:nvPr/>
        </p:nvSpPr>
        <p:spPr>
          <a:xfrm>
            <a:off x="563881" y="3325749"/>
            <a:ext cx="1718785" cy="384048"/>
          </a:xfrm>
          <a:prstGeom prst="roundRect">
            <a:avLst>
              <a:gd name="adj" fmla="val 14286"/>
            </a:avLst>
          </a:prstGeom>
          <a:solidFill>
            <a:srgbClr val="0D1321"/>
          </a:solidFill>
          <a:ln/>
        </p:spPr>
      </p:sp>
      <p:sp>
        <p:nvSpPr>
          <p:cNvPr id="52" name="Text 6"/>
          <p:cNvSpPr txBox="1"/>
          <p:nvPr/>
        </p:nvSpPr>
        <p:spPr>
          <a:xfrm>
            <a:off x="554355" y="3325749"/>
            <a:ext cx="1728311"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top_p</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53" name="Shape 5"/>
          <p:cNvSpPr/>
          <p:nvPr/>
        </p:nvSpPr>
        <p:spPr>
          <a:xfrm>
            <a:off x="544832" y="3957066"/>
            <a:ext cx="1718785" cy="384048"/>
          </a:xfrm>
          <a:prstGeom prst="roundRect">
            <a:avLst>
              <a:gd name="adj" fmla="val 14286"/>
            </a:avLst>
          </a:prstGeom>
          <a:solidFill>
            <a:srgbClr val="0D1321"/>
          </a:solidFill>
          <a:ln/>
        </p:spPr>
      </p:sp>
      <p:sp>
        <p:nvSpPr>
          <p:cNvPr id="54" name="Text 6"/>
          <p:cNvSpPr txBox="1"/>
          <p:nvPr/>
        </p:nvSpPr>
        <p:spPr>
          <a:xfrm>
            <a:off x="535306" y="3957066"/>
            <a:ext cx="1728311"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top_k</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55" name="Shape 5"/>
          <p:cNvSpPr/>
          <p:nvPr/>
        </p:nvSpPr>
        <p:spPr>
          <a:xfrm>
            <a:off x="551022" y="4645533"/>
            <a:ext cx="1718785" cy="384048"/>
          </a:xfrm>
          <a:prstGeom prst="roundRect">
            <a:avLst>
              <a:gd name="adj" fmla="val 14286"/>
            </a:avLst>
          </a:prstGeom>
          <a:solidFill>
            <a:srgbClr val="0D1321"/>
          </a:solidFill>
          <a:ln/>
        </p:spPr>
      </p:sp>
      <p:sp>
        <p:nvSpPr>
          <p:cNvPr id="56" name="Text 6"/>
          <p:cNvSpPr txBox="1"/>
          <p:nvPr/>
        </p:nvSpPr>
        <p:spPr>
          <a:xfrm>
            <a:off x="541496" y="4645533"/>
            <a:ext cx="1728311"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min_p</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57" name="Shape 5"/>
          <p:cNvSpPr/>
          <p:nvPr/>
        </p:nvSpPr>
        <p:spPr>
          <a:xfrm>
            <a:off x="6245544" y="5876925"/>
            <a:ext cx="1718785" cy="384048"/>
          </a:xfrm>
          <a:prstGeom prst="roundRect">
            <a:avLst>
              <a:gd name="adj" fmla="val 14286"/>
            </a:avLst>
          </a:prstGeom>
          <a:solidFill>
            <a:srgbClr val="0D1321"/>
          </a:solidFill>
          <a:ln/>
        </p:spPr>
      </p:sp>
      <p:sp>
        <p:nvSpPr>
          <p:cNvPr id="58" name="Text 6"/>
          <p:cNvSpPr txBox="1"/>
          <p:nvPr/>
        </p:nvSpPr>
        <p:spPr>
          <a:xfrm>
            <a:off x="6250307" y="5876925"/>
            <a:ext cx="1728311"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num_predict</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59" name="Shape 3"/>
          <p:cNvSpPr/>
          <p:nvPr/>
        </p:nvSpPr>
        <p:spPr>
          <a:xfrm>
            <a:off x="6216015" y="1975485"/>
            <a:ext cx="5694045" cy="457200"/>
          </a:xfrm>
          <a:prstGeom prst="roundRect">
            <a:avLst>
              <a:gd name="adj" fmla="val 12000"/>
            </a:avLst>
          </a:prstGeom>
          <a:solidFill>
            <a:srgbClr val="0D1321"/>
          </a:solidFill>
          <a:ln/>
        </p:spPr>
      </p:sp>
      <p:sp>
        <p:nvSpPr>
          <p:cNvPr id="60" name="Text 4"/>
          <p:cNvSpPr txBox="1"/>
          <p:nvPr/>
        </p:nvSpPr>
        <p:spPr>
          <a:xfrm>
            <a:off x="6307455" y="1975485"/>
            <a:ext cx="1691640" cy="457200"/>
          </a:xfrm>
          <a:prstGeom prst="rect">
            <a:avLst/>
          </a:prstGeom>
          <a:noFill/>
          <a:ln/>
        </p:spPr>
        <p:txBody>
          <a:bodyPr wrap="square" lIns="0" tIns="0" rIns="0" bIns="0" rtlCol="0" anchor="ctr"/>
          <a:lstStyle/>
          <a:p>
            <a:pPr marL="0" indent="0">
              <a:buNone/>
            </a:pPr>
            <a:r>
              <a:rPr lang="en-US" sz="1150" b="1" smtClean="0">
                <a:solidFill>
                  <a:srgbClr val="FFFFFF"/>
                </a:solidFill>
                <a:latin typeface="Arial" pitchFamily="34" charset="0"/>
                <a:ea typeface="Arial" pitchFamily="34" charset="-122"/>
                <a:cs typeface="Arial" pitchFamily="34" charset="-120"/>
              </a:rPr>
              <a:t>Parameter (Wiederholungen)</a:t>
            </a:r>
            <a:endParaRPr lang="en-US" sz="1150" b="1" dirty="0">
              <a:solidFill>
                <a:srgbClr val="FFFFFF"/>
              </a:solidFill>
              <a:latin typeface="Arial" pitchFamily="34" charset="0"/>
              <a:ea typeface="Arial" pitchFamily="34" charset="-122"/>
              <a:cs typeface="Arial" pitchFamily="34" charset="-120"/>
            </a:endParaRPr>
          </a:p>
        </p:txBody>
      </p:sp>
      <p:sp>
        <p:nvSpPr>
          <p:cNvPr id="61" name="Text 5"/>
          <p:cNvSpPr txBox="1"/>
          <p:nvPr/>
        </p:nvSpPr>
        <p:spPr>
          <a:xfrm>
            <a:off x="8433435" y="1975485"/>
            <a:ext cx="731520" cy="457200"/>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Wert</a:t>
            </a:r>
          </a:p>
        </p:txBody>
      </p:sp>
      <p:sp>
        <p:nvSpPr>
          <p:cNvPr id="62" name="Text 6"/>
          <p:cNvSpPr txBox="1"/>
          <p:nvPr/>
        </p:nvSpPr>
        <p:spPr>
          <a:xfrm>
            <a:off x="9559290" y="1975485"/>
            <a:ext cx="908685" cy="457200"/>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Wirkung</a:t>
            </a:r>
          </a:p>
        </p:txBody>
      </p:sp>
      <p:sp>
        <p:nvSpPr>
          <p:cNvPr id="63" name="Shape 7"/>
          <p:cNvSpPr/>
          <p:nvPr/>
        </p:nvSpPr>
        <p:spPr>
          <a:xfrm>
            <a:off x="6221730" y="2432685"/>
            <a:ext cx="5688330" cy="774192"/>
          </a:xfrm>
          <a:prstGeom prst="rect">
            <a:avLst/>
          </a:prstGeom>
          <a:solidFill>
            <a:srgbClr val="F2F5FA"/>
          </a:solidFill>
          <a:ln/>
        </p:spPr>
      </p:sp>
      <p:sp>
        <p:nvSpPr>
          <p:cNvPr id="64" name="Text 9"/>
          <p:cNvSpPr txBox="1"/>
          <p:nvPr/>
        </p:nvSpPr>
        <p:spPr>
          <a:xfrm>
            <a:off x="8423910" y="2508885"/>
            <a:ext cx="701040" cy="621792"/>
          </a:xfrm>
          <a:prstGeom prst="rect">
            <a:avLst/>
          </a:prstGeom>
          <a:noFill/>
          <a:ln/>
        </p:spPr>
        <p:txBody>
          <a:bodyPr wrap="square" lIns="0" tIns="0" rIns="0" bIns="0" rtlCol="0" anchor="ctr"/>
          <a:lstStyle/>
          <a:p>
            <a:pPr marL="0" indent="0">
              <a:buNone/>
            </a:pPr>
            <a:r>
              <a:rPr lang="en-US" sz="1250" smtClean="0">
                <a:solidFill>
                  <a:srgbClr val="12172B"/>
                </a:solidFill>
                <a:latin typeface="Courier New" pitchFamily="34" charset="0"/>
                <a:ea typeface="Courier New" pitchFamily="34" charset="-122"/>
                <a:cs typeface="Courier New" pitchFamily="34" charset="-120"/>
              </a:rPr>
              <a:t>0.4</a:t>
            </a:r>
            <a:endParaRPr lang="en-US" sz="1250" dirty="0">
              <a:solidFill>
                <a:srgbClr val="12172B"/>
              </a:solidFill>
              <a:latin typeface="Courier New" pitchFamily="34" charset="0"/>
              <a:ea typeface="Courier New" pitchFamily="34" charset="-122"/>
              <a:cs typeface="Courier New" pitchFamily="34" charset="-120"/>
            </a:endParaRPr>
          </a:p>
        </p:txBody>
      </p:sp>
      <p:sp>
        <p:nvSpPr>
          <p:cNvPr id="65" name="Text 10"/>
          <p:cNvSpPr txBox="1"/>
          <p:nvPr/>
        </p:nvSpPr>
        <p:spPr>
          <a:xfrm>
            <a:off x="9102090" y="2499360"/>
            <a:ext cx="2629662" cy="621792"/>
          </a:xfrm>
          <a:prstGeom prst="rect">
            <a:avLst/>
          </a:prstGeom>
          <a:noFill/>
          <a:ln/>
        </p:spPr>
        <p:txBody>
          <a:bodyPr wrap="square" lIns="0" tIns="0" rIns="0" bIns="0" rtlCol="0" anchor="ctr"/>
          <a:lstStyle/>
          <a:p>
            <a:pPr marL="0" indent="0">
              <a:buNone/>
            </a:pPr>
            <a:r>
              <a:rPr lang="en-US" sz="1200" b="1" smtClean="0">
                <a:solidFill>
                  <a:srgbClr val="0D1321"/>
                </a:solidFill>
                <a:latin typeface="Calibri" pitchFamily="34" charset="0"/>
                <a:ea typeface="Calibri" pitchFamily="34" charset="-122"/>
                <a:cs typeface="Calibri" pitchFamily="34" charset="-120"/>
              </a:rPr>
              <a:t>Themen-Wechsel</a:t>
            </a:r>
          </a:p>
          <a:p>
            <a:pPr marL="0" indent="0">
              <a:buNone/>
            </a:pPr>
            <a:r>
              <a:rPr lang="en-US" sz="1200" smtClean="0">
                <a:solidFill>
                  <a:srgbClr val="0D1321"/>
                </a:solidFill>
                <a:latin typeface="Calibri" pitchFamily="34" charset="0"/>
                <a:ea typeface="Calibri" pitchFamily="34" charset="-122"/>
                <a:cs typeface="Calibri" pitchFamily="34" charset="-120"/>
              </a:rPr>
              <a:t>Zwingt die KI, neue Begriffe und Konzepte einzubringen, statt auf alten Phrasen herumzureiten.</a:t>
            </a:r>
            <a:endParaRPr lang="en-US" sz="1200" dirty="0">
              <a:solidFill>
                <a:srgbClr val="0D1321"/>
              </a:solidFill>
              <a:latin typeface="Calibri" pitchFamily="34" charset="0"/>
              <a:ea typeface="Calibri" pitchFamily="34" charset="-122"/>
              <a:cs typeface="Calibri" pitchFamily="34" charset="-120"/>
            </a:endParaRPr>
          </a:p>
        </p:txBody>
      </p:sp>
      <p:sp>
        <p:nvSpPr>
          <p:cNvPr id="66" name="Text 13"/>
          <p:cNvSpPr txBox="1"/>
          <p:nvPr/>
        </p:nvSpPr>
        <p:spPr>
          <a:xfrm>
            <a:off x="8423910" y="3216402"/>
            <a:ext cx="701040" cy="621792"/>
          </a:xfrm>
          <a:prstGeom prst="rect">
            <a:avLst/>
          </a:prstGeom>
          <a:noFill/>
          <a:ln/>
        </p:spPr>
        <p:txBody>
          <a:bodyPr wrap="square" lIns="0" tIns="0" rIns="0" bIns="0" rtlCol="0" anchor="ctr"/>
          <a:lstStyle/>
          <a:p>
            <a:pPr marL="0" indent="0">
              <a:buNone/>
            </a:pPr>
            <a:r>
              <a:rPr lang="en-US" sz="1250" smtClean="0">
                <a:solidFill>
                  <a:srgbClr val="12172B"/>
                </a:solidFill>
                <a:latin typeface="Courier New" pitchFamily="34" charset="0"/>
                <a:ea typeface="Courier New" pitchFamily="34" charset="-122"/>
                <a:cs typeface="Courier New" pitchFamily="34" charset="-120"/>
              </a:rPr>
              <a:t>1.05</a:t>
            </a:r>
            <a:endParaRPr lang="en-US" sz="1250" dirty="0">
              <a:solidFill>
                <a:srgbClr val="12172B"/>
              </a:solidFill>
              <a:latin typeface="Courier New" pitchFamily="34" charset="0"/>
              <a:ea typeface="Courier New" pitchFamily="34" charset="-122"/>
              <a:cs typeface="Courier New" pitchFamily="34" charset="-120"/>
            </a:endParaRPr>
          </a:p>
        </p:txBody>
      </p:sp>
      <p:sp>
        <p:nvSpPr>
          <p:cNvPr id="67" name="Text 14"/>
          <p:cNvSpPr txBox="1"/>
          <p:nvPr/>
        </p:nvSpPr>
        <p:spPr>
          <a:xfrm>
            <a:off x="9124950" y="3206496"/>
            <a:ext cx="2785110" cy="621792"/>
          </a:xfrm>
          <a:prstGeom prst="rect">
            <a:avLst/>
          </a:prstGeom>
          <a:noFill/>
          <a:ln/>
        </p:spPr>
        <p:txBody>
          <a:bodyPr wrap="square" lIns="0" tIns="0" rIns="0" bIns="0" rtlCol="0" anchor="ctr"/>
          <a:lstStyle/>
          <a:p>
            <a:pPr marL="0" indent="0">
              <a:buNone/>
            </a:pPr>
            <a:r>
              <a:rPr lang="en-US" sz="1200" b="1" smtClean="0">
                <a:latin typeface="Calibri" pitchFamily="34" charset="0"/>
                <a:ea typeface="Calibri" pitchFamily="34" charset="-122"/>
                <a:cs typeface="Calibri" pitchFamily="34" charset="-120"/>
              </a:rPr>
              <a:t>Wort-Sperre</a:t>
            </a:r>
          </a:p>
          <a:p>
            <a:pPr marL="0" indent="0">
              <a:buNone/>
            </a:pPr>
            <a:r>
              <a:rPr lang="en-US" sz="1200" smtClean="0">
                <a:latin typeface="Calibri" pitchFamily="34" charset="0"/>
                <a:ea typeface="Calibri" pitchFamily="34" charset="-122"/>
                <a:cs typeface="Calibri" pitchFamily="34" charset="-120"/>
              </a:rPr>
              <a:t>Bestraft direkte Wort- und Phrasenwiederholungen im generierten Text</a:t>
            </a:r>
            <a:endParaRPr lang="en-US" sz="1200" dirty="0">
              <a:latin typeface="Calibri" pitchFamily="34" charset="0"/>
              <a:ea typeface="Calibri" pitchFamily="34" charset="-122"/>
              <a:cs typeface="Calibri" pitchFamily="34" charset="-120"/>
            </a:endParaRPr>
          </a:p>
        </p:txBody>
      </p:sp>
      <p:sp>
        <p:nvSpPr>
          <p:cNvPr id="68" name="Shape 16"/>
          <p:cNvSpPr/>
          <p:nvPr/>
        </p:nvSpPr>
        <p:spPr>
          <a:xfrm>
            <a:off x="6216015" y="3838193"/>
            <a:ext cx="5694045" cy="807339"/>
          </a:xfrm>
          <a:prstGeom prst="rect">
            <a:avLst/>
          </a:prstGeom>
          <a:solidFill>
            <a:srgbClr val="F2F5FA"/>
          </a:solidFill>
          <a:ln/>
        </p:spPr>
      </p:sp>
      <p:sp>
        <p:nvSpPr>
          <p:cNvPr id="69" name="Text 18"/>
          <p:cNvSpPr txBox="1"/>
          <p:nvPr/>
        </p:nvSpPr>
        <p:spPr>
          <a:xfrm>
            <a:off x="8519160" y="3914394"/>
            <a:ext cx="605790" cy="621792"/>
          </a:xfrm>
          <a:prstGeom prst="rect">
            <a:avLst/>
          </a:prstGeom>
          <a:noFill/>
          <a:ln/>
        </p:spPr>
        <p:txBody>
          <a:bodyPr wrap="square" lIns="0" tIns="0" rIns="0" bIns="0" rtlCol="0" anchor="ctr"/>
          <a:lstStyle/>
          <a:p>
            <a:pPr marL="0" indent="0">
              <a:buNone/>
            </a:pPr>
            <a:r>
              <a:rPr lang="en-US" sz="1250" smtClean="0">
                <a:solidFill>
                  <a:srgbClr val="12172B"/>
                </a:solidFill>
                <a:latin typeface="Courier New" pitchFamily="34" charset="0"/>
                <a:ea typeface="Courier New" pitchFamily="34" charset="-122"/>
                <a:cs typeface="Courier New" pitchFamily="34" charset="-120"/>
              </a:rPr>
              <a:t>64</a:t>
            </a:r>
            <a:endParaRPr lang="en-US" sz="1250" dirty="0">
              <a:solidFill>
                <a:srgbClr val="12172B"/>
              </a:solidFill>
              <a:latin typeface="Courier New" pitchFamily="34" charset="0"/>
              <a:ea typeface="Courier New" pitchFamily="34" charset="-122"/>
              <a:cs typeface="Courier New" pitchFamily="34" charset="-120"/>
            </a:endParaRPr>
          </a:p>
        </p:txBody>
      </p:sp>
      <p:sp>
        <p:nvSpPr>
          <p:cNvPr id="70" name="Text 19"/>
          <p:cNvSpPr txBox="1"/>
          <p:nvPr/>
        </p:nvSpPr>
        <p:spPr>
          <a:xfrm>
            <a:off x="9124950" y="3914394"/>
            <a:ext cx="2785110" cy="621792"/>
          </a:xfrm>
          <a:prstGeom prst="rect">
            <a:avLst/>
          </a:prstGeom>
          <a:noFill/>
          <a:ln/>
        </p:spPr>
        <p:txBody>
          <a:bodyPr wrap="square" lIns="0" tIns="0" rIns="0" bIns="0" rtlCol="0" anchor="ctr"/>
          <a:lstStyle/>
          <a:p>
            <a:pPr marL="0" indent="0">
              <a:buNone/>
            </a:pPr>
            <a:r>
              <a:rPr lang="en-US" sz="1200" b="1" smtClean="0">
                <a:solidFill>
                  <a:srgbClr val="0D1321"/>
                </a:solidFill>
                <a:latin typeface="Calibri" pitchFamily="34" charset="0"/>
                <a:ea typeface="Calibri" pitchFamily="34" charset="-122"/>
                <a:cs typeface="Calibri" pitchFamily="34" charset="-120"/>
              </a:rPr>
              <a:t>Kurzzeitgedächnis</a:t>
            </a:r>
          </a:p>
          <a:p>
            <a:pPr marL="0" indent="0">
              <a:buNone/>
            </a:pPr>
            <a:r>
              <a:rPr lang="en-US" sz="1200" smtClean="0">
                <a:solidFill>
                  <a:srgbClr val="0D1321"/>
                </a:solidFill>
                <a:latin typeface="Calibri" pitchFamily="34" charset="0"/>
                <a:ea typeface="Calibri" pitchFamily="34" charset="-122"/>
                <a:cs typeface="Calibri" pitchFamily="34" charset="-120"/>
              </a:rPr>
              <a:t>Legt fest, wie viele Wörter (Tokens) die KI rückwirkend im Blick behält, um Wiederholungen zu prüfen.</a:t>
            </a:r>
            <a:endParaRPr lang="en-US" sz="1200" dirty="0">
              <a:solidFill>
                <a:srgbClr val="0D1321"/>
              </a:solidFill>
              <a:latin typeface="Calibri" pitchFamily="34" charset="0"/>
              <a:ea typeface="Calibri" pitchFamily="34" charset="-122"/>
              <a:cs typeface="Calibri" pitchFamily="34" charset="-120"/>
            </a:endParaRPr>
          </a:p>
        </p:txBody>
      </p:sp>
      <p:sp>
        <p:nvSpPr>
          <p:cNvPr id="73" name="Shape 16"/>
          <p:cNvSpPr/>
          <p:nvPr/>
        </p:nvSpPr>
        <p:spPr>
          <a:xfrm>
            <a:off x="6216015" y="4710303"/>
            <a:ext cx="5694045" cy="864870"/>
          </a:xfrm>
          <a:prstGeom prst="rect">
            <a:avLst/>
          </a:prstGeom>
          <a:solidFill>
            <a:srgbClr val="F2F5FA"/>
          </a:solidFill>
          <a:ln/>
        </p:spPr>
      </p:sp>
      <p:sp>
        <p:nvSpPr>
          <p:cNvPr id="75" name="Text 19"/>
          <p:cNvSpPr txBox="1"/>
          <p:nvPr/>
        </p:nvSpPr>
        <p:spPr>
          <a:xfrm>
            <a:off x="6419850" y="4698873"/>
            <a:ext cx="5137784" cy="876300"/>
          </a:xfrm>
          <a:prstGeom prst="rect">
            <a:avLst/>
          </a:prstGeom>
          <a:noFill/>
          <a:ln/>
        </p:spPr>
        <p:txBody>
          <a:bodyPr wrap="square" lIns="0" tIns="0" rIns="0" bIns="0" rtlCol="0" anchor="ctr"/>
          <a:lstStyle/>
          <a:p>
            <a:r>
              <a:rPr lang="de-DE" sz="1200" b="1"/>
              <a:t>Das Zusammenspiel:</a:t>
            </a:r>
            <a:r>
              <a:rPr lang="de-DE" sz="1200"/>
              <a:t/>
            </a:r>
            <a:br>
              <a:rPr lang="de-DE" sz="1200"/>
            </a:br>
            <a:r>
              <a:rPr lang="de-DE" sz="1200"/>
              <a:t>Größeres Gedächtnis (repeat_last_n) + stärkere Strafe (repeat_penalty) = maximaler Schutz vor Wiederholungen.</a:t>
            </a:r>
            <a:endParaRPr lang="en-US" sz="1200" dirty="0">
              <a:solidFill>
                <a:schemeClr val="tx1">
                  <a:lumMod val="95000"/>
                  <a:lumOff val="5000"/>
                </a:schemeClr>
              </a:solidFill>
              <a:latin typeface="Calibri" pitchFamily="34" charset="0"/>
              <a:ea typeface="Calibri" pitchFamily="34" charset="-122"/>
              <a:cs typeface="Calibri" pitchFamily="34" charset="-120"/>
            </a:endParaRPr>
          </a:p>
        </p:txBody>
      </p:sp>
      <p:sp>
        <p:nvSpPr>
          <p:cNvPr id="76" name="Shape 5"/>
          <p:cNvSpPr/>
          <p:nvPr/>
        </p:nvSpPr>
        <p:spPr>
          <a:xfrm>
            <a:off x="6232685" y="2627757"/>
            <a:ext cx="1718785" cy="384048"/>
          </a:xfrm>
          <a:prstGeom prst="roundRect">
            <a:avLst>
              <a:gd name="adj" fmla="val 14286"/>
            </a:avLst>
          </a:prstGeom>
          <a:solidFill>
            <a:srgbClr val="0D1321"/>
          </a:solidFill>
          <a:ln/>
        </p:spPr>
      </p:sp>
      <p:sp>
        <p:nvSpPr>
          <p:cNvPr id="77" name="Text 6"/>
          <p:cNvSpPr txBox="1"/>
          <p:nvPr/>
        </p:nvSpPr>
        <p:spPr>
          <a:xfrm>
            <a:off x="6223159" y="2627757"/>
            <a:ext cx="1728311"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presence_penalty</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78" name="Shape 5"/>
          <p:cNvSpPr/>
          <p:nvPr/>
        </p:nvSpPr>
        <p:spPr>
          <a:xfrm>
            <a:off x="6231256" y="3335274"/>
            <a:ext cx="1718785" cy="384048"/>
          </a:xfrm>
          <a:prstGeom prst="roundRect">
            <a:avLst>
              <a:gd name="adj" fmla="val 14286"/>
            </a:avLst>
          </a:prstGeom>
          <a:solidFill>
            <a:srgbClr val="0D1321"/>
          </a:solidFill>
          <a:ln/>
        </p:spPr>
      </p:sp>
      <p:sp>
        <p:nvSpPr>
          <p:cNvPr id="79" name="Text 6"/>
          <p:cNvSpPr txBox="1"/>
          <p:nvPr/>
        </p:nvSpPr>
        <p:spPr>
          <a:xfrm>
            <a:off x="6221730" y="3335274"/>
            <a:ext cx="1728311"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repeat_penalty</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80" name="Shape 5"/>
          <p:cNvSpPr/>
          <p:nvPr/>
        </p:nvSpPr>
        <p:spPr>
          <a:xfrm>
            <a:off x="6212207" y="4033266"/>
            <a:ext cx="1718785" cy="384048"/>
          </a:xfrm>
          <a:prstGeom prst="roundRect">
            <a:avLst>
              <a:gd name="adj" fmla="val 14286"/>
            </a:avLst>
          </a:prstGeom>
          <a:solidFill>
            <a:srgbClr val="0D1321"/>
          </a:solidFill>
          <a:ln/>
        </p:spPr>
      </p:sp>
      <p:sp>
        <p:nvSpPr>
          <p:cNvPr id="81" name="Text 6"/>
          <p:cNvSpPr txBox="1"/>
          <p:nvPr/>
        </p:nvSpPr>
        <p:spPr>
          <a:xfrm>
            <a:off x="6202681" y="4033266"/>
            <a:ext cx="1728311"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repeat_last_n</a:t>
            </a:r>
            <a:endParaRPr lang="en-US" sz="1200" b="1" dirty="0">
              <a:solidFill>
                <a:srgbClr val="00D9C0"/>
              </a:solidFill>
              <a:latin typeface="Courier New" pitchFamily="34" charset="0"/>
              <a:ea typeface="Courier New" pitchFamily="34" charset="-122"/>
              <a:cs typeface="Courier New" pitchFamily="34" charset="-12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r>
              <a:rPr lang="en-US" sz="1300" b="1" kern="0" spc="200">
                <a:solidFill>
                  <a:srgbClr val="00D9C0"/>
                </a:solidFill>
                <a:latin typeface="Calibri" pitchFamily="34" charset="0"/>
                <a:ea typeface="Calibri" pitchFamily="34" charset="-122"/>
                <a:cs typeface="Calibri" pitchFamily="34" charset="-120"/>
              </a:rPr>
              <a:t>BLOCK 3 OPTIMIERUNG</a:t>
            </a:r>
            <a:endParaRPr lang="en-US" sz="1300" dirty="0"/>
          </a:p>
        </p:txBody>
      </p:sp>
      <p:sp>
        <p:nvSpPr>
          <p:cNvPr id="3" name="Text 1"/>
          <p:cNvSpPr txBox="1"/>
          <p:nvPr/>
        </p:nvSpPr>
        <p:spPr>
          <a:xfrm>
            <a:off x="548639" y="685800"/>
            <a:ext cx="11519535"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Modelfile</a:t>
            </a:r>
            <a:r>
              <a:rPr lang="en-US" sz="3000" b="1">
                <a:solidFill>
                  <a:srgbClr val="12172B"/>
                </a:solidFill>
                <a:latin typeface="Arial" pitchFamily="34" charset="0"/>
                <a:ea typeface="Arial" pitchFamily="34" charset="-122"/>
                <a:cs typeface="Arial" pitchFamily="34" charset="-120"/>
              </a:rPr>
              <a:t>: </a:t>
            </a:r>
            <a:r>
              <a:rPr lang="en-US" sz="3000" b="1" smtClean="0">
                <a:solidFill>
                  <a:srgbClr val="12172B"/>
                </a:solidFill>
                <a:latin typeface="Arial" pitchFamily="34" charset="0"/>
                <a:ea typeface="Arial" pitchFamily="34" charset="-122"/>
                <a:cs typeface="Arial" pitchFamily="34" charset="-120"/>
              </a:rPr>
              <a:t>Hardware &amp; Speicher im Detail</a:t>
            </a:r>
            <a:endParaRPr lang="en-US" sz="3000" b="1" dirty="0">
              <a:solidFill>
                <a:srgbClr val="12172B"/>
              </a:solidFill>
              <a:latin typeface="Arial" pitchFamily="34" charset="0"/>
              <a:ea typeface="Arial" pitchFamily="34" charset="-122"/>
              <a:cs typeface="Arial" pitchFamily="34" charset="-120"/>
            </a:endParaRPr>
          </a:p>
        </p:txBody>
      </p:sp>
      <p:sp>
        <p:nvSpPr>
          <p:cNvPr id="4" name="Text 2"/>
          <p:cNvSpPr txBox="1"/>
          <p:nvPr/>
        </p:nvSpPr>
        <p:spPr>
          <a:xfrm>
            <a:off x="548640" y="1371600"/>
            <a:ext cx="10789920" cy="457200"/>
          </a:xfrm>
          <a:prstGeom prst="rect">
            <a:avLst/>
          </a:prstGeom>
          <a:noFill/>
          <a:ln/>
        </p:spPr>
        <p:txBody>
          <a:bodyPr wrap="square" lIns="0" tIns="0" rIns="0" bIns="0" rtlCol="0" anchor="ctr"/>
          <a:lstStyle/>
          <a:p>
            <a:r>
              <a:rPr lang="en-US" sz="1400">
                <a:solidFill>
                  <a:srgbClr val="5B6478"/>
                </a:solidFill>
                <a:latin typeface="Calibri" pitchFamily="34" charset="0"/>
                <a:ea typeface="Calibri" pitchFamily="34" charset="-122"/>
                <a:cs typeface="Calibri" pitchFamily="34" charset="-120"/>
              </a:rPr>
              <a:t>Diese Parameter bestimmen den Arbeitsspeicher-Hebel und die Hardware-Zuteilung zwischen CPU und iGPU</a:t>
            </a:r>
            <a:r>
              <a:rPr lang="en-US" sz="1400" smtClean="0">
                <a:solidFill>
                  <a:srgbClr val="5B6478"/>
                </a:solidFill>
                <a:latin typeface="Calibri" pitchFamily="34" charset="0"/>
                <a:ea typeface="Calibri" pitchFamily="34" charset="-122"/>
                <a:cs typeface="Calibri" pitchFamily="34" charset="-120"/>
              </a:rPr>
              <a:t>.</a:t>
            </a:r>
            <a:endParaRPr lang="en-US" sz="1400">
              <a:solidFill>
                <a:srgbClr val="5B6478"/>
              </a:solidFill>
              <a:latin typeface="Calibri" pitchFamily="34" charset="0"/>
              <a:ea typeface="Calibri" pitchFamily="34" charset="-122"/>
              <a:cs typeface="Calibri" pitchFamily="34" charset="-120"/>
            </a:endParaRPr>
          </a:p>
        </p:txBody>
      </p:sp>
      <p:sp>
        <p:nvSpPr>
          <p:cNvPr id="5" name="Shape 3"/>
          <p:cNvSpPr/>
          <p:nvPr/>
        </p:nvSpPr>
        <p:spPr>
          <a:xfrm>
            <a:off x="548640" y="1965960"/>
            <a:ext cx="5518785" cy="457200"/>
          </a:xfrm>
          <a:prstGeom prst="roundRect">
            <a:avLst>
              <a:gd name="adj" fmla="val 12000"/>
            </a:avLst>
          </a:prstGeom>
          <a:solidFill>
            <a:srgbClr val="0D1321"/>
          </a:solidFill>
          <a:ln/>
        </p:spPr>
      </p:sp>
      <p:sp>
        <p:nvSpPr>
          <p:cNvPr id="6" name="Text 4"/>
          <p:cNvSpPr txBox="1"/>
          <p:nvPr/>
        </p:nvSpPr>
        <p:spPr>
          <a:xfrm>
            <a:off x="640080" y="1965960"/>
            <a:ext cx="1691640" cy="457200"/>
          </a:xfrm>
          <a:prstGeom prst="rect">
            <a:avLst/>
          </a:prstGeom>
          <a:noFill/>
          <a:ln/>
        </p:spPr>
        <p:txBody>
          <a:bodyPr wrap="square" lIns="0" tIns="0" rIns="0" bIns="0" rtlCol="0" anchor="ctr"/>
          <a:lstStyle/>
          <a:p>
            <a:pPr marL="0" indent="0">
              <a:buNone/>
            </a:pPr>
            <a:r>
              <a:rPr lang="en-US" sz="1150" b="1" smtClean="0">
                <a:solidFill>
                  <a:srgbClr val="FFFFFF"/>
                </a:solidFill>
                <a:latin typeface="Arial" pitchFamily="34" charset="0"/>
                <a:ea typeface="Arial" pitchFamily="34" charset="-122"/>
                <a:cs typeface="Arial" pitchFamily="34" charset="-120"/>
              </a:rPr>
              <a:t>Parameter (Kontext &amp; GPU´-Zuteilung)</a:t>
            </a:r>
            <a:endParaRPr lang="en-US" sz="1150" b="1" dirty="0">
              <a:solidFill>
                <a:srgbClr val="FFFFFF"/>
              </a:solidFill>
              <a:latin typeface="Arial" pitchFamily="34" charset="0"/>
              <a:ea typeface="Arial" pitchFamily="34" charset="-122"/>
              <a:cs typeface="Arial" pitchFamily="34" charset="-120"/>
            </a:endParaRPr>
          </a:p>
        </p:txBody>
      </p:sp>
      <p:sp>
        <p:nvSpPr>
          <p:cNvPr id="7" name="Text 5"/>
          <p:cNvSpPr txBox="1"/>
          <p:nvPr/>
        </p:nvSpPr>
        <p:spPr>
          <a:xfrm>
            <a:off x="2594610" y="1965960"/>
            <a:ext cx="731520" cy="457200"/>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Wert</a:t>
            </a:r>
          </a:p>
        </p:txBody>
      </p:sp>
      <p:sp>
        <p:nvSpPr>
          <p:cNvPr id="8" name="Text 6"/>
          <p:cNvSpPr txBox="1"/>
          <p:nvPr/>
        </p:nvSpPr>
        <p:spPr>
          <a:xfrm>
            <a:off x="3891915" y="1965960"/>
            <a:ext cx="908685" cy="457200"/>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Wirkung</a:t>
            </a:r>
          </a:p>
        </p:txBody>
      </p:sp>
      <p:sp>
        <p:nvSpPr>
          <p:cNvPr id="9" name="Shape 7"/>
          <p:cNvSpPr/>
          <p:nvPr/>
        </p:nvSpPr>
        <p:spPr>
          <a:xfrm>
            <a:off x="554355" y="2423160"/>
            <a:ext cx="5513070" cy="797814"/>
          </a:xfrm>
          <a:prstGeom prst="rect">
            <a:avLst/>
          </a:prstGeom>
          <a:solidFill>
            <a:srgbClr val="F2F5FA"/>
          </a:solidFill>
          <a:ln/>
        </p:spPr>
      </p:sp>
      <p:sp>
        <p:nvSpPr>
          <p:cNvPr id="11" name="Text 9"/>
          <p:cNvSpPr txBox="1"/>
          <p:nvPr/>
        </p:nvSpPr>
        <p:spPr>
          <a:xfrm>
            <a:off x="2613660" y="2508885"/>
            <a:ext cx="701040" cy="621792"/>
          </a:xfrm>
          <a:prstGeom prst="rect">
            <a:avLst/>
          </a:prstGeom>
          <a:noFill/>
          <a:ln/>
        </p:spPr>
        <p:txBody>
          <a:bodyPr wrap="square" lIns="0" tIns="0" rIns="0" bIns="0" rtlCol="0" anchor="ctr"/>
          <a:lstStyle/>
          <a:p>
            <a:pPr marL="0" indent="0">
              <a:buNone/>
            </a:pPr>
            <a:r>
              <a:rPr lang="en-US" sz="1250" smtClean="0">
                <a:solidFill>
                  <a:srgbClr val="12172B"/>
                </a:solidFill>
                <a:latin typeface="Courier New" pitchFamily="34" charset="0"/>
                <a:ea typeface="Courier New" pitchFamily="34" charset="-122"/>
                <a:cs typeface="Courier New" pitchFamily="34" charset="-120"/>
              </a:rPr>
              <a:t>8192</a:t>
            </a:r>
            <a:endParaRPr lang="en-US" sz="1250" dirty="0">
              <a:solidFill>
                <a:srgbClr val="12172B"/>
              </a:solidFill>
              <a:latin typeface="Courier New" pitchFamily="34" charset="0"/>
              <a:ea typeface="Courier New" pitchFamily="34" charset="-122"/>
              <a:cs typeface="Courier New" pitchFamily="34" charset="-120"/>
            </a:endParaRPr>
          </a:p>
        </p:txBody>
      </p:sp>
      <p:sp>
        <p:nvSpPr>
          <p:cNvPr id="12" name="Text 10"/>
          <p:cNvSpPr txBox="1"/>
          <p:nvPr/>
        </p:nvSpPr>
        <p:spPr>
          <a:xfrm>
            <a:off x="3355655" y="2514981"/>
            <a:ext cx="2727961" cy="621792"/>
          </a:xfrm>
          <a:prstGeom prst="rect">
            <a:avLst/>
          </a:prstGeom>
          <a:noFill/>
          <a:ln/>
        </p:spPr>
        <p:txBody>
          <a:bodyPr wrap="square" lIns="0" tIns="0" rIns="0" bIns="0" rtlCol="0" anchor="ctr"/>
          <a:lstStyle/>
          <a:p>
            <a:r>
              <a:rPr lang="de-DE" sz="1200" smtClean="0"/>
              <a:t>Setzt die Größe des Kontextfensters </a:t>
            </a:r>
            <a:endParaRPr lang="en-US" sz="1200" dirty="0">
              <a:solidFill>
                <a:srgbClr val="0D1321"/>
              </a:solidFill>
              <a:latin typeface="Calibri" pitchFamily="34" charset="0"/>
              <a:ea typeface="Calibri" pitchFamily="34" charset="-122"/>
              <a:cs typeface="Calibri" pitchFamily="34" charset="-120"/>
            </a:endParaRPr>
          </a:p>
        </p:txBody>
      </p:sp>
      <p:sp>
        <p:nvSpPr>
          <p:cNvPr id="15" name="Text 13"/>
          <p:cNvSpPr txBox="1"/>
          <p:nvPr/>
        </p:nvSpPr>
        <p:spPr>
          <a:xfrm>
            <a:off x="2623185" y="3206877"/>
            <a:ext cx="701040" cy="621792"/>
          </a:xfrm>
          <a:prstGeom prst="rect">
            <a:avLst/>
          </a:prstGeom>
          <a:noFill/>
          <a:ln/>
        </p:spPr>
        <p:txBody>
          <a:bodyPr wrap="square" lIns="0" tIns="0" rIns="0" bIns="0" rtlCol="0" anchor="ctr"/>
          <a:lstStyle/>
          <a:p>
            <a:pPr marL="0" indent="0">
              <a:buNone/>
            </a:pPr>
            <a:r>
              <a:rPr lang="en-US" sz="1250" smtClean="0">
                <a:solidFill>
                  <a:srgbClr val="12172B"/>
                </a:solidFill>
                <a:latin typeface="Courier New" pitchFamily="34" charset="0"/>
                <a:ea typeface="Courier New" pitchFamily="34" charset="-122"/>
                <a:cs typeface="Courier New" pitchFamily="34" charset="-120"/>
              </a:rPr>
              <a:t>-1</a:t>
            </a:r>
            <a:endParaRPr lang="en-US" sz="1250" dirty="0">
              <a:solidFill>
                <a:srgbClr val="12172B"/>
              </a:solidFill>
              <a:latin typeface="Courier New" pitchFamily="34" charset="0"/>
              <a:ea typeface="Courier New" pitchFamily="34" charset="-122"/>
              <a:cs typeface="Courier New" pitchFamily="34" charset="-120"/>
            </a:endParaRPr>
          </a:p>
        </p:txBody>
      </p:sp>
      <p:sp>
        <p:nvSpPr>
          <p:cNvPr id="16" name="Text 14"/>
          <p:cNvSpPr txBox="1"/>
          <p:nvPr/>
        </p:nvSpPr>
        <p:spPr>
          <a:xfrm>
            <a:off x="3371849" y="3225546"/>
            <a:ext cx="2695575" cy="621792"/>
          </a:xfrm>
          <a:prstGeom prst="rect">
            <a:avLst/>
          </a:prstGeom>
          <a:noFill/>
          <a:ln/>
        </p:spPr>
        <p:txBody>
          <a:bodyPr wrap="square" lIns="0" tIns="0" rIns="0" bIns="0" rtlCol="0" anchor="ctr"/>
          <a:lstStyle/>
          <a:p>
            <a:pPr marL="0" indent="0">
              <a:buNone/>
            </a:pPr>
            <a:r>
              <a:rPr lang="en-US" sz="1200" smtClean="0">
                <a:latin typeface="Calibri" pitchFamily="34" charset="0"/>
                <a:ea typeface="Calibri" pitchFamily="34" charset="-122"/>
                <a:cs typeface="Calibri" pitchFamily="34" charset="-120"/>
              </a:rPr>
              <a:t>-1 verschiebt Schichten dynamisch auf die GPU (Auto-Erkennung), 0 = reine CPU, +1 = feste GPU-Schichten</a:t>
            </a:r>
            <a:endParaRPr lang="en-US" sz="1200" dirty="0">
              <a:latin typeface="Calibri" pitchFamily="34" charset="0"/>
              <a:ea typeface="Calibri" pitchFamily="34" charset="-122"/>
              <a:cs typeface="Calibri" pitchFamily="34" charset="-120"/>
            </a:endParaRPr>
          </a:p>
        </p:txBody>
      </p:sp>
      <p:sp>
        <p:nvSpPr>
          <p:cNvPr id="41" name="Text 39"/>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42" name="Text 40"/>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5B6478"/>
                </a:solidFill>
                <a:latin typeface="Calibri" pitchFamily="34" charset="0"/>
                <a:ea typeface="Calibri" pitchFamily="34" charset="-122"/>
                <a:cs typeface="Calibri" pitchFamily="34" charset="-120"/>
              </a:rPr>
              <a:t>27</a:t>
            </a:r>
            <a:endParaRPr lang="en-US" sz="900" dirty="0"/>
          </a:p>
        </p:txBody>
      </p:sp>
      <p:sp>
        <p:nvSpPr>
          <p:cNvPr id="49" name="Shape 5"/>
          <p:cNvSpPr/>
          <p:nvPr/>
        </p:nvSpPr>
        <p:spPr>
          <a:xfrm>
            <a:off x="565310" y="2608707"/>
            <a:ext cx="1718785" cy="384048"/>
          </a:xfrm>
          <a:prstGeom prst="roundRect">
            <a:avLst>
              <a:gd name="adj" fmla="val 14286"/>
            </a:avLst>
          </a:prstGeom>
          <a:solidFill>
            <a:srgbClr val="0D1321"/>
          </a:solidFill>
          <a:ln/>
        </p:spPr>
      </p:sp>
      <p:sp>
        <p:nvSpPr>
          <p:cNvPr id="50" name="Text 6"/>
          <p:cNvSpPr txBox="1"/>
          <p:nvPr/>
        </p:nvSpPr>
        <p:spPr>
          <a:xfrm>
            <a:off x="555784" y="2608707"/>
            <a:ext cx="1728311"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num_ctx</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51" name="Shape 5"/>
          <p:cNvSpPr/>
          <p:nvPr/>
        </p:nvSpPr>
        <p:spPr>
          <a:xfrm>
            <a:off x="563881" y="3325749"/>
            <a:ext cx="1718785" cy="384048"/>
          </a:xfrm>
          <a:prstGeom prst="roundRect">
            <a:avLst>
              <a:gd name="adj" fmla="val 14286"/>
            </a:avLst>
          </a:prstGeom>
          <a:solidFill>
            <a:srgbClr val="0D1321"/>
          </a:solidFill>
          <a:ln/>
        </p:spPr>
      </p:sp>
      <p:sp>
        <p:nvSpPr>
          <p:cNvPr id="52" name="Text 6"/>
          <p:cNvSpPr txBox="1"/>
          <p:nvPr/>
        </p:nvSpPr>
        <p:spPr>
          <a:xfrm>
            <a:off x="554355" y="3325749"/>
            <a:ext cx="1728311"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num_gpu</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59" name="Shape 3"/>
          <p:cNvSpPr/>
          <p:nvPr/>
        </p:nvSpPr>
        <p:spPr>
          <a:xfrm>
            <a:off x="6216015" y="1975485"/>
            <a:ext cx="5694045" cy="457200"/>
          </a:xfrm>
          <a:prstGeom prst="roundRect">
            <a:avLst>
              <a:gd name="adj" fmla="val 12000"/>
            </a:avLst>
          </a:prstGeom>
          <a:solidFill>
            <a:srgbClr val="0D1321"/>
          </a:solidFill>
          <a:ln/>
        </p:spPr>
      </p:sp>
      <p:sp>
        <p:nvSpPr>
          <p:cNvPr id="60" name="Text 4"/>
          <p:cNvSpPr txBox="1"/>
          <p:nvPr/>
        </p:nvSpPr>
        <p:spPr>
          <a:xfrm>
            <a:off x="6307455" y="1975485"/>
            <a:ext cx="1691640" cy="457200"/>
          </a:xfrm>
          <a:prstGeom prst="rect">
            <a:avLst/>
          </a:prstGeom>
          <a:noFill/>
          <a:ln/>
        </p:spPr>
        <p:txBody>
          <a:bodyPr wrap="square" lIns="0" tIns="0" rIns="0" bIns="0" rtlCol="0" anchor="ctr"/>
          <a:lstStyle/>
          <a:p>
            <a:pPr marL="0" indent="0">
              <a:buNone/>
            </a:pPr>
            <a:r>
              <a:rPr lang="en-US" sz="1150" b="1" smtClean="0">
                <a:solidFill>
                  <a:srgbClr val="FFFFFF"/>
                </a:solidFill>
                <a:latin typeface="Arial" pitchFamily="34" charset="0"/>
                <a:ea typeface="Arial" pitchFamily="34" charset="-122"/>
                <a:cs typeface="Arial" pitchFamily="34" charset="-120"/>
              </a:rPr>
              <a:t>Parameter (CPU-Kerne)</a:t>
            </a:r>
            <a:endParaRPr lang="en-US" sz="1150" b="1" dirty="0">
              <a:solidFill>
                <a:srgbClr val="FFFFFF"/>
              </a:solidFill>
              <a:latin typeface="Arial" pitchFamily="34" charset="0"/>
              <a:ea typeface="Arial" pitchFamily="34" charset="-122"/>
              <a:cs typeface="Arial" pitchFamily="34" charset="-120"/>
            </a:endParaRPr>
          </a:p>
        </p:txBody>
      </p:sp>
      <p:sp>
        <p:nvSpPr>
          <p:cNvPr id="61" name="Text 5"/>
          <p:cNvSpPr txBox="1"/>
          <p:nvPr/>
        </p:nvSpPr>
        <p:spPr>
          <a:xfrm>
            <a:off x="8433435" y="1975485"/>
            <a:ext cx="731520" cy="457200"/>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Wert</a:t>
            </a:r>
          </a:p>
        </p:txBody>
      </p:sp>
      <p:sp>
        <p:nvSpPr>
          <p:cNvPr id="62" name="Text 6"/>
          <p:cNvSpPr txBox="1"/>
          <p:nvPr/>
        </p:nvSpPr>
        <p:spPr>
          <a:xfrm>
            <a:off x="9559290" y="1975485"/>
            <a:ext cx="908685" cy="457200"/>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Wirkung</a:t>
            </a:r>
          </a:p>
        </p:txBody>
      </p:sp>
      <p:sp>
        <p:nvSpPr>
          <p:cNvPr id="63" name="Shape 7"/>
          <p:cNvSpPr/>
          <p:nvPr/>
        </p:nvSpPr>
        <p:spPr>
          <a:xfrm>
            <a:off x="6221730" y="2432685"/>
            <a:ext cx="5688330" cy="774192"/>
          </a:xfrm>
          <a:prstGeom prst="rect">
            <a:avLst/>
          </a:prstGeom>
          <a:solidFill>
            <a:srgbClr val="F2F5FA"/>
          </a:solidFill>
          <a:ln/>
        </p:spPr>
      </p:sp>
      <p:sp>
        <p:nvSpPr>
          <p:cNvPr id="64" name="Text 9"/>
          <p:cNvSpPr txBox="1"/>
          <p:nvPr/>
        </p:nvSpPr>
        <p:spPr>
          <a:xfrm>
            <a:off x="8423910" y="2508885"/>
            <a:ext cx="701040" cy="621792"/>
          </a:xfrm>
          <a:prstGeom prst="rect">
            <a:avLst/>
          </a:prstGeom>
          <a:noFill/>
          <a:ln/>
        </p:spPr>
        <p:txBody>
          <a:bodyPr wrap="square" lIns="0" tIns="0" rIns="0" bIns="0" rtlCol="0" anchor="ctr"/>
          <a:lstStyle/>
          <a:p>
            <a:pPr marL="0" indent="0">
              <a:buNone/>
            </a:pPr>
            <a:r>
              <a:rPr lang="en-US" sz="1250">
                <a:solidFill>
                  <a:srgbClr val="12172B"/>
                </a:solidFill>
                <a:latin typeface="Courier New" pitchFamily="34" charset="0"/>
                <a:ea typeface="Courier New" pitchFamily="34" charset="-122"/>
                <a:cs typeface="Courier New" pitchFamily="34" charset="-120"/>
              </a:rPr>
              <a:t>8</a:t>
            </a:r>
            <a:endParaRPr lang="en-US" sz="1250" dirty="0">
              <a:solidFill>
                <a:srgbClr val="12172B"/>
              </a:solidFill>
              <a:latin typeface="Courier New" pitchFamily="34" charset="0"/>
              <a:ea typeface="Courier New" pitchFamily="34" charset="-122"/>
              <a:cs typeface="Courier New" pitchFamily="34" charset="-120"/>
            </a:endParaRPr>
          </a:p>
        </p:txBody>
      </p:sp>
      <p:sp>
        <p:nvSpPr>
          <p:cNvPr id="65" name="Text 10"/>
          <p:cNvSpPr txBox="1"/>
          <p:nvPr/>
        </p:nvSpPr>
        <p:spPr>
          <a:xfrm>
            <a:off x="9102090" y="2499360"/>
            <a:ext cx="2629662" cy="621792"/>
          </a:xfrm>
          <a:prstGeom prst="rect">
            <a:avLst/>
          </a:prstGeom>
          <a:noFill/>
          <a:ln/>
        </p:spPr>
        <p:txBody>
          <a:bodyPr wrap="square" lIns="0" tIns="0" rIns="0" bIns="0" rtlCol="0" anchor="ctr"/>
          <a:lstStyle/>
          <a:p>
            <a:pPr marL="0" indent="0">
              <a:buNone/>
            </a:pPr>
            <a:r>
              <a:rPr lang="en-US" sz="1200" smtClean="0">
                <a:solidFill>
                  <a:srgbClr val="0D1321"/>
                </a:solidFill>
                <a:latin typeface="Calibri" pitchFamily="34" charset="0"/>
                <a:ea typeface="Calibri" pitchFamily="34" charset="-122"/>
                <a:cs typeface="Calibri" pitchFamily="34" charset="-120"/>
              </a:rPr>
              <a:t>CPU-Kerne für Berechnungen, falls Arbeit auf die CPU ausgelagert wird.</a:t>
            </a:r>
            <a:endParaRPr lang="en-US" sz="1200" dirty="0">
              <a:solidFill>
                <a:srgbClr val="0D1321"/>
              </a:solidFill>
              <a:latin typeface="Calibri" pitchFamily="34" charset="0"/>
              <a:ea typeface="Calibri" pitchFamily="34" charset="-122"/>
              <a:cs typeface="Calibri" pitchFamily="34" charset="-120"/>
            </a:endParaRPr>
          </a:p>
        </p:txBody>
      </p:sp>
      <p:sp>
        <p:nvSpPr>
          <p:cNvPr id="66" name="Text 13"/>
          <p:cNvSpPr txBox="1"/>
          <p:nvPr/>
        </p:nvSpPr>
        <p:spPr>
          <a:xfrm>
            <a:off x="8423910" y="3216402"/>
            <a:ext cx="701040" cy="621792"/>
          </a:xfrm>
          <a:prstGeom prst="rect">
            <a:avLst/>
          </a:prstGeom>
          <a:noFill/>
          <a:ln/>
        </p:spPr>
        <p:txBody>
          <a:bodyPr wrap="square" lIns="0" tIns="0" rIns="0" bIns="0" rtlCol="0" anchor="ctr"/>
          <a:lstStyle/>
          <a:p>
            <a:pPr marL="0" indent="0">
              <a:buNone/>
            </a:pPr>
            <a:r>
              <a:rPr lang="en-US" sz="1250" smtClean="0">
                <a:solidFill>
                  <a:srgbClr val="12172B"/>
                </a:solidFill>
                <a:latin typeface="Courier New" pitchFamily="34" charset="0"/>
                <a:ea typeface="Courier New" pitchFamily="34" charset="-122"/>
                <a:cs typeface="Courier New" pitchFamily="34" charset="-120"/>
              </a:rPr>
              <a:t>42</a:t>
            </a:r>
            <a:endParaRPr lang="en-US" sz="1250" dirty="0">
              <a:solidFill>
                <a:srgbClr val="12172B"/>
              </a:solidFill>
              <a:latin typeface="Courier New" pitchFamily="34" charset="0"/>
              <a:ea typeface="Courier New" pitchFamily="34" charset="-122"/>
              <a:cs typeface="Courier New" pitchFamily="34" charset="-120"/>
            </a:endParaRPr>
          </a:p>
        </p:txBody>
      </p:sp>
      <p:sp>
        <p:nvSpPr>
          <p:cNvPr id="67" name="Text 14"/>
          <p:cNvSpPr txBox="1"/>
          <p:nvPr/>
        </p:nvSpPr>
        <p:spPr>
          <a:xfrm>
            <a:off x="9124950" y="3206496"/>
            <a:ext cx="2785110" cy="621792"/>
          </a:xfrm>
          <a:prstGeom prst="rect">
            <a:avLst/>
          </a:prstGeom>
          <a:noFill/>
          <a:ln/>
        </p:spPr>
        <p:txBody>
          <a:bodyPr wrap="square" lIns="0" tIns="0" rIns="0" bIns="0" rtlCol="0" anchor="ctr"/>
          <a:lstStyle/>
          <a:p>
            <a:pPr marL="0" indent="0">
              <a:buNone/>
            </a:pPr>
            <a:r>
              <a:rPr lang="en-US" sz="1200" smtClean="0">
                <a:latin typeface="Calibri" pitchFamily="34" charset="0"/>
                <a:ea typeface="Calibri" pitchFamily="34" charset="-122"/>
                <a:cs typeface="Calibri" pitchFamily="34" charset="-120"/>
              </a:rPr>
              <a:t>Fixiert den Zufallswert für identische Antworten beim Testen.</a:t>
            </a:r>
            <a:endParaRPr lang="en-US" sz="1200" dirty="0">
              <a:latin typeface="Calibri" pitchFamily="34" charset="0"/>
              <a:ea typeface="Calibri" pitchFamily="34" charset="-122"/>
              <a:cs typeface="Calibri" pitchFamily="34" charset="-120"/>
            </a:endParaRPr>
          </a:p>
        </p:txBody>
      </p:sp>
      <p:sp>
        <p:nvSpPr>
          <p:cNvPr id="76" name="Shape 5"/>
          <p:cNvSpPr/>
          <p:nvPr/>
        </p:nvSpPr>
        <p:spPr>
          <a:xfrm>
            <a:off x="6232685" y="2627757"/>
            <a:ext cx="1718785" cy="384048"/>
          </a:xfrm>
          <a:prstGeom prst="roundRect">
            <a:avLst>
              <a:gd name="adj" fmla="val 14286"/>
            </a:avLst>
          </a:prstGeom>
          <a:solidFill>
            <a:srgbClr val="0D1321"/>
          </a:solidFill>
          <a:ln/>
        </p:spPr>
      </p:sp>
      <p:sp>
        <p:nvSpPr>
          <p:cNvPr id="77" name="Text 6"/>
          <p:cNvSpPr txBox="1"/>
          <p:nvPr/>
        </p:nvSpPr>
        <p:spPr>
          <a:xfrm>
            <a:off x="6223159" y="2627757"/>
            <a:ext cx="1728311"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num_thread</a:t>
            </a:r>
            <a:endParaRPr lang="en-US" sz="1200" b="1" dirty="0">
              <a:solidFill>
                <a:srgbClr val="00D9C0"/>
              </a:solidFill>
              <a:latin typeface="Courier New" pitchFamily="34" charset="0"/>
              <a:ea typeface="Courier New" pitchFamily="34" charset="-122"/>
              <a:cs typeface="Courier New" pitchFamily="34" charset="-120"/>
            </a:endParaRPr>
          </a:p>
        </p:txBody>
      </p:sp>
      <p:sp>
        <p:nvSpPr>
          <p:cNvPr id="78" name="Shape 5"/>
          <p:cNvSpPr/>
          <p:nvPr/>
        </p:nvSpPr>
        <p:spPr>
          <a:xfrm>
            <a:off x="6231256" y="3335274"/>
            <a:ext cx="1718785" cy="384048"/>
          </a:xfrm>
          <a:prstGeom prst="roundRect">
            <a:avLst>
              <a:gd name="adj" fmla="val 14286"/>
            </a:avLst>
          </a:prstGeom>
          <a:solidFill>
            <a:srgbClr val="0D1321"/>
          </a:solidFill>
          <a:ln/>
        </p:spPr>
      </p:sp>
      <p:sp>
        <p:nvSpPr>
          <p:cNvPr id="79" name="Text 6"/>
          <p:cNvSpPr txBox="1"/>
          <p:nvPr/>
        </p:nvSpPr>
        <p:spPr>
          <a:xfrm>
            <a:off x="6221730" y="3335274"/>
            <a:ext cx="1728311" cy="384048"/>
          </a:xfrm>
          <a:prstGeom prst="rect">
            <a:avLst/>
          </a:prstGeom>
          <a:noFill/>
          <a:ln/>
        </p:spPr>
        <p:txBody>
          <a:bodyPr wrap="square" lIns="0" tIns="0" rIns="0" bIns="0" rtlCol="0" anchor="ctr"/>
          <a:lstStyle/>
          <a:p>
            <a:pPr algn="ctr"/>
            <a:r>
              <a:rPr lang="en-US" sz="1200" b="1" smtClean="0">
                <a:solidFill>
                  <a:srgbClr val="00D9C0"/>
                </a:solidFill>
                <a:latin typeface="Courier New" pitchFamily="34" charset="0"/>
                <a:ea typeface="Courier New" pitchFamily="34" charset="-122"/>
                <a:cs typeface="Courier New" pitchFamily="34" charset="-120"/>
              </a:rPr>
              <a:t>seed</a:t>
            </a:r>
            <a:endParaRPr lang="en-US" sz="1200" b="1" dirty="0">
              <a:solidFill>
                <a:srgbClr val="00D9C0"/>
              </a:solidFill>
              <a:latin typeface="Courier New" pitchFamily="34" charset="0"/>
              <a:ea typeface="Courier New" pitchFamily="34" charset="-122"/>
              <a:cs typeface="Courier New" pitchFamily="34" charset="-120"/>
            </a:endParaRPr>
          </a:p>
        </p:txBody>
      </p:sp>
    </p:spTree>
    <p:extLst>
      <p:ext uri="{BB962C8B-B14F-4D97-AF65-F5344CB8AC3E}">
        <p14:creationId xmlns:p14="http://schemas.microsoft.com/office/powerpoint/2010/main" val="290007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00D9C0"/>
                </a:solidFill>
                <a:latin typeface="Calibri" pitchFamily="34" charset="0"/>
                <a:ea typeface="Calibri" pitchFamily="34" charset="-122"/>
                <a:cs typeface="Calibri" pitchFamily="34" charset="-120"/>
              </a:rPr>
              <a:t>BLOCK </a:t>
            </a:r>
            <a:r>
              <a:rPr lang="en-US" sz="1300" b="1" kern="0" spc="200" dirty="0">
                <a:solidFill>
                  <a:srgbClr val="00D9C0"/>
                </a:solidFill>
                <a:latin typeface="Calibri" pitchFamily="34" charset="0"/>
                <a:ea typeface="Calibri" pitchFamily="34" charset="-122"/>
                <a:cs typeface="Calibri" pitchFamily="34" charset="-120"/>
              </a:rPr>
              <a:t>3 OPTIMIERUNG</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Modelfile: Stopp-Sequenzen &amp; Few-Shot-Beispiele</a:t>
            </a:r>
          </a:p>
        </p:txBody>
      </p:sp>
      <p:sp>
        <p:nvSpPr>
          <p:cNvPr id="4" name="Text 2"/>
          <p:cNvSpPr txBox="1"/>
          <p:nvPr/>
        </p:nvSpPr>
        <p:spPr>
          <a:xfrm>
            <a:off x="548640" y="1463040"/>
            <a:ext cx="10607040" cy="594360"/>
          </a:xfrm>
          <a:prstGeom prst="rect">
            <a:avLst/>
          </a:prstGeom>
          <a:noFill/>
          <a:ln/>
        </p:spPr>
        <p:txBody>
          <a:bodyPr wrap="square" lIns="0" tIns="0" rIns="0" bIns="0" rtlCol="0" anchor="ctr"/>
          <a:lstStyle/>
          <a:p>
            <a:r>
              <a:rPr lang="en-US" sz="1300">
                <a:solidFill>
                  <a:srgbClr val="5B6478"/>
                </a:solidFill>
                <a:latin typeface="Calibri" pitchFamily="34" charset="0"/>
                <a:ea typeface="Calibri" pitchFamily="34" charset="-122"/>
                <a:cs typeface="Calibri" pitchFamily="34" charset="-120"/>
              </a:rPr>
              <a:t>Stop-Sequenzen erzwingen ein sauberes Ende der Antwort. MESSAGE-Paare geben dem Modell optional ein festes Beispielverhalten mit auf den Weg.</a:t>
            </a:r>
          </a:p>
        </p:txBody>
      </p:sp>
      <p:sp>
        <p:nvSpPr>
          <p:cNvPr id="5" name="Shape 3"/>
          <p:cNvSpPr/>
          <p:nvPr/>
        </p:nvSpPr>
        <p:spPr>
          <a:xfrm>
            <a:off x="548640" y="2286000"/>
            <a:ext cx="6309360" cy="3739662"/>
          </a:xfrm>
          <a:prstGeom prst="roundRect">
            <a:avLst>
              <a:gd name="adj" fmla="val 2254"/>
            </a:avLst>
          </a:prstGeom>
          <a:solidFill>
            <a:srgbClr val="0A0E1A"/>
          </a:solidFill>
          <a:ln/>
          <a:effectLst>
            <a:outerShdw blurRad="101600" dist="38100" dir="5400000" algn="bl" rotWithShape="0">
              <a:srgbClr val="000000">
                <a:alpha val="35000"/>
              </a:srgbClr>
            </a:outerShdw>
          </a:effectLst>
        </p:spPr>
      </p:sp>
      <p:sp>
        <p:nvSpPr>
          <p:cNvPr id="6" name="Shape 4"/>
          <p:cNvSpPr/>
          <p:nvPr/>
        </p:nvSpPr>
        <p:spPr>
          <a:xfrm>
            <a:off x="694944" y="2414016"/>
            <a:ext cx="91440" cy="91440"/>
          </a:xfrm>
          <a:prstGeom prst="ellipse">
            <a:avLst/>
          </a:prstGeom>
          <a:solidFill>
            <a:srgbClr val="FF5F56"/>
          </a:solidFill>
          <a:ln/>
        </p:spPr>
      </p:sp>
      <p:sp>
        <p:nvSpPr>
          <p:cNvPr id="7" name="Shape 5"/>
          <p:cNvSpPr/>
          <p:nvPr/>
        </p:nvSpPr>
        <p:spPr>
          <a:xfrm>
            <a:off x="896112" y="2414016"/>
            <a:ext cx="91440" cy="91440"/>
          </a:xfrm>
          <a:prstGeom prst="ellipse">
            <a:avLst/>
          </a:prstGeom>
          <a:solidFill>
            <a:srgbClr val="FFBD2E"/>
          </a:solidFill>
          <a:ln/>
        </p:spPr>
      </p:sp>
      <p:sp>
        <p:nvSpPr>
          <p:cNvPr id="8" name="Shape 6"/>
          <p:cNvSpPr/>
          <p:nvPr/>
        </p:nvSpPr>
        <p:spPr>
          <a:xfrm>
            <a:off x="1097280" y="2414016"/>
            <a:ext cx="91440" cy="91440"/>
          </a:xfrm>
          <a:prstGeom prst="ellipse">
            <a:avLst/>
          </a:prstGeom>
          <a:solidFill>
            <a:srgbClr val="27C93F"/>
          </a:solidFill>
          <a:ln/>
        </p:spPr>
      </p:sp>
      <p:sp>
        <p:nvSpPr>
          <p:cNvPr id="9" name="Text 7"/>
          <p:cNvSpPr txBox="1"/>
          <p:nvPr/>
        </p:nvSpPr>
        <p:spPr>
          <a:xfrm>
            <a:off x="749808" y="2633471"/>
            <a:ext cx="5907024" cy="3267143"/>
          </a:xfrm>
          <a:prstGeom prst="rect">
            <a:avLst/>
          </a:prstGeom>
          <a:noFill/>
          <a:ln/>
        </p:spPr>
        <p:txBody>
          <a:bodyPr wrap="square" lIns="0" tIns="0" rIns="0" bIns="0" rtlCol="0" anchor="t"/>
          <a:lstStyle/>
          <a:p>
            <a:pPr>
              <a:lnSpc>
                <a:spcPct val="115000"/>
              </a:lnSpc>
            </a:pPr>
            <a:r>
              <a:rPr lang="en-US" sz="1200">
                <a:solidFill>
                  <a:srgbClr val="00D9C0"/>
                </a:solidFill>
                <a:latin typeface="Courier New" pitchFamily="34" charset="0"/>
                <a:ea typeface="Courier New" pitchFamily="34" charset="-122"/>
                <a:cs typeface="Courier New" pitchFamily="34" charset="-120"/>
              </a:rPr>
              <a:t>$ cat Modelfile</a:t>
            </a:r>
          </a:p>
          <a:p>
            <a:pPr>
              <a:lnSpc>
                <a:spcPct val="115000"/>
              </a:lnSpc>
            </a:pPr>
            <a:r>
              <a:rPr lang="en-US" sz="1200">
                <a:solidFill>
                  <a:srgbClr val="00D9C0"/>
                </a:solidFill>
                <a:latin typeface="Courier New" pitchFamily="34" charset="0"/>
                <a:ea typeface="Courier New" pitchFamily="34" charset="-122"/>
                <a:cs typeface="Courier New" pitchFamily="34" charset="-120"/>
              </a:rPr>
              <a:t>PARAMETER stop "&lt;|im_start|&gt;"</a:t>
            </a:r>
          </a:p>
          <a:p>
            <a:pPr>
              <a:lnSpc>
                <a:spcPct val="115000"/>
              </a:lnSpc>
            </a:pPr>
            <a:r>
              <a:rPr lang="en-US" sz="1200">
                <a:solidFill>
                  <a:srgbClr val="00D9C0"/>
                </a:solidFill>
                <a:latin typeface="Courier New" pitchFamily="34" charset="0"/>
                <a:ea typeface="Courier New" pitchFamily="34" charset="-122"/>
                <a:cs typeface="Courier New" pitchFamily="34" charset="-120"/>
              </a:rPr>
              <a:t>PARAMETER stop "&lt;|im_end|&gt;"</a:t>
            </a:r>
          </a:p>
          <a:p>
            <a:pPr>
              <a:lnSpc>
                <a:spcPct val="115000"/>
              </a:lnSpc>
            </a:pPr>
            <a:r>
              <a:rPr lang="en-US" sz="1200">
                <a:solidFill>
                  <a:srgbClr val="00D9C0"/>
                </a:solidFill>
                <a:latin typeface="Courier New" pitchFamily="34" charset="0"/>
                <a:ea typeface="Courier New" pitchFamily="34" charset="-122"/>
                <a:cs typeface="Courier New" pitchFamily="34" charset="-120"/>
              </a:rPr>
              <a:t>PARAMETER stop "\n\n\n"</a:t>
            </a:r>
          </a:p>
          <a:p>
            <a:pPr>
              <a:lnSpc>
                <a:spcPct val="115000"/>
              </a:lnSpc>
            </a:pPr>
            <a:r>
              <a:rPr lang="en-US" sz="1200">
                <a:solidFill>
                  <a:srgbClr val="00D9C0"/>
                </a:solidFill>
                <a:latin typeface="Courier New" pitchFamily="34" charset="0"/>
                <a:ea typeface="Courier New" pitchFamily="34" charset="-122"/>
                <a:cs typeface="Courier New" pitchFamily="34" charset="-120"/>
              </a:rPr>
              <a:t> </a:t>
            </a:r>
          </a:p>
          <a:p>
            <a:pPr>
              <a:lnSpc>
                <a:spcPct val="115000"/>
              </a:lnSpc>
            </a:pPr>
            <a:r>
              <a:rPr lang="en-US" sz="1200">
                <a:solidFill>
                  <a:srgbClr val="00D9C0"/>
                </a:solidFill>
                <a:latin typeface="Courier New" pitchFamily="34" charset="0"/>
                <a:ea typeface="Courier New" pitchFamily="34" charset="-122"/>
                <a:cs typeface="Courier New" pitchFamily="34" charset="-120"/>
              </a:rPr>
              <a:t>MESSAGE user "Wie lautet die Hauptstadt</a:t>
            </a:r>
          </a:p>
          <a:p>
            <a:pPr>
              <a:lnSpc>
                <a:spcPct val="115000"/>
              </a:lnSpc>
            </a:pPr>
            <a:r>
              <a:rPr lang="en-US" sz="1200">
                <a:solidFill>
                  <a:srgbClr val="00D9C0"/>
                </a:solidFill>
                <a:latin typeface="Courier New" pitchFamily="34" charset="0"/>
                <a:ea typeface="Courier New" pitchFamily="34" charset="-122"/>
                <a:cs typeface="Courier New" pitchFamily="34" charset="-120"/>
              </a:rPr>
              <a:t>von Frankreich?"</a:t>
            </a:r>
          </a:p>
          <a:p>
            <a:pPr>
              <a:lnSpc>
                <a:spcPct val="115000"/>
              </a:lnSpc>
            </a:pPr>
            <a:r>
              <a:rPr lang="en-US" sz="1200">
                <a:solidFill>
                  <a:srgbClr val="00D9C0"/>
                </a:solidFill>
                <a:latin typeface="Courier New" pitchFamily="34" charset="0"/>
                <a:ea typeface="Courier New" pitchFamily="34" charset="-122"/>
                <a:cs typeface="Courier New" pitchFamily="34" charset="-120"/>
              </a:rPr>
              <a:t>MESSAGE assistant "Die Hauptstadt von</a:t>
            </a:r>
          </a:p>
          <a:p>
            <a:pPr>
              <a:lnSpc>
                <a:spcPct val="115000"/>
              </a:lnSpc>
            </a:pPr>
            <a:r>
              <a:rPr lang="en-US" sz="1200">
                <a:solidFill>
                  <a:srgbClr val="00D9C0"/>
                </a:solidFill>
                <a:latin typeface="Courier New" pitchFamily="34" charset="0"/>
                <a:ea typeface="Courier New" pitchFamily="34" charset="-122"/>
                <a:cs typeface="Courier New" pitchFamily="34" charset="-120"/>
              </a:rPr>
              <a:t>Frankreich ist Paris."</a:t>
            </a:r>
          </a:p>
        </p:txBody>
      </p:sp>
      <p:sp>
        <p:nvSpPr>
          <p:cNvPr id="10" name="Shape 8"/>
          <p:cNvSpPr/>
          <p:nvPr/>
        </p:nvSpPr>
        <p:spPr>
          <a:xfrm>
            <a:off x="7086600" y="2286000"/>
            <a:ext cx="4572000" cy="3739662"/>
          </a:xfrm>
          <a:prstGeom prst="roundRect">
            <a:avLst>
              <a:gd name="adj" fmla="val 2817"/>
            </a:avLst>
          </a:prstGeom>
          <a:solidFill>
            <a:srgbClr val="F2F5FA"/>
          </a:solidFill>
          <a:ln/>
        </p:spPr>
      </p:sp>
      <p:sp>
        <p:nvSpPr>
          <p:cNvPr id="11" name="Text 9"/>
          <p:cNvSpPr txBox="1"/>
          <p:nvPr/>
        </p:nvSpPr>
        <p:spPr>
          <a:xfrm>
            <a:off x="7315200" y="2468880"/>
            <a:ext cx="4023360" cy="320040"/>
          </a:xfrm>
          <a:prstGeom prst="rect">
            <a:avLst/>
          </a:prstGeom>
          <a:noFill/>
          <a:ln/>
        </p:spPr>
        <p:txBody>
          <a:bodyPr wrap="square" lIns="0" tIns="0" rIns="0" bIns="0" rtlCol="0" anchor="ctr"/>
          <a:lstStyle/>
          <a:p>
            <a:pPr marL="0" indent="0">
              <a:buNone/>
            </a:pPr>
            <a:r>
              <a:rPr lang="en-US" sz="1300" b="1" dirty="0">
                <a:solidFill>
                  <a:srgbClr val="0D1321"/>
                </a:solidFill>
                <a:latin typeface="Arial" pitchFamily="34" charset="0"/>
                <a:ea typeface="Arial" pitchFamily="34" charset="-122"/>
                <a:cs typeface="Arial" pitchFamily="34" charset="-120"/>
              </a:rPr>
              <a:t>Stopp &amp; Few-Shot auf einen Blick</a:t>
            </a:r>
          </a:p>
        </p:txBody>
      </p:sp>
      <p:sp>
        <p:nvSpPr>
          <p:cNvPr id="12" name="Text 10"/>
          <p:cNvSpPr txBox="1"/>
          <p:nvPr/>
        </p:nvSpPr>
        <p:spPr>
          <a:xfrm>
            <a:off x="7315200" y="2880360"/>
            <a:ext cx="1005840" cy="594360"/>
          </a:xfrm>
          <a:prstGeom prst="rect">
            <a:avLst/>
          </a:prstGeom>
          <a:noFill/>
          <a:ln/>
        </p:spPr>
        <p:txBody>
          <a:bodyPr wrap="square" lIns="0" tIns="0" rIns="0" bIns="0" rtlCol="0" anchor="ctr"/>
          <a:lstStyle/>
          <a:p>
            <a:pPr marL="0" indent="0">
              <a:buNone/>
            </a:pPr>
            <a:r>
              <a:rPr lang="en-US" sz="2600" b="1" dirty="0">
                <a:solidFill>
                  <a:srgbClr val="FF6B4A"/>
                </a:solidFill>
                <a:latin typeface="Arial" pitchFamily="34" charset="0"/>
                <a:ea typeface="Arial" pitchFamily="34" charset="-122"/>
                <a:cs typeface="Arial" pitchFamily="34" charset="-120"/>
              </a:rPr>
              <a:t>1</a:t>
            </a:r>
          </a:p>
        </p:txBody>
      </p:sp>
      <p:sp>
        <p:nvSpPr>
          <p:cNvPr id="13" name="Text 11"/>
          <p:cNvSpPr txBox="1"/>
          <p:nvPr/>
        </p:nvSpPr>
        <p:spPr>
          <a:xfrm>
            <a:off x="8321040" y="2880360"/>
            <a:ext cx="3108960" cy="594360"/>
          </a:xfrm>
          <a:prstGeom prst="rect">
            <a:avLst/>
          </a:prstGeom>
          <a:noFill/>
          <a:ln/>
        </p:spPr>
        <p:txBody>
          <a:bodyPr wrap="square" lIns="0" tIns="0" rIns="0" bIns="0" rtlCol="0" anchor="ctr"/>
          <a:lstStyle/>
          <a:p>
            <a:pPr marL="0" indent="0">
              <a:buNone/>
            </a:pPr>
            <a:r>
              <a:rPr lang="en-US" sz="1250" dirty="0">
                <a:solidFill>
                  <a:srgbClr val="12172B"/>
                </a:solidFill>
                <a:latin typeface="Calibri" pitchFamily="34" charset="0"/>
                <a:ea typeface="Calibri" pitchFamily="34" charset="-122"/>
                <a:cs typeface="Calibri" pitchFamily="34" charset="-120"/>
              </a:rPr>
              <a:t>Stop-Sequenzen – verhindern Selbstgespräche &amp; Endlos-Output</a:t>
            </a:r>
          </a:p>
        </p:txBody>
      </p:sp>
      <p:sp>
        <p:nvSpPr>
          <p:cNvPr id="14" name="Text 12"/>
          <p:cNvSpPr txBox="1"/>
          <p:nvPr/>
        </p:nvSpPr>
        <p:spPr>
          <a:xfrm>
            <a:off x="7315200" y="3384042"/>
            <a:ext cx="1005840" cy="594360"/>
          </a:xfrm>
          <a:prstGeom prst="rect">
            <a:avLst/>
          </a:prstGeom>
          <a:noFill/>
          <a:ln/>
        </p:spPr>
        <p:txBody>
          <a:bodyPr wrap="square" lIns="0" tIns="0" rIns="0" bIns="0" rtlCol="0" anchor="ctr"/>
          <a:lstStyle/>
          <a:p>
            <a:pPr marL="0" indent="0">
              <a:buNone/>
            </a:pPr>
            <a:r>
              <a:rPr lang="en-US" sz="2600" b="1" dirty="0">
                <a:solidFill>
                  <a:srgbClr val="FF6B4A"/>
                </a:solidFill>
                <a:latin typeface="Arial" pitchFamily="34" charset="0"/>
                <a:ea typeface="Arial" pitchFamily="34" charset="-122"/>
                <a:cs typeface="Arial" pitchFamily="34" charset="-120"/>
              </a:rPr>
              <a:t>2</a:t>
            </a:r>
          </a:p>
        </p:txBody>
      </p:sp>
      <p:sp>
        <p:nvSpPr>
          <p:cNvPr id="15" name="Text 13"/>
          <p:cNvSpPr txBox="1"/>
          <p:nvPr/>
        </p:nvSpPr>
        <p:spPr>
          <a:xfrm>
            <a:off x="8321040" y="3384042"/>
            <a:ext cx="3108960" cy="594360"/>
          </a:xfrm>
          <a:prstGeom prst="rect">
            <a:avLst/>
          </a:prstGeom>
          <a:noFill/>
          <a:ln/>
        </p:spPr>
        <p:txBody>
          <a:bodyPr wrap="square" lIns="0" tIns="0" rIns="0" bIns="0" rtlCol="0" anchor="ctr"/>
          <a:lstStyle/>
          <a:p>
            <a:pPr marL="0" indent="0">
              <a:buNone/>
            </a:pPr>
            <a:r>
              <a:rPr lang="en-US" sz="1250" dirty="0">
                <a:solidFill>
                  <a:srgbClr val="12172B"/>
                </a:solidFill>
                <a:latin typeface="Calibri" pitchFamily="34" charset="0"/>
                <a:ea typeface="Calibri" pitchFamily="34" charset="-122"/>
                <a:cs typeface="Calibri" pitchFamily="34" charset="-120"/>
              </a:rPr>
              <a:t>Few-Shot – MESSAGE-Paare zeigen das gewünschte Antwortformat</a:t>
            </a:r>
          </a:p>
        </p:txBody>
      </p:sp>
      <p:sp>
        <p:nvSpPr>
          <p:cNvPr id="17" name="Text 15"/>
          <p:cNvSpPr txBox="1"/>
          <p:nvPr/>
        </p:nvSpPr>
        <p:spPr>
          <a:xfrm>
            <a:off x="8321040" y="4097274"/>
            <a:ext cx="3108960" cy="594360"/>
          </a:xfrm>
          <a:prstGeom prst="rect">
            <a:avLst/>
          </a:prstGeom>
          <a:noFill/>
          <a:ln/>
        </p:spPr>
        <p:txBody>
          <a:bodyPr wrap="square" lIns="0" tIns="0" rIns="0" bIns="0" rtlCol="0" anchor="ctr"/>
          <a:lstStyle/>
          <a:p>
            <a:pPr marL="0" indent="0">
              <a:buNone/>
            </a:pPr>
            <a:endParaRPr lang="en-US" sz="1250" dirty="0">
              <a:solidFill>
                <a:srgbClr val="12172B"/>
              </a:solidFill>
              <a:latin typeface="Calibri" pitchFamily="34" charset="0"/>
              <a:ea typeface="Calibri" pitchFamily="34" charset="-122"/>
              <a:cs typeface="Calibri" pitchFamily="34" charset="-120"/>
            </a:endParaRPr>
          </a:p>
        </p:txBody>
      </p:sp>
      <p:sp>
        <p:nvSpPr>
          <p:cNvPr id="18" name="Shape 16"/>
          <p:cNvSpPr/>
          <p:nvPr/>
        </p:nvSpPr>
        <p:spPr>
          <a:xfrm>
            <a:off x="7315200" y="3977777"/>
            <a:ext cx="4023360" cy="0"/>
          </a:xfrm>
          <a:prstGeom prst="line">
            <a:avLst/>
          </a:prstGeom>
          <a:noFill/>
          <a:ln w="12700">
            <a:solidFill>
              <a:srgbClr val="D5DBE8"/>
            </a:solidFill>
            <a:prstDash val="solid"/>
          </a:ln>
        </p:spPr>
      </p:sp>
      <p:sp>
        <p:nvSpPr>
          <p:cNvPr id="19" name="Text 17"/>
          <p:cNvSpPr txBox="1"/>
          <p:nvPr/>
        </p:nvSpPr>
        <p:spPr>
          <a:xfrm>
            <a:off x="7360920" y="4033891"/>
            <a:ext cx="4023360" cy="721126"/>
          </a:xfrm>
          <a:prstGeom prst="rect">
            <a:avLst/>
          </a:prstGeom>
          <a:noFill/>
          <a:ln/>
        </p:spPr>
        <p:txBody>
          <a:bodyPr wrap="square" lIns="0" tIns="0" rIns="0" bIns="0" rtlCol="0" anchor="ctr"/>
          <a:lstStyle/>
          <a:p>
            <a:pPr marL="0" indent="0">
              <a:buNone/>
            </a:pPr>
            <a:r>
              <a:rPr lang="en-US" sz="1150" i="1" dirty="0">
                <a:solidFill>
                  <a:srgbClr val="5B6478"/>
                </a:solidFill>
                <a:latin typeface="Calibri" pitchFamily="34" charset="0"/>
                <a:ea typeface="Calibri" pitchFamily="34" charset="-122"/>
                <a:cs typeface="Calibri" pitchFamily="34" charset="-120"/>
              </a:rPr>
              <a:t>→ Ohne Stop-Sequenzen kann das Modell über das Ziel hinausschreiben oder mit sich selbst weiterreden. Few-Shot-Beispiele sind optional, verbessern aber die Formattreue bei komplexen Aufgaben.</a:t>
            </a:r>
          </a:p>
        </p:txBody>
      </p:sp>
      <p:sp>
        <p:nvSpPr>
          <p:cNvPr id="20" name="Text 18"/>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21" name="Text 19"/>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5B6478"/>
                </a:solidFill>
                <a:latin typeface="Calibri" pitchFamily="34" charset="0"/>
                <a:ea typeface="Calibri" pitchFamily="34" charset="-122"/>
                <a:cs typeface="Calibri" pitchFamily="34" charset="-120"/>
              </a:rPr>
              <a:t>28</a:t>
            </a:r>
            <a:endParaRPr lang="en-US" sz="900" dirty="0"/>
          </a:p>
        </p:txBody>
      </p:sp>
      <p:sp>
        <p:nvSpPr>
          <p:cNvPr id="22" name="Shape 16"/>
          <p:cNvSpPr/>
          <p:nvPr/>
        </p:nvSpPr>
        <p:spPr>
          <a:xfrm>
            <a:off x="7315200" y="4945066"/>
            <a:ext cx="4023360" cy="0"/>
          </a:xfrm>
          <a:prstGeom prst="line">
            <a:avLst/>
          </a:prstGeom>
          <a:noFill/>
          <a:ln w="12700">
            <a:solidFill>
              <a:srgbClr val="D5DBE8"/>
            </a:solidFill>
            <a:prstDash val="solid"/>
          </a:ln>
        </p:spPr>
      </p:sp>
      <p:sp>
        <p:nvSpPr>
          <p:cNvPr id="23" name="Text 17"/>
          <p:cNvSpPr txBox="1"/>
          <p:nvPr/>
        </p:nvSpPr>
        <p:spPr>
          <a:xfrm>
            <a:off x="7315200" y="5295830"/>
            <a:ext cx="4023360" cy="721126"/>
          </a:xfrm>
          <a:prstGeom prst="rect">
            <a:avLst/>
          </a:prstGeom>
          <a:noFill/>
          <a:ln/>
        </p:spPr>
        <p:txBody>
          <a:bodyPr wrap="square" lIns="0" tIns="0" rIns="0" bIns="0" rtlCol="0" anchor="ctr"/>
          <a:lstStyle/>
          <a:p>
            <a:r>
              <a:rPr lang="en-US" sz="1150" i="1" smtClean="0">
                <a:solidFill>
                  <a:srgbClr val="5B6478"/>
                </a:solidFill>
                <a:latin typeface="Calibri" pitchFamily="34" charset="0"/>
                <a:ea typeface="Calibri" pitchFamily="34" charset="-122"/>
                <a:cs typeface="Calibri" pitchFamily="34" charset="-120"/>
              </a:rPr>
              <a:t>$ cp </a:t>
            </a:r>
            <a:r>
              <a:rPr lang="en-US" sz="1150" i="1">
                <a:solidFill>
                  <a:srgbClr val="5B6478"/>
                </a:solidFill>
                <a:latin typeface="Calibri" pitchFamily="34" charset="0"/>
                <a:ea typeface="Calibri" pitchFamily="34" charset="-122"/>
                <a:cs typeface="Calibri" pitchFamily="34" charset="-120"/>
              </a:rPr>
              <a:t>Modelfile ./</a:t>
            </a:r>
            <a:r>
              <a:rPr lang="en-US" sz="1150" i="1" smtClean="0">
                <a:solidFill>
                  <a:srgbClr val="5B6478"/>
                </a:solidFill>
                <a:latin typeface="Calibri" pitchFamily="34" charset="0"/>
                <a:ea typeface="Calibri" pitchFamily="34" charset="-122"/>
                <a:cs typeface="Calibri" pitchFamily="34" charset="-120"/>
              </a:rPr>
              <a:t>ollama_data/</a:t>
            </a:r>
          </a:p>
          <a:p>
            <a:r>
              <a:rPr lang="en-US" sz="1150" i="1" smtClean="0">
                <a:solidFill>
                  <a:srgbClr val="5B6478"/>
                </a:solidFill>
                <a:latin typeface="Calibri" pitchFamily="34" charset="0"/>
                <a:ea typeface="Calibri" pitchFamily="34" charset="-122"/>
                <a:cs typeface="Calibri" pitchFamily="34" charset="-120"/>
              </a:rPr>
              <a:t>$ docker </a:t>
            </a:r>
            <a:r>
              <a:rPr lang="en-US" sz="1150" i="1">
                <a:solidFill>
                  <a:srgbClr val="5B6478"/>
                </a:solidFill>
                <a:latin typeface="Calibri" pitchFamily="34" charset="0"/>
                <a:ea typeface="Calibri" pitchFamily="34" charset="-122"/>
                <a:cs typeface="Calibri" pitchFamily="34" charset="-120"/>
              </a:rPr>
              <a:t>exec -it ollama_container ollama create mistral-opt </a:t>
            </a:r>
            <a:r>
              <a:rPr lang="en-US" sz="1150" i="1" smtClean="0">
                <a:solidFill>
                  <a:srgbClr val="5B6478"/>
                </a:solidFill>
                <a:latin typeface="Calibri" pitchFamily="34" charset="0"/>
                <a:ea typeface="Calibri" pitchFamily="34" charset="-122"/>
                <a:cs typeface="Calibri" pitchFamily="34" charset="-120"/>
              </a:rPr>
              <a:t>–f \ </a:t>
            </a:r>
            <a:r>
              <a:rPr lang="en-US" sz="1150" i="1">
                <a:solidFill>
                  <a:srgbClr val="5B6478"/>
                </a:solidFill>
                <a:latin typeface="Calibri" pitchFamily="34" charset="0"/>
                <a:ea typeface="Calibri" pitchFamily="34" charset="-122"/>
                <a:cs typeface="Calibri" pitchFamily="34" charset="-120"/>
              </a:rPr>
              <a:t>/root/.ollama/Modelfile</a:t>
            </a:r>
            <a:endParaRPr lang="en-US" sz="1150" i="1" dirty="0">
              <a:solidFill>
                <a:srgbClr val="5B6478"/>
              </a:solidFill>
              <a:latin typeface="Calibri" pitchFamily="34" charset="0"/>
              <a:ea typeface="Calibri" pitchFamily="34" charset="-122"/>
              <a:cs typeface="Calibri" pitchFamily="34" charset="-120"/>
            </a:endParaRPr>
          </a:p>
        </p:txBody>
      </p:sp>
      <p:sp>
        <p:nvSpPr>
          <p:cNvPr id="24" name="Text 9"/>
          <p:cNvSpPr txBox="1"/>
          <p:nvPr/>
        </p:nvSpPr>
        <p:spPr>
          <a:xfrm>
            <a:off x="7315200" y="5009836"/>
            <a:ext cx="4023360" cy="320040"/>
          </a:xfrm>
          <a:prstGeom prst="rect">
            <a:avLst/>
          </a:prstGeom>
          <a:noFill/>
          <a:ln/>
        </p:spPr>
        <p:txBody>
          <a:bodyPr wrap="square" lIns="0" tIns="0" rIns="0" bIns="0" rtlCol="0" anchor="ctr"/>
          <a:lstStyle/>
          <a:p>
            <a:pPr marL="0" indent="0">
              <a:buNone/>
            </a:pPr>
            <a:r>
              <a:rPr lang="en-US" sz="1300" b="1" smtClean="0">
                <a:solidFill>
                  <a:srgbClr val="0D1321"/>
                </a:solidFill>
                <a:latin typeface="Arial" pitchFamily="34" charset="0"/>
                <a:ea typeface="Arial" pitchFamily="34" charset="-122"/>
                <a:cs typeface="Arial" pitchFamily="34" charset="-120"/>
              </a:rPr>
              <a:t>Erstellen des Models</a:t>
            </a:r>
            <a:endParaRPr lang="en-US" sz="1300" b="1" dirty="0">
              <a:solidFill>
                <a:srgbClr val="0D1321"/>
              </a:solidFill>
              <a:latin typeface="Arial" pitchFamily="34" charset="0"/>
              <a:ea typeface="Arial" pitchFamily="34" charset="-122"/>
              <a:cs typeface="Arial" pitchFamily="34" charset="-12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00D9C0"/>
                </a:solidFill>
                <a:latin typeface="Calibri" pitchFamily="34" charset="0"/>
                <a:ea typeface="Calibri" pitchFamily="34" charset="-122"/>
                <a:cs typeface="Calibri" pitchFamily="34" charset="-120"/>
              </a:rPr>
              <a:t>BLOCK 3 OPTIMIERUNG</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GTT-Bereich manuell erweitern</a:t>
            </a:r>
            <a:endParaRPr lang="en-US" sz="3000" dirty="0"/>
          </a:p>
        </p:txBody>
      </p:sp>
      <p:sp>
        <p:nvSpPr>
          <p:cNvPr id="4" name="Text 2"/>
          <p:cNvSpPr txBox="1"/>
          <p:nvPr/>
        </p:nvSpPr>
        <p:spPr>
          <a:xfrm>
            <a:off x="548640" y="1371600"/>
            <a:ext cx="10789920" cy="457200"/>
          </a:xfrm>
          <a:prstGeom prst="rect">
            <a:avLst/>
          </a:prstGeom>
          <a:noFill/>
          <a:ln/>
        </p:spPr>
        <p:txBody>
          <a:bodyPr wrap="square" lIns="0" tIns="0" rIns="0" bIns="0" rtlCol="0" anchor="ctr"/>
          <a:lstStyle/>
          <a:p>
            <a:pPr marL="0" indent="0">
              <a:buNone/>
            </a:pPr>
            <a:r>
              <a:rPr lang="en-US" sz="1300" dirty="0">
                <a:solidFill>
                  <a:srgbClr val="5B6478"/>
                </a:solidFill>
                <a:latin typeface="Calibri" pitchFamily="34" charset="0"/>
                <a:ea typeface="Calibri" pitchFamily="34" charset="-122"/>
                <a:cs typeface="Calibri" pitchFamily="34" charset="-120"/>
              </a:rPr>
              <a:t>Reicht der standardmäßige GTT-Bereich nicht aus, lässt sich die Obergrenze über einen Kernel-Parameter des amdgpu-Treibers anheben.</a:t>
            </a:r>
            <a:endParaRPr lang="en-US" sz="1300" dirty="0"/>
          </a:p>
        </p:txBody>
      </p:sp>
      <p:sp>
        <p:nvSpPr>
          <p:cNvPr id="5" name="Shape 3"/>
          <p:cNvSpPr/>
          <p:nvPr/>
        </p:nvSpPr>
        <p:spPr>
          <a:xfrm>
            <a:off x="548640" y="2011680"/>
            <a:ext cx="6675120" cy="2788920"/>
          </a:xfrm>
          <a:prstGeom prst="roundRect">
            <a:avLst>
              <a:gd name="adj" fmla="val 2623"/>
            </a:avLst>
          </a:prstGeom>
          <a:solidFill>
            <a:srgbClr val="0A0E1A"/>
          </a:solidFill>
          <a:ln/>
          <a:effectLst>
            <a:outerShdw blurRad="101600" dist="38100" dir="5400000" algn="bl" rotWithShape="0">
              <a:srgbClr val="000000">
                <a:alpha val="35000"/>
              </a:srgbClr>
            </a:outerShdw>
          </a:effectLst>
        </p:spPr>
      </p:sp>
      <p:sp>
        <p:nvSpPr>
          <p:cNvPr id="6" name="Shape 4"/>
          <p:cNvSpPr/>
          <p:nvPr/>
        </p:nvSpPr>
        <p:spPr>
          <a:xfrm>
            <a:off x="694944" y="2139696"/>
            <a:ext cx="91440" cy="91440"/>
          </a:xfrm>
          <a:prstGeom prst="ellipse">
            <a:avLst/>
          </a:prstGeom>
          <a:solidFill>
            <a:srgbClr val="FF5F56"/>
          </a:solidFill>
          <a:ln/>
        </p:spPr>
      </p:sp>
      <p:sp>
        <p:nvSpPr>
          <p:cNvPr id="7" name="Shape 5"/>
          <p:cNvSpPr/>
          <p:nvPr/>
        </p:nvSpPr>
        <p:spPr>
          <a:xfrm>
            <a:off x="896112" y="2139696"/>
            <a:ext cx="91440" cy="91440"/>
          </a:xfrm>
          <a:prstGeom prst="ellipse">
            <a:avLst/>
          </a:prstGeom>
          <a:solidFill>
            <a:srgbClr val="FFBD2E"/>
          </a:solidFill>
          <a:ln/>
        </p:spPr>
      </p:sp>
      <p:sp>
        <p:nvSpPr>
          <p:cNvPr id="8" name="Shape 6"/>
          <p:cNvSpPr/>
          <p:nvPr/>
        </p:nvSpPr>
        <p:spPr>
          <a:xfrm>
            <a:off x="1097280" y="2139696"/>
            <a:ext cx="91440" cy="91440"/>
          </a:xfrm>
          <a:prstGeom prst="ellipse">
            <a:avLst/>
          </a:prstGeom>
          <a:solidFill>
            <a:srgbClr val="27C93F"/>
          </a:solidFill>
          <a:ln/>
        </p:spPr>
      </p:sp>
      <p:sp>
        <p:nvSpPr>
          <p:cNvPr id="9" name="Text 7"/>
          <p:cNvSpPr txBox="1"/>
          <p:nvPr/>
        </p:nvSpPr>
        <p:spPr>
          <a:xfrm>
            <a:off x="749808" y="2359152"/>
            <a:ext cx="7174992" cy="2331720"/>
          </a:xfrm>
          <a:prstGeom prst="rect">
            <a:avLst/>
          </a:prstGeom>
          <a:noFill/>
          <a:ln/>
        </p:spPr>
        <p:txBody>
          <a:bodyPr wrap="square" lIns="0" tIns="0" rIns="0" bIns="0" rtlCol="0" anchor="t"/>
          <a:lstStyle/>
          <a:p>
            <a:pPr marL="0" indent="0">
              <a:lnSpc>
                <a:spcPct val="115000"/>
              </a:lnSpc>
              <a:buNone/>
            </a:pPr>
            <a:r>
              <a:rPr lang="en-US" sz="1250" dirty="0">
                <a:solidFill>
                  <a:srgbClr val="8A93B5"/>
                </a:solidFill>
                <a:latin typeface="Courier New" pitchFamily="34" charset="0"/>
                <a:ea typeface="Courier New" pitchFamily="34" charset="-122"/>
                <a:cs typeface="Courier New" pitchFamily="34" charset="-120"/>
              </a:rPr>
              <a:t># Kernel-Parameter dauerhaft für amdgpu setzen</a:t>
            </a:r>
            <a:endParaRPr lang="en-US" sz="1250" dirty="0"/>
          </a:p>
          <a:p>
            <a:pPr marL="0" indent="0">
              <a:lnSpc>
                <a:spcPct val="115000"/>
              </a:lnSpc>
              <a:buNone/>
            </a:pPr>
            <a:r>
              <a:rPr lang="en-US" sz="1250" dirty="0">
                <a:solidFill>
                  <a:srgbClr val="00D9C0"/>
                </a:solidFill>
                <a:latin typeface="Courier New" pitchFamily="34" charset="0"/>
                <a:ea typeface="Courier New" pitchFamily="34" charset="-122"/>
                <a:cs typeface="Courier New" pitchFamily="34" charset="-120"/>
              </a:rPr>
              <a:t>$ echo "options amdgpu gttsize=24000" | \</a:t>
            </a:r>
            <a:endParaRPr lang="en-US" sz="1250" dirty="0"/>
          </a:p>
          <a:p>
            <a:pPr marL="0" indent="0">
              <a:lnSpc>
                <a:spcPct val="115000"/>
              </a:lnSpc>
              <a:buNone/>
            </a:pPr>
            <a:r>
              <a:rPr lang="en-US" sz="1250" dirty="0">
                <a:solidFill>
                  <a:srgbClr val="00D9C0"/>
                </a:solidFill>
                <a:latin typeface="Courier New" pitchFamily="34" charset="0"/>
                <a:ea typeface="Courier New" pitchFamily="34" charset="-122"/>
                <a:cs typeface="Courier New" pitchFamily="34" charset="-120"/>
              </a:rPr>
              <a:t>    sudo tee /etc/modprobe.d/amdgpu-gtt.conf</a:t>
            </a:r>
            <a:endParaRPr lang="en-US" sz="1250" dirty="0"/>
          </a:p>
          <a:p>
            <a:pPr marL="0" indent="0">
              <a:lnSpc>
                <a:spcPct val="115000"/>
              </a:lnSpc>
              <a:buNone/>
            </a:pPr>
            <a:endParaRPr lang="en-US" sz="1250" dirty="0"/>
          </a:p>
          <a:p>
            <a:pPr marL="0" indent="0">
              <a:lnSpc>
                <a:spcPct val="115000"/>
              </a:lnSpc>
              <a:buNone/>
            </a:pPr>
            <a:r>
              <a:rPr lang="en-US" sz="1250" dirty="0">
                <a:solidFill>
                  <a:srgbClr val="8A93B5"/>
                </a:solidFill>
                <a:latin typeface="Courier New" pitchFamily="34" charset="0"/>
                <a:ea typeface="Courier New" pitchFamily="34" charset="-122"/>
                <a:cs typeface="Courier New" pitchFamily="34" charset="-120"/>
              </a:rPr>
              <a:t># Neustart, damit der Parameter geladen wird</a:t>
            </a:r>
            <a:endParaRPr lang="en-US" sz="1250" dirty="0"/>
          </a:p>
          <a:p>
            <a:pPr marL="0" indent="0">
              <a:lnSpc>
                <a:spcPct val="115000"/>
              </a:lnSpc>
              <a:buNone/>
            </a:pPr>
            <a:r>
              <a:rPr lang="en-US" sz="1250" dirty="0">
                <a:solidFill>
                  <a:srgbClr val="00D9C0"/>
                </a:solidFill>
                <a:latin typeface="Courier New" pitchFamily="34" charset="0"/>
                <a:ea typeface="Courier New" pitchFamily="34" charset="-122"/>
                <a:cs typeface="Courier New" pitchFamily="34" charset="-120"/>
              </a:rPr>
              <a:t>$ reboot</a:t>
            </a:r>
            <a:endParaRPr lang="en-US" sz="1250" dirty="0"/>
          </a:p>
          <a:p>
            <a:pPr marL="0" indent="0">
              <a:lnSpc>
                <a:spcPct val="115000"/>
              </a:lnSpc>
              <a:buNone/>
            </a:pPr>
            <a:endParaRPr lang="en-US" sz="1250" dirty="0"/>
          </a:p>
          <a:p>
            <a:pPr marL="0" indent="0">
              <a:lnSpc>
                <a:spcPct val="115000"/>
              </a:lnSpc>
              <a:buNone/>
            </a:pPr>
            <a:r>
              <a:rPr lang="en-US" sz="1250" dirty="0">
                <a:solidFill>
                  <a:srgbClr val="8A93B5"/>
                </a:solidFill>
                <a:latin typeface="Courier New" pitchFamily="34" charset="0"/>
                <a:ea typeface="Courier New" pitchFamily="34" charset="-122"/>
                <a:cs typeface="Courier New" pitchFamily="34" charset="-120"/>
              </a:rPr>
              <a:t># Neue GTT-Obergrenze prüfen (in MB)</a:t>
            </a:r>
            <a:endParaRPr lang="en-US" sz="1250" dirty="0"/>
          </a:p>
          <a:p>
            <a:pPr marL="0" indent="0">
              <a:lnSpc>
                <a:spcPct val="115000"/>
              </a:lnSpc>
              <a:buNone/>
            </a:pPr>
            <a:r>
              <a:rPr lang="en-US" sz="1250" dirty="0">
                <a:solidFill>
                  <a:srgbClr val="00D9C0"/>
                </a:solidFill>
                <a:latin typeface="Courier New" pitchFamily="34" charset="0"/>
                <a:ea typeface="Courier New" pitchFamily="34" charset="-122"/>
                <a:cs typeface="Courier New" pitchFamily="34" charset="-120"/>
              </a:rPr>
              <a:t>$ echo "$(( $(cat </a:t>
            </a:r>
            <a:r>
              <a:rPr lang="en-US" sz="1250">
                <a:solidFill>
                  <a:srgbClr val="00D9C0"/>
                </a:solidFill>
                <a:latin typeface="Courier New" pitchFamily="34" charset="0"/>
                <a:ea typeface="Courier New" pitchFamily="34" charset="-122"/>
                <a:cs typeface="Courier New" pitchFamily="34" charset="-120"/>
              </a:rPr>
              <a:t>/</a:t>
            </a:r>
            <a:r>
              <a:rPr lang="en-US" sz="1250" smtClean="0">
                <a:solidFill>
                  <a:srgbClr val="00D9C0"/>
                </a:solidFill>
                <a:latin typeface="Courier New" pitchFamily="34" charset="0"/>
                <a:ea typeface="Courier New" pitchFamily="34" charset="-122"/>
                <a:cs typeface="Courier New" pitchFamily="34" charset="-120"/>
              </a:rPr>
              <a:t>sys/class/drm/card0/device/mem_info_gtt_total</a:t>
            </a:r>
            <a:r>
              <a:rPr lang="en-US" sz="1250">
                <a:solidFill>
                  <a:srgbClr val="00D9C0"/>
                </a:solidFill>
                <a:latin typeface="Courier New" pitchFamily="34" charset="0"/>
                <a:ea typeface="Courier New" pitchFamily="34" charset="-122"/>
                <a:cs typeface="Courier New" pitchFamily="34" charset="-120"/>
              </a:rPr>
              <a:t>) </a:t>
            </a:r>
            <a:r>
              <a:rPr lang="en-US" sz="1250" smtClean="0">
                <a:solidFill>
                  <a:srgbClr val="00D9C0"/>
                </a:solidFill>
                <a:latin typeface="Courier New" pitchFamily="34" charset="0"/>
                <a:ea typeface="Courier New" pitchFamily="34" charset="-122"/>
                <a:cs typeface="Courier New" pitchFamily="34" charset="-120"/>
              </a:rPr>
              <a:t>\</a:t>
            </a:r>
          </a:p>
          <a:p>
            <a:pPr marL="0" indent="0">
              <a:lnSpc>
                <a:spcPct val="115000"/>
              </a:lnSpc>
              <a:buNone/>
            </a:pPr>
            <a:r>
              <a:rPr lang="en-US" sz="1250">
                <a:solidFill>
                  <a:srgbClr val="00D9C0"/>
                </a:solidFill>
                <a:latin typeface="Courier New" pitchFamily="34" charset="0"/>
                <a:ea typeface="Courier New" pitchFamily="34" charset="-122"/>
                <a:cs typeface="Courier New" pitchFamily="34" charset="-120"/>
              </a:rPr>
              <a:t> </a:t>
            </a:r>
            <a:r>
              <a:rPr lang="en-US" sz="1250" smtClean="0">
                <a:solidFill>
                  <a:srgbClr val="00D9C0"/>
                </a:solidFill>
                <a:latin typeface="Courier New" pitchFamily="34" charset="0"/>
                <a:ea typeface="Courier New" pitchFamily="34" charset="-122"/>
                <a:cs typeface="Courier New" pitchFamily="34" charset="-120"/>
              </a:rPr>
              <a:t>    / </a:t>
            </a:r>
            <a:r>
              <a:rPr lang="en-US" sz="1250" dirty="0">
                <a:solidFill>
                  <a:srgbClr val="00D9C0"/>
                </a:solidFill>
                <a:latin typeface="Courier New" pitchFamily="34" charset="0"/>
                <a:ea typeface="Courier New" pitchFamily="34" charset="-122"/>
                <a:cs typeface="Courier New" pitchFamily="34" charset="-120"/>
              </a:rPr>
              <a:t>1024 / 1024 )) MB"</a:t>
            </a:r>
            <a:endParaRPr lang="en-US" sz="1250" dirty="0"/>
          </a:p>
          <a:p>
            <a:pPr marL="0" indent="0">
              <a:lnSpc>
                <a:spcPct val="115000"/>
              </a:lnSpc>
              <a:buNone/>
            </a:pPr>
            <a:r>
              <a:rPr lang="en-US" sz="1250" dirty="0">
                <a:solidFill>
                  <a:srgbClr val="D7DCEE"/>
                </a:solidFill>
                <a:latin typeface="Courier New" pitchFamily="34" charset="0"/>
                <a:ea typeface="Courier New" pitchFamily="34" charset="-122"/>
                <a:cs typeface="Courier New" pitchFamily="34" charset="-120"/>
              </a:rPr>
              <a:t>24000 MB</a:t>
            </a:r>
            <a:endParaRPr lang="en-US" sz="1250" dirty="0"/>
          </a:p>
        </p:txBody>
      </p:sp>
      <p:sp>
        <p:nvSpPr>
          <p:cNvPr id="10" name="Shape 8"/>
          <p:cNvSpPr/>
          <p:nvPr/>
        </p:nvSpPr>
        <p:spPr>
          <a:xfrm>
            <a:off x="548640" y="4983480"/>
            <a:ext cx="6675120" cy="1280160"/>
          </a:xfrm>
          <a:prstGeom prst="roundRect">
            <a:avLst>
              <a:gd name="adj" fmla="val 7143"/>
            </a:avLst>
          </a:prstGeom>
          <a:solidFill>
            <a:srgbClr val="F2F5FA"/>
          </a:solidFill>
          <a:ln/>
        </p:spPr>
      </p:sp>
      <p:sp>
        <p:nvSpPr>
          <p:cNvPr id="11" name="Text 9"/>
          <p:cNvSpPr txBox="1"/>
          <p:nvPr/>
        </p:nvSpPr>
        <p:spPr>
          <a:xfrm>
            <a:off x="777240" y="5102352"/>
            <a:ext cx="2926080" cy="594360"/>
          </a:xfrm>
          <a:prstGeom prst="rect">
            <a:avLst/>
          </a:prstGeom>
          <a:noFill/>
          <a:ln/>
        </p:spPr>
        <p:txBody>
          <a:bodyPr wrap="square" lIns="0" tIns="0" rIns="0" bIns="0" rtlCol="0" anchor="ctr"/>
          <a:lstStyle/>
          <a:p>
            <a:pPr marL="0" indent="0">
              <a:buNone/>
            </a:pPr>
            <a:r>
              <a:rPr lang="en-US" sz="2600" b="1" dirty="0">
                <a:solidFill>
                  <a:srgbClr val="0D1321"/>
                </a:solidFill>
                <a:latin typeface="Arial" pitchFamily="34" charset="0"/>
                <a:ea typeface="Arial" pitchFamily="34" charset="-122"/>
                <a:cs typeface="Arial" pitchFamily="34" charset="-120"/>
              </a:rPr>
              <a:t>24.000 MB</a:t>
            </a:r>
            <a:endParaRPr lang="en-US" sz="2600" dirty="0"/>
          </a:p>
        </p:txBody>
      </p:sp>
      <p:sp>
        <p:nvSpPr>
          <p:cNvPr id="12" name="Text 10"/>
          <p:cNvSpPr txBox="1"/>
          <p:nvPr/>
        </p:nvSpPr>
        <p:spPr>
          <a:xfrm>
            <a:off x="777240" y="5669280"/>
            <a:ext cx="6217920" cy="502920"/>
          </a:xfrm>
          <a:prstGeom prst="rect">
            <a:avLst/>
          </a:prstGeom>
          <a:noFill/>
          <a:ln/>
        </p:spPr>
        <p:txBody>
          <a:bodyPr wrap="square" lIns="0" tIns="0" rIns="0" bIns="0" rtlCol="0" anchor="ctr"/>
          <a:lstStyle/>
          <a:p>
            <a:pPr marL="0" indent="0">
              <a:buNone/>
            </a:pPr>
            <a:r>
              <a:rPr lang="en-US" sz="1200" dirty="0">
                <a:solidFill>
                  <a:srgbClr val="5B6478"/>
                </a:solidFill>
                <a:latin typeface="Calibri" pitchFamily="34" charset="0"/>
                <a:ea typeface="Calibri" pitchFamily="34" charset="-122"/>
                <a:cs typeface="Calibri" pitchFamily="34" charset="-120"/>
              </a:rPr>
              <a:t>neue GTT-Obergrenze nach dem Neustart (≈ 23,4 GiB)</a:t>
            </a:r>
            <a:endParaRPr lang="en-US" sz="1200" dirty="0"/>
          </a:p>
        </p:txBody>
      </p:sp>
      <p:sp>
        <p:nvSpPr>
          <p:cNvPr id="13" name="Shape 11"/>
          <p:cNvSpPr/>
          <p:nvPr/>
        </p:nvSpPr>
        <p:spPr>
          <a:xfrm>
            <a:off x="7452360" y="2011680"/>
            <a:ext cx="4160520" cy="4251960"/>
          </a:xfrm>
          <a:prstGeom prst="roundRect">
            <a:avLst>
              <a:gd name="adj" fmla="val 2198"/>
            </a:avLst>
          </a:prstGeom>
          <a:solidFill>
            <a:srgbClr val="0D1321"/>
          </a:solidFill>
          <a:ln/>
        </p:spPr>
      </p:sp>
      <p:sp>
        <p:nvSpPr>
          <p:cNvPr id="14" name="Text 12"/>
          <p:cNvSpPr txBox="1"/>
          <p:nvPr/>
        </p:nvSpPr>
        <p:spPr>
          <a:xfrm>
            <a:off x="7680960" y="2212848"/>
            <a:ext cx="3703320" cy="320040"/>
          </a:xfrm>
          <a:prstGeom prst="rect">
            <a:avLst/>
          </a:prstGeom>
          <a:noFill/>
          <a:ln/>
        </p:spPr>
        <p:txBody>
          <a:bodyPr wrap="square" lIns="0" tIns="0" rIns="0" bIns="0" rtlCol="0" anchor="ctr"/>
          <a:lstStyle/>
          <a:p>
            <a:pPr marL="0" indent="0">
              <a:buNone/>
            </a:pPr>
            <a:r>
              <a:rPr lang="en-US" sz="1300" b="1" dirty="0">
                <a:solidFill>
                  <a:srgbClr val="00D9C0"/>
                </a:solidFill>
                <a:latin typeface="Arial" pitchFamily="34" charset="0"/>
                <a:ea typeface="Arial" pitchFamily="34" charset="-122"/>
                <a:cs typeface="Arial" pitchFamily="34" charset="-120"/>
              </a:rPr>
              <a:t>Zur Erinnerung (Kapitel 6)</a:t>
            </a:r>
            <a:endParaRPr lang="en-US" sz="1300" dirty="0"/>
          </a:p>
        </p:txBody>
      </p:sp>
      <p:sp>
        <p:nvSpPr>
          <p:cNvPr id="15" name="Text 13"/>
          <p:cNvSpPr txBox="1"/>
          <p:nvPr/>
        </p:nvSpPr>
        <p:spPr>
          <a:xfrm>
            <a:off x="7680960" y="2606040"/>
            <a:ext cx="3703320" cy="1005840"/>
          </a:xfrm>
          <a:prstGeom prst="rect">
            <a:avLst/>
          </a:prstGeom>
          <a:noFill/>
          <a:ln/>
        </p:spPr>
        <p:txBody>
          <a:bodyPr wrap="square" lIns="0" tIns="0" rIns="0" bIns="0" rtlCol="0" anchor="ctr"/>
          <a:lstStyle/>
          <a:p>
            <a:pPr marL="0" indent="0">
              <a:buNone/>
            </a:pPr>
            <a:r>
              <a:rPr lang="en-US" sz="1200" dirty="0">
                <a:solidFill>
                  <a:srgbClr val="D7DCEE"/>
                </a:solidFill>
                <a:latin typeface="Calibri" pitchFamily="34" charset="0"/>
                <a:ea typeface="Calibri" pitchFamily="34" charset="-122"/>
                <a:cs typeface="Calibri" pitchFamily="34" charset="-120"/>
              </a:rPr>
              <a:t>GTT ist der RAM-Anteil, den sich die iGPU zusätzlich zum kleinen VRAM leihen darf. Der Kernel begrenzt diesen Bereich standardmäßig.</a:t>
            </a:r>
            <a:endParaRPr lang="en-US" sz="1200" dirty="0"/>
          </a:p>
        </p:txBody>
      </p:sp>
      <p:sp>
        <p:nvSpPr>
          <p:cNvPr id="16" name="Shape 14"/>
          <p:cNvSpPr/>
          <p:nvPr/>
        </p:nvSpPr>
        <p:spPr>
          <a:xfrm>
            <a:off x="7680960" y="3703320"/>
            <a:ext cx="3566160" cy="0"/>
          </a:xfrm>
          <a:prstGeom prst="line">
            <a:avLst/>
          </a:prstGeom>
          <a:noFill/>
          <a:ln w="12700">
            <a:solidFill>
              <a:srgbClr val="2A365C"/>
            </a:solidFill>
            <a:prstDash val="solid"/>
          </a:ln>
        </p:spPr>
      </p:sp>
      <p:sp>
        <p:nvSpPr>
          <p:cNvPr id="17" name="Text 15"/>
          <p:cNvSpPr txBox="1"/>
          <p:nvPr/>
        </p:nvSpPr>
        <p:spPr>
          <a:xfrm>
            <a:off x="7680960" y="3886200"/>
            <a:ext cx="3749040" cy="548640"/>
          </a:xfrm>
          <a:prstGeom prst="rect">
            <a:avLst/>
          </a:prstGeom>
          <a:noFill/>
          <a:ln/>
        </p:spPr>
        <p:txBody>
          <a:bodyPr wrap="square" lIns="0" tIns="0" rIns="0" bIns="0" rtlCol="0" anchor="ctr"/>
          <a:lstStyle/>
          <a:p>
            <a:pPr marL="0" indent="0">
              <a:buNone/>
            </a:pPr>
            <a:r>
              <a:rPr lang="en-US" sz="1150" dirty="0">
                <a:solidFill>
                  <a:srgbClr val="9AA3C0"/>
                </a:solidFill>
                <a:latin typeface="Calibri" pitchFamily="34" charset="0"/>
                <a:ea typeface="Calibri" pitchFamily="34" charset="-122"/>
                <a:cs typeface="Calibri" pitchFamily="34" charset="-120"/>
              </a:rPr>
              <a:t>•  gttsize wird in MB angegeben (hier: 24.000 MB)</a:t>
            </a:r>
            <a:endParaRPr lang="en-US" sz="1150" dirty="0"/>
          </a:p>
        </p:txBody>
      </p:sp>
      <p:sp>
        <p:nvSpPr>
          <p:cNvPr id="18" name="Text 16"/>
          <p:cNvSpPr txBox="1"/>
          <p:nvPr/>
        </p:nvSpPr>
        <p:spPr>
          <a:xfrm>
            <a:off x="7680960" y="4507992"/>
            <a:ext cx="3749040" cy="548640"/>
          </a:xfrm>
          <a:prstGeom prst="rect">
            <a:avLst/>
          </a:prstGeom>
          <a:noFill/>
          <a:ln/>
        </p:spPr>
        <p:txBody>
          <a:bodyPr wrap="square" lIns="0" tIns="0" rIns="0" bIns="0" rtlCol="0" anchor="ctr"/>
          <a:lstStyle/>
          <a:p>
            <a:pPr marL="0" indent="0">
              <a:buNone/>
            </a:pPr>
            <a:r>
              <a:rPr lang="en-US" sz="1150" dirty="0">
                <a:solidFill>
                  <a:srgbClr val="9AA3C0"/>
                </a:solidFill>
                <a:latin typeface="Calibri" pitchFamily="34" charset="0"/>
                <a:ea typeface="Calibri" pitchFamily="34" charset="-122"/>
                <a:cs typeface="Calibri" pitchFamily="34" charset="-120"/>
              </a:rPr>
              <a:t>•  Der Wert sollte die BIOS-/UMA-Grenze nicht überschreiten</a:t>
            </a:r>
            <a:endParaRPr lang="en-US" sz="1150" dirty="0"/>
          </a:p>
        </p:txBody>
      </p:sp>
      <p:sp>
        <p:nvSpPr>
          <p:cNvPr id="19" name="Text 17"/>
          <p:cNvSpPr txBox="1"/>
          <p:nvPr/>
        </p:nvSpPr>
        <p:spPr>
          <a:xfrm>
            <a:off x="7680960" y="5129784"/>
            <a:ext cx="3749040" cy="548640"/>
          </a:xfrm>
          <a:prstGeom prst="rect">
            <a:avLst/>
          </a:prstGeom>
          <a:noFill/>
          <a:ln/>
        </p:spPr>
        <p:txBody>
          <a:bodyPr wrap="square" lIns="0" tIns="0" rIns="0" bIns="0" rtlCol="0" anchor="ctr"/>
          <a:lstStyle/>
          <a:p>
            <a:pPr marL="0" indent="0">
              <a:buNone/>
            </a:pPr>
            <a:r>
              <a:rPr lang="en-US" sz="1150" dirty="0">
                <a:solidFill>
                  <a:srgbClr val="9AA3C0"/>
                </a:solidFill>
                <a:latin typeface="Calibri" pitchFamily="34" charset="0"/>
                <a:ea typeface="Calibri" pitchFamily="34" charset="-122"/>
                <a:cs typeface="Calibri" pitchFamily="34" charset="-120"/>
              </a:rPr>
              <a:t>•  Ein Neustart ist zwingend nötig – der Parameter wird beim Booten geladen</a:t>
            </a:r>
            <a:endParaRPr lang="en-US" sz="1150" dirty="0"/>
          </a:p>
        </p:txBody>
      </p:sp>
      <p:sp>
        <p:nvSpPr>
          <p:cNvPr id="20" name="Text 18"/>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9AA3C0"/>
                </a:solidFill>
                <a:latin typeface="Calibri" pitchFamily="34" charset="0"/>
                <a:ea typeface="Calibri" pitchFamily="34" charset="-122"/>
                <a:cs typeface="Calibri" pitchFamily="34" charset="-120"/>
              </a:rPr>
              <a:t>OLLAMA PERFORMANCE TUNING · iGPU</a:t>
            </a:r>
            <a:endParaRPr lang="en-US" sz="900" dirty="0"/>
          </a:p>
        </p:txBody>
      </p:sp>
      <p:sp>
        <p:nvSpPr>
          <p:cNvPr id="21" name="Text 19"/>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9AA3C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smtClean="0">
                <a:solidFill>
                  <a:srgbClr val="00D9C0"/>
                </a:solidFill>
                <a:latin typeface="Calibri" pitchFamily="34" charset="0"/>
                <a:ea typeface="Calibri" pitchFamily="34" charset="-122"/>
                <a:cs typeface="Calibri" pitchFamily="34" charset="-120"/>
              </a:rPr>
              <a:t>BLOCK </a:t>
            </a:r>
            <a:r>
              <a:rPr lang="en-US" sz="1300" b="1" kern="0" spc="200" dirty="0">
                <a:solidFill>
                  <a:srgbClr val="00D9C0"/>
                </a:solidFill>
                <a:latin typeface="Calibri" pitchFamily="34" charset="0"/>
                <a:ea typeface="Calibri" pitchFamily="34" charset="-122"/>
                <a:cs typeface="Calibri" pitchFamily="34" charset="-120"/>
              </a:rPr>
              <a:t>3 OPTIMIERUNG</a:t>
            </a:r>
            <a:endParaRPr lang="en-US" sz="1300" dirty="0"/>
          </a:p>
        </p:txBody>
      </p:sp>
      <p:sp>
        <p:nvSpPr>
          <p:cNvPr id="3" name="Text 1"/>
          <p:cNvSpPr txBox="1"/>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12172B"/>
                </a:solidFill>
                <a:latin typeface="Arial" pitchFamily="34" charset="0"/>
                <a:ea typeface="Arial" pitchFamily="34" charset="-122"/>
                <a:cs typeface="Arial" pitchFamily="34" charset="-120"/>
              </a:rPr>
              <a:t>Prompt-Länge als versteckter Performance-Faktor</a:t>
            </a:r>
            <a:endParaRPr lang="en-US" sz="3000" dirty="0"/>
          </a:p>
        </p:txBody>
      </p:sp>
      <p:sp>
        <p:nvSpPr>
          <p:cNvPr id="4" name="Text 2"/>
          <p:cNvSpPr txBox="1"/>
          <p:nvPr/>
        </p:nvSpPr>
        <p:spPr>
          <a:xfrm>
            <a:off x="548640" y="1463040"/>
            <a:ext cx="10607040" cy="594360"/>
          </a:xfrm>
          <a:prstGeom prst="rect">
            <a:avLst/>
          </a:prstGeom>
          <a:noFill/>
          <a:ln/>
        </p:spPr>
        <p:txBody>
          <a:bodyPr wrap="square" lIns="0" tIns="0" rIns="0" bIns="0" rtlCol="0" anchor="ctr"/>
          <a:lstStyle/>
          <a:p>
            <a:pPr marL="0" indent="0">
              <a:buNone/>
            </a:pPr>
            <a:r>
              <a:rPr lang="en-US" sz="1300" dirty="0">
                <a:solidFill>
                  <a:srgbClr val="5B6478"/>
                </a:solidFill>
                <a:latin typeface="Calibri" pitchFamily="34" charset="0"/>
                <a:ea typeface="Calibri" pitchFamily="34" charset="-122"/>
                <a:cs typeface="Calibri" pitchFamily="34" charset="-120"/>
              </a:rPr>
              <a:t>Gleiche Aufgabe, gleiches Modell: Ein aufgeblähter System-Prompt mit Anweisungen und Logs verlangsamt die Antwort erheblich – nicht die Antwortlänge ist entscheidend, sondern der Input.</a:t>
            </a:r>
            <a:endParaRPr lang="en-US" sz="1300" dirty="0"/>
          </a:p>
        </p:txBody>
      </p:sp>
      <p:graphicFrame>
        <p:nvGraphicFramePr>
          <p:cNvPr id="5" name="Chart 0"/>
          <p:cNvGraphicFramePr/>
          <p:nvPr/>
        </p:nvGraphicFramePr>
        <p:xfrm>
          <a:off x="548640" y="2240280"/>
          <a:ext cx="630936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178040" y="2240280"/>
            <a:ext cx="4434840" cy="1874520"/>
          </a:xfrm>
          <a:prstGeom prst="roundRect">
            <a:avLst>
              <a:gd name="adj" fmla="val 4878"/>
            </a:avLst>
          </a:prstGeom>
          <a:solidFill>
            <a:srgbClr val="0D1321"/>
          </a:solidFill>
          <a:ln/>
        </p:spPr>
      </p:sp>
      <p:sp>
        <p:nvSpPr>
          <p:cNvPr id="7" name="Text 4"/>
          <p:cNvSpPr txBox="1"/>
          <p:nvPr/>
        </p:nvSpPr>
        <p:spPr>
          <a:xfrm>
            <a:off x="7406640" y="2331720"/>
            <a:ext cx="2743200" cy="914400"/>
          </a:xfrm>
          <a:prstGeom prst="rect">
            <a:avLst/>
          </a:prstGeom>
          <a:noFill/>
          <a:ln/>
        </p:spPr>
        <p:txBody>
          <a:bodyPr wrap="square" lIns="0" tIns="0" rIns="0" bIns="0" rtlCol="0" anchor="ctr"/>
          <a:lstStyle/>
          <a:p>
            <a:pPr marL="0" indent="0">
              <a:buNone/>
            </a:pPr>
            <a:r>
              <a:rPr lang="en-US" sz="4200" b="1" dirty="0">
                <a:solidFill>
                  <a:srgbClr val="00D9C0"/>
                </a:solidFill>
                <a:latin typeface="Arial" pitchFamily="34" charset="0"/>
                <a:ea typeface="Arial" pitchFamily="34" charset="-122"/>
                <a:cs typeface="Arial" pitchFamily="34" charset="-120"/>
              </a:rPr>
              <a:t>~2,8×</a:t>
            </a:r>
            <a:endParaRPr lang="en-US" sz="4200" dirty="0"/>
          </a:p>
        </p:txBody>
      </p:sp>
      <p:sp>
        <p:nvSpPr>
          <p:cNvPr id="8" name="Text 5"/>
          <p:cNvSpPr txBox="1"/>
          <p:nvPr/>
        </p:nvSpPr>
        <p:spPr>
          <a:xfrm>
            <a:off x="7406640" y="3200400"/>
            <a:ext cx="4023360" cy="822960"/>
          </a:xfrm>
          <a:prstGeom prst="rect">
            <a:avLst/>
          </a:prstGeom>
          <a:noFill/>
          <a:ln/>
        </p:spPr>
        <p:txBody>
          <a:bodyPr wrap="square" lIns="0" tIns="0" rIns="0" bIns="0" rtlCol="0" anchor="ctr"/>
          <a:lstStyle/>
          <a:p>
            <a:pPr marL="0" indent="0">
              <a:buNone/>
            </a:pPr>
            <a:r>
              <a:rPr lang="en-US" sz="1300" dirty="0">
                <a:solidFill>
                  <a:srgbClr val="D7DCEE"/>
                </a:solidFill>
                <a:latin typeface="Calibri" pitchFamily="34" charset="0"/>
                <a:ea typeface="Calibri" pitchFamily="34" charset="-122"/>
                <a:cs typeface="Calibri" pitchFamily="34" charset="-120"/>
              </a:rPr>
              <a:t>schneller allein durch</a:t>
            </a:r>
            <a:endParaRPr lang="en-US" sz="1300" dirty="0"/>
          </a:p>
          <a:p>
            <a:pPr marL="0" indent="0">
              <a:buNone/>
            </a:pPr>
            <a:r>
              <a:rPr lang="en-US" sz="1300" dirty="0">
                <a:solidFill>
                  <a:srgbClr val="D7DCEE"/>
                </a:solidFill>
                <a:latin typeface="Calibri" pitchFamily="34" charset="0"/>
                <a:ea typeface="Calibri" pitchFamily="34" charset="-122"/>
                <a:cs typeface="Calibri" pitchFamily="34" charset="-120"/>
              </a:rPr>
              <a:t>Entfernen von unnötigem Prompt-Text</a:t>
            </a:r>
            <a:endParaRPr lang="en-US" sz="1300" dirty="0"/>
          </a:p>
        </p:txBody>
      </p:sp>
      <p:sp>
        <p:nvSpPr>
          <p:cNvPr id="9" name="Shape 6"/>
          <p:cNvSpPr/>
          <p:nvPr/>
        </p:nvSpPr>
        <p:spPr>
          <a:xfrm>
            <a:off x="7178040" y="4297680"/>
            <a:ext cx="4434840" cy="1965960"/>
          </a:xfrm>
          <a:prstGeom prst="roundRect">
            <a:avLst>
              <a:gd name="adj" fmla="val 4651"/>
            </a:avLst>
          </a:prstGeom>
          <a:solidFill>
            <a:srgbClr val="F2F5FA"/>
          </a:solidFill>
          <a:ln/>
        </p:spPr>
      </p:sp>
      <p:sp>
        <p:nvSpPr>
          <p:cNvPr id="10" name="Text 7"/>
          <p:cNvSpPr txBox="1"/>
          <p:nvPr/>
        </p:nvSpPr>
        <p:spPr>
          <a:xfrm>
            <a:off x="7406640" y="4480560"/>
            <a:ext cx="3931920" cy="320040"/>
          </a:xfrm>
          <a:prstGeom prst="rect">
            <a:avLst/>
          </a:prstGeom>
          <a:noFill/>
          <a:ln/>
        </p:spPr>
        <p:txBody>
          <a:bodyPr wrap="square" lIns="0" tIns="0" rIns="0" bIns="0" rtlCol="0" anchor="ctr"/>
          <a:lstStyle/>
          <a:p>
            <a:pPr marL="0" indent="0">
              <a:buNone/>
            </a:pPr>
            <a:r>
              <a:rPr lang="en-US" sz="1400" b="1" dirty="0">
                <a:solidFill>
                  <a:srgbClr val="0D1321"/>
                </a:solidFill>
                <a:latin typeface="Arial" pitchFamily="34" charset="0"/>
                <a:ea typeface="Arial" pitchFamily="34" charset="-122"/>
                <a:cs typeface="Arial" pitchFamily="34" charset="-120"/>
              </a:rPr>
              <a:t>Praxis-Tipp</a:t>
            </a:r>
            <a:endParaRPr lang="en-US" sz="1400" dirty="0"/>
          </a:p>
        </p:txBody>
      </p:sp>
      <p:sp>
        <p:nvSpPr>
          <p:cNvPr id="11" name="Text 8"/>
          <p:cNvSpPr txBox="1"/>
          <p:nvPr/>
        </p:nvSpPr>
        <p:spPr>
          <a:xfrm>
            <a:off x="7406640" y="4846320"/>
            <a:ext cx="4023360" cy="1325880"/>
          </a:xfrm>
          <a:prstGeom prst="rect">
            <a:avLst/>
          </a:prstGeom>
          <a:noFill/>
          <a:ln/>
        </p:spPr>
        <p:txBody>
          <a:bodyPr wrap="square" lIns="0" tIns="0" rIns="0" bIns="0" rtlCol="0" anchor="ctr"/>
          <a:lstStyle/>
          <a:p>
            <a:pPr marL="0" indent="0">
              <a:buNone/>
            </a:pPr>
            <a:r>
              <a:rPr lang="en-US" sz="1200" dirty="0">
                <a:solidFill>
                  <a:srgbClr val="5B6478"/>
                </a:solidFill>
                <a:latin typeface="Calibri" pitchFamily="34" charset="0"/>
                <a:ea typeface="Calibri" pitchFamily="34" charset="-122"/>
                <a:cs typeface="Calibri" pitchFamily="34" charset="-120"/>
              </a:rPr>
              <a:t>Lange Systemanweisungen, unnötige Kontrolleingaben und riesige Logs im Prompt kosten mehr Zeit als viele Server-Optimierungen zusammen.</a:t>
            </a:r>
            <a:endParaRPr lang="en-US" sz="1200" dirty="0"/>
          </a:p>
        </p:txBody>
      </p:sp>
      <p:sp>
        <p:nvSpPr>
          <p:cNvPr id="12" name="Text 9"/>
          <p:cNvSpPr txBox="1"/>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OLLAMA PERFORMANCE TUNING · iGPU</a:t>
            </a:r>
            <a:endParaRPr lang="en-US" sz="900" dirty="0"/>
          </a:p>
        </p:txBody>
      </p:sp>
      <p:sp>
        <p:nvSpPr>
          <p:cNvPr id="13" name="Text 10"/>
          <p:cNvSpPr txBox="1"/>
          <p:nvPr/>
        </p:nvSpPr>
        <p:spPr>
          <a:xfrm>
            <a:off x="11274552" y="6537960"/>
            <a:ext cx="457200" cy="274320"/>
          </a:xfrm>
          <a:prstGeom prst="rect">
            <a:avLst/>
          </a:prstGeom>
          <a:noFill/>
          <a:ln/>
        </p:spPr>
        <p:txBody>
          <a:bodyPr wrap="square" lIns="0" tIns="0" rIns="0" bIns="0" rtlCol="0" anchor="ctr"/>
          <a:lstStyle/>
          <a:p>
            <a:pPr marL="0" indent="0" algn="r">
              <a:buNone/>
            </a:pPr>
            <a:r>
              <a:rPr lang="en-US" sz="900" smtClean="0">
                <a:solidFill>
                  <a:srgbClr val="5B6478"/>
                </a:solidFill>
                <a:latin typeface="Calibri" pitchFamily="34" charset="0"/>
                <a:ea typeface="Calibri" pitchFamily="34" charset="-122"/>
                <a:cs typeface="Calibri" pitchFamily="34" charset="-120"/>
              </a:rPr>
              <a:t>30</a:t>
            </a:r>
            <a:endParaRPr lang="en-US" sz="9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0D1321"/>
        </a:solidFill>
        <a:effectLst/>
      </p:bgPr>
    </p:bg>
    <p:spTree>
      <p:nvGrpSpPr>
        <p:cNvPr id="1" name=""/>
        <p:cNvGrpSpPr/>
        <p:nvPr/>
      </p:nvGrpSpPr>
      <p:grpSpPr>
        <a:xfrm>
          <a:off x="0" y="0"/>
          <a:ext cx="0" cy="0"/>
          <a:chOff x="0" y="0"/>
          <a:chExt cx="0" cy="0"/>
        </a:xfrm>
      </p:grpSpPr>
      <p:sp>
        <p:nvSpPr>
          <p:cNvPr id="2" name="Shape 0"/>
          <p:cNvSpPr/>
          <p:nvPr/>
        </p:nvSpPr>
        <p:spPr>
          <a:xfrm>
            <a:off x="8869680" y="868680"/>
            <a:ext cx="2743200" cy="1828800"/>
          </a:xfrm>
          <a:prstGeom prst="roundRect">
            <a:avLst>
              <a:gd name="adj" fmla="val 6000"/>
            </a:avLst>
          </a:prstGeom>
          <a:solidFill>
            <a:srgbClr val="17213D"/>
          </a:solidFill>
          <a:ln w="12700">
            <a:solidFill>
              <a:srgbClr val="00D9C0"/>
            </a:solidFill>
            <a:prstDash val="solid"/>
          </a:ln>
        </p:spPr>
      </p:sp>
      <p:sp>
        <p:nvSpPr>
          <p:cNvPr id="3" name="Shape 1"/>
          <p:cNvSpPr/>
          <p:nvPr/>
        </p:nvSpPr>
        <p:spPr>
          <a:xfrm>
            <a:off x="9281160" y="548640"/>
            <a:ext cx="0" cy="365760"/>
          </a:xfrm>
          <a:prstGeom prst="line">
            <a:avLst/>
          </a:prstGeom>
          <a:noFill/>
          <a:ln w="19050">
            <a:solidFill>
              <a:srgbClr val="00D9C0"/>
            </a:solidFill>
            <a:prstDash val="solid"/>
          </a:ln>
        </p:spPr>
      </p:sp>
      <p:sp>
        <p:nvSpPr>
          <p:cNvPr id="4" name="Shape 2"/>
          <p:cNvSpPr/>
          <p:nvPr/>
        </p:nvSpPr>
        <p:spPr>
          <a:xfrm>
            <a:off x="9281160" y="1118235"/>
            <a:ext cx="0" cy="411480"/>
          </a:xfrm>
          <a:prstGeom prst="line">
            <a:avLst/>
          </a:prstGeom>
          <a:noFill/>
          <a:ln w="19050">
            <a:solidFill>
              <a:srgbClr val="00D9C0"/>
            </a:solidFill>
            <a:prstDash val="solid"/>
          </a:ln>
        </p:spPr>
      </p:sp>
      <p:sp>
        <p:nvSpPr>
          <p:cNvPr id="5" name="Shape 3"/>
          <p:cNvSpPr/>
          <p:nvPr/>
        </p:nvSpPr>
        <p:spPr>
          <a:xfrm>
            <a:off x="9829800" y="548640"/>
            <a:ext cx="0" cy="365760"/>
          </a:xfrm>
          <a:prstGeom prst="line">
            <a:avLst/>
          </a:prstGeom>
          <a:noFill/>
          <a:ln w="19050">
            <a:solidFill>
              <a:srgbClr val="00D9C0"/>
            </a:solidFill>
            <a:prstDash val="solid"/>
          </a:ln>
        </p:spPr>
      </p:sp>
      <p:sp>
        <p:nvSpPr>
          <p:cNvPr id="6" name="Shape 4"/>
          <p:cNvSpPr/>
          <p:nvPr/>
        </p:nvSpPr>
        <p:spPr>
          <a:xfrm>
            <a:off x="9829800" y="2651760"/>
            <a:ext cx="0" cy="411480"/>
          </a:xfrm>
          <a:prstGeom prst="line">
            <a:avLst/>
          </a:prstGeom>
          <a:noFill/>
          <a:ln w="19050">
            <a:solidFill>
              <a:srgbClr val="00D9C0"/>
            </a:solidFill>
            <a:prstDash val="solid"/>
          </a:ln>
        </p:spPr>
      </p:sp>
      <p:sp>
        <p:nvSpPr>
          <p:cNvPr id="7" name="Shape 5"/>
          <p:cNvSpPr/>
          <p:nvPr/>
        </p:nvSpPr>
        <p:spPr>
          <a:xfrm>
            <a:off x="10378440" y="548640"/>
            <a:ext cx="0" cy="365760"/>
          </a:xfrm>
          <a:prstGeom prst="line">
            <a:avLst/>
          </a:prstGeom>
          <a:noFill/>
          <a:ln w="19050">
            <a:solidFill>
              <a:srgbClr val="00D9C0"/>
            </a:solidFill>
            <a:prstDash val="solid"/>
          </a:ln>
        </p:spPr>
      </p:sp>
      <p:sp>
        <p:nvSpPr>
          <p:cNvPr id="8" name="Shape 6"/>
          <p:cNvSpPr/>
          <p:nvPr/>
        </p:nvSpPr>
        <p:spPr>
          <a:xfrm>
            <a:off x="10378440" y="2651760"/>
            <a:ext cx="0" cy="411480"/>
          </a:xfrm>
          <a:prstGeom prst="line">
            <a:avLst/>
          </a:prstGeom>
          <a:noFill/>
          <a:ln w="19050">
            <a:solidFill>
              <a:srgbClr val="00D9C0"/>
            </a:solidFill>
            <a:prstDash val="solid"/>
          </a:ln>
        </p:spPr>
      </p:sp>
      <p:sp>
        <p:nvSpPr>
          <p:cNvPr id="9" name="Shape 7"/>
          <p:cNvSpPr/>
          <p:nvPr/>
        </p:nvSpPr>
        <p:spPr>
          <a:xfrm>
            <a:off x="10927080" y="548640"/>
            <a:ext cx="0" cy="365760"/>
          </a:xfrm>
          <a:prstGeom prst="line">
            <a:avLst/>
          </a:prstGeom>
          <a:noFill/>
          <a:ln w="19050">
            <a:solidFill>
              <a:srgbClr val="00D9C0"/>
            </a:solidFill>
            <a:prstDash val="solid"/>
          </a:ln>
        </p:spPr>
      </p:sp>
      <p:sp>
        <p:nvSpPr>
          <p:cNvPr id="10" name="Shape 8"/>
          <p:cNvSpPr/>
          <p:nvPr/>
        </p:nvSpPr>
        <p:spPr>
          <a:xfrm>
            <a:off x="10927080" y="2651760"/>
            <a:ext cx="0" cy="411480"/>
          </a:xfrm>
          <a:prstGeom prst="line">
            <a:avLst/>
          </a:prstGeom>
          <a:noFill/>
          <a:ln w="19050">
            <a:solidFill>
              <a:srgbClr val="00D9C0"/>
            </a:solidFill>
            <a:prstDash val="solid"/>
          </a:ln>
        </p:spPr>
      </p:sp>
      <p:sp>
        <p:nvSpPr>
          <p:cNvPr id="11" name="Shape 9"/>
          <p:cNvSpPr/>
          <p:nvPr/>
        </p:nvSpPr>
        <p:spPr>
          <a:xfrm>
            <a:off x="9281160" y="1188720"/>
            <a:ext cx="1920240" cy="1188720"/>
          </a:xfrm>
          <a:prstGeom prst="roundRect">
            <a:avLst>
              <a:gd name="adj" fmla="val 4615"/>
            </a:avLst>
          </a:prstGeom>
          <a:solidFill>
            <a:srgbClr val="121A33"/>
          </a:solidFill>
          <a:ln w="9525">
            <a:solidFill>
              <a:srgbClr val="00D9C0"/>
            </a:solidFill>
            <a:prstDash val="solid"/>
          </a:ln>
        </p:spPr>
      </p:sp>
      <p:sp>
        <p:nvSpPr>
          <p:cNvPr id="12" name="Text 10"/>
          <p:cNvSpPr txBox="1"/>
          <p:nvPr/>
        </p:nvSpPr>
        <p:spPr>
          <a:xfrm>
            <a:off x="9281160" y="1188720"/>
            <a:ext cx="1920240" cy="1188720"/>
          </a:xfrm>
          <a:prstGeom prst="rect">
            <a:avLst/>
          </a:prstGeom>
          <a:noFill/>
          <a:ln/>
        </p:spPr>
        <p:txBody>
          <a:bodyPr wrap="square" lIns="0" tIns="0" rIns="0" bIns="0" rtlCol="0" anchor="ctr"/>
          <a:lstStyle/>
          <a:p>
            <a:pPr marL="0" indent="0" algn="ctr">
              <a:buNone/>
            </a:pPr>
            <a:r>
              <a:rPr lang="en-US" sz="1600" b="1" dirty="0">
                <a:solidFill>
                  <a:srgbClr val="00D9C0"/>
                </a:solidFill>
                <a:latin typeface="Courier New" pitchFamily="34" charset="0"/>
                <a:ea typeface="Courier New" pitchFamily="34" charset="-122"/>
                <a:cs typeface="Courier New" pitchFamily="34" charset="-120"/>
              </a:rPr>
              <a:t>iGPU</a:t>
            </a:r>
            <a:endParaRPr lang="en-US" sz="1600" dirty="0"/>
          </a:p>
        </p:txBody>
      </p:sp>
      <p:sp>
        <p:nvSpPr>
          <p:cNvPr id="13" name="Text 11"/>
          <p:cNvSpPr txBox="1"/>
          <p:nvPr/>
        </p:nvSpPr>
        <p:spPr>
          <a:xfrm>
            <a:off x="640080" y="2377440"/>
            <a:ext cx="8229600" cy="100584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Vielen Dank!</a:t>
            </a:r>
            <a:endParaRPr lang="en-US" sz="4400" dirty="0"/>
          </a:p>
        </p:txBody>
      </p:sp>
      <p:sp>
        <p:nvSpPr>
          <p:cNvPr id="14" name="Shape 12"/>
          <p:cNvSpPr/>
          <p:nvPr/>
        </p:nvSpPr>
        <p:spPr>
          <a:xfrm>
            <a:off x="640080" y="3383280"/>
            <a:ext cx="2743200" cy="0"/>
          </a:xfrm>
          <a:prstGeom prst="line">
            <a:avLst/>
          </a:prstGeom>
          <a:noFill/>
          <a:ln w="25400">
            <a:solidFill>
              <a:srgbClr val="00D9C0"/>
            </a:solidFill>
            <a:prstDash val="solid"/>
          </a:ln>
        </p:spPr>
      </p:sp>
      <p:sp>
        <p:nvSpPr>
          <p:cNvPr id="15" name="Text 13"/>
          <p:cNvSpPr txBox="1"/>
          <p:nvPr/>
        </p:nvSpPr>
        <p:spPr>
          <a:xfrm>
            <a:off x="640080" y="3566160"/>
            <a:ext cx="8229600" cy="502920"/>
          </a:xfrm>
          <a:prstGeom prst="rect">
            <a:avLst/>
          </a:prstGeom>
          <a:noFill/>
          <a:ln/>
        </p:spPr>
        <p:txBody>
          <a:bodyPr wrap="square" lIns="0" tIns="0" rIns="0" bIns="0" rtlCol="0" anchor="ctr"/>
          <a:lstStyle/>
          <a:p>
            <a:pPr marL="0" indent="0">
              <a:buNone/>
            </a:pPr>
            <a:r>
              <a:rPr lang="en-US" sz="1800" dirty="0">
                <a:solidFill>
                  <a:srgbClr val="C9D2EE"/>
                </a:solidFill>
                <a:latin typeface="Calibri" pitchFamily="34" charset="0"/>
                <a:ea typeface="Calibri" pitchFamily="34" charset="-122"/>
                <a:cs typeface="Calibri" pitchFamily="34" charset="-120"/>
              </a:rPr>
              <a:t>Fragen zu Ollama, Vulkan oder iGPU-Tuning?</a:t>
            </a:r>
            <a:endParaRPr lang="en-US" sz="1800" dirty="0"/>
          </a:p>
        </p:txBody>
      </p:sp>
      <p:sp>
        <p:nvSpPr>
          <p:cNvPr id="16" name="Text 14"/>
          <p:cNvSpPr txBox="1"/>
          <p:nvPr/>
        </p:nvSpPr>
        <p:spPr>
          <a:xfrm>
            <a:off x="640080" y="6035040"/>
            <a:ext cx="8686800" cy="365760"/>
          </a:xfrm>
          <a:prstGeom prst="rect">
            <a:avLst/>
          </a:prstGeom>
          <a:noFill/>
          <a:ln/>
        </p:spPr>
        <p:txBody>
          <a:bodyPr wrap="square" lIns="0" tIns="0" rIns="0" bIns="0" rtlCol="0" anchor="ctr"/>
          <a:lstStyle/>
          <a:p>
            <a:pPr marL="0" indent="0">
              <a:buNone/>
            </a:pPr>
            <a:r>
              <a:rPr lang="en-US" sz="1050" i="1" dirty="0">
                <a:solidFill>
                  <a:srgbClr val="9AA3C0"/>
                </a:solidFill>
                <a:latin typeface="Calibri" pitchFamily="34" charset="0"/>
                <a:ea typeface="Calibri" pitchFamily="34" charset="-122"/>
                <a:cs typeface="Calibri" pitchFamily="34" charset="-120"/>
              </a:rPr>
              <a:t>Quelle: collabnix.com – Ollama Performance Tuning: GPU Optimization Techniques for Production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6.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4700</Words>
  <Application>Microsoft Office PowerPoint</Application>
  <PresentationFormat>Benutzerdefiniert</PresentationFormat>
  <Paragraphs>765</Paragraphs>
  <Slides>31</Slides>
  <Notes>21</Notes>
  <HiddenSlides>0</HiddenSlides>
  <MMClips>0</MMClips>
  <ScaleCrop>false</ScaleCrop>
  <HeadingPairs>
    <vt:vector size="4" baseType="variant">
      <vt:variant>
        <vt:lpstr>Design</vt:lpstr>
      </vt:variant>
      <vt:variant>
        <vt:i4>5</vt:i4>
      </vt:variant>
      <vt:variant>
        <vt:lpstr>Folientitel</vt:lpstr>
      </vt:variant>
      <vt:variant>
        <vt:i4>31</vt:i4>
      </vt:variant>
    </vt:vector>
  </HeadingPairs>
  <TitlesOfParts>
    <vt:vector size="36" baseType="lpstr">
      <vt:lpstr>Office Theme</vt:lpstr>
      <vt:lpstr>1_Office Theme</vt:lpstr>
      <vt:lpstr>2_Office Theme</vt:lpstr>
      <vt:lpstr>3_Office Theme</vt:lpstr>
      <vt:lpstr>4_Office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Ralf</cp:lastModifiedBy>
  <cp:revision>103</cp:revision>
  <dcterms:created xsi:type="dcterms:W3CDTF">2026-09-10T21:06:57Z</dcterms:created>
  <dcterms:modified xsi:type="dcterms:W3CDTF">2026-09-29T14:12:03Z</dcterms:modified>
</cp:coreProperties>
</file>