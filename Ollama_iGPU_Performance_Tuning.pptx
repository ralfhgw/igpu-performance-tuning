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4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52" r:id="rId3"/>
    <p:sldMasterId id="2147483654" r:id="rId4"/>
    <p:sldMasterId id="2147483656" r:id="rId5"/>
  </p:sldMasterIdLst>
  <p:notesMasterIdLst>
    <p:notesMasterId r:id="rId44"/>
  </p:notesMasterIdLst>
  <p:sldIdLst>
    <p:sldId id="256" r:id="rId6"/>
    <p:sldId id="258" r:id="rId7"/>
    <p:sldId id="259" r:id="rId8"/>
    <p:sldId id="260" r:id="rId9"/>
    <p:sldId id="261" r:id="rId10"/>
    <p:sldId id="262" r:id="rId11"/>
    <p:sldId id="296" r:id="rId12"/>
    <p:sldId id="297" r:id="rId13"/>
    <p:sldId id="263" r:id="rId14"/>
    <p:sldId id="264" r:id="rId15"/>
    <p:sldId id="265" r:id="rId16"/>
    <p:sldId id="266" r:id="rId17"/>
    <p:sldId id="267" r:id="rId18"/>
    <p:sldId id="268" r:id="rId19"/>
    <p:sldId id="298" r:id="rId20"/>
    <p:sldId id="299" r:id="rId21"/>
    <p:sldId id="269" r:id="rId22"/>
    <p:sldId id="270" r:id="rId23"/>
    <p:sldId id="272" r:id="rId24"/>
    <p:sldId id="286" r:id="rId25"/>
    <p:sldId id="300" r:id="rId26"/>
    <p:sldId id="301" r:id="rId27"/>
    <p:sldId id="302" r:id="rId28"/>
    <p:sldId id="287" r:id="rId29"/>
    <p:sldId id="288" r:id="rId30"/>
    <p:sldId id="303" r:id="rId31"/>
    <p:sldId id="292" r:id="rId32"/>
    <p:sldId id="281" r:id="rId33"/>
    <p:sldId id="274" r:id="rId34"/>
    <p:sldId id="276" r:id="rId35"/>
    <p:sldId id="278" r:id="rId36"/>
    <p:sldId id="282" r:id="rId37"/>
    <p:sldId id="283" r:id="rId38"/>
    <p:sldId id="284" r:id="rId39"/>
    <p:sldId id="293" r:id="rId40"/>
    <p:sldId id="294" r:id="rId41"/>
    <p:sldId id="304" r:id="rId42"/>
    <p:sldId id="28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9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954" y="-4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slide" Target="slides/slide3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Gleicher </a:t>
            </a:r>
            <a:r>
              <a:rPr lang="de-DE" sz="1250" b="0" i="0" u="none" strike="noStrike" smtClean="0">
                <a:solidFill>
                  <a:srgbClr val="12172B"/>
                </a:solidFill>
                <a:latin typeface="Arial"/>
              </a:rPr>
              <a:t>Inhalt </a:t>
            </a: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– Tokens im Prompt</a:t>
            </a:r>
          </a:p>
        </c:rich>
      </c:tx>
      <c:layout>
        <c:manualLayout>
          <c:xMode val="edge"/>
          <c:yMode val="edge"/>
          <c:x val="0.24701313818823495"/>
          <c:y val="0.11627906976744186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0522556568395755"/>
          <c:y val="0.25436071944495309"/>
          <c:w val="0.38417046935523103"/>
          <c:h val="0.6745798490304990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 Eval Count</c:v>
                </c:pt>
              </c:strCache>
            </c:strRef>
          </c:tx>
          <c:spPr>
            <a:solidFill>
              <a:srgbClr val="FF6B4A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25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</c:v>
                </c:pt>
                <c:pt idx="1">
                  <c:v>en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362</c:v>
                </c:pt>
                <c:pt idx="1">
                  <c:v>239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37732864"/>
        <c:axId val="137744384"/>
      </c:barChart>
      <c:catAx>
        <c:axId val="13773286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137744384"/>
        <c:crosses val="autoZero"/>
        <c:auto val="1"/>
        <c:lblAlgn val="ctr"/>
        <c:lblOffset val="100"/>
        <c:noMultiLvlLbl val="1"/>
      </c:catAx>
      <c:valAx>
        <c:axId val="137744384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1377328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Tokens/s</c:v>
                </c:pt>
              </c:strCache>
            </c:strRef>
          </c:tx>
          <c:spPr>
            <a:solidFill>
              <a:srgbClr val="00D9C0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3A9A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4A"/>
              </a:solidFill>
              <a:effectLst/>
            </c:spPr>
          </c:dPt>
          <c:dLbls>
            <c:dLbl>
              <c:idx val="0"/>
              <c:layout/>
              <c:tx>
                <c:rich>
                  <a:bodyPr/>
                  <a:lstStyle/>
                  <a:p>
                    <a:r>
                      <a:rPr lang="en-US" smtClean="0"/>
                      <a:t>47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/>
              <c:tx>
                <c:rich>
                  <a:bodyPr/>
                  <a:lstStyle/>
                  <a:p>
                    <a:r>
                      <a:rPr lang="en-US" smtClean="0"/>
                      <a:t>13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1.0964912280701754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smtClean="0"/>
                      <a:t>4 Tokens/s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Reiner VRAM-Betrieb</c:v>
                </c:pt>
                <c:pt idx="1">
                  <c:v>VRAM + RAM gemischt</c:v>
                </c:pt>
                <c:pt idx="2">
                  <c:v>Reiner CPU/RAM-Betrieb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12.5</c:v>
                </c:pt>
                <c:pt idx="2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58619520"/>
        <c:axId val="158623232"/>
      </c:barChart>
      <c:catAx>
        <c:axId val="158619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A365C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D7DCEE"/>
                </a:solidFill>
                <a:latin typeface="Calibri"/>
              </a:defRPr>
            </a:pPr>
            <a:endParaRPr lang="de-DE"/>
          </a:p>
        </c:txPr>
        <c:crossAx val="158623232"/>
        <c:crosses val="autoZero"/>
        <c:auto val="1"/>
        <c:lblAlgn val="ctr"/>
        <c:lblOffset val="100"/>
        <c:noMultiLvlLbl val="1"/>
      </c:catAx>
      <c:valAx>
        <c:axId val="15862323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158619520"/>
        <c:crosses val="autoZero"/>
        <c:crossBetween val="between"/>
      </c:valAx>
      <c:spPr>
        <a:solidFill>
          <a:srgbClr val="0D1321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D132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300" b="0" i="0" u="none" strike="noStrike">
                <a:solidFill>
                  <a:srgbClr val="12172B"/>
                </a:solidFill>
                <a:latin typeface="Arial"/>
              </a:rPr>
              <a:t>Eval Rate im Vergleich (</a:t>
            </a:r>
            <a:r>
              <a:rPr lang="de-DE" sz="1300" b="0" i="0" u="none" strike="noStrike" smtClean="0">
                <a:solidFill>
                  <a:srgbClr val="12172B"/>
                </a:solidFill>
                <a:latin typeface="Arial"/>
              </a:rPr>
              <a:t>Tokens / sec)</a:t>
            </a:r>
            <a:endParaRPr lang="de-DE" sz="1300" b="0" i="0" u="none" strike="noStrike">
              <a:solidFill>
                <a:srgbClr val="12172B"/>
              </a:solidFill>
              <a:latin typeface="Arial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Eval Rate (Tokens/s)</c:v>
                </c:pt>
              </c:strCache>
            </c:strRef>
          </c:tx>
          <c:spPr>
            <a:solidFill>
              <a:srgbClr val="0D1321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0.00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llama3.1:8b</c:v>
                </c:pt>
                <c:pt idx="1">
                  <c:v>llama3.2:latest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6.35</c:v>
                </c:pt>
                <c:pt idx="1">
                  <c:v>13.16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40944896"/>
        <c:axId val="141021952"/>
      </c:barChart>
      <c:catAx>
        <c:axId val="14094489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141021952"/>
        <c:crosses val="autoZero"/>
        <c:auto val="1"/>
        <c:lblAlgn val="ctr"/>
        <c:lblOffset val="100"/>
        <c:noMultiLvlLbl val="1"/>
      </c:catAx>
      <c:valAx>
        <c:axId val="1410219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478"/>
                    </a:solidFill>
                    <a:latin typeface="Arial"/>
                  </a:defRPr>
                </a:pPr>
                <a:r>
                  <a:rPr lang="de-DE" sz="1100" b="0" i="0" u="none" strike="noStrike" smtClean="0">
                    <a:solidFill>
                      <a:srgbClr val="5B6478"/>
                    </a:solidFill>
                    <a:latin typeface="Arial"/>
                  </a:rPr>
                  <a:t>eval rate Tokens </a:t>
                </a:r>
                <a:r>
                  <a:rPr lang="de-DE" sz="1100" b="0" i="0" u="none" strike="noStrike">
                    <a:solidFill>
                      <a:srgbClr val="5B6478"/>
                    </a:solidFill>
                    <a:latin typeface="Arial"/>
                  </a:rPr>
                  <a:t>/ Sekunde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Arial"/>
              </a:defRPr>
            </a:pPr>
            <a:endParaRPr lang="de-DE"/>
          </a:p>
        </c:txPr>
        <c:crossAx val="1409448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de-DE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2172B"/>
                </a:solidFill>
                <a:latin typeface="Arial"/>
              </a:defRPr>
            </a:pPr>
            <a:r>
              <a:rPr lang="de-DE" sz="1250" b="0" i="0" u="none" strike="noStrike">
                <a:solidFill>
                  <a:srgbClr val="12172B"/>
                </a:solidFill>
                <a:latin typeface="Arial"/>
              </a:rPr>
              <a:t>Gesamtdauer bis zur fertigen Antwort (Sekunden)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Gesamtdauer (s)</c:v>
                </c:pt>
              </c:strCache>
            </c:strRef>
          </c:tx>
          <c:spPr>
            <a:solidFill>
              <a:srgbClr val="FF6B4A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  <c:spPr>
              <a:solidFill>
                <a:srgbClr val="00D9C0"/>
              </a:solidFill>
              <a:effectLst/>
            </c:spPr>
          </c:dPt>
          <c:dLbls>
            <c:numFmt formatCode="0.00&quot; s&quot;" sourceLinked="0"/>
            <c:txPr>
              <a:bodyPr/>
              <a:lstStyle/>
              <a:p>
                <a:pPr>
                  <a:defRPr sz="1300" b="0" i="0" u="none" strike="noStrike">
                    <a:solidFill>
                      <a:srgbClr val="12172B"/>
                    </a:solidFill>
                    <a:latin typeface="Calibri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Langer Prompt
(217 Prompt-Tokens)</c:v>
                </c:pt>
                <c:pt idx="1">
                  <c:v>Kurzer Prompt
(71 Prompt-Tokens)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11.96</c:v>
                </c:pt>
                <c:pt idx="1">
                  <c:v>4.3099999999999996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42037760"/>
        <c:axId val="142053376"/>
      </c:barChart>
      <c:catAx>
        <c:axId val="1420377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B6478"/>
                </a:solidFill>
                <a:latin typeface="Calibri"/>
              </a:defRPr>
            </a:pPr>
            <a:endParaRPr lang="de-DE"/>
          </a:p>
        </c:txPr>
        <c:crossAx val="142053376"/>
        <c:crosses val="autoZero"/>
        <c:auto val="1"/>
        <c:lblAlgn val="ctr"/>
        <c:lblOffset val="100"/>
        <c:noMultiLvlLbl val="1"/>
      </c:catAx>
      <c:valAx>
        <c:axId val="142053376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1420377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D34C9-3F24-41BC-96DE-D27AE4F55570}" type="datetimeFigureOut">
              <a:rPr lang="de-DE" smtClean="0"/>
              <a:t>23.09.2026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0950B-9B32-4118-9B58-93BCB66AE24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920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22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23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26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8820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2393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30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490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604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4481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5075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811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2980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270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270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116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8116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DEEP DIVE · DOCKER &amp; LOKALE KI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860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 Agent mit Ollama </a:t>
            </a:r>
            <a:r>
              <a:rPr lang="en-US" sz="4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r>
              <a:rPr lang="en-US" sz="46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 iGPU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Grundverständnis zur optimierten iGPU-Nutzung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274320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Grundlagen · Hardware · Optimierung · Messergebnisse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44805" y="5806440"/>
            <a:ext cx="10458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15.09.2026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164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Einführung: Lokale KI auf dem Mini-PC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6750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Speicher benötigt ein KI-Modell?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7997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3509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13232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 im Speicher halten: Sleep Time / Keep Alive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94690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24915" y="456171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statt Wörter: Wie KI Text verarbeitet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Shape 12"/>
          <p:cNvSpPr/>
          <p:nvPr/>
        </p:nvSpPr>
        <p:spPr>
          <a:xfrm>
            <a:off x="643509" y="556869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1" name="Text 13"/>
          <p:cNvSpPr txBox="1"/>
          <p:nvPr/>
        </p:nvSpPr>
        <p:spPr>
          <a:xfrm>
            <a:off x="643509" y="50280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1215390" y="50044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Verfügbare Modelle: Ein Überblick über ollama.com/library</a:t>
            </a:r>
            <a:endParaRPr lang="en-US" sz="1600" dirty="0">
              <a:solidFill>
                <a:schemeClr val="bg1">
                  <a:lumMod val="95000"/>
                </a:schemeClr>
              </a:solidFill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Text 13"/>
          <p:cNvSpPr txBox="1"/>
          <p:nvPr/>
        </p:nvSpPr>
        <p:spPr>
          <a:xfrm>
            <a:off x="643509" y="548259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14"/>
          <p:cNvSpPr txBox="1"/>
          <p:nvPr/>
        </p:nvSpPr>
        <p:spPr>
          <a:xfrm>
            <a:off x="1224915" y="544753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 REST-API: Die wichtigsten Endpunkte</a:t>
            </a:r>
            <a:endParaRPr lang="en-US" sz="1500" dirty="0">
              <a:solidFill>
                <a:schemeClr val="bg1">
                  <a:lumMod val="95000"/>
                </a:schemeClr>
              </a:solidFill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KI auf dem Mini-PC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55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soll untersucht werden?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effizient lassen sich Sprachmodelle auf einem kleinen Rechner mit Docker betreiben?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54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und lokale Sprachmodelle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6557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lädt und betreibt Modelle </a:t>
            </a:r>
            <a:r>
              <a:rPr lang="en-US" sz="12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lang="en-US" sz="12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z.B. llama3.1 </a:t>
            </a: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 llama3.2 lokal, ohne Cloud-Anbindung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9976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79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35254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dieser Präsentation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764024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Speicherbedarf, Geschwindigkeit und Hardwareauslastung verstehen – und gezielt optimieren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1920240"/>
            <a:ext cx="4709160" cy="4023360"/>
          </a:xfrm>
          <a:prstGeom prst="roundRect">
            <a:avLst>
              <a:gd name="adj" fmla="val 2273"/>
            </a:avLst>
          </a:prstGeom>
          <a:solidFill>
            <a:srgbClr val="0D13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237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Testaufbau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23760" y="260604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23760" y="260604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Mini-PC (AMD Ryzen 7)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99448" y="322783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223760" y="342900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34290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99448" y="405079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223760" y="425196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23760" y="425196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Container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99448" y="4873752"/>
            <a:ext cx="0" cy="201168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223760" y="5074920"/>
            <a:ext cx="4160520" cy="621792"/>
          </a:xfrm>
          <a:prstGeom prst="roundRect">
            <a:avLst>
              <a:gd name="adj" fmla="val 10294"/>
            </a:avLst>
          </a:prstGeom>
          <a:solidFill>
            <a:srgbClr val="17213D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0" y="507492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(llama3.1 / llama3.2)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 benötigt ein KI-Modell?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geladenes Modell reserviert dauerhaft Arbeitsspeicher – ein Vorher-Nachher-Test mit llama3.1:8b macht das sichtbar.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577840" cy="3246120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5968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5968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5968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816352"/>
            <a:ext cx="517550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compose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up -d ollama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cs typeface="Courier New" pitchFamily="34" charset="-120"/>
              </a:rPr>
              <a:t>$ docker exec –it ollama_container ollama list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free -h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\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  ollama run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\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 "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Beschreibe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in einem Wort wer du bist"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smtClean="0">
              <a:solidFill>
                <a:srgbClr val="00D9C0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–it ollama_container ollama ps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free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–h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cs typeface="Courier New" pitchFamily="34" charset="-120"/>
              </a:rPr>
              <a:t>$ docker compose stop ollama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Ergebnis: RAM-Verbrauch steigt sichtbar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um die Modellgröße, sobald geladen wird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46520" y="2468880"/>
            <a:ext cx="51663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5786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smtClean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 </a:t>
            </a:r>
            <a:r>
              <a:rPr lang="en-US" sz="42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337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RAM-Bedarf von llama3.1:8b im geladenen Zustand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46520" y="4251960"/>
            <a:ext cx="5166360" cy="1463040"/>
          </a:xfrm>
          <a:prstGeom prst="roundRect">
            <a:avLst>
              <a:gd name="adj" fmla="val 6250"/>
            </a:avLst>
          </a:prstGeom>
          <a:solidFill>
            <a:srgbClr val="E7EC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43708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beim Entladen?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3659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der Container gestoppt, gibt das System den belegten Speicher vollständig wieder frei.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 im Speicher halten: Sleep-Time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„keep_alive“ bestimmt, wie lange ein Modell nach der letzten Anfrage geladen bleibt, bevor Ollama es automatisch entlädt.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/ m / h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Sekunden, Minuten oder Stunden bis zum Entladen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1546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154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Unendlich lange – bis Ollama beendet wird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2F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1605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sofort nach der Antwort gelöscht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Aktivieren per Docker Compose: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577840"/>
            <a:ext cx="5394960" cy="960120"/>
          </a:xfrm>
          <a:prstGeom prst="roundRect">
            <a:avLst>
              <a:gd name="adj" fmla="val 9412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4944" y="570585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70585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280" y="570585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9808" y="5925312"/>
            <a:ext cx="4992624" cy="532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docker-compose.yml: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OLLAMA_KEEP_ALIVE=-1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63640" y="2148840"/>
            <a:ext cx="5349240" cy="4389120"/>
          </a:xfrm>
          <a:prstGeom prst="roundRect">
            <a:avLst>
              <a:gd name="adj" fmla="val 1739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9944" y="227685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2" name="Shape 20"/>
          <p:cNvSpPr/>
          <p:nvPr/>
        </p:nvSpPr>
        <p:spPr>
          <a:xfrm>
            <a:off x="6611112" y="227685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3" name="Shape 21"/>
          <p:cNvSpPr/>
          <p:nvPr/>
        </p:nvSpPr>
        <p:spPr>
          <a:xfrm>
            <a:off x="6812280" y="227685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2496312"/>
            <a:ext cx="4946904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ollama ps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NAME    ID      SIZE   PROC   CONTEXT   UNTIL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46e0c10c 5.6GB 100% CPU 4096  4 min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compose up -d --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force-recreate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ollama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exec -it ollama_container ollama ps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NAME    ID      SIZE   PROC   CONTEXT   UNTIL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llama3.1:8b 46e0c10c 5.6GB 100% CPU 4096  Forever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Unterschied: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'X min'  -&gt; zeitweises </a:t>
            </a:r>
            <a:r>
              <a:rPr lang="en-US" sz="120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Halten </a:t>
            </a:r>
            <a:r>
              <a:rPr lang="en-US" sz="1200" smtClean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(Timeout)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'Forever' </a:t>
            </a:r>
            <a:r>
              <a:rPr lang="en-US" sz="120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-&gt; </a:t>
            </a:r>
            <a:r>
              <a:rPr lang="en-US" sz="1200" smtClean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dauerhaft im Speicher geladen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GRUNDLAGEN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statt Wörter: Wie KI Text verarbeitet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Token ist die kleinste Texteinheit, mit der ein Sprachmodell rechnet – oft ein Wortteil statt eines ganzen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Wortes. Die Anzahl der Token hängt von der verwendeten Sprache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der Textstruktur ab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kann vorab mit einem Tokenizer bestimmt werden (z.B.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llm-tokenizer.com).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1965960"/>
          </a:xfrm>
          <a:prstGeom prst="roundRect">
            <a:avLst>
              <a:gd name="adj" fmla="val 4651"/>
            </a:avLst>
          </a:prstGeom>
          <a:solidFill>
            <a:schemeClr val="bg2">
              <a:lumMod val="25000"/>
            </a:scheme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</a:t>
            </a:r>
            <a:endParaRPr lang="en-US" sz="110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2542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Datenschutzbestimmungen</a:t>
            </a: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Daten + schutz + best + imm + ung + en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7724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5–6 Tokens für ein Wort</a:t>
            </a:r>
            <a:endParaRPr lang="en-US" sz="125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668108" cy="1965960"/>
          </a:xfrm>
          <a:prstGeom prst="roundRect">
            <a:avLst>
              <a:gd name="adj" fmla="val 4651"/>
            </a:avLst>
          </a:prstGeom>
          <a:solidFill>
            <a:schemeClr val="bg2">
              <a:lumMod val="25000"/>
            </a:scheme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ENGLISCH</a:t>
            </a:r>
            <a:endParaRPr lang="en-US" sz="110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0" y="2542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 regulations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protection + regulations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chemeClr val="accent5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genau 3 Tokens (1 pro Wort)</a:t>
            </a:r>
            <a:endParaRPr lang="en-US" sz="125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711027811"/>
              </p:ext>
            </p:extLst>
          </p:nvPr>
        </p:nvGraphicFramePr>
        <p:xfrm>
          <a:off x="548640" y="42976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8" name="Shape 8"/>
          <p:cNvSpPr/>
          <p:nvPr/>
        </p:nvSpPr>
        <p:spPr>
          <a:xfrm>
            <a:off x="5120640" y="4297680"/>
            <a:ext cx="6719669" cy="2240280"/>
          </a:xfrm>
          <a:prstGeom prst="roundRect">
            <a:avLst>
              <a:gd name="adj" fmla="val 4651"/>
            </a:avLst>
          </a:prstGeom>
          <a:solidFill>
            <a:srgbClr val="0D1321"/>
          </a:solidFill>
          <a:ln/>
        </p:spPr>
      </p:sp>
      <p:sp>
        <p:nvSpPr>
          <p:cNvPr id="20" name="Text 10"/>
          <p:cNvSpPr txBox="1"/>
          <p:nvPr/>
        </p:nvSpPr>
        <p:spPr>
          <a:xfrm>
            <a:off x="6780262" y="4524326"/>
            <a:ext cx="3192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mtClean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Token Berechnung in Ollama</a:t>
            </a:r>
            <a:endParaRPr lang="en-US" sz="1800" dirty="0"/>
          </a:p>
        </p:txBody>
      </p:sp>
      <p:sp>
        <p:nvSpPr>
          <p:cNvPr id="22" name="Text 12"/>
          <p:cNvSpPr txBox="1"/>
          <p:nvPr/>
        </p:nvSpPr>
        <p:spPr>
          <a:xfrm>
            <a:off x="5419725" y="4968190"/>
            <a:ext cx="6312027" cy="138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</a:rPr>
              <a:t>$ jq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-n --rawfile t example-deutsch.txt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'{model:"llama3.1:8b",prompt:$t,stream:false,options:{num_predict:1}}' |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curl -s http://localhost:11434/api/generate -d @- | \</a:t>
            </a:r>
          </a:p>
          <a:p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</a:rPr>
              <a:t>jq '{prompt_eval_count, eval_count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</a:rPr>
              <a:t>}‘</a:t>
            </a:r>
          </a:p>
          <a:p>
            <a:endParaRPr lang="en-US" sz="120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"prompt_eval_count": 319,</a:t>
            </a:r>
          </a:p>
          <a:p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200" smtClean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"</a:t>
            </a:r>
            <a:r>
              <a:rPr lang="en-US" sz="120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eval_count": 1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FF6B4A"/>
                </a:solidFill>
                <a:ea typeface="Calibri" pitchFamily="34" charset="-122"/>
                <a:cs typeface="Calibri" pitchFamily="34" charset="-120"/>
              </a:rPr>
              <a:t>BLOCK 1 GRUNDLAGEN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Verfügbare Modelle: Ein Überblick über ollama.com/library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kann hunderte offene Modelle laden – z. B. mit </a:t>
            </a:r>
            <a:r>
              <a:rPr lang="en-US" sz="1200" b="1" dirty="0">
                <a:solidFill>
                  <a:srgbClr val="5B6478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 exec -it ollama_container ollama pull &lt;modell:tag&gt;. </a:t>
            </a:r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Diese sieben Familien decken die meisten Alltags- und Spezialfälle ab.</a:t>
            </a: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HeaderBg"/>
          <p:cNvSpPr/>
          <p:nvPr/>
        </p:nvSpPr>
        <p:spPr>
          <a:xfrm>
            <a:off x="548640" y="1965960"/>
            <a:ext cx="11094720" cy="41148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43" name="Text"/>
          <p:cNvSpPr txBox="1"/>
          <p:nvPr/>
        </p:nvSpPr>
        <p:spPr>
          <a:xfrm>
            <a:off x="640080" y="1965960"/>
            <a:ext cx="25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Modell-Familie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3140080" y="1965960"/>
            <a:ext cx="17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Beispiel-Tag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4890080" y="1965960"/>
            <a:ext cx="19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Anbieter / Herkunft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840080" y="1965960"/>
            <a:ext cx="471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50" b="1" dirty="0">
                <a:solidFill>
                  <a:srgbClr val="FFFFFF"/>
                </a:solidFill>
                <a:latin typeface="Arial" pitchFamily="34" charset="0"/>
              </a:rPr>
              <a:t>Stärken</a:t>
            </a:r>
          </a:p>
        </p:txBody>
      </p:sp>
      <p:sp>
        <p:nvSpPr>
          <p:cNvPr id="47" name="RowBg0"/>
          <p:cNvSpPr/>
          <p:nvPr/>
        </p:nvSpPr>
        <p:spPr>
          <a:xfrm>
            <a:off x="548640" y="237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8" name="Text"/>
          <p:cNvSpPr txBox="1"/>
          <p:nvPr/>
        </p:nvSpPr>
        <p:spPr>
          <a:xfrm>
            <a:off x="640080" y="237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Llama 3.1 / 3.2 / 3.3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3140080" y="237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llama3.2:3b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4890080" y="237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Meta AI (USA)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6840080" y="237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Weltweiter Open-Source-Standard – stark in Textgenerierung, logischem Denken und Alltagskonversation.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40080" y="293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Gemma 4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3140080" y="293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gemma4:12b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4890080" y="293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Google (USA)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6840080" y="293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Exzellent im Befolgen komplexer Instruktionen und bei Mathe-Aufgaben – Vision &amp; Tool-Calling ab Werk.</a:t>
            </a:r>
          </a:p>
        </p:txBody>
      </p:sp>
      <p:sp>
        <p:nvSpPr>
          <p:cNvPr id="56" name="RowBg2"/>
          <p:cNvSpPr/>
          <p:nvPr/>
        </p:nvSpPr>
        <p:spPr>
          <a:xfrm>
            <a:off x="548640" y="349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7" name="Text"/>
          <p:cNvSpPr txBox="1"/>
          <p:nvPr/>
        </p:nvSpPr>
        <p:spPr>
          <a:xfrm>
            <a:off x="640080" y="349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Mistral Nemo / Large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3140080" y="349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mistral-nemo:12b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4890080" y="349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Mistral AI (FR) &amp; NVIDIA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6840080" y="349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Europäisches Spitzenmodell – besonders stark in europäischen Sprachen (exzellentes Deutsch) und Argumentation.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40080" y="405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Qwen 3.6 / Qwen3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3140080" y="405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qwen3:32b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4890080" y="405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Alibaba (China)</a:t>
            </a:r>
          </a:p>
        </p:txBody>
      </p:sp>
      <p:sp>
        <p:nvSpPr>
          <p:cNvPr id="64" name="Text"/>
          <p:cNvSpPr txBox="1"/>
          <p:nvPr/>
        </p:nvSpPr>
        <p:spPr>
          <a:xfrm>
            <a:off x="6840080" y="405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Schlägt in Benchmarks regelmäßig westliche Modelle – hervorragend für allgemeine und mehrsprachige Aufgaben.</a:t>
            </a:r>
          </a:p>
        </p:txBody>
      </p:sp>
      <p:sp>
        <p:nvSpPr>
          <p:cNvPr id="65" name="RowBg4"/>
          <p:cNvSpPr/>
          <p:nvPr/>
        </p:nvSpPr>
        <p:spPr>
          <a:xfrm>
            <a:off x="548640" y="461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6" name="Text"/>
          <p:cNvSpPr txBox="1"/>
          <p:nvPr/>
        </p:nvSpPr>
        <p:spPr>
          <a:xfrm>
            <a:off x="640080" y="461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DeepSeek R1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3140080" y="461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deepseek-r1:70b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4890080" y="461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DeepSeek (China)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6840080" y="461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Reasoning-Modell mit interner </a:t>
            </a:r>
            <a:r>
              <a:rPr lang="de-DE" sz="1050">
                <a:solidFill>
                  <a:srgbClr val="30363F"/>
                </a:solidFill>
              </a:rPr>
              <a:t>Denkkette </a:t>
            </a:r>
            <a:r>
              <a:rPr lang="de-DE" sz="1050" smtClean="0">
                <a:solidFill>
                  <a:srgbClr val="30363F"/>
                </a:solidFill>
              </a:rPr>
              <a:t>(</a:t>
            </a:r>
            <a:r>
              <a:rPr lang="de-DE" sz="1050"/>
              <a:t>Open-Source-Antwort auf </a:t>
            </a:r>
            <a:r>
              <a:rPr lang="de-DE" sz="1050" smtClean="0"/>
              <a:t>o1/o3 von OpenAI</a:t>
            </a:r>
            <a:r>
              <a:rPr lang="de-DE" sz="1050" smtClean="0">
                <a:solidFill>
                  <a:srgbClr val="30363F"/>
                </a:solidFill>
              </a:rPr>
              <a:t>) </a:t>
            </a:r>
            <a:r>
              <a:rPr lang="de-DE" sz="1050" dirty="0">
                <a:solidFill>
                  <a:srgbClr val="30363F"/>
                </a:solidFill>
              </a:rPr>
              <a:t>– extrem stark in Mathe, Logik und Programmierung.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40080" y="517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Qwen3 Coder</a:t>
            </a:r>
          </a:p>
        </p:txBody>
      </p:sp>
      <p:sp>
        <p:nvSpPr>
          <p:cNvPr id="71" name="Text"/>
          <p:cNvSpPr txBox="1"/>
          <p:nvPr/>
        </p:nvSpPr>
        <p:spPr>
          <a:xfrm>
            <a:off x="3140080" y="517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qwen3-coder:30b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4890080" y="517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Alibaba (China)</a:t>
            </a:r>
          </a:p>
        </p:txBody>
      </p:sp>
      <p:sp>
        <p:nvSpPr>
          <p:cNvPr id="73" name="Text"/>
          <p:cNvSpPr txBox="1"/>
          <p:nvPr/>
        </p:nvSpPr>
        <p:spPr>
          <a:xfrm>
            <a:off x="6840080" y="517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Führendes lokales Modell für Programmierassistenz – Code-Generierung, Bugfixing, große Codebases.</a:t>
            </a:r>
          </a:p>
        </p:txBody>
      </p:sp>
      <p:sp>
        <p:nvSpPr>
          <p:cNvPr id="74" name="RowBg6"/>
          <p:cNvSpPr/>
          <p:nvPr/>
        </p:nvSpPr>
        <p:spPr>
          <a:xfrm>
            <a:off x="548640" y="5737440"/>
            <a:ext cx="11094720" cy="56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5" name="Text"/>
          <p:cNvSpPr txBox="1"/>
          <p:nvPr/>
        </p:nvSpPr>
        <p:spPr>
          <a:xfrm>
            <a:off x="640080" y="5737440"/>
            <a:ext cx="25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D1321"/>
                </a:solidFill>
              </a:rPr>
              <a:t>Phi-4</a:t>
            </a:r>
          </a:p>
        </p:txBody>
      </p:sp>
      <p:sp>
        <p:nvSpPr>
          <p:cNvPr id="76" name="Text"/>
          <p:cNvSpPr txBox="1"/>
          <p:nvPr/>
        </p:nvSpPr>
        <p:spPr>
          <a:xfrm>
            <a:off x="3140080" y="5737440"/>
            <a:ext cx="17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D6B63"/>
                </a:solidFill>
                <a:latin typeface="Courier New" pitchFamily="34" charset="0"/>
              </a:rPr>
              <a:t>phi4:14b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4890080" y="5737440"/>
            <a:ext cx="195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5B6478"/>
                </a:solidFill>
              </a:rPr>
              <a:t>Microsoft (USA)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840080" y="5737440"/>
            <a:ext cx="47118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dirty="0">
                <a:solidFill>
                  <a:srgbClr val="30363F"/>
                </a:solidFill>
              </a:rPr>
              <a:t>Kompakt und hochoptimiert – trotz geringerer Parameterzahl präzise bei wissenschaftlichen und logischen Aufgaben.</a:t>
            </a:r>
          </a:p>
        </p:txBody>
      </p:sp>
      <p:sp>
        <p:nvSpPr>
          <p:cNvPr id="79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97561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FF6B4A"/>
                </a:solidFill>
                <a:ea typeface="Calibri" pitchFamily="34" charset="-122"/>
                <a:cs typeface="Calibri" pitchFamily="34" charset="-120"/>
              </a:rPr>
              <a:t>BLOCK 1 GRUNDLAGEN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REST-API: Die wichtigsten Endpunkte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stellt zwei Endpunkt-Familien bereit: native Endpunkte unter /api/* und OpenAI-kompatible Endpunkte unter /v1/* – für Tools, die eigentlich für die ChatGPT-API geschrieben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wurden.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Aufruf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z.B.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mit: </a:t>
            </a:r>
          </a:p>
          <a:p>
            <a:r>
              <a:rPr lang="en-US" sz="1300" b="1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curl </a:t>
            </a:r>
            <a:r>
              <a:rPr lang="en-US" sz="1300" b="1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-s "http://localhost:11434/api/show" -H 'Content-Type: application/json' -d "{\"model\":\"myaniu/qwen2.5-1m:14b</a:t>
            </a:r>
            <a:r>
              <a:rPr lang="en-US" sz="1300" b="1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\"}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"</a:t>
            </a:r>
            <a:endParaRPr lang="en-US" sz="130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ext"/>
          <p:cNvSpPr txBox="1"/>
          <p:nvPr/>
        </p:nvSpPr>
        <p:spPr>
          <a:xfrm>
            <a:off x="620080" y="2105736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FF6B4A"/>
                </a:solidFill>
              </a:rPr>
              <a:t>TEXT- &amp; INFERENZ-ENDPUNKTE</a:t>
            </a:r>
          </a:p>
        </p:txBody>
      </p:sp>
      <p:sp>
        <p:nvSpPr>
          <p:cNvPr id="43" name="RowBg0"/>
          <p:cNvSpPr/>
          <p:nvPr/>
        </p:nvSpPr>
        <p:spPr>
          <a:xfrm>
            <a:off x="528640" y="23526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4" name="Text"/>
          <p:cNvSpPr txBox="1"/>
          <p:nvPr/>
        </p:nvSpPr>
        <p:spPr>
          <a:xfrm>
            <a:off x="620080" y="23526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/api/chat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3440080" y="23526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Strukturierte Konversation über ein messages-Array (System-/User-/Assistant-Rollen).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20080" y="263217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/api/embed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3440080" y="263217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Erzeugt Vektor-Embeddings aus Text – Basis für eigene Wissensdatenbanken (RAG).</a:t>
            </a:r>
          </a:p>
        </p:txBody>
      </p:sp>
      <p:sp>
        <p:nvSpPr>
          <p:cNvPr id="48" name="Text"/>
          <p:cNvSpPr txBox="1"/>
          <p:nvPr/>
        </p:nvSpPr>
        <p:spPr>
          <a:xfrm>
            <a:off x="620080" y="2911728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00D9C0"/>
                </a:solidFill>
              </a:rPr>
              <a:t>MODELLVERWALTUNG</a:t>
            </a:r>
          </a:p>
        </p:txBody>
      </p:sp>
      <p:sp>
        <p:nvSpPr>
          <p:cNvPr id="49" name="RowBg2"/>
          <p:cNvSpPr/>
          <p:nvPr/>
        </p:nvSpPr>
        <p:spPr>
          <a:xfrm>
            <a:off x="528640" y="3158616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0" name="Text"/>
          <p:cNvSpPr txBox="1"/>
          <p:nvPr/>
        </p:nvSpPr>
        <p:spPr>
          <a:xfrm>
            <a:off x="620080" y="315861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/api/tags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3440080" y="315861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Listet alle lokal installierten, einsatzbereiten Modelle auf.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20080" y="3438168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/api/show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3440080" y="3438168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Zeigt System-Prompt, Lizenz und Architektur eines installierten Modells.</a:t>
            </a:r>
          </a:p>
        </p:txBody>
      </p:sp>
      <p:sp>
        <p:nvSpPr>
          <p:cNvPr id="54" name="RowBg4"/>
          <p:cNvSpPr/>
          <p:nvPr/>
        </p:nvSpPr>
        <p:spPr>
          <a:xfrm>
            <a:off x="528640" y="3717720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5" name="Text"/>
          <p:cNvSpPr txBox="1"/>
          <p:nvPr/>
        </p:nvSpPr>
        <p:spPr>
          <a:xfrm>
            <a:off x="620080" y="371772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/api/ps</a:t>
            </a:r>
          </a:p>
        </p:txBody>
      </p:sp>
      <p:sp>
        <p:nvSpPr>
          <p:cNvPr id="56" name="Text"/>
          <p:cNvSpPr txBox="1"/>
          <p:nvPr/>
        </p:nvSpPr>
        <p:spPr>
          <a:xfrm>
            <a:off x="3440080" y="371772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Zeigt, welche Modelle gerade im RAM/VRAM geladen sind.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620080" y="3997272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/api/pull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3440080" y="3997272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Lädt ein Modell aus der Ollama-Bibliothek im Hintergrund herunter.</a:t>
            </a:r>
          </a:p>
        </p:txBody>
      </p:sp>
      <p:sp>
        <p:nvSpPr>
          <p:cNvPr id="59" name="RowBg6"/>
          <p:cNvSpPr/>
          <p:nvPr/>
        </p:nvSpPr>
        <p:spPr>
          <a:xfrm>
            <a:off x="528640" y="42768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0" name="Text"/>
          <p:cNvSpPr txBox="1"/>
          <p:nvPr/>
        </p:nvSpPr>
        <p:spPr>
          <a:xfrm>
            <a:off x="620080" y="42768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/api/push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3440080" y="42768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Lädt ein selbst erstelltes Modell (Modelfile) in die Bibliothek hoch.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620080" y="4556376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/api/create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3440080" y="4556376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Erstellt ein neues Modell aus einem lokalen Modelfile.</a:t>
            </a:r>
          </a:p>
        </p:txBody>
      </p:sp>
      <p:sp>
        <p:nvSpPr>
          <p:cNvPr id="64" name="RowBg8"/>
          <p:cNvSpPr/>
          <p:nvPr/>
        </p:nvSpPr>
        <p:spPr>
          <a:xfrm>
            <a:off x="528640" y="4835928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5" name="Text"/>
          <p:cNvSpPr txBox="1"/>
          <p:nvPr/>
        </p:nvSpPr>
        <p:spPr>
          <a:xfrm>
            <a:off x="620080" y="4835928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/api/copy</a:t>
            </a:r>
          </a:p>
        </p:txBody>
      </p:sp>
      <p:sp>
        <p:nvSpPr>
          <p:cNvPr id="66" name="Text"/>
          <p:cNvSpPr txBox="1"/>
          <p:nvPr/>
        </p:nvSpPr>
        <p:spPr>
          <a:xfrm>
            <a:off x="3440080" y="4835928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Dupliziert ein lokales Modell unter neuem Namen.</a:t>
            </a:r>
          </a:p>
        </p:txBody>
      </p:sp>
      <p:sp>
        <p:nvSpPr>
          <p:cNvPr id="67" name="Text"/>
          <p:cNvSpPr txBox="1"/>
          <p:nvPr/>
        </p:nvSpPr>
        <p:spPr>
          <a:xfrm>
            <a:off x="620080" y="511548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DELETE /api/delete</a:t>
            </a:r>
          </a:p>
        </p:txBody>
      </p:sp>
      <p:sp>
        <p:nvSpPr>
          <p:cNvPr id="68" name="Text"/>
          <p:cNvSpPr txBox="1"/>
          <p:nvPr/>
        </p:nvSpPr>
        <p:spPr>
          <a:xfrm>
            <a:off x="3440080" y="511548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Löscht ein lokales Modell und gibt Festplattenplatz frei.</a:t>
            </a:r>
          </a:p>
        </p:txBody>
      </p:sp>
      <p:sp>
        <p:nvSpPr>
          <p:cNvPr id="69" name="Text"/>
          <p:cNvSpPr txBox="1"/>
          <p:nvPr/>
        </p:nvSpPr>
        <p:spPr>
          <a:xfrm>
            <a:off x="620080" y="5395032"/>
            <a:ext cx="1100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spc="100" dirty="0">
                <a:solidFill>
                  <a:srgbClr val="9AA3C0"/>
                </a:solidFill>
              </a:rPr>
              <a:t>OPENAI-KOMPATIBILITÄT (/v1/*)</a:t>
            </a:r>
          </a:p>
        </p:txBody>
      </p:sp>
      <p:sp>
        <p:nvSpPr>
          <p:cNvPr id="70" name="RowBg10"/>
          <p:cNvSpPr/>
          <p:nvPr/>
        </p:nvSpPr>
        <p:spPr>
          <a:xfrm>
            <a:off x="528640" y="5641920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1" name="Text"/>
          <p:cNvSpPr txBox="1"/>
          <p:nvPr/>
        </p:nvSpPr>
        <p:spPr>
          <a:xfrm>
            <a:off x="620080" y="5641920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/v1/chat/completions</a:t>
            </a:r>
          </a:p>
        </p:txBody>
      </p:sp>
      <p:sp>
        <p:nvSpPr>
          <p:cNvPr id="72" name="Text"/>
          <p:cNvSpPr txBox="1"/>
          <p:nvPr/>
        </p:nvSpPr>
        <p:spPr>
          <a:xfrm>
            <a:off x="3440080" y="5641920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Verhält sich exakt wie die OpenAI-Chat-API – bestehende Tools laufen ohne Codeänderung.</a:t>
            </a:r>
          </a:p>
        </p:txBody>
      </p:sp>
      <p:sp>
        <p:nvSpPr>
          <p:cNvPr id="73" name="Text"/>
          <p:cNvSpPr txBox="1"/>
          <p:nvPr/>
        </p:nvSpPr>
        <p:spPr>
          <a:xfrm>
            <a:off x="620080" y="5921472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POST /v1/embeddings</a:t>
            </a:r>
          </a:p>
        </p:txBody>
      </p:sp>
      <p:sp>
        <p:nvSpPr>
          <p:cNvPr id="74" name="Text"/>
          <p:cNvSpPr txBox="1"/>
          <p:nvPr/>
        </p:nvSpPr>
        <p:spPr>
          <a:xfrm>
            <a:off x="3440080" y="5921472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OpenAI-kompatibler Embedding-Endpunkt, gleiche Request-/Response-Struktur.</a:t>
            </a:r>
          </a:p>
        </p:txBody>
      </p:sp>
      <p:sp>
        <p:nvSpPr>
          <p:cNvPr id="75" name="RowBg12"/>
          <p:cNvSpPr/>
          <p:nvPr/>
        </p:nvSpPr>
        <p:spPr>
          <a:xfrm>
            <a:off x="528640" y="6201024"/>
            <a:ext cx="11094720" cy="27955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6" name="Text"/>
          <p:cNvSpPr txBox="1"/>
          <p:nvPr/>
        </p:nvSpPr>
        <p:spPr>
          <a:xfrm>
            <a:off x="620080" y="6201024"/>
            <a:ext cx="280000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0D1321"/>
                </a:solidFill>
                <a:latin typeface="Courier New" pitchFamily="34" charset="0"/>
              </a:rPr>
              <a:t>GET /v1/models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3440080" y="6201024"/>
            <a:ext cx="8091840" cy="2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Listet die lokalen Modelle im OpenAI-Format auf.</a:t>
            </a:r>
          </a:p>
        </p:txBody>
      </p:sp>
      <p:sp>
        <p:nvSpPr>
          <p:cNvPr id="78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50902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Verständnis der Verarbeitung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278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Kontextfenster: Wie viel Text passt gleichzeitig hinein?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1779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709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Praxistest: Ein Geheimwort am Ende eines langen Textes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40080" y="4379976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0555" y="41609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12356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CPU, RAM, VRAM, iGPU, NPU – die Hardware hinter der KI</a:t>
            </a:r>
            <a:endParaRPr lang="en-US"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7" name="Text 10"/>
          <p:cNvSpPr txBox="1"/>
          <p:nvPr/>
        </p:nvSpPr>
        <p:spPr>
          <a:xfrm>
            <a:off x="620268" y="460933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11"/>
          <p:cNvSpPr txBox="1"/>
          <p:nvPr/>
        </p:nvSpPr>
        <p:spPr>
          <a:xfrm>
            <a:off x="1253490" y="458952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NVIDIA-GPU vs. Apple Silicon vs. AMD-iGPU</a:t>
            </a:r>
            <a:endParaRPr lang="en-US" sz="1500" dirty="0"/>
          </a:p>
        </p:txBody>
      </p:sp>
      <p:sp>
        <p:nvSpPr>
          <p:cNvPr id="29" name="Text 10"/>
          <p:cNvSpPr txBox="1"/>
          <p:nvPr/>
        </p:nvSpPr>
        <p:spPr>
          <a:xfrm>
            <a:off x="611505" y="50562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11"/>
          <p:cNvSpPr txBox="1"/>
          <p:nvPr/>
        </p:nvSpPr>
        <p:spPr>
          <a:xfrm>
            <a:off x="1253490" y="5029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500">
                <a:solidFill>
                  <a:schemeClr val="bg1">
                    <a:lumMod val="95000"/>
                  </a:schemeClr>
                </a:solidFill>
              </a:rPr>
              <a:t>Speicherbandbreite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 als Flaschenhals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Kontextfenster: Wie viel Text passt gleichzeitig hinein?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„Context Length“ legt fest, wie viele Tokens die KI gleichzeitig „im Blick“ hat. Ollama wählt sie automatisch anhand des </a:t>
            </a:r>
            <a:r>
              <a:rPr lang="en-US" sz="135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verfügbaren </a:t>
            </a: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 </a:t>
            </a:r>
          </a:p>
          <a:p>
            <a:pPr marL="0" indent="0">
              <a:buNone/>
            </a:pPr>
            <a:r>
              <a:rPr lang="en-US" sz="135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Abhängigkeit von der Modellgröße, Quantisierung, Token-to-Wort-Verhältnis und KV-Cache.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2F5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</a:t>
            </a:r>
            <a:r>
              <a:rPr lang="en-US" sz="1250" b="1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GB </a:t>
            </a: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Kontext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3.000 Wörter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39315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26–52 GB </a:t>
            </a: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Kontext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deutlich mehr Spielraum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23774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</a:t>
            </a:r>
            <a:r>
              <a:rPr lang="en-US" sz="1250" b="1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GB </a:t>
            </a: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8346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256k Kontext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ganze Dokumente auf einmal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E7ECF5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5266182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435" y="526618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050155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Faustregel: Ein Token entspricht im Durchschnitt etwa 4 Zeichen oder drei Viertel eines Wortes.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Praxistest: Ein Geheimwort am Ende eines langen Textes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62074"/>
            <a:ext cx="10607040" cy="329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Testtext mit einem versteckten Codewort ganz am Ende prüft, ob die KI wirklich den kompletten Kontext verarbeitet.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62125"/>
            <a:ext cx="7040880" cy="4501515"/>
          </a:xfrm>
          <a:prstGeom prst="roundRect">
            <a:avLst>
              <a:gd name="adj" fmla="val 1758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1916811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916811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916811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74367"/>
            <a:ext cx="6638544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1: kurzer Text (60 Zeilen) + Codewort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yes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“This is a long text for the AI test" </a:t>
            </a: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| head -n 60 </a:t>
            </a: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echo "GEHEIMWORT: ANANASSAFT" &gt;&gt;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 exec –it ollama_container ollama run llama3.1:8b “Lies den follgenden Text aufmerksam durch. Ganz am Ende steht ein geheimes Codewort nach dem Wort ‘GEHEIMWORT:’. Nenne mir nur dieses eine Codewort und absolut nichts anderes! Hier ist der Text: $(cat ki-test.txt)” --verbose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ANANASSAFT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2: gleicher Test mit 600 Zeilen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yes "...Testtext..." | head -n 600 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echo "GEHEIMWORT: ANANASSAFT" &gt;&gt; ki-test.txt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ollama run llama3.2:latest "..." --verbose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Standardkontext (4k) reicht nicht mehr zuverlässig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Schritt 3: Kontext auf 16k erhöhen</a:t>
            </a: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docker-compose.yml: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  OLLAMA_CONTEXT_LENGTH=16384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docker compose up -d --force-recreate ollama</a:t>
            </a:r>
            <a:endParaRPr lang="en-US" sz="11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3B5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# -&gt; Codewort wird wieder zuverlässig gefunden</a:t>
            </a:r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818120" y="1762125"/>
            <a:ext cx="3794760" cy="4501515"/>
          </a:xfrm>
          <a:prstGeom prst="roundRect">
            <a:avLst>
              <a:gd name="adj" fmla="val 2410"/>
            </a:avLst>
          </a:prstGeom>
          <a:solidFill>
            <a:srgbClr val="0D132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924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der Test?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2788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kurzen Texten liefert schon der Standardkontext (4k) zuverlässig das richtige Codewort.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2440" y="3931920"/>
            <a:ext cx="320040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92440" y="411480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Wächst der Text über die eingestellte Kontextgröße hinaus, muss diese aktiv erhöht werden – sonst gehen Informationen am Anfang des Textes verloren.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RAM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VRAM, iGPU, NPU </a:t>
            </a: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die Hardware hinter der KI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95425"/>
            <a:ext cx="5257800" cy="2471616"/>
          </a:xfrm>
          <a:prstGeom prst="roundRect">
            <a:avLst>
              <a:gd name="adj" fmla="val 5128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24025"/>
            <a:ext cx="502920" cy="502920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240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78305"/>
            <a:ext cx="4114800" cy="631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Wenige, vielseitige Kerne – rechnet sequenziell und ist für die riesigen Matrixmultiplikationen einer KI vergleichsweise langsam.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7245" y="2430585"/>
            <a:ext cx="502920" cy="50292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7245" y="243058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452810"/>
            <a:ext cx="41148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Tausende einfache, </a:t>
            </a:r>
            <a:r>
              <a:rPr lang="en-US" sz="12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parallele </a:t>
            </a:r>
            <a:r>
              <a:rPr lang="en-US" sz="12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Rechenkerne </a:t>
            </a: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ideal für genau die Matrixoperationen, aus denen ein Sprachmodell besteht.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5463099"/>
            <a:ext cx="5257800" cy="1034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iGPU-Sonderfall: AMD-CPUs, die auf G, U, HS oder H enden (sowie fast alle Notebook-CPUs), haben eine integrierte GPU. Bei Intel gilt das für fast alle Modelle – außer bei einem „F“ im Namen (z. B. i5-12400F).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466165"/>
            <a:ext cx="5445603" cy="2134285"/>
          </a:xfrm>
          <a:prstGeom prst="roundRect">
            <a:avLst>
              <a:gd name="adj" fmla="val 4211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31987" y="16037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3155" y="16037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6" name="Shape 14"/>
          <p:cNvSpPr/>
          <p:nvPr/>
        </p:nvSpPr>
        <p:spPr>
          <a:xfrm>
            <a:off x="6634323" y="16037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86851" y="1812386"/>
            <a:ext cx="5285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lscpu | grep "Model name"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Model name: AMD Ryzen 7 5825U with 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Radeon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Graphics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$ sudo dmesg | grep -i -E "vram|gtt"</a:t>
            </a:r>
            <a:endParaRPr lang="en-US" sz="1200" dirty="0">
              <a:solidFill>
                <a:srgbClr val="00D9C0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VRAM: 512M ready   |   GTT: 15755M (≈15,4 GB</a:t>
            </a:r>
            <a:r>
              <a:rPr lang="en-US" sz="120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) </a:t>
            </a:r>
            <a:r>
              <a:rPr lang="en-US" sz="1200" smtClean="0">
                <a:solidFill>
                  <a:srgbClr val="00D9C0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ready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chemeClr val="bg2"/>
              </a:solidFill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GTT = Graphics Translation Table: RAM-Anteil, den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sich die iGPU zusätzlich zum kleinen VRAM leihen darf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5040" y="3699362"/>
            <a:ext cx="5433581" cy="2838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Shape 7"/>
          <p:cNvSpPr/>
          <p:nvPr/>
        </p:nvSpPr>
        <p:spPr>
          <a:xfrm>
            <a:off x="817830" y="3078234"/>
            <a:ext cx="502920" cy="50292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/>
        </p:spPr>
      </p:sp>
      <p:sp>
        <p:nvSpPr>
          <p:cNvPr id="22" name="Text 8"/>
          <p:cNvSpPr txBox="1"/>
          <p:nvPr/>
        </p:nvSpPr>
        <p:spPr>
          <a:xfrm>
            <a:off x="823935" y="30916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sz="1000" b="1" smtClean="0">
                <a:latin typeface="Arial" pitchFamily="34" charset="0"/>
                <a:ea typeface="Arial" pitchFamily="34" charset="-122"/>
                <a:cs typeface="Arial" pitchFamily="34" charset="-120"/>
              </a:rPr>
              <a:t>PU</a:t>
            </a:r>
            <a:endParaRPr lang="en-US" sz="1000" dirty="0"/>
          </a:p>
        </p:txBody>
      </p:sp>
      <p:sp>
        <p:nvSpPr>
          <p:cNvPr id="23" name="Text 9"/>
          <p:cNvSpPr txBox="1"/>
          <p:nvPr/>
        </p:nvSpPr>
        <p:spPr>
          <a:xfrm>
            <a:off x="1508760" y="3077257"/>
            <a:ext cx="4114800" cy="588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Hochspezialisierte, fest verdrahtete Rechenschaltkreise – führt Matrixoperationen extrem parallel und direkt auf der Hardware aus.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NVIDIA-GPU vs. Apple Silicon vs. AMD-iGPU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80360" y="169164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D132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88036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dGPU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80760" y="1691640"/>
            <a:ext cx="3108960" cy="502920"/>
          </a:xfrm>
          <a:prstGeom prst="roundRect">
            <a:avLst>
              <a:gd name="adj" fmla="val 10909"/>
            </a:avLst>
          </a:prstGeom>
          <a:solidFill>
            <a:srgbClr val="00D9C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80760" y="1691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Silicon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281160" y="1691640"/>
            <a:ext cx="2514600" cy="502920"/>
          </a:xfrm>
          <a:prstGeom prst="roundRect">
            <a:avLst>
              <a:gd name="adj" fmla="val 10909"/>
            </a:avLst>
          </a:prstGeom>
          <a:solidFill>
            <a:srgbClr val="FF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281160" y="16916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AMD-iGPU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3317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Getrennt: RAM + VRAM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Basis der LPDDR5X, direkt auf dem Prozessor-Chip (SoC – System on a Chip) verlötet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2331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GTT-Bereich im System-RAM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1089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Datentransport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31089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Kopieren über PCIe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10896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Zugriff, kein Kopieren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418320" y="3108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Zugriff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/ Vulkan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8862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Flaschenhals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8862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VRAM-Größe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begrenzt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Modell, </a:t>
            </a:r>
            <a:r>
              <a:rPr lang="de-DE" sz="1200"/>
              <a:t>PCIe-Nadelöhr bei RAM-Auslagerung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862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Freier RAM wird dynamisch geteilt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3886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Geteilte RAM-Bandbreite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6634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4663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GB/s (GDDR6)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6634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smtClean="0"/>
              <a:t>M3</a:t>
            </a:r>
            <a:r>
              <a:rPr lang="de-DE" sz="1100"/>
              <a:t>, M4, M6 - 100 bis 120 GB/s </a:t>
            </a:r>
          </a:p>
          <a:p>
            <a:r>
              <a:rPr lang="de-DE" sz="1100"/>
              <a:t>M3 Pro, M4 Pro, M5 Pro – 150 bis 307 GB/s </a:t>
            </a:r>
          </a:p>
          <a:p>
            <a:r>
              <a:rPr lang="de-DE" sz="1100"/>
              <a:t>M3 Max, M4 Max, M5 Max – 400 bis 614 GB/s </a:t>
            </a:r>
          </a:p>
          <a:p>
            <a:r>
              <a:rPr lang="pt-BR" sz="1100"/>
              <a:t>M3 Ultra, M5 Ultra – 800 bis 1,2 TB/s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4663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</a:t>
            </a:r>
            <a:r>
              <a:rPr lang="en-US" sz="115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</a:t>
            </a:r>
            <a:r>
              <a:rPr lang="en-US" sz="1150" smtClean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100+ GB/s (DDR4 bis LPDDR5x)</a:t>
            </a:r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247120" cy="77724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54406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4406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Hoher Verbrauch, sehr stark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544068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 effizient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5440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Effizient, aber begrenzt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VERARBEITUNG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3200" b="1">
                <a:solidFill>
                  <a:schemeClr val="bg1"/>
                </a:solidFill>
              </a:rPr>
              <a:t>Speicherbandbreite</a:t>
            </a:r>
            <a:r>
              <a:rPr lang="en-US" sz="3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 dedizierten Grafikkarten (dGPU)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260430161"/>
              </p:ext>
            </p:extLst>
          </p:nvPr>
        </p:nvGraphicFramePr>
        <p:xfrm>
          <a:off x="548639" y="1737360"/>
          <a:ext cx="11431564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550790" y="1628774"/>
            <a:ext cx="2109372" cy="3052953"/>
          </a:xfrm>
          <a:prstGeom prst="roundRect">
            <a:avLst>
              <a:gd name="adj" fmla="val 2410"/>
            </a:avLst>
          </a:prstGeom>
          <a:solidFill>
            <a:srgbClr val="1721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1804" y="1717128"/>
            <a:ext cx="18667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2347100"/>
            <a:ext cx="1810512" cy="161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größer </a:t>
            </a:r>
            <a:r>
              <a:rPr lang="en-US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</a:t>
            </a:r>
            <a:r>
              <a:rPr lang="en-US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Modell-anteil</a:t>
            </a: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der </a:t>
            </a:r>
            <a:r>
              <a:rPr lang="en-US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</a:t>
            </a:r>
            <a:r>
              <a:rPr lang="de-DE" sz="130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langsamem System-RAM (DDR) statt schnellem Grafikspeicher (GDDR</a:t>
            </a:r>
            <a:r>
              <a:rPr lang="de-DE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smtClean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bedient </a:t>
            </a: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wird, desto stärker bricht die Geschwindigkeit ein.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883577" y="4263309"/>
            <a:ext cx="1476717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Shape 5"/>
          <p:cNvSpPr/>
          <p:nvPr/>
        </p:nvSpPr>
        <p:spPr>
          <a:xfrm>
            <a:off x="9867117" y="2186859"/>
            <a:ext cx="1476717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2 VERARBEITUNG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Speichertechnologien im Vergleich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RAM-Technologien unterscheiden sich grundlegend in Architektur, Einsatzzweck und Speicherbandbreite – genau daran liegt es, wenn die iGPU bei sehr langem Kontext (z. B. 1 Mio. Tokens) einknickt.</a:t>
            </a: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blHeaderBg"/>
          <p:cNvSpPr/>
          <p:nvPr/>
        </p:nvSpPr>
        <p:spPr>
          <a:xfrm>
            <a:off x="548640" y="1965960"/>
            <a:ext cx="11094720" cy="370000"/>
          </a:xfrm>
          <a:prstGeom prst="roundRect">
            <a:avLst>
              <a:gd name="adj" fmla="val 8000"/>
            </a:avLst>
          </a:prstGeom>
          <a:solidFill>
            <a:srgbClr val="0D1321"/>
          </a:solidFill>
          <a:ln/>
        </p:spPr>
      </p:sp>
      <p:sp>
        <p:nvSpPr>
          <p:cNvPr id="43" name="Text"/>
          <p:cNvSpPr txBox="1"/>
          <p:nvPr/>
        </p:nvSpPr>
        <p:spPr>
          <a:xfrm>
            <a:off x="640080" y="1965960"/>
            <a:ext cx="17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Speichertyp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2340080" y="1965960"/>
            <a:ext cx="3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Primärer Einsatzzweck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5340080" y="1965960"/>
            <a:ext cx="19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Bandbreite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240080" y="1965960"/>
            <a:ext cx="431184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FFFFFF"/>
                </a:solidFill>
                <a:latin typeface="Arial" pitchFamily="34" charset="0"/>
              </a:rPr>
              <a:t>Hauptmerkmal</a:t>
            </a:r>
          </a:p>
        </p:txBody>
      </p:sp>
      <p:sp>
        <p:nvSpPr>
          <p:cNvPr id="47" name="TblRowBg0"/>
          <p:cNvSpPr/>
          <p:nvPr/>
        </p:nvSpPr>
        <p:spPr>
          <a:xfrm>
            <a:off x="548640" y="2335960"/>
            <a:ext cx="11094720" cy="48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8" name="Text"/>
          <p:cNvSpPr txBox="1"/>
          <p:nvPr/>
        </p:nvSpPr>
        <p:spPr>
          <a:xfrm>
            <a:off x="640080" y="233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DDR4 / DDR5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2340080" y="233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Arbeitsspeicher (Desktop-PC, Server, Mini-PC)</a:t>
            </a:r>
          </a:p>
        </p:txBody>
      </p:sp>
      <p:sp>
        <p:nvSpPr>
          <p:cNvPr id="50" name="Text"/>
          <p:cNvSpPr txBox="1"/>
          <p:nvPr/>
        </p:nvSpPr>
        <p:spPr>
          <a:xfrm>
            <a:off x="5340080" y="233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25–90 GB/s</a:t>
            </a:r>
          </a:p>
        </p:txBody>
      </p:sp>
      <p:sp>
        <p:nvSpPr>
          <p:cNvPr id="51" name="Text"/>
          <p:cNvSpPr txBox="1"/>
          <p:nvPr/>
        </p:nvSpPr>
        <p:spPr>
          <a:xfrm>
            <a:off x="7240080" y="233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Steckbar (DIMM/SO-DIMM). Optimiert auf niedrige Latenz statt maximaler Bandbreite.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40080" y="281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LPDDR5 / 5x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2340080" y="281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Smartphones, Tablets, dünne Laptops</a:t>
            </a:r>
          </a:p>
        </p:txBody>
      </p:sp>
      <p:sp>
        <p:nvSpPr>
          <p:cNvPr id="54" name="Text"/>
          <p:cNvSpPr txBox="1"/>
          <p:nvPr/>
        </p:nvSpPr>
        <p:spPr>
          <a:xfrm>
            <a:off x="5340080" y="281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50–120 GB/s</a:t>
            </a:r>
          </a:p>
        </p:txBody>
      </p:sp>
      <p:sp>
        <p:nvSpPr>
          <p:cNvPr id="55" name="Text"/>
          <p:cNvSpPr txBox="1"/>
          <p:nvPr/>
        </p:nvSpPr>
        <p:spPr>
          <a:xfrm>
            <a:off x="7240080" y="281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"Low Power" – fest verlötet, stromsparend, etwas höhere Latenz als DDR5.</a:t>
            </a:r>
          </a:p>
        </p:txBody>
      </p:sp>
      <p:sp>
        <p:nvSpPr>
          <p:cNvPr id="56" name="TblRowBg2"/>
          <p:cNvSpPr/>
          <p:nvPr/>
        </p:nvSpPr>
        <p:spPr>
          <a:xfrm>
            <a:off x="548640" y="3295960"/>
            <a:ext cx="11094720" cy="480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7" name="Text"/>
          <p:cNvSpPr txBox="1"/>
          <p:nvPr/>
        </p:nvSpPr>
        <p:spPr>
          <a:xfrm>
            <a:off x="640080" y="329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GDDR6 / 6X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2340080" y="329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Grafikkarten (VRAM), Spielekonsolen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5340080" y="329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500–1.000+ GB/s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40080" y="329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"Graphics" – massive Bandbreite für Texturen &amp; KI-Gewichte. Stromhungrig &amp; heiß.</a:t>
            </a:r>
          </a:p>
        </p:txBody>
      </p:sp>
      <p:sp>
        <p:nvSpPr>
          <p:cNvPr id="61" name="Text"/>
          <p:cNvSpPr txBox="1"/>
          <p:nvPr/>
        </p:nvSpPr>
        <p:spPr>
          <a:xfrm>
            <a:off x="640080" y="3775960"/>
            <a:ext cx="17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50" b="1" dirty="0">
                <a:solidFill>
                  <a:srgbClr val="0D1321"/>
                </a:solidFill>
              </a:rPr>
              <a:t>HBM (3 / 4)</a:t>
            </a:r>
          </a:p>
        </p:txBody>
      </p:sp>
      <p:sp>
        <p:nvSpPr>
          <p:cNvPr id="62" name="Text"/>
          <p:cNvSpPr txBox="1"/>
          <p:nvPr/>
        </p:nvSpPr>
        <p:spPr>
          <a:xfrm>
            <a:off x="2340080" y="3775960"/>
            <a:ext cx="30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dirty="0">
                <a:solidFill>
                  <a:srgbClr val="30363F"/>
                </a:solidFill>
              </a:rPr>
              <a:t>High-End-KI-Beschleuniger (NVIDIA H100, AMD MI300)</a:t>
            </a:r>
          </a:p>
        </p:txBody>
      </p:sp>
      <p:sp>
        <p:nvSpPr>
          <p:cNvPr id="63" name="Text"/>
          <p:cNvSpPr txBox="1"/>
          <p:nvPr/>
        </p:nvSpPr>
        <p:spPr>
          <a:xfrm>
            <a:off x="5340080" y="3775960"/>
            <a:ext cx="19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000" b="1" dirty="0">
                <a:solidFill>
                  <a:srgbClr val="1F7A6C"/>
                </a:solidFill>
              </a:rPr>
              <a:t>ca. 2.000–4.900+ GB/s</a:t>
            </a:r>
          </a:p>
        </p:txBody>
      </p:sp>
      <p:sp>
        <p:nvSpPr>
          <p:cNvPr id="64" name="Text"/>
          <p:cNvSpPr txBox="1"/>
          <p:nvPr/>
        </p:nvSpPr>
        <p:spPr>
          <a:xfrm>
            <a:off x="7240080" y="3775960"/>
            <a:ext cx="43118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950" dirty="0">
                <a:solidFill>
                  <a:srgbClr val="5B6478"/>
                </a:solidFill>
              </a:rPr>
              <a:t>Vertikal gestapelt, direkt am Chip. Leistungsmaximum – extrem teuer.</a:t>
            </a:r>
          </a:p>
        </p:txBody>
      </p:sp>
      <p:sp>
        <p:nvSpPr>
          <p:cNvPr id="65" name="Text"/>
          <p:cNvSpPr txBox="1"/>
          <p:nvPr/>
        </p:nvSpPr>
        <p:spPr>
          <a:xfrm>
            <a:off x="548640" y="4455960"/>
            <a:ext cx="1109472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50" b="1" dirty="0">
                <a:solidFill>
                  <a:srgbClr val="12172B"/>
                </a:solidFill>
              </a:rPr>
              <a:t>Bauformen: Wo sitzt der Speicher?</a:t>
            </a:r>
          </a:p>
        </p:txBody>
      </p:sp>
      <p:sp>
        <p:nvSpPr>
          <p:cNvPr id="66" name="Card0"/>
          <p:cNvSpPr/>
          <p:nvPr/>
        </p:nvSpPr>
        <p:spPr>
          <a:xfrm>
            <a:off x="54864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7" name="Text"/>
          <p:cNvSpPr txBox="1"/>
          <p:nvPr/>
        </p:nvSpPr>
        <p:spPr>
          <a:xfrm>
            <a:off x="70864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DIMM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Desktop-RAM</a:t>
            </a:r>
          </a:p>
          <a:p>
            <a:r>
              <a:rPr lang="de-DE" sz="950" dirty="0">
                <a:solidFill>
                  <a:srgbClr val="30363F"/>
                </a:solidFill>
              </a:rPr>
              <a:t>Klassischer, langer Riegel für Desktop-PCs. Leicht austausch- und aufrüstbar.</a:t>
            </a:r>
          </a:p>
        </p:txBody>
      </p:sp>
      <p:sp>
        <p:nvSpPr>
          <p:cNvPr id="68" name="Card1"/>
          <p:cNvSpPr/>
          <p:nvPr/>
        </p:nvSpPr>
        <p:spPr>
          <a:xfrm>
            <a:off x="335661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9" name="Text"/>
          <p:cNvSpPr txBox="1"/>
          <p:nvPr/>
        </p:nvSpPr>
        <p:spPr>
          <a:xfrm>
            <a:off x="351661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SO-DIMM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Laptop-RAM</a:t>
            </a:r>
          </a:p>
          <a:p>
            <a:r>
              <a:rPr lang="de-DE" sz="950" dirty="0">
                <a:solidFill>
                  <a:srgbClr val="30363F"/>
                </a:solidFill>
              </a:rPr>
              <a:t>Halbe Länge, in Laptops &amp; Mini-PCs. Aufrüstbar (24–64 GB), teilt sich aber die magere RAM-Bandbreite.</a:t>
            </a:r>
          </a:p>
        </p:txBody>
      </p:sp>
      <p:sp>
        <p:nvSpPr>
          <p:cNvPr id="70" name="Card2"/>
          <p:cNvSpPr/>
          <p:nvPr/>
        </p:nvSpPr>
        <p:spPr>
          <a:xfrm>
            <a:off x="616458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1" name="Text"/>
          <p:cNvSpPr txBox="1"/>
          <p:nvPr/>
        </p:nvSpPr>
        <p:spPr>
          <a:xfrm>
            <a:off x="632458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LPDDR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Fest verlötet / On-Board</a:t>
            </a:r>
          </a:p>
          <a:p>
            <a:r>
              <a:rPr lang="de-DE" sz="950" dirty="0">
                <a:solidFill>
                  <a:srgbClr val="30363F"/>
                </a:solidFill>
              </a:rPr>
              <a:t>Chips direkt auf der Platine neben der CPU. Kürzere Signalwege → höhere Taktraten (bis 8533 MHz), spürbarer iGPU-Boost.</a:t>
            </a:r>
          </a:p>
        </p:txBody>
      </p:sp>
      <p:sp>
        <p:nvSpPr>
          <p:cNvPr id="72" name="Card3"/>
          <p:cNvSpPr/>
          <p:nvPr/>
        </p:nvSpPr>
        <p:spPr>
          <a:xfrm>
            <a:off x="8972550" y="4775960"/>
            <a:ext cx="2670810" cy="176200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3" name="Text"/>
          <p:cNvSpPr txBox="1"/>
          <p:nvPr/>
        </p:nvSpPr>
        <p:spPr>
          <a:xfrm>
            <a:off x="9132550" y="4935960"/>
            <a:ext cx="2350810" cy="144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F7A6C"/>
                </a:solidFill>
              </a:rPr>
              <a:t>CAMM2</a:t>
            </a:r>
          </a:p>
          <a:p>
            <a:r>
              <a:rPr lang="de-DE" sz="950" b="1" dirty="0">
                <a:solidFill>
                  <a:srgbClr val="5B6478"/>
                </a:solidFill>
              </a:rPr>
              <a:t>Der neue Standard</a:t>
            </a:r>
          </a:p>
          <a:p>
            <a:r>
              <a:rPr lang="de-DE" sz="950" dirty="0">
                <a:solidFill>
                  <a:srgbClr val="30363F"/>
                </a:solidFill>
              </a:rPr>
              <a:t>Flaches, schraubbares Modul. Vereint LPDDR5x-Tempo &amp; Effizienz mit Austauschbarkeit.</a:t>
            </a:r>
          </a:p>
        </p:txBody>
      </p:sp>
      <p:sp>
        <p:nvSpPr>
          <p:cNvPr id="38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14181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2 VERARBEITUNG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Speicherbandbreite berechnen: Der Dual-Channel-Check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Ein Blick in dmidecode verrät nicht nur, wie viel RAM verbaut ist, sondern auch, wie schnell er tatsächlich angebunden ist.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139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139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139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359152"/>
            <a:ext cx="71749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dmidecode --type 17 | \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grep -E "Type:|Speed:|Size:|Locator:"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DIMM 0 – Bank Locator: P0 CHANNEL A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Size: 16 GB      Locator: DIMM 0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DDR4       Speed: 2667 MT/s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DIMM 0 – Bank Locator: P0 CHANNEL B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Size: 16 GB      Locator: DIMM 0</a:t>
            </a:r>
          </a:p>
          <a:p>
            <a:pPr>
              <a:lnSpc>
                <a:spcPct val="115000"/>
              </a:lnSpc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DDR4       Speed: 2667 MT/s</a:t>
            </a:r>
          </a:p>
        </p:txBody>
      </p:sp>
      <p:sp>
        <p:nvSpPr>
          <p:cNvPr id="10" name="Shape 8"/>
          <p:cNvSpPr/>
          <p:nvPr/>
        </p:nvSpPr>
        <p:spPr>
          <a:xfrm>
            <a:off x="548640" y="4983480"/>
            <a:ext cx="6675120" cy="1280160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1023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42,67 GB/s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77240" y="56692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Speicherbandbreite (DDR4-2667, Dual-Channel)</a:t>
            </a:r>
          </a:p>
        </p:txBody>
      </p:sp>
      <p:sp>
        <p:nvSpPr>
          <p:cNvPr id="13" name="Shape 11"/>
          <p:cNvSpPr/>
          <p:nvPr/>
        </p:nvSpPr>
        <p:spPr>
          <a:xfrm>
            <a:off x="7452360" y="2011680"/>
            <a:ext cx="4160520" cy="4251960"/>
          </a:xfrm>
          <a:prstGeom prst="roundRect">
            <a:avLst>
              <a:gd name="adj" fmla="val 2198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2212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 Ausgabe verrät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7680960" y="2606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7DCEE"/>
                </a:solidFill>
                <a:ea typeface="Calibri" pitchFamily="34" charset="-122"/>
                <a:cs typeface="Calibri" pitchFamily="34" charset="-120"/>
              </a:rPr>
              <a:t>Zwei Speicherriegel, je ein Kanal – das bestimmt Kapazität und Tempo des gesamten Systems.</a:t>
            </a:r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356616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3886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2× 16 GB = 32 GB RAM insgesamt, nicht 24 GB – die Differenz reserviert die iGPU im BIOS als VRAM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7680960" y="4507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CHANNEL A + CHANNEL B belegt → optimaler Dual-Channel-Modus, doppelte Bandbreite ggü. Single-Channel</a:t>
            </a:r>
          </a:p>
        </p:txBody>
      </p:sp>
      <p:sp>
        <p:nvSpPr>
          <p:cNvPr id="19" name="Text 17"/>
          <p:cNvSpPr txBox="1"/>
          <p:nvPr/>
        </p:nvSpPr>
        <p:spPr>
          <a:xfrm>
            <a:off x="7680960" y="512978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•  DDR4, 2667 MT/s → (2667 × 64 Bit × 2 Kanäle) / 8 = 42,67 GB/s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9AA3C0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21" name="Text 8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9543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Optimierung des Mini-PCs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605" y="3122295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605" y="31222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43965" y="3104007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Vulkan: Die iGPU für lokale KI nutzen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9605" y="3584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605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965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KI-Geschwindigkeit messen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605" y="4027551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605" y="40275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43965" y="400926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Modelfile-Konfiguration</a:t>
            </a:r>
            <a:r>
              <a:rPr lang="en-US" sz="150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setzt sich durch ?</a:t>
            </a: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9605" y="447065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605" y="447065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43965" y="445236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docker-compose.yml: Ollama-Service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9605" y="4913757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605" y="49137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43965" y="501929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Berechtigungen &amp; Kern-Variablen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95385" y="661035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0686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0686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550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5550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0414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30414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52785" y="340995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52785" y="244411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06865" y="981075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06865" y="981075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4" name="Shape 15"/>
          <p:cNvSpPr/>
          <p:nvPr/>
        </p:nvSpPr>
        <p:spPr>
          <a:xfrm>
            <a:off x="633412" y="536028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5" name="Text 16"/>
          <p:cNvSpPr txBox="1"/>
          <p:nvPr/>
        </p:nvSpPr>
        <p:spPr>
          <a:xfrm>
            <a:off x="633412" y="536028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17"/>
          <p:cNvSpPr txBox="1"/>
          <p:nvPr/>
        </p:nvSpPr>
        <p:spPr>
          <a:xfrm>
            <a:off x="1227772" y="545668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smtClean="0">
                <a:solidFill>
                  <a:schemeClr val="bg1">
                    <a:lumMod val="85000"/>
                  </a:schemeClr>
                </a:solidFill>
                <a:ea typeface="Calibri" pitchFamily="34" charset="-122"/>
                <a:cs typeface="Arial" pitchFamily="34" charset="-120"/>
              </a:rPr>
              <a:t>Weitere Variablen</a:t>
            </a:r>
            <a:endParaRPr lang="en-US" sz="1600">
              <a:solidFill>
                <a:schemeClr val="bg1">
                  <a:lumMod val="85000"/>
                </a:schemeClr>
              </a:solidFill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633412" y="579843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8" name="Text 16"/>
          <p:cNvSpPr txBox="1"/>
          <p:nvPr/>
        </p:nvSpPr>
        <p:spPr>
          <a:xfrm>
            <a:off x="633412" y="579843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17"/>
          <p:cNvSpPr txBox="1"/>
          <p:nvPr/>
        </p:nvSpPr>
        <p:spPr>
          <a:xfrm>
            <a:off x="1227772" y="589483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6383655" y="3122295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1" name="Text 4"/>
          <p:cNvSpPr txBox="1"/>
          <p:nvPr/>
        </p:nvSpPr>
        <p:spPr>
          <a:xfrm>
            <a:off x="6383655" y="312229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5"/>
          <p:cNvSpPr txBox="1"/>
          <p:nvPr/>
        </p:nvSpPr>
        <p:spPr>
          <a:xfrm>
            <a:off x="6978015" y="3104007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Vulkan: Die iGPU für lokale KI nutzen</a:t>
            </a:r>
            <a:endParaRPr lang="en-US" sz="1500" dirty="0"/>
          </a:p>
        </p:txBody>
      </p:sp>
      <p:sp>
        <p:nvSpPr>
          <p:cNvPr id="43" name="Shape 6"/>
          <p:cNvSpPr/>
          <p:nvPr/>
        </p:nvSpPr>
        <p:spPr>
          <a:xfrm>
            <a:off x="6383655" y="3584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4" name="Text 7"/>
          <p:cNvSpPr txBox="1"/>
          <p:nvPr/>
        </p:nvSpPr>
        <p:spPr>
          <a:xfrm>
            <a:off x="6383655" y="3584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45" name="Text 8"/>
          <p:cNvSpPr txBox="1"/>
          <p:nvPr/>
        </p:nvSpPr>
        <p:spPr>
          <a:xfrm>
            <a:off x="6978015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KI-Geschwindigkeit messen</a:t>
            </a:r>
            <a:endParaRPr lang="en-US" sz="1500" dirty="0"/>
          </a:p>
        </p:txBody>
      </p:sp>
      <p:sp>
        <p:nvSpPr>
          <p:cNvPr id="46" name="Shape 9"/>
          <p:cNvSpPr/>
          <p:nvPr/>
        </p:nvSpPr>
        <p:spPr>
          <a:xfrm>
            <a:off x="6383655" y="4027551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47" name="Text 10"/>
          <p:cNvSpPr txBox="1"/>
          <p:nvPr/>
        </p:nvSpPr>
        <p:spPr>
          <a:xfrm>
            <a:off x="6383655" y="40275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11"/>
          <p:cNvSpPr txBox="1"/>
          <p:nvPr/>
        </p:nvSpPr>
        <p:spPr>
          <a:xfrm>
            <a:off x="6978015" y="4009263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Modelfile-Konfiguration</a:t>
            </a:r>
            <a:r>
              <a:rPr lang="en-US" sz="150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setzt sich durch ?</a:t>
            </a: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9" name="Shape 12"/>
          <p:cNvSpPr/>
          <p:nvPr/>
        </p:nvSpPr>
        <p:spPr>
          <a:xfrm>
            <a:off x="6383655" y="4470654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0" name="Text 13"/>
          <p:cNvSpPr txBox="1"/>
          <p:nvPr/>
        </p:nvSpPr>
        <p:spPr>
          <a:xfrm>
            <a:off x="6383655" y="447065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14"/>
          <p:cNvSpPr txBox="1"/>
          <p:nvPr/>
        </p:nvSpPr>
        <p:spPr>
          <a:xfrm>
            <a:off x="6978015" y="445236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docker-compose.yml: Ollama-Service</a:t>
            </a:r>
            <a:endParaRPr lang="en-US" sz="1500" dirty="0"/>
          </a:p>
        </p:txBody>
      </p:sp>
      <p:sp>
        <p:nvSpPr>
          <p:cNvPr id="52" name="Shape 15"/>
          <p:cNvSpPr/>
          <p:nvPr/>
        </p:nvSpPr>
        <p:spPr>
          <a:xfrm>
            <a:off x="6383655" y="4913757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3" name="Text 16"/>
          <p:cNvSpPr txBox="1"/>
          <p:nvPr/>
        </p:nvSpPr>
        <p:spPr>
          <a:xfrm>
            <a:off x="6383655" y="491375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54" name="Text 17"/>
          <p:cNvSpPr txBox="1"/>
          <p:nvPr/>
        </p:nvSpPr>
        <p:spPr>
          <a:xfrm>
            <a:off x="6978015" y="501929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Berechtigungen &amp; Kern-Variablen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5" name="Shape 15"/>
          <p:cNvSpPr/>
          <p:nvPr/>
        </p:nvSpPr>
        <p:spPr>
          <a:xfrm>
            <a:off x="6367462" y="536028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6" name="Text 16"/>
          <p:cNvSpPr txBox="1"/>
          <p:nvPr/>
        </p:nvSpPr>
        <p:spPr>
          <a:xfrm>
            <a:off x="6367462" y="536028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57" name="Text 17"/>
          <p:cNvSpPr txBox="1"/>
          <p:nvPr/>
        </p:nvSpPr>
        <p:spPr>
          <a:xfrm>
            <a:off x="6961822" y="545668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docker-compose.yml</a:t>
            </a:r>
            <a:r>
              <a:rPr lang="en-US" sz="1500">
                <a:solidFill>
                  <a:schemeClr val="bg1">
                    <a:lumMod val="95000"/>
                  </a:schemeClr>
                </a:solidFill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smtClean="0">
                <a:solidFill>
                  <a:schemeClr val="bg1">
                    <a:lumMod val="85000"/>
                  </a:schemeClr>
                </a:solidFill>
                <a:ea typeface="Calibri" pitchFamily="34" charset="-122"/>
                <a:cs typeface="Arial" pitchFamily="34" charset="-120"/>
              </a:rPr>
              <a:t>Weitere Variablen</a:t>
            </a:r>
            <a:endParaRPr lang="en-US" sz="1600">
              <a:solidFill>
                <a:schemeClr val="bg1">
                  <a:lumMod val="85000"/>
                </a:schemeClr>
              </a:solidFill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6367462" y="5798439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59" name="Text 16"/>
          <p:cNvSpPr txBox="1"/>
          <p:nvPr/>
        </p:nvSpPr>
        <p:spPr>
          <a:xfrm>
            <a:off x="6367462" y="579843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60" name="Text 17"/>
          <p:cNvSpPr txBox="1"/>
          <p:nvPr/>
        </p:nvSpPr>
        <p:spPr>
          <a:xfrm>
            <a:off x="6961822" y="5894832"/>
            <a:ext cx="457009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>
                <a:solidFill>
                  <a:schemeClr val="bg1">
                    <a:lumMod val="85000"/>
                  </a:schemeClr>
                </a:solidFill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  <a:p>
            <a:pPr marL="0" indent="0">
              <a:buNone/>
            </a:pPr>
            <a:endParaRPr lang="en-US" sz="1500" dirty="0">
              <a:solidFill>
                <a:srgbClr val="E4E8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Vulkan: die Brücke zur iGPU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für performante 2D-/3D-Grafik – steuert im Hintergrund Millionen Geräte an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432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Erkennt den GTT-Bereich und lädt das KI-Modell in den geteilten RAM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931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Aktiviert die Grafikkerne der iGPU – genau deshalb ist Vulkan bei AMD-iGPUs so interessant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394960"/>
            <a:ext cx="6537960" cy="1051560"/>
          </a:xfrm>
          <a:prstGeom prst="roundRect">
            <a:avLst>
              <a:gd name="adj" fmla="val 8696"/>
            </a:avLst>
          </a:prstGeom>
          <a:solidFill>
            <a:srgbClr val="1721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394960"/>
            <a:ext cx="6080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Vulkan sieht Ollama zwar die Hardware, nutzt aber nur die CPU – der Großteil der Rechenleistung der iGPU bleibt ungenutzt.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828800"/>
            <a:ext cx="3931920" cy="4617720"/>
          </a:xfrm>
          <a:prstGeom prst="roundRect">
            <a:avLst>
              <a:gd name="adj" fmla="val 2326"/>
            </a:avLst>
          </a:prstGeom>
          <a:solidFill>
            <a:srgbClr val="1721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0" y="20574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braucht Zugriff auf: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1460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/dev/dri
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dem Container die Tür zur Grafikeinheit (Vulkan-Zugriff).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/dev/kfd
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AMDs Spezialtür für Compute-Aufgaben – direkte Kommunikation mit dem Prozessorkern für Berechnungen.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KI-Geschwindigkeit messen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40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Die Anzahl der Parameter in Llama3.1:8b ist hoch im Vergleich zu Llama3.2 und sollte verwendet werden für </a:t>
            </a:r>
            <a:r>
              <a:rPr lang="de-DE" sz="1400">
                <a:solidFill>
                  <a:schemeClr val="tx1">
                    <a:lumMod val="65000"/>
                    <a:lumOff val="35000"/>
                  </a:schemeClr>
                </a:solidFill>
              </a:rPr>
              <a:t>Komplexe, mehrsprachige Übersetzungen (Nuancen), Tiefes Fach- und Faktenwissen (Deep Knowledge), Programmierung und Code-Generierung und Komplexe Logik und mehrstufige Workflows (Reasoning</a:t>
            </a:r>
            <a:r>
              <a:rPr lang="de-DE" sz="1400"/>
              <a:t>)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670398605"/>
              </p:ext>
            </p:extLst>
          </p:nvPr>
        </p:nvGraphicFramePr>
        <p:xfrm>
          <a:off x="548640" y="214884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2148840"/>
            <a:ext cx="4434840" cy="1828800"/>
          </a:xfrm>
          <a:prstGeom prst="roundRect">
            <a:avLst>
              <a:gd name="adj" fmla="val 5000"/>
            </a:avLst>
          </a:prstGeom>
          <a:solidFill>
            <a:srgbClr val="0D13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39908" y="2303145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~2×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296304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mit llama3.2:latest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direkten Codewort-Test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78040" y="4160520"/>
            <a:ext cx="4434840" cy="2103120"/>
          </a:xfrm>
          <a:prstGeom prst="roundRect">
            <a:avLst>
              <a:gd name="adj" fmla="val 4348"/>
            </a:avLst>
          </a:prstGeom>
          <a:solidFill>
            <a:srgbClr val="F2F5F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36184" y="4235156"/>
            <a:ext cx="3931920" cy="9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>
                <a:solidFill>
                  <a:srgbClr val="0D1321"/>
                </a:solidFill>
                <a:latin typeface="Consolas" panose="020B0609020204030204" pitchFamily="49" charset="0"/>
                <a:ea typeface="Arial" pitchFamily="34" charset="-122"/>
                <a:cs typeface="Arial" pitchFamily="34" charset="-120"/>
              </a:rPr>
              <a:t>$ docker exec -it ollama_container ollama run llama3.1:8b "Lies den folgenden Text aufmerksam durch. Ganz am Ende steht ein geheimes Codewort nach dem Wort 'GEHEIMWORT:'. Nenne mir NUR dieses eine Codewort und absolut nichts anderes! Hier ist der Text: $(cat ki-test.txt)" --verbose</a:t>
            </a:r>
            <a:endParaRPr lang="en-US" sz="900" dirty="0">
              <a:latin typeface="Consolas" panose="020B0609020204030204" pitchFamily="49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7336184" y="5149557"/>
            <a:ext cx="2675324" cy="1089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eval rate</a:t>
            </a:r>
            <a:r>
              <a:rPr lang="en-US" sz="1000" b="1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endParaRPr lang="en-US" sz="1000" b="1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0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zeigt, wie schnell der Eingabetext eingelesen wird.</a:t>
            </a:r>
            <a:endParaRPr lang="en-US" sz="1000" dirty="0"/>
          </a:p>
          <a:p>
            <a:pPr marL="0" indent="0">
              <a:buNone/>
            </a:pPr>
            <a:endParaRPr lang="en-US" sz="1000" b="1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b="1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</a:t>
            </a:r>
            <a:r>
              <a:rPr lang="en-US" sz="1000" b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en-US" sz="10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endParaRPr lang="en-US" sz="1000" smtClean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de-DE" sz="1000">
                <a:solidFill>
                  <a:schemeClr val="tx1">
                    <a:lumMod val="65000"/>
                    <a:lumOff val="35000"/>
                  </a:schemeClr>
                </a:solidFill>
              </a:rPr>
              <a:t>Die Generierungsgeschwindigkeit (Eval Rate) zeigt, wie viele Tokens das Modell pro Sekunde ausgibt.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Modelfile-Konfiguration: Wer setzt sich durch?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0D132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10512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1051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&gt; MODELFILE &gt; COMPOSE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0" y="1600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Wert in der API-Anfrage sticht das Modelfile immer aus. Das Modelfile dient als Fallback – hier hinterlegst du die optimalen Werte als globale Standardwerte.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wird der Wert tatsächlich gesetzt?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Node Einstellungen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3657600" y="342900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zur Laufzeit jeder Anfrage mitgeschickt – sticht IMMER alle anderen Werte aus</a:t>
            </a:r>
          </a:p>
        </p:txBody>
      </p:sp>
      <p:sp>
        <p:nvSpPr>
          <p:cNvPr id="12" name="Shape 10"/>
          <p:cNvSpPr/>
          <p:nvPr/>
        </p:nvSpPr>
        <p:spPr>
          <a:xfrm>
            <a:off x="9646920" y="35021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46920" y="3502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Prio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0050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3657600" y="400507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Standardwert des Modells – greift, wenn die Anfrage selbst nichts vorgibt</a:t>
            </a:r>
          </a:p>
        </p:txBody>
      </p:sp>
      <p:sp>
        <p:nvSpPr>
          <p:cNvPr id="17" name="Shape 15"/>
          <p:cNvSpPr/>
          <p:nvPr/>
        </p:nvSpPr>
        <p:spPr>
          <a:xfrm>
            <a:off x="9646920" y="407822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46920" y="40782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</a:p>
        </p:txBody>
      </p:sp>
      <p:sp>
        <p:nvSpPr>
          <p:cNvPr id="19" name="Shape 17"/>
          <p:cNvSpPr/>
          <p:nvPr/>
        </p:nvSpPr>
        <p:spPr>
          <a:xfrm>
            <a:off x="548640" y="4581144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5811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3657600" y="458114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globale Server-Deckel – harte Obergrenze für alle Modelle im Container</a:t>
            </a:r>
          </a:p>
        </p:txBody>
      </p:sp>
      <p:sp>
        <p:nvSpPr>
          <p:cNvPr id="22" name="Shape 20"/>
          <p:cNvSpPr/>
          <p:nvPr/>
        </p:nvSpPr>
        <p:spPr>
          <a:xfrm>
            <a:off x="9646920" y="465429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46920" y="46542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Deckel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Praxis-Regel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3657600" y="515721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Optimale Werte als globalen Standard im Modelfile hinterlegen, Ausnahmen gezielt per n8n-Node überschreiben</a:t>
            </a:r>
          </a:p>
        </p:txBody>
      </p:sp>
      <p:sp>
        <p:nvSpPr>
          <p:cNvPr id="27" name="Shape 25"/>
          <p:cNvSpPr/>
          <p:nvPr/>
        </p:nvSpPr>
        <p:spPr>
          <a:xfrm>
            <a:off x="9646920" y="523036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4692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Ollama-Service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0D1321"/>
          </a:solidFill>
          <a:ln/>
        </p:spPr>
      </p:sp>
      <p:sp>
        <p:nvSpPr>
          <p:cNvPr id="5" name="Shape 3"/>
          <p:cNvSpPr/>
          <p:nvPr/>
        </p:nvSpPr>
        <p:spPr>
          <a:xfrm>
            <a:off x="815340" y="1916049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976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image: ollama/ollama:latest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0" y="1600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E4E8F5"/>
                </a:solidFill>
                <a:ea typeface="Calibri" pitchFamily="34" charset="-122"/>
                <a:cs typeface="Calibri" pitchFamily="34" charset="-120"/>
              </a:rPr>
              <a:t>Der Container läuft als eigener Service – Port, Volumes und Geräte-Zugriffe werden hier zentral für alle Modelle festgelegt.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548640" y="292989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Bausteine des Service-Blocks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8200" y="3429000"/>
            <a:ext cx="48863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Veröffentlicht die Ollama-API auf dem Standard-Port des Hosts</a:t>
            </a:r>
          </a:p>
        </p:txBody>
      </p:sp>
      <p:sp>
        <p:nvSpPr>
          <p:cNvPr id="12" name="Shape 10"/>
          <p:cNvSpPr/>
          <p:nvPr/>
        </p:nvSpPr>
        <p:spPr>
          <a:xfrm>
            <a:off x="9646920" y="35021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46920" y="3502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57725" y="4005072"/>
            <a:ext cx="52292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Speichert Modelle &amp; Modelfiles dauerhaft außerhalb </a:t>
            </a:r>
            <a:r>
              <a:rPr lang="en-US" sz="115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des </a:t>
            </a:r>
            <a:r>
              <a:rPr lang="en-US" sz="115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Containers0</a:t>
            </a:r>
            <a:endParaRPr lang="en-US" sz="115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46920" y="407822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46920" y="40782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19" name="Shape 17"/>
          <p:cNvSpPr/>
          <p:nvPr/>
        </p:nvSpPr>
        <p:spPr>
          <a:xfrm>
            <a:off x="548640" y="4581144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76775" y="4581144"/>
            <a:ext cx="46863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Gibt der iGPU direkten Hardware-Zugriff für Vulkan-Beschleunigung</a:t>
            </a:r>
          </a:p>
        </p:txBody>
      </p:sp>
      <p:sp>
        <p:nvSpPr>
          <p:cNvPr id="22" name="Shape 20"/>
          <p:cNvSpPr/>
          <p:nvPr/>
        </p:nvSpPr>
        <p:spPr>
          <a:xfrm>
            <a:off x="9646920" y="465429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46920" y="465429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ea typeface="Calibri" pitchFamily="34" charset="-122"/>
                <a:cs typeface="Calibri" pitchFamily="34" charset="-120"/>
              </a:rPr>
              <a:t>Pflicht</a:t>
            </a:r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200" b="1" dirty="0">
              <a:solidFill>
                <a:srgbClr val="00D9C0"/>
              </a:solidFill>
              <a:latin typeface="Consolas" panose="020B0609020204030204" pitchFamily="49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705350" y="5157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Fügt den Container zu den render-/video-Gruppen des Hosts hinzu</a:t>
            </a:r>
          </a:p>
        </p:txBody>
      </p:sp>
      <p:sp>
        <p:nvSpPr>
          <p:cNvPr id="27" name="Shape 25"/>
          <p:cNvSpPr/>
          <p:nvPr/>
        </p:nvSpPr>
        <p:spPr>
          <a:xfrm>
            <a:off x="9646920" y="523036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4692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ea typeface="Calibri" pitchFamily="34" charset="-122"/>
                <a:cs typeface="Calibri" pitchFamily="34" charset="-120"/>
              </a:rPr>
              <a:t>Wichtig</a:t>
            </a:r>
          </a:p>
        </p:txBody>
      </p:sp>
      <p:sp>
        <p:nvSpPr>
          <p:cNvPr id="29" name="Shape 27"/>
          <p:cNvSpPr/>
          <p:nvPr/>
        </p:nvSpPr>
        <p:spPr>
          <a:xfrm>
            <a:off x="548640" y="5733288"/>
            <a:ext cx="11064240" cy="512064"/>
          </a:xfrm>
          <a:prstGeom prst="roundRect">
            <a:avLst>
              <a:gd name="adj" fmla="val 12500"/>
            </a:avLst>
          </a:prstGeom>
          <a:solidFill>
            <a:srgbClr val="F2F5F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14875" y="5733288"/>
            <a:ext cx="45339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Startet den Container nach Absturz oder Host-Neustart automatisch neu</a:t>
            </a:r>
          </a:p>
        </p:txBody>
      </p:sp>
      <p:sp>
        <p:nvSpPr>
          <p:cNvPr id="32" name="Shape 30"/>
          <p:cNvSpPr/>
          <p:nvPr/>
        </p:nvSpPr>
        <p:spPr>
          <a:xfrm>
            <a:off x="9646920" y="58064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0D1321"/>
                </a:solidFill>
                <a:ea typeface="Calibri" pitchFamily="34" charset="-122"/>
                <a:cs typeface="Calibri" pitchFamily="34" charset="-120"/>
              </a:rPr>
              <a:t>Empfohlen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23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37" name="Shape 3"/>
          <p:cNvSpPr/>
          <p:nvPr/>
        </p:nvSpPr>
        <p:spPr>
          <a:xfrm>
            <a:off x="574357" y="3404235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38" name="Text 4"/>
          <p:cNvSpPr txBox="1"/>
          <p:nvPr/>
        </p:nvSpPr>
        <p:spPr>
          <a:xfrm>
            <a:off x="583882" y="3404235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ports: "11434:11434"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55307" y="5713095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0" name="Text 4"/>
          <p:cNvSpPr txBox="1"/>
          <p:nvPr/>
        </p:nvSpPr>
        <p:spPr>
          <a:xfrm>
            <a:off x="564832" y="5713095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restart: unless-stopped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577215" y="39890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2" name="Text 4"/>
          <p:cNvSpPr txBox="1"/>
          <p:nvPr/>
        </p:nvSpPr>
        <p:spPr>
          <a:xfrm>
            <a:off x="586740" y="39890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volumes: ./ollama_data:/root/.ollama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564832" y="45605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4" name="Text 4"/>
          <p:cNvSpPr txBox="1"/>
          <p:nvPr/>
        </p:nvSpPr>
        <p:spPr>
          <a:xfrm>
            <a:off x="574357" y="45605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devices: /dev/dri, /dev/kfd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555307" y="513207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17213D"/>
          </a:solidFill>
          <a:ln/>
        </p:spPr>
      </p:sp>
      <p:sp>
        <p:nvSpPr>
          <p:cNvPr id="46" name="Text 4"/>
          <p:cNvSpPr txBox="1"/>
          <p:nvPr/>
        </p:nvSpPr>
        <p:spPr>
          <a:xfrm>
            <a:off x="564832" y="5132070"/>
            <a:ext cx="3556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0D9C0"/>
                </a:solidFill>
                <a:latin typeface="Courier New" panose="02070309020205020404" pitchFamily="49" charset="0"/>
                <a:ea typeface="Arial" pitchFamily="34" charset="-122"/>
                <a:cs typeface="Courier New" panose="02070309020205020404" pitchFamily="49" charset="0"/>
              </a:rPr>
              <a:t>group_add: "44", "993"</a:t>
            </a:r>
            <a:endParaRPr lang="en-US" sz="1200" b="1" dirty="0">
              <a:solidFill>
                <a:srgbClr val="00D9C0"/>
              </a:solidFill>
              <a:latin typeface="Courier New" panose="02070309020205020404" pitchFamily="49" charset="0"/>
              <a:ea typeface="Arial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8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 smtClean="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docker-compose.yml: Berechtigungen &amp; Kern-Variablen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Neben Geräten und Gruppen-Berechtigungen sorgen diese Einstellungen dafür, dass Ollama die iGPU überhaupt zuverlässig nutzen kann.</a:t>
            </a:r>
          </a:p>
        </p:txBody>
      </p:sp>
      <p:sp>
        <p:nvSpPr>
          <p:cNvPr id="5" name="Text 3"/>
          <p:cNvSpPr txBox="1"/>
          <p:nvPr/>
        </p:nvSpPr>
        <p:spPr>
          <a:xfrm>
            <a:off x="596265" y="199263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DOCKER-COMPOSE-EBENE</a:t>
            </a:r>
          </a:p>
        </p:txBody>
      </p:sp>
      <p:sp>
        <p:nvSpPr>
          <p:cNvPr id="6" name="Shape 4"/>
          <p:cNvSpPr/>
          <p:nvPr/>
        </p:nvSpPr>
        <p:spPr>
          <a:xfrm>
            <a:off x="596265" y="231267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7" name="Shape 5"/>
          <p:cNvSpPr/>
          <p:nvPr/>
        </p:nvSpPr>
        <p:spPr>
          <a:xfrm>
            <a:off x="779145" y="249555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9145" y="249555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ipc: host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779145" y="299847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Container teilt den IPC-Namespace mit dem Host – nötig, damit GPU-Treiber Shared Memory zwischen Prozessen nutzen können</a:t>
            </a:r>
          </a:p>
        </p:txBody>
      </p:sp>
      <p:sp>
        <p:nvSpPr>
          <p:cNvPr id="10" name="Shape 8"/>
          <p:cNvSpPr/>
          <p:nvPr/>
        </p:nvSpPr>
        <p:spPr>
          <a:xfrm>
            <a:off x="596265" y="4095750"/>
            <a:ext cx="5394960" cy="160020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/>
        </p:spPr>
      </p:sp>
      <p:sp>
        <p:nvSpPr>
          <p:cNvPr id="11" name="Shape 9"/>
          <p:cNvSpPr/>
          <p:nvPr/>
        </p:nvSpPr>
        <p:spPr>
          <a:xfrm>
            <a:off x="779145" y="4278629"/>
            <a:ext cx="3931920" cy="988695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979295" y="4450080"/>
            <a:ext cx="1876425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ulimits</a:t>
            </a:r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endParaRPr lang="en-US" sz="1200" b="1" smtClean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memlock:</a:t>
            </a:r>
          </a:p>
          <a:p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soft: </a:t>
            </a:r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  <a:p>
            <a:r>
              <a:rPr lang="en-US" sz="1200" b="1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hard: -1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79145" y="5133975"/>
            <a:ext cx="493776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Hebt das Limit für gesperrten (nicht auslagerbaren) Speicher auf, damit der Treiber genug GPU-Speicher reservieren kann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6196965" y="198310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OLLAMA-UMGEBUNGSVARIABLEN</a:t>
            </a:r>
          </a:p>
        </p:txBody>
      </p:sp>
      <p:sp>
        <p:nvSpPr>
          <p:cNvPr id="15" name="Shape 13"/>
          <p:cNvSpPr/>
          <p:nvPr/>
        </p:nvSpPr>
        <p:spPr>
          <a:xfrm>
            <a:off x="6196965" y="2303145"/>
            <a:ext cx="5394960" cy="800100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79845" y="2440305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9845" y="2440305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OLLAMA_VULKAN=1</a:t>
            </a:r>
          </a:p>
        </p:txBody>
      </p:sp>
      <p:sp>
        <p:nvSpPr>
          <p:cNvPr id="18" name="Text 16"/>
          <p:cNvSpPr txBox="1"/>
          <p:nvPr/>
        </p:nvSpPr>
        <p:spPr>
          <a:xfrm>
            <a:off x="6379845" y="2813685"/>
            <a:ext cx="5029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Aktiviert das </a:t>
            </a:r>
            <a:r>
              <a:rPr lang="en-US" sz="110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Vulkan-Backend </a:t>
            </a:r>
            <a:r>
              <a:rPr lang="en-US" sz="1100" smtClean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über die Ollama die iGPU überhaupt anspricht</a:t>
            </a:r>
          </a:p>
        </p:txBody>
      </p:sp>
      <p:sp>
        <p:nvSpPr>
          <p:cNvPr id="19" name="Shape 17"/>
          <p:cNvSpPr/>
          <p:nvPr/>
        </p:nvSpPr>
        <p:spPr>
          <a:xfrm>
            <a:off x="6196965" y="3200400"/>
            <a:ext cx="5394960" cy="1343025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379845" y="3343275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79845" y="3343275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OLLAMA_FLASH_ATTENTION=1</a:t>
            </a:r>
          </a:p>
        </p:txBody>
      </p:sp>
      <p:sp>
        <p:nvSpPr>
          <p:cNvPr id="22" name="Text 20"/>
          <p:cNvSpPr txBox="1"/>
          <p:nvPr/>
        </p:nvSpPr>
        <p:spPr>
          <a:xfrm>
            <a:off x="6379845" y="38785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/>
              <a:t>zerlegt diese Aufgaben stattdessen in winzige Blöcke, sodass sie direkt im ultraschnellen Speicher des Grafikchips verarbeitet werden. Dadurch wird der ständige Zugriff auf den DDR4-RAM während der Berechnung verhindert, was die Verarbeitungsgeschwindigkeit erhöht und den Arbeitsspeicher spürbar</a:t>
            </a:r>
            <a:endParaRPr lang="en-US" sz="1100" dirty="0">
              <a:solidFill>
                <a:srgbClr val="12172B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96965" y="465201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E7ECF5"/>
          </a:solidFill>
          <a:ln/>
        </p:spPr>
      </p:sp>
      <p:sp>
        <p:nvSpPr>
          <p:cNvPr id="24" name="Shape 22"/>
          <p:cNvSpPr/>
          <p:nvPr/>
        </p:nvSpPr>
        <p:spPr>
          <a:xfrm>
            <a:off x="6379845" y="478917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0D132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79845" y="478917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OLLAMA_KV_CACHE_TYPE=q4_0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6379845" y="520065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Quantisiert den KV-Cache global für den Container – reduziert den Speicherbedarf </a:t>
            </a:r>
            <a:r>
              <a:rPr lang="en-US" sz="110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um </a:t>
            </a:r>
            <a:r>
              <a:rPr lang="en-US" sz="1100" smtClean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bis zu </a:t>
            </a:r>
            <a:r>
              <a:rPr lang="en-US" sz="1100" dirty="0">
                <a:solidFill>
                  <a:srgbClr val="12172B"/>
                </a:solidFill>
                <a:ea typeface="Calibri" pitchFamily="34" charset="-122"/>
                <a:cs typeface="Calibri" pitchFamily="34" charset="-120"/>
              </a:rPr>
              <a:t>72%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24</a:t>
            </a:r>
            <a:endParaRPr lang="en-US" sz="9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27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docker-compose.yml: 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Variablen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285875"/>
            <a:ext cx="79190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Diese Variablen wirken global für den </a:t>
            </a:r>
            <a:r>
              <a:rPr lang="en-US" sz="130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gesamten </a:t>
            </a:r>
            <a:r>
              <a:rPr lang="en-US" sz="1300" smtClean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Container.</a:t>
            </a:r>
            <a:endParaRPr lang="en-US" sz="1300" dirty="0">
              <a:solidFill>
                <a:srgbClr val="5B6478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56410"/>
            <a:ext cx="7938134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5641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423160" y="175641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206240" y="175641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Zweck</a:t>
            </a:r>
          </a:p>
        </p:txBody>
      </p:sp>
      <p:sp>
        <p:nvSpPr>
          <p:cNvPr id="9" name="Shape 7"/>
          <p:cNvSpPr/>
          <p:nvPr/>
        </p:nvSpPr>
        <p:spPr>
          <a:xfrm>
            <a:off x="548639" y="2213610"/>
            <a:ext cx="7938135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94760" y="221361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5234940" y="2213610"/>
            <a:ext cx="32423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Schaltet die iGPU-Unterstützung im Container grundsätzlich frei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3794760" y="2835402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234940" y="2835402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NUMA-Awareness für Systeme mit mehreren Speicher-/CPU-Knoten</a:t>
            </a:r>
          </a:p>
        </p:txBody>
      </p:sp>
      <p:sp>
        <p:nvSpPr>
          <p:cNvPr id="18" name="Shape 16"/>
          <p:cNvSpPr/>
          <p:nvPr/>
        </p:nvSpPr>
        <p:spPr>
          <a:xfrm>
            <a:off x="548639" y="3457194"/>
            <a:ext cx="7938136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04285" y="3457194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21" name="Text 19"/>
          <p:cNvSpPr txBox="1"/>
          <p:nvPr/>
        </p:nvSpPr>
        <p:spPr>
          <a:xfrm>
            <a:off x="5225414" y="3457194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Begrenzt gleichzeitige Anfragen – kein paralleles Batching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3813810" y="407898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5234939" y="4078986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ea typeface="Calibri" pitchFamily="34" charset="-122"/>
                <a:cs typeface="Calibri" pitchFamily="34" charset="-120"/>
              </a:rPr>
              <a:t>Nur ein Modell gleichzeitig geladen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8839200" y="80695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kern="0" spc="100" smtClean="0">
                <a:ea typeface="Calibri" pitchFamily="34" charset="-122"/>
                <a:cs typeface="Calibri" pitchFamily="34" charset="-120"/>
              </a:rPr>
              <a:t>Inhalt der docker-compose.yml</a:t>
            </a:r>
            <a:endParaRPr lang="en-US" sz="1100" kern="0" spc="1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743949" y="1097280"/>
            <a:ext cx="3178303" cy="5440679"/>
          </a:xfrm>
          <a:prstGeom prst="roundRect">
            <a:avLst>
              <a:gd name="adj" fmla="val 2540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966454" y="132816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34" name="Shape 32"/>
          <p:cNvSpPr/>
          <p:nvPr/>
        </p:nvSpPr>
        <p:spPr>
          <a:xfrm>
            <a:off x="9167622" y="132816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5" name="Shape 33"/>
          <p:cNvSpPr/>
          <p:nvPr/>
        </p:nvSpPr>
        <p:spPr>
          <a:xfrm>
            <a:off x="9368790" y="132816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15984" y="1538859"/>
            <a:ext cx="3048762" cy="4913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ollama/ollama:latest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container_name: ollama_container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"11434:11434"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./ollama_data:/root/.ollama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devices: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"/dev/dri"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"/dev/kfd"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group_add: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"44"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"993"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ipc: host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ulimits: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memlock: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soft: 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hard: 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OLLAMA_VULKAN=1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OLLAMA_IGPU_ENABLE=1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OLLAMA_NUMA=1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OLLAMA_FLASH_ATTENTION=1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OLLAMA_KV_CACHE_TYPE=q4_0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OLLAMA_NUM_PARALLEL=1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OLLAMA_MAX_LOADED_MODELS=1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OLLAMA_KEEP_ALIVE=-1</a:t>
            </a:r>
          </a:p>
          <a:p>
            <a:pPr>
              <a:lnSpc>
                <a:spcPct val="115000"/>
              </a:lnSpc>
            </a:pP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3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#- </a:t>
            </a: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OLLAMA_CONTEXT_LENGTH=8192</a:t>
            </a:r>
          </a:p>
          <a:p>
            <a:pPr>
              <a:lnSpc>
                <a:spcPct val="115000"/>
              </a:lnSpc>
            </a:pPr>
            <a:r>
              <a:rPr lang="en-US" sz="93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restart</a:t>
            </a:r>
            <a:r>
              <a:rPr lang="en-US" sz="93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unless-stopped</a:t>
            </a:r>
            <a:endParaRPr lang="en-US" sz="930">
              <a:solidFill>
                <a:srgbClr val="D7DCEE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11741277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5B6478"/>
                </a:solidFill>
                <a:ea typeface="Calibri" pitchFamily="34" charset="-122"/>
                <a:cs typeface="Calibri" pitchFamily="34" charset="-120"/>
              </a:rPr>
              <a:t>25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43" name="Shape 16"/>
          <p:cNvSpPr/>
          <p:nvPr/>
        </p:nvSpPr>
        <p:spPr>
          <a:xfrm>
            <a:off x="558164" y="4685919"/>
            <a:ext cx="7928611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5" name="Text 18"/>
          <p:cNvSpPr txBox="1"/>
          <p:nvPr/>
        </p:nvSpPr>
        <p:spPr>
          <a:xfrm>
            <a:off x="3813810" y="4685919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6" name="Text 19"/>
          <p:cNvSpPr txBox="1"/>
          <p:nvPr/>
        </p:nvSpPr>
        <p:spPr>
          <a:xfrm>
            <a:off x="5234939" y="4685919"/>
            <a:ext cx="3232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200">
                <a:ea typeface="Calibri" pitchFamily="34" charset="-122"/>
                <a:cs typeface="Calibri" pitchFamily="34" charset="-120"/>
              </a:rPr>
              <a:t>Hält das Modell dauerhaft im Speicher geladen – kein Neuladen bei jeder Anfrage, kostet aber permanent RAM/VRAM.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8" name="Text 22"/>
          <p:cNvSpPr txBox="1"/>
          <p:nvPr/>
        </p:nvSpPr>
        <p:spPr>
          <a:xfrm>
            <a:off x="4147185" y="5307711"/>
            <a:ext cx="986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11.0.0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9" name="Text 23"/>
          <p:cNvSpPr txBox="1"/>
          <p:nvPr/>
        </p:nvSpPr>
        <p:spPr>
          <a:xfrm>
            <a:off x="5225414" y="5307711"/>
            <a:ext cx="324230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/>
              <a:t>Täuscht </a:t>
            </a:r>
            <a:r>
              <a:rPr lang="de-DE" sz="1200" smtClean="0"/>
              <a:t>für Ollama eine </a:t>
            </a:r>
            <a:r>
              <a:rPr lang="de-DE" sz="1200"/>
              <a:t>offiziell unterstützte AMD-Grafikarchitektur vor, um die ROCm-Treiber zu </a:t>
            </a:r>
            <a:r>
              <a:rPr lang="de-DE" sz="1200" smtClean="0"/>
              <a:t>überlisten (funktioniert mit spez. Grafikkarten).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567689" y="5914644"/>
            <a:ext cx="7919086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52" name="Text 18"/>
          <p:cNvSpPr txBox="1"/>
          <p:nvPr/>
        </p:nvSpPr>
        <p:spPr>
          <a:xfrm>
            <a:off x="4175760" y="5914644"/>
            <a:ext cx="10248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</a:p>
        </p:txBody>
      </p:sp>
      <p:sp>
        <p:nvSpPr>
          <p:cNvPr id="53" name="Text 19"/>
          <p:cNvSpPr txBox="1"/>
          <p:nvPr/>
        </p:nvSpPr>
        <p:spPr>
          <a:xfrm>
            <a:off x="5234939" y="5914644"/>
            <a:ext cx="3232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de-DE" sz="1200"/>
              <a:t>Schaltet bestimmte mathematische Beschleunigungsbefehle (DP4A) im Vulkan-Treiber gezielt </a:t>
            </a:r>
            <a:r>
              <a:rPr lang="de-DE" sz="1200" smtClean="0"/>
              <a:t>ab (Prozessor Bug).</a:t>
            </a:r>
            <a:endParaRPr lang="en-US" sz="1200" dirty="0"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4" name="Shape 5"/>
          <p:cNvSpPr/>
          <p:nvPr/>
        </p:nvSpPr>
        <p:spPr>
          <a:xfrm>
            <a:off x="573406" y="2332482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5" name="Text 6"/>
          <p:cNvSpPr txBox="1"/>
          <p:nvPr/>
        </p:nvSpPr>
        <p:spPr>
          <a:xfrm>
            <a:off x="563880" y="2332482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OLLAMA_IGPU_ENABLE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582932" y="2954274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8" name="Text 6"/>
          <p:cNvSpPr txBox="1"/>
          <p:nvPr/>
        </p:nvSpPr>
        <p:spPr>
          <a:xfrm>
            <a:off x="573406" y="2954274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OLLAMA_NUM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582932" y="3576066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0" name="Text 6"/>
          <p:cNvSpPr txBox="1"/>
          <p:nvPr/>
        </p:nvSpPr>
        <p:spPr>
          <a:xfrm>
            <a:off x="573406" y="3576066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OLLAMA_NUM_PARALLEL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1" name="Shape 5"/>
          <p:cNvSpPr/>
          <p:nvPr/>
        </p:nvSpPr>
        <p:spPr>
          <a:xfrm>
            <a:off x="592457" y="4197858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2" name="Text 6"/>
          <p:cNvSpPr txBox="1"/>
          <p:nvPr/>
        </p:nvSpPr>
        <p:spPr>
          <a:xfrm>
            <a:off x="582931" y="4197858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OLLAMA_MAX_LOADED_MODELS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592456" y="4792980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4" name="Text 6"/>
          <p:cNvSpPr txBox="1"/>
          <p:nvPr/>
        </p:nvSpPr>
        <p:spPr>
          <a:xfrm>
            <a:off x="582930" y="4792980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OLLAMA_KEEP_ALIVE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581978" y="5426583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6" name="Text 6"/>
          <p:cNvSpPr txBox="1"/>
          <p:nvPr/>
        </p:nvSpPr>
        <p:spPr>
          <a:xfrm>
            <a:off x="572452" y="5426583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HSA_OVERRIDE_GFX_VERSION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582932" y="6033516"/>
            <a:ext cx="3456623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68" name="Text 6"/>
          <p:cNvSpPr txBox="1"/>
          <p:nvPr/>
        </p:nvSpPr>
        <p:spPr>
          <a:xfrm>
            <a:off x="573406" y="6033516"/>
            <a:ext cx="3456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GGML_VK_DISABLE_INTEGER_DOT_PRODUCT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87840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Modelfile: Basismodell, System-Rolle &amp; Prompt-Format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legt das Basismodell fest, SYSTEM definiert die permanente Rolle der KI und TEMPLATE bestimmt das exakte Prompt-Format – die Grundstruktur jeder Modelfile-Konfiguration.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309360" cy="3739662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4140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4140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4140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633471"/>
            <a:ext cx="5907024" cy="326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Modelfile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qwen2.5:14b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 bist ein hochpräzises, sachliches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KI-Modell. Du extrahierst Fakten exakt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 halluzinierst nicht.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"""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if .System }}&lt;|im_start|&gt;system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 .System }}&lt;|im_end|&gt;{{ end }}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&lt;|im_start|&gt;assistant ...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</a:p>
        </p:txBody>
      </p:sp>
      <p:sp>
        <p:nvSpPr>
          <p:cNvPr id="10" name="Shape 8"/>
          <p:cNvSpPr/>
          <p:nvPr/>
        </p:nvSpPr>
        <p:spPr>
          <a:xfrm>
            <a:off x="7086600" y="2286000"/>
            <a:ext cx="4572000" cy="3739662"/>
          </a:xfrm>
          <a:prstGeom prst="roundRect">
            <a:avLst>
              <a:gd name="adj" fmla="val 2817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Bausteine der Modelfile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315200" y="288036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321040" y="2880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– Basismodell (Pflichtfeld)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315200" y="359359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321040" y="35935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– permanente Rolle/Identität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315200" y="4306824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cs typeface="Arial" pitchFamily="34" charset="-120"/>
              </a:rPr>
              <a:t>3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8321040" y="43068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– exaktes Prompt-Format (Go-Syntax)</a:t>
            </a:r>
          </a:p>
        </p:txBody>
      </p:sp>
      <p:sp>
        <p:nvSpPr>
          <p:cNvPr id="18" name="Shape 16"/>
          <p:cNvSpPr/>
          <p:nvPr/>
        </p:nvSpPr>
        <p:spPr>
          <a:xfrm>
            <a:off x="7315200" y="5065776"/>
            <a:ext cx="4023360" cy="0"/>
          </a:xfrm>
          <a:prstGeom prst="line">
            <a:avLst/>
          </a:prstGeom>
          <a:noFill/>
          <a:ln w="12700">
            <a:solidFill>
              <a:srgbClr val="D5DB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60920" y="5121890"/>
            <a:ext cx="4023360" cy="72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FROM ist Pflicht; SYSTEM und TEMPLATE sind optional, aber entscheidend für Tonalität und Formatstabilität. Zusätzliche MESSAGE-Paare liefern Few-Shot-Beispiele.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685800"/>
            <a:ext cx="11519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Halluzinationen &amp; Wiederholungen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Parameter steuern, wie kreativ oder faktentreu das Modell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antwortet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optimiert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</a:t>
            </a:r>
            <a:r>
              <a:rPr lang="en-US" sz="13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</a:t>
            </a:r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qwen2.5:14b.</a:t>
            </a:r>
            <a:endParaRPr lang="en-US" sz="1300" dirty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51878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(Halluzinationen)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59461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891915" y="1965960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9" name="Shape 7"/>
          <p:cNvSpPr/>
          <p:nvPr/>
        </p:nvSpPr>
        <p:spPr>
          <a:xfrm>
            <a:off x="554355" y="2423160"/>
            <a:ext cx="5513070" cy="797814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13660" y="2480310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355655" y="2514981"/>
            <a:ext cx="272796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b="1"/>
              <a:t>Zufallsgenerator</a:t>
            </a:r>
            <a:endParaRPr lang="en-US" sz="1200" b="1" smtClean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Niedrigere Werte machen die KI berechenbarer und fokussierter, höhere Werte experimentierfreudiger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623185" y="3206877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371849" y="3225546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Themen-Filter</a:t>
            </a:r>
          </a:p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Lässt die KI nur aus dem Pool der 80% wahrscheinlichsten Wörter wählen.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8640" y="3838194"/>
            <a:ext cx="5518785" cy="6217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7960" y="3838194"/>
            <a:ext cx="605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3371850" y="3838194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Wortschatz-Bremse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Begrenzt die Auswahl bei jedem Schritt strikt auf die 20 besten Wörter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2546985" y="4526661"/>
            <a:ext cx="777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3381375" y="4526661"/>
            <a:ext cx="243268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Qualitätsfilter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Sortiert unlogische Wörter aus, die weniger als 5% Wahrscheinlichkeit haben.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3" name="Shape 16"/>
          <p:cNvSpPr/>
          <p:nvPr/>
        </p:nvSpPr>
        <p:spPr>
          <a:xfrm>
            <a:off x="6235065" y="5662803"/>
            <a:ext cx="5674995" cy="80467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45" name="Text 18"/>
          <p:cNvSpPr txBox="1"/>
          <p:nvPr/>
        </p:nvSpPr>
        <p:spPr>
          <a:xfrm>
            <a:off x="8338185" y="5758053"/>
            <a:ext cx="6819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46" name="Text 19"/>
          <p:cNvSpPr txBox="1"/>
          <p:nvPr/>
        </p:nvSpPr>
        <p:spPr>
          <a:xfrm>
            <a:off x="9067800" y="5756148"/>
            <a:ext cx="26860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Not-Ausschalter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Schneidet die Antwort nicht ab, sondern schreibt bis zum Ende.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565310" y="260870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0" name="Text 6"/>
          <p:cNvSpPr txBox="1"/>
          <p:nvPr/>
        </p:nvSpPr>
        <p:spPr>
          <a:xfrm>
            <a:off x="555784" y="260870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563881" y="3325749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2" name="Text 6"/>
          <p:cNvSpPr txBox="1"/>
          <p:nvPr/>
        </p:nvSpPr>
        <p:spPr>
          <a:xfrm>
            <a:off x="554355" y="3325749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top_p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3" name="Shape 5"/>
          <p:cNvSpPr/>
          <p:nvPr/>
        </p:nvSpPr>
        <p:spPr>
          <a:xfrm>
            <a:off x="544832" y="3957066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4" name="Text 6"/>
          <p:cNvSpPr txBox="1"/>
          <p:nvPr/>
        </p:nvSpPr>
        <p:spPr>
          <a:xfrm>
            <a:off x="535306" y="3957066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top_k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5" name="Shape 5"/>
          <p:cNvSpPr/>
          <p:nvPr/>
        </p:nvSpPr>
        <p:spPr>
          <a:xfrm>
            <a:off x="551022" y="4645533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6" name="Text 6"/>
          <p:cNvSpPr txBox="1"/>
          <p:nvPr/>
        </p:nvSpPr>
        <p:spPr>
          <a:xfrm>
            <a:off x="541496" y="4645533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min_p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6245544" y="5876925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8" name="Text 6"/>
          <p:cNvSpPr txBox="1"/>
          <p:nvPr/>
        </p:nvSpPr>
        <p:spPr>
          <a:xfrm>
            <a:off x="6250307" y="5876925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num_predict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6216015" y="1975485"/>
            <a:ext cx="569404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0" name="Text 4"/>
          <p:cNvSpPr txBox="1"/>
          <p:nvPr/>
        </p:nvSpPr>
        <p:spPr>
          <a:xfrm>
            <a:off x="6307455" y="1975485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(Wiederholungen)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5"/>
          <p:cNvSpPr txBox="1"/>
          <p:nvPr/>
        </p:nvSpPr>
        <p:spPr>
          <a:xfrm>
            <a:off x="8433435" y="1975485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62" name="Text 6"/>
          <p:cNvSpPr txBox="1"/>
          <p:nvPr/>
        </p:nvSpPr>
        <p:spPr>
          <a:xfrm>
            <a:off x="9559290" y="1975485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63" name="Shape 7"/>
          <p:cNvSpPr/>
          <p:nvPr/>
        </p:nvSpPr>
        <p:spPr>
          <a:xfrm>
            <a:off x="6221730" y="2432685"/>
            <a:ext cx="5688330" cy="7741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4" name="Text 9"/>
          <p:cNvSpPr txBox="1"/>
          <p:nvPr/>
        </p:nvSpPr>
        <p:spPr>
          <a:xfrm>
            <a:off x="842391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Text 10"/>
          <p:cNvSpPr txBox="1"/>
          <p:nvPr/>
        </p:nvSpPr>
        <p:spPr>
          <a:xfrm>
            <a:off x="9102090" y="2499360"/>
            <a:ext cx="2629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Themen-Wechsel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Zwingt die KI, neue Begriffe und Konzepte einzubringen, statt auf alten Phrasen herumzureiten.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6" name="Text 13"/>
          <p:cNvSpPr txBox="1"/>
          <p:nvPr/>
        </p:nvSpPr>
        <p:spPr>
          <a:xfrm>
            <a:off x="8423910" y="3216402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1.05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Text 14"/>
          <p:cNvSpPr txBox="1"/>
          <p:nvPr/>
        </p:nvSpPr>
        <p:spPr>
          <a:xfrm>
            <a:off x="9124950" y="3206496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Wort-Sperre</a:t>
            </a:r>
          </a:p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Bestraft direkte Wort- und Phrasenwiederholungen im generierten Text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6216015" y="3838193"/>
            <a:ext cx="5694045" cy="807339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9" name="Text 18"/>
          <p:cNvSpPr txBox="1"/>
          <p:nvPr/>
        </p:nvSpPr>
        <p:spPr>
          <a:xfrm>
            <a:off x="8519160" y="3914394"/>
            <a:ext cx="60579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0" name="Text 19"/>
          <p:cNvSpPr txBox="1"/>
          <p:nvPr/>
        </p:nvSpPr>
        <p:spPr>
          <a:xfrm>
            <a:off x="9124950" y="3914394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Kurzzeitgedächnis</a:t>
            </a:r>
          </a:p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Legt fest, wie viele Wörter (Tokens) die KI rückwirkend im Blick behält, um Wiederholungen zu prüfen.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6216015" y="4710303"/>
            <a:ext cx="5694045" cy="864870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75" name="Text 19"/>
          <p:cNvSpPr txBox="1"/>
          <p:nvPr/>
        </p:nvSpPr>
        <p:spPr>
          <a:xfrm>
            <a:off x="6419850" y="4698873"/>
            <a:ext cx="5137784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b="1"/>
              <a:t>Das Zusammenspiel:</a:t>
            </a:r>
            <a:r>
              <a:rPr lang="de-DE" sz="1200"/>
              <a:t/>
            </a:r>
            <a:br>
              <a:rPr lang="de-DE" sz="1200"/>
            </a:br>
            <a:r>
              <a:rPr lang="de-DE" sz="1200"/>
              <a:t>Größeres Gedächtnis (repeat_last_n) + stärkere Strafe (repeat_penalty) = maximaler Schutz vor Wiederholungen.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6" name="Shape 5"/>
          <p:cNvSpPr/>
          <p:nvPr/>
        </p:nvSpPr>
        <p:spPr>
          <a:xfrm>
            <a:off x="6232685" y="262775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7" name="Text 6"/>
          <p:cNvSpPr txBox="1"/>
          <p:nvPr/>
        </p:nvSpPr>
        <p:spPr>
          <a:xfrm>
            <a:off x="6223159" y="262775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presence_penalty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6231256" y="3335274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9" name="Text 6"/>
          <p:cNvSpPr txBox="1"/>
          <p:nvPr/>
        </p:nvSpPr>
        <p:spPr>
          <a:xfrm>
            <a:off x="6221730" y="3335274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repeat_penalty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6212207" y="4033266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81" name="Text 6"/>
          <p:cNvSpPr txBox="1"/>
          <p:nvPr/>
        </p:nvSpPr>
        <p:spPr>
          <a:xfrm>
            <a:off x="6202681" y="4033266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repeat_last_n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20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685800"/>
            <a:ext cx="11519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Speicher im Detail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Parameter bestimmen den Arbeitsspeicher-Hebel und die Hardware-Zuteilung zwischen CPU und </a:t>
            </a:r>
            <a:r>
              <a:rPr lang="en-US" sz="14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iGPU</a:t>
            </a:r>
            <a:r>
              <a:rPr lang="en-US" sz="14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51878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(Kontext &amp; GPU´-Zuteilung)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594610" y="1965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3891915" y="1965960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9" name="Shape 7"/>
          <p:cNvSpPr/>
          <p:nvPr/>
        </p:nvSpPr>
        <p:spPr>
          <a:xfrm>
            <a:off x="554355" y="2423160"/>
            <a:ext cx="5513070" cy="797814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1366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8192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355655" y="2514981"/>
            <a:ext cx="272796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200" smtClean="0"/>
              <a:t>Setzt die Größe des Kontextfensters 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623185" y="3206877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3371849" y="3225546"/>
            <a:ext cx="26955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-1 verschiebt Schichten dynamisch auf die GPU (Auto-Erkennung), 0 = reine CPU, +1 = feste GPU-Schichten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9" name="Shape 5"/>
          <p:cNvSpPr/>
          <p:nvPr/>
        </p:nvSpPr>
        <p:spPr>
          <a:xfrm>
            <a:off x="565310" y="260870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0" name="Text 6"/>
          <p:cNvSpPr txBox="1"/>
          <p:nvPr/>
        </p:nvSpPr>
        <p:spPr>
          <a:xfrm>
            <a:off x="555784" y="260870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num_ctx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1" name="Shape 5"/>
          <p:cNvSpPr/>
          <p:nvPr/>
        </p:nvSpPr>
        <p:spPr>
          <a:xfrm>
            <a:off x="563881" y="3325749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52" name="Text 6"/>
          <p:cNvSpPr txBox="1"/>
          <p:nvPr/>
        </p:nvSpPr>
        <p:spPr>
          <a:xfrm>
            <a:off x="554355" y="3325749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num_gpu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6216015" y="1975485"/>
            <a:ext cx="5694045" cy="457200"/>
          </a:xfrm>
          <a:prstGeom prst="roundRect">
            <a:avLst>
              <a:gd name="adj" fmla="val 12000"/>
            </a:avLst>
          </a:prstGeom>
          <a:solidFill>
            <a:srgbClr val="0D1321"/>
          </a:solidFill>
          <a:ln/>
        </p:spPr>
      </p:sp>
      <p:sp>
        <p:nvSpPr>
          <p:cNvPr id="60" name="Text 4"/>
          <p:cNvSpPr txBox="1"/>
          <p:nvPr/>
        </p:nvSpPr>
        <p:spPr>
          <a:xfrm>
            <a:off x="6307455" y="1975485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(CPU-Kerne)</a:t>
            </a:r>
            <a:endParaRPr lang="en-US" sz="115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1" name="Text 5"/>
          <p:cNvSpPr txBox="1"/>
          <p:nvPr/>
        </p:nvSpPr>
        <p:spPr>
          <a:xfrm>
            <a:off x="8433435" y="1975485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</a:t>
            </a:r>
          </a:p>
        </p:txBody>
      </p:sp>
      <p:sp>
        <p:nvSpPr>
          <p:cNvPr id="62" name="Text 6"/>
          <p:cNvSpPr txBox="1"/>
          <p:nvPr/>
        </p:nvSpPr>
        <p:spPr>
          <a:xfrm>
            <a:off x="9559290" y="1975485"/>
            <a:ext cx="9086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Wirkung</a:t>
            </a:r>
          </a:p>
        </p:txBody>
      </p:sp>
      <p:sp>
        <p:nvSpPr>
          <p:cNvPr id="63" name="Shape 7"/>
          <p:cNvSpPr/>
          <p:nvPr/>
        </p:nvSpPr>
        <p:spPr>
          <a:xfrm>
            <a:off x="6221730" y="2432685"/>
            <a:ext cx="5688330" cy="774192"/>
          </a:xfrm>
          <a:prstGeom prst="rect">
            <a:avLst/>
          </a:prstGeom>
          <a:solidFill>
            <a:srgbClr val="F2F5FA"/>
          </a:solidFill>
          <a:ln/>
        </p:spPr>
      </p:sp>
      <p:sp>
        <p:nvSpPr>
          <p:cNvPr id="64" name="Text 9"/>
          <p:cNvSpPr txBox="1"/>
          <p:nvPr/>
        </p:nvSpPr>
        <p:spPr>
          <a:xfrm>
            <a:off x="8423910" y="2508885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5" name="Text 10"/>
          <p:cNvSpPr txBox="1"/>
          <p:nvPr/>
        </p:nvSpPr>
        <p:spPr>
          <a:xfrm>
            <a:off x="9102090" y="2499360"/>
            <a:ext cx="2629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CPU-Kerne für Berechnungen, falls Arbeit auf die CPU ausgelagert wird.</a:t>
            </a:r>
            <a:endParaRPr lang="en-US" sz="1200" dirty="0">
              <a:solidFill>
                <a:srgbClr val="0D13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6" name="Text 13"/>
          <p:cNvSpPr txBox="1"/>
          <p:nvPr/>
        </p:nvSpPr>
        <p:spPr>
          <a:xfrm>
            <a:off x="8423910" y="3216402"/>
            <a:ext cx="70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smtClean="0">
                <a:solidFill>
                  <a:srgbClr val="1217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250" dirty="0">
              <a:solidFill>
                <a:srgbClr val="12172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67" name="Text 14"/>
          <p:cNvSpPr txBox="1"/>
          <p:nvPr/>
        </p:nvSpPr>
        <p:spPr>
          <a:xfrm>
            <a:off x="9124950" y="3206496"/>
            <a:ext cx="27851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Fixiert den Zufallswert für identische Antworten beim Testen.</a:t>
            </a:r>
            <a:endParaRPr lang="en-US" sz="120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6" name="Shape 5"/>
          <p:cNvSpPr/>
          <p:nvPr/>
        </p:nvSpPr>
        <p:spPr>
          <a:xfrm>
            <a:off x="6232685" y="2627757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7" name="Text 6"/>
          <p:cNvSpPr txBox="1"/>
          <p:nvPr/>
        </p:nvSpPr>
        <p:spPr>
          <a:xfrm>
            <a:off x="6223159" y="2627757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num_thread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  <p:sp>
        <p:nvSpPr>
          <p:cNvPr id="78" name="Shape 5"/>
          <p:cNvSpPr/>
          <p:nvPr/>
        </p:nvSpPr>
        <p:spPr>
          <a:xfrm>
            <a:off x="6231256" y="3335274"/>
            <a:ext cx="1718785" cy="384048"/>
          </a:xfrm>
          <a:prstGeom prst="roundRect">
            <a:avLst>
              <a:gd name="adj" fmla="val 14286"/>
            </a:avLst>
          </a:prstGeom>
          <a:solidFill>
            <a:srgbClr val="0D1321"/>
          </a:solidFill>
          <a:ln/>
        </p:spPr>
      </p:sp>
      <p:sp>
        <p:nvSpPr>
          <p:cNvPr id="79" name="Text 6"/>
          <p:cNvSpPr txBox="1"/>
          <p:nvPr/>
        </p:nvSpPr>
        <p:spPr>
          <a:xfrm>
            <a:off x="6221730" y="3335274"/>
            <a:ext cx="17283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endParaRPr lang="en-US" sz="1200" b="1" dirty="0">
              <a:solidFill>
                <a:srgbClr val="00D9C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0007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Modelfile: Stopp-Sequenzen &amp; Few-Shot-Beispiele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Stop-Sequenzen erzwingen ein sauberes Ende der Antwort. MESSAGE-Paare geben dem Modell optional ein festes Beispielverhalten mit auf den Weg.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6309360" cy="3739662"/>
          </a:xfrm>
          <a:prstGeom prst="roundRect">
            <a:avLst>
              <a:gd name="adj" fmla="val 2254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41401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41401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41401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633471"/>
            <a:ext cx="5907024" cy="326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 Modelfile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"&lt;|im_start|&gt;"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"&lt;|im_end|&gt;"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 stop "\n\n\n"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user "Wie lautet die Hauptstadt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von Frankreich?"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assistant "Die Hauptstadt von</a:t>
            </a:r>
          </a:p>
          <a:p>
            <a:pPr>
              <a:lnSpc>
                <a:spcPct val="115000"/>
              </a:lnSpc>
            </a:pPr>
            <a:r>
              <a:rPr lang="en-US" sz="120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Frankreich ist Paris."</a:t>
            </a:r>
          </a:p>
        </p:txBody>
      </p:sp>
      <p:sp>
        <p:nvSpPr>
          <p:cNvPr id="10" name="Shape 8"/>
          <p:cNvSpPr/>
          <p:nvPr/>
        </p:nvSpPr>
        <p:spPr>
          <a:xfrm>
            <a:off x="7086600" y="2286000"/>
            <a:ext cx="4572000" cy="3739662"/>
          </a:xfrm>
          <a:prstGeom prst="roundRect">
            <a:avLst>
              <a:gd name="adj" fmla="val 2817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 &amp; Few-Shot auf einen Blick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315200" y="288036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321040" y="2880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Stop-Sequenzen – verhindern Selbstgespräche &amp; Endlos-Output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7315200" y="359359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8321040" y="359359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– MESSAGE-Paare zeigen das gewünschte Antwortformat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7315200" y="4306824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6B4A"/>
                </a:solidFill>
                <a:latin typeface="Arial" pitchFamily="34" charset="0"/>
                <a:cs typeface="Arial" pitchFamily="34" charset="-120"/>
              </a:rPr>
              <a:t>3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8321040" y="430682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21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– nur nötig, wenn das Standardverhalten nicht ausreicht</a:t>
            </a:r>
          </a:p>
        </p:txBody>
      </p:sp>
      <p:sp>
        <p:nvSpPr>
          <p:cNvPr id="18" name="Shape 16"/>
          <p:cNvSpPr/>
          <p:nvPr/>
        </p:nvSpPr>
        <p:spPr>
          <a:xfrm>
            <a:off x="7315200" y="5065776"/>
            <a:ext cx="4023360" cy="0"/>
          </a:xfrm>
          <a:prstGeom prst="line">
            <a:avLst/>
          </a:prstGeom>
          <a:noFill/>
          <a:ln w="12700">
            <a:solidFill>
              <a:srgbClr val="D5DB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60920" y="5121890"/>
            <a:ext cx="4023360" cy="721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Ohne Stop-Sequenzen kann das Modell über das Ziel hinausschreiben oder mit sich selbst weiterreden. Few-Shot-Beispiele sind optional, verbessern aber die Formattreue bei komplexen Aufgaben.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GTT-Bereich manuell erweitern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Reicht der standardmäßige GTT-Bereich nicht aus, lässt sich die Obergrenze über einen Kernel-Parameter des amdgpu-Treibers anheben.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675120" cy="2788920"/>
          </a:xfrm>
          <a:prstGeom prst="roundRect">
            <a:avLst>
              <a:gd name="adj" fmla="val 2623"/>
            </a:avLst>
          </a:prstGeom>
          <a:solidFill>
            <a:srgbClr val="0A0E1A"/>
          </a:solidFill>
          <a:ln/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139696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139696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139696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359152"/>
            <a:ext cx="71749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Kernel-Parameter dauerhaft für amdgpu setzen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"options amdgpu gttsize=24000" | \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sudo tee /etc/modprobe.d/amdgpu-gtt.conf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Neustart, damit der Parameter geladen wird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reboot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9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Neue GTT-Obergrenze prüfen (in MB)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"$(( $(cat </a:t>
            </a: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sys/class/drm/card0/device/mem_info_gtt_total</a:t>
            </a: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smtClean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</a:t>
            </a:r>
            <a:r>
              <a:rPr lang="en-US" sz="125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 / 1024 )) MB"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24000 MB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983480"/>
            <a:ext cx="6675120" cy="1280160"/>
          </a:xfrm>
          <a:prstGeom prst="roundRect">
            <a:avLst>
              <a:gd name="adj" fmla="val 7143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1023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24.000 MB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6692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GTT-Obergrenze nach dem Neustart (≈ 23,4 GiB)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52360" y="2011680"/>
            <a:ext cx="4160520" cy="4251960"/>
          </a:xfrm>
          <a:prstGeom prst="roundRect">
            <a:avLst>
              <a:gd name="adj" fmla="val 2198"/>
            </a:avLst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22128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Erinnerung (Kapitel 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606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GTT ist der RAM-Anteil, den sich die iGPU zusätzlich zum kleinen VRAM leihen darf. Der Kernel begrenzt diesen Bereich standardmäßig.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80960" y="3703320"/>
            <a:ext cx="3566160" cy="0"/>
          </a:xfrm>
          <a:prstGeom prst="line">
            <a:avLst/>
          </a:prstGeom>
          <a:noFill/>
          <a:ln w="12700">
            <a:solidFill>
              <a:srgbClr val="2A36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0" y="3886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gttsize wird in MB angegeben (hier: 24.000 MB)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507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Der Wert sollte die BIOS-/UMA-Grenze nicht überschreiten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512978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Ein Neustart ist zwingend nötig – der Parameter wird beim Booten geladen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OPTIMIERUNG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Prompt-Länge als versteckter Performance-Faktor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Aufgabe, gleiches Modell: Ein aufgeblähter System-Prompt mit Anweisungen und Logs verlangsamt die Antwort erheblich – nicht die Antwortlänge ist entscheidend, sondern der Input.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24028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178040" y="2240280"/>
            <a:ext cx="4434840" cy="1874520"/>
          </a:xfrm>
          <a:prstGeom prst="roundRect">
            <a:avLst>
              <a:gd name="adj" fmla="val 4878"/>
            </a:avLst>
          </a:prstGeom>
          <a:solidFill>
            <a:srgbClr val="0D13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06640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~2,8×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3200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allein durch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 von unnötigem Prompt-Text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78040" y="4297680"/>
            <a:ext cx="4434840" cy="1965960"/>
          </a:xfrm>
          <a:prstGeom prst="roundRect">
            <a:avLst>
              <a:gd name="adj" fmla="val 4651"/>
            </a:avLst>
          </a:prstGeom>
          <a:solidFill>
            <a:srgbClr val="F2F5F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06640" y="4480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Praxis-Tipp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484632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Systemanweisungen, unnötige Kontrolleingaben und riesige Logs im Prompt kosten mehr Zeit als viele Server-Optimierungen zusammen.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VON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&amp; Tools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237744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3246120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227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mtClean="0">
                <a:solidFill>
                  <a:srgbClr val="E4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bestimmt die Leistung der lokalen KI?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6987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6987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ollama-kv-info.sh: Modell, Kontext &amp; Start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9052560" y="44805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6404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268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1268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6132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6132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09960" y="416052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09960" y="626364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64040" y="480060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64040" y="48006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24" name="Shape 6"/>
          <p:cNvSpPr/>
          <p:nvPr/>
        </p:nvSpPr>
        <p:spPr>
          <a:xfrm>
            <a:off x="630555" y="414642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25" name="Text 7"/>
          <p:cNvSpPr txBox="1"/>
          <p:nvPr/>
        </p:nvSpPr>
        <p:spPr>
          <a:xfrm>
            <a:off x="630555" y="414642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8"/>
          <p:cNvSpPr txBox="1"/>
          <p:nvPr/>
        </p:nvSpPr>
        <p:spPr>
          <a:xfrm>
            <a:off x="1224915" y="412813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</a:t>
            </a:r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: Speicher berechnen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7" name="Shape 6"/>
          <p:cNvSpPr/>
          <p:nvPr/>
        </p:nvSpPr>
        <p:spPr>
          <a:xfrm>
            <a:off x="621030" y="459409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28" name="Text 7"/>
          <p:cNvSpPr txBox="1"/>
          <p:nvPr/>
        </p:nvSpPr>
        <p:spPr>
          <a:xfrm>
            <a:off x="621030" y="459409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8"/>
          <p:cNvSpPr txBox="1"/>
          <p:nvPr/>
        </p:nvSpPr>
        <p:spPr>
          <a:xfrm>
            <a:off x="1215390" y="457581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ollama-kv-info.sh</a:t>
            </a:r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: Hardware &amp; Ampel-Status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Shape 6"/>
          <p:cNvSpPr/>
          <p:nvPr/>
        </p:nvSpPr>
        <p:spPr>
          <a:xfrm>
            <a:off x="611505" y="504177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1" name="Text 7"/>
          <p:cNvSpPr txBox="1"/>
          <p:nvPr/>
        </p:nvSpPr>
        <p:spPr>
          <a:xfrm>
            <a:off x="611505" y="50417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8"/>
          <p:cNvSpPr txBox="1"/>
          <p:nvPr/>
        </p:nvSpPr>
        <p:spPr>
          <a:xfrm>
            <a:off x="1205865" y="502348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n8n-Performance-Test-Tool: Aufbau der Pipeline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3" name="Shape 6"/>
          <p:cNvSpPr/>
          <p:nvPr/>
        </p:nvSpPr>
        <p:spPr>
          <a:xfrm>
            <a:off x="601980" y="5489448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4" name="Text 7"/>
          <p:cNvSpPr txBox="1"/>
          <p:nvPr/>
        </p:nvSpPr>
        <p:spPr>
          <a:xfrm>
            <a:off x="601980" y="5489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8"/>
          <p:cNvSpPr txBox="1"/>
          <p:nvPr/>
        </p:nvSpPr>
        <p:spPr>
          <a:xfrm>
            <a:off x="1196340" y="5471160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cs typeface="Arial" pitchFamily="34" charset="-120"/>
              </a:rPr>
              <a:t>n8n-Performance-Test-Tool: Testarten &amp; Metriken 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6" name="Shape 6"/>
          <p:cNvSpPr/>
          <p:nvPr/>
        </p:nvSpPr>
        <p:spPr>
          <a:xfrm>
            <a:off x="592455" y="5937123"/>
            <a:ext cx="420624" cy="420624"/>
          </a:xfrm>
          <a:prstGeom prst="ellipse">
            <a:avLst/>
          </a:prstGeom>
          <a:solidFill>
            <a:srgbClr val="17213D"/>
          </a:solidFill>
          <a:ln/>
        </p:spPr>
      </p:sp>
      <p:sp>
        <p:nvSpPr>
          <p:cNvPr id="37" name="Text 7"/>
          <p:cNvSpPr txBox="1"/>
          <p:nvPr/>
        </p:nvSpPr>
        <p:spPr>
          <a:xfrm>
            <a:off x="592455" y="593712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smtClean="0">
                <a:solidFill>
                  <a:srgbClr val="00D9C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8"/>
          <p:cNvSpPr txBox="1"/>
          <p:nvPr/>
        </p:nvSpPr>
        <p:spPr>
          <a:xfrm>
            <a:off x="1186815" y="5918835"/>
            <a:ext cx="6395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smtClean="0">
                <a:solidFill>
                  <a:schemeClr val="bg1">
                    <a:lumMod val="95000"/>
                  </a:schemeClr>
                </a:solidFill>
                <a:ea typeface="Arial" pitchFamily="34" charset="-122"/>
                <a:cs typeface="Arial" pitchFamily="34" charset="-120"/>
              </a:rPr>
              <a:t>n8n-Performance-Test-Tool: Testlogik</a:t>
            </a:r>
            <a:endParaRPr lang="en-US" sz="15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smtClean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</a:t>
            </a:r>
            <a:r>
              <a:rPr lang="en-US" sz="1300" b="1" kern="0" spc="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ERGEBNIS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bestimmt die </a:t>
            </a:r>
            <a:r>
              <a:rPr lang="en-US" sz="3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Leistung </a:t>
            </a:r>
            <a:r>
              <a:rPr lang="en-US" sz="3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</a:t>
            </a:r>
            <a:r>
              <a:rPr lang="en-US" sz="3000" b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lokalen KI?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5506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165506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Größe und Architektur bestimmen Grundgeschwindigkeit und Speicherbedarf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226945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226945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Verfügbarer RAM entscheidet, </a:t>
            </a:r>
            <a:r>
              <a:rPr lang="en-US" sz="115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</a:t>
            </a:r>
            <a:r>
              <a:rPr lang="en-US" sz="1150" smtClean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gestartet werden kann.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44952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3217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Speicherbandbreite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9291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VRAM/GTT-Anbindung bestimmt, wie schnell Daten zur Recheneinheit gelangen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21608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58978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/ GPU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358978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smtClean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Grafikkerne (GPU) für paralleles Rechnen – Schnittstellen wie Vulkan binden auch die schnelle  iGPU optimal ein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98264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275963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Kontextgröße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275963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Muss zum Anwendungsfall passen – zu klein verliert Information, zu groß kostet Ressourcen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94309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Prompt-Länge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494309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Kurze, gezielte Prompts sparen oft mehr Zeit als jede Hardware-Optimierung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5751576"/>
            <a:ext cx="384048" cy="384048"/>
          </a:xfrm>
          <a:prstGeom prst="ellipse">
            <a:avLst/>
          </a:prstGeom>
          <a:solidFill>
            <a:srgbClr val="00D9C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751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5629275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Optimales Verhältnis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114800" y="5629275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 zählt die Balance aus Geschwindigkeit, Speicherbedarf und Energieverbrauch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(1/3)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Modell, Kontext &amp; Start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Bevor eine Testanfrage gestartet wird, ermittelt das Skript automatisch, welches Modell und welche Kontextgröße überhaupt sinnvoll sind.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9758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 aus Ollama auflisten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9758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list liefert Name und Größe jedes installierten Modells – direkt nummeriert zur Auswahl angezeigt.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2054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Modellgröße umrechnen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82054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GB-, MB- oder TB-Angaben von Ollama werden einheitlich in GiB und GB umgerechnet, um sie später mit dem Speicherbudget zu vergleichen.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4350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Maximale Kontextlänge abfragen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4350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Aufruf an die Ollama-API (/api/show) liefert llama.context_length – die tatsächliche Obergrenze des gewählten Modells.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6646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passende Kontextgrößen anbieten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446646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den Standardgrößen 2k bis 128k werden nur die angezeigt, die das Modell auch unterstützt – plus das exakte Modellmaximum, falls größer.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8942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starten &amp; Testanfrage senden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28942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neu starten, Log leeren, dann eine kurze Anfrage mit der gewählten Kontextgröße (num_ctx) über die API auslösen.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(2/3)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Speicher berechnen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der Testanfrage liest das Skript aus den Logs, wie viel Speicher der KV-Cache tatsächlich braucht – und vergleicht das mit der theoretischen Formel.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9758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KV-Cache-Zeile aus dem Log lesen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9758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llama_kv_cache: size = ... liefert Datentyp (z. B. q8_0) sowie die tatsächliche K-, V- und Gesamtgröße in MiB.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2054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pro Wert bestimmen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82054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case-Statement übersetzt den Datentyp in Bytes pro Wert – 2 für f16, 4 für f32, 1,0625 für q8_0, 0,5625 für q4_0/q4_1.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4350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Theoretische Formel anwenden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4350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KV-Cache pro Slot = 2 × Layer × KV-Heads × Head-Dimension × Bytes × Kontextgröße, multipliziert mit der Anzahl paralleler Slots.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6646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Tatsächlichen Speicher gegenrechnen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446646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von Ollama geloggte Gesamtgröße wird in GiB umgerechnet und der Modellgröße hinzuaddiert – das ist der reale Speicherbedarf.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8942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Reservierungsfaktor bilden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28942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Tatsächlicher Speicher ÷ theoretischer Speicher zeigt, wie viel Ollama zusätzlich zur reinen Formel reserviert (Overhead, Puffer).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SKRIPT ERKLÄRT (3/3)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ollama-kv-info.sh: Hardware &amp; Ampel-Status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vergleicht das Skript reale Hardware-Werte mit dem berechneten Speicherbedarf und bewertet das Ergebnis mit einer Ampel.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665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System-RAM auslesen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6888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-b liefert Gesamt- und freien Arbeitsspeicher – Basis für den Vergleich mit dem berechneten Bedarf.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181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 &amp; GTT direkt vom Kernel lesen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5204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nur die Ollama-Logs auszuwerten, liest das Skript /sys/class/drm/.../mem_info_* – das zeigt die reale BIOS-/Kernel-Grenze.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Kernel-GTT mit Ollama-Speicher abgleichen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Weicht der von Ollama erkannte Speicher spürbar vom Kernel-GTT ab, deutet das auf zusätzliche Reservierungen hin (z. B. Desktop/Compositor).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2212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Speicherbudget bewerten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62356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+ KV-Cache werden sowohl gegen den von Ollama erkannten Speicher als auch gegen das gesamte System-RAM geprüft.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80960" y="2103120"/>
            <a:ext cx="3931920" cy="4206240"/>
          </a:xfrm>
          <a:prstGeom prst="roundRect">
            <a:avLst>
              <a:gd name="adj" fmla="val 2326"/>
            </a:avLst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Ampel-Status für das Speicherbudget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909560" y="2926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0956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80 % des von Ollama erkannten Speichers belegt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09560" y="39776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09560" y="3977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WARNUNG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4434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80–99 % belegt – wird eng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09560" y="50292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548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9560" y="5029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909560" y="5486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100 % – Budget überschritten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TEST-TOOL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Performance-Test-Tool: Aufbau der Pipeline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n8n-Workflow simuliert reale RAG-Anfragen gegen Ollama und Qdrant und misst dabei Antwortzeit, Tokendurchsatz und Trefferquote – vollautomatisch und reproduzierbar.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1663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Testdaten vorbereiten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4663440" y="201663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Erzeugt synthetische "Memorys" (Fakten) und legt bei Bedarf automatisch eine frische Qdrant-Collection an, falls noch keine existiert.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3959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&amp; Vektor-Index befüllen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663440" y="283959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wandelt jede Memory in einen Embedding-Vektor um; Qdrant speichert sie als durchsuchbaren Bulk-Payload.</a:t>
            </a:r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6255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künstlich auffüllen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4663440" y="366255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Fülltext-Datei wird bis zur gewünschten context_size aufgefüllt (fill_percentage) – die echten Fakten landen gezielt am Anfang, in der Mitte oder am Ende ("Lost in the Middle").</a:t>
            </a:r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617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48551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Testfälle generieren &amp; abfragen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4663440" y="448551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nach aktivierten Testarten entstehen Fragen mit erwarteter Antwort; optional holt Qdrant zuerst die relevantesten Memorys, bevor Ollama den finalen Prompt beantwortet.</a:t>
            </a:r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475488" cy="475488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308473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messen &amp; auswerten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4663440" y="5308473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Ollama-Antwort liefert Zeit- und Token-Statistiken; "Ergebnis bewerten" prüft die Korrektheit, "Benchmark auswerten" baut daraus eine fertige Ergebnistabelle.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TEST-TOOL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Performance-Test-Tool: Testarten &amp; Metriken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Schalter pro Testart (Edit Fields) bestimmt, welche Qualitäts-Checks zusätzlich zum Standard-Retrieval laufen – jede Antwort liefert dabei exakte Performance-Kennzahlen.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665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Standard-Retrieval &amp; Negation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1234440" y="246888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Prüft, ob Fakten korrekt gefunden werden – und ob das Modell bei fehlender Information ehrlich "Information fehlt" antwortet, statt zu halluzinieren.</a:t>
            </a:r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181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&amp; Distraktoren ("Lost in the Middle")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1234440" y="35204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Frage wird mit dem Fakt am Anfang, in der Mitte und am Ende des Kontexts getestet – plus gezielt ähnliche, aber falsche Zahlen als Ablenkung.</a:t>
            </a:r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16966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Multi-Hop, Zusammenfassung &amp; Prompt-Injection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Kombiniert mehrere Fakten zu einer Antwort, prüft die Abdeckung einer Zusammenfassung und testet, ob eine versteckte Anweisung im Kontext das Modell manipulieren kann.</a:t>
            </a:r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rgbClr val="0D13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D9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2212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Konsistenz, Format &amp; Paraphrasen</a:t>
            </a:r>
          </a:p>
        </p:txBody>
      </p:sp>
      <p:sp>
        <p:nvSpPr>
          <p:cNvPr id="20" name="Text 18"/>
          <p:cNvSpPr txBox="1"/>
          <p:nvPr/>
        </p:nvSpPr>
        <p:spPr>
          <a:xfrm>
            <a:off x="1234440" y="562356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 Frage wird mehrfach und umformuliert gestellt – misst, ob Antwort und Format (max. 1 Satz, keine Floskeln) stabil bleiben.</a:t>
            </a:r>
          </a:p>
        </p:txBody>
      </p:sp>
      <p:sp>
        <p:nvSpPr>
          <p:cNvPr id="21" name="Shape 19"/>
          <p:cNvSpPr/>
          <p:nvPr/>
        </p:nvSpPr>
        <p:spPr>
          <a:xfrm>
            <a:off x="7680960" y="2103120"/>
            <a:ext cx="3931920" cy="4206240"/>
          </a:xfrm>
          <a:prstGeom prst="roundRect">
            <a:avLst>
              <a:gd name="adj" fmla="val 2326"/>
            </a:avLst>
          </a:prstGeom>
          <a:solidFill>
            <a:srgbClr val="0D13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Gemessene Kennzahlen pro Antwort</a:t>
            </a:r>
          </a:p>
        </p:txBody>
      </p:sp>
      <p:sp>
        <p:nvSpPr>
          <p:cNvPr id="23" name="Shape 21"/>
          <p:cNvSpPr/>
          <p:nvPr/>
        </p:nvSpPr>
        <p:spPr>
          <a:xfrm>
            <a:off x="7909560" y="2926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0956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</a:p>
        </p:txBody>
      </p:sp>
      <p:sp>
        <p:nvSpPr>
          <p:cNvPr id="25" name="Text 23"/>
          <p:cNvSpPr txBox="1"/>
          <p:nvPr/>
        </p:nvSpPr>
        <p:spPr>
          <a:xfrm>
            <a:off x="7909560" y="3383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live_antwortzeit_ms = prompt_verarbeitung_ms + generierung_ms</a:t>
            </a:r>
          </a:p>
        </p:txBody>
      </p:sp>
      <p:sp>
        <p:nvSpPr>
          <p:cNvPr id="26" name="Shape 24"/>
          <p:cNvSpPr/>
          <p:nvPr/>
        </p:nvSpPr>
        <p:spPr>
          <a:xfrm>
            <a:off x="7909560" y="39776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09560" y="3977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DURCHSATZ</a:t>
            </a:r>
          </a:p>
        </p:txBody>
      </p:sp>
      <p:sp>
        <p:nvSpPr>
          <p:cNvPr id="28" name="Text 26"/>
          <p:cNvSpPr txBox="1"/>
          <p:nvPr/>
        </p:nvSpPr>
        <p:spPr>
          <a:xfrm>
            <a:off x="7909560" y="4434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tokens_pro_sekunde aus eval_count / eval_duration der Ollama-Antwort</a:t>
            </a:r>
          </a:p>
        </p:txBody>
      </p:sp>
      <p:sp>
        <p:nvSpPr>
          <p:cNvPr id="29" name="Shape 27"/>
          <p:cNvSpPr/>
          <p:nvPr/>
        </p:nvSpPr>
        <p:spPr>
          <a:xfrm>
            <a:off x="7909560" y="502920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9AA3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9560" y="50292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KORREKTHEIT</a:t>
            </a:r>
          </a:p>
        </p:txBody>
      </p:sp>
      <p:sp>
        <p:nvSpPr>
          <p:cNvPr id="31" name="Text 29"/>
          <p:cNvSpPr txBox="1"/>
          <p:nvPr/>
        </p:nvSpPr>
        <p:spPr>
          <a:xfrm>
            <a:off x="7909560" y="54864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7D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ergebnis_korrekt (JA/NEIN) je Testfall, plus Sonderfelder wie injection_ausgelöst oder format_eingehalten</a:t>
            </a:r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smtClean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 · N8N </a:t>
            </a:r>
            <a:r>
              <a:rPr lang="en-US" sz="1300" b="1" kern="0" spc="20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TEST-TOOL </a:t>
            </a:r>
            <a:r>
              <a:rPr lang="en-US" sz="1300" b="1" kern="0" spc="200" smtClean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(3/3)</a:t>
            </a:r>
            <a:endParaRPr lang="en-US" sz="1300" b="1" kern="0" spc="200" dirty="0">
              <a:solidFill>
                <a:srgbClr val="FF6B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n8n Performance-Test-Tool</a:t>
            </a:r>
            <a:r>
              <a:rPr lang="en-US" sz="3000" b="1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en-US" sz="3000" b="1" smtClean="0">
                <a:solidFill>
                  <a:srgbClr val="121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Testlogik</a:t>
            </a:r>
            <a:endParaRPr lang="en-US" sz="3000" b="1" dirty="0">
              <a:solidFill>
                <a:srgbClr val="1217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371599"/>
            <a:ext cx="10789920" cy="1485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AutoNum type="arabicPeriod"/>
            </a:pPr>
            <a:r>
              <a:rPr lang="de-DE" sz="1100" b="1" smtClean="0"/>
              <a:t>Dynamische </a:t>
            </a:r>
            <a:r>
              <a:rPr lang="de-DE" sz="1100" b="1"/>
              <a:t>Teststeuerung (Edit </a:t>
            </a:r>
            <a:r>
              <a:rPr lang="de-DE" sz="1100" b="1"/>
              <a:t>Fields</a:t>
            </a:r>
            <a:r>
              <a:rPr lang="de-DE" sz="1100" b="1" smtClean="0"/>
              <a:t>) - </a:t>
            </a:r>
            <a:r>
              <a:rPr lang="de-DE" sz="1100" smtClean="0"/>
              <a:t>Der </a:t>
            </a:r>
            <a:r>
              <a:rPr lang="de-DE" sz="1100"/>
              <a:t>Workflow startet links oben. Über zentrale Schalter (boolesche Variablen) im Node Edit Fields wird vor dem Start exakt definiert, welche Pfade und Qualitäts-Checks aktiv sind. Das erlaubt modulare Tests ohne </a:t>
            </a:r>
            <a:r>
              <a:rPr lang="de-DE" sz="1100"/>
              <a:t>Code-Änderung</a:t>
            </a:r>
            <a:r>
              <a:rPr lang="de-DE" sz="1100" smtClean="0"/>
              <a:t>.</a:t>
            </a:r>
          </a:p>
          <a:p>
            <a:pPr marL="342900" indent="-342900">
              <a:buAutoNum type="arabicPeriod"/>
            </a:pPr>
            <a:r>
              <a:rPr lang="de-DE" sz="1100" b="1" smtClean="0"/>
              <a:t>Speicher- </a:t>
            </a:r>
            <a:r>
              <a:rPr lang="de-DE" sz="1100" b="1"/>
              <a:t>&amp; Vektor-Vorbereitung (Unterer </a:t>
            </a:r>
            <a:r>
              <a:rPr lang="de-DE" sz="1100" b="1"/>
              <a:t>Pfad</a:t>
            </a:r>
            <a:r>
              <a:rPr lang="de-DE" sz="1100" b="1" smtClean="0"/>
              <a:t>) - </a:t>
            </a:r>
            <a:r>
              <a:rPr lang="de-DE" sz="1100" smtClean="0"/>
              <a:t>Um </a:t>
            </a:r>
            <a:r>
              <a:rPr lang="de-DE" sz="1100"/>
              <a:t>saubere, vergleichbare Benchmarks zu garantieren, wird bei Bedarf die Test-Datenbank zurückgesetzt (Benchmark Memorys leeren) und über den Vektor-Speicher (Qdrant-Bulk-Payload) </a:t>
            </a:r>
            <a:r>
              <a:rPr lang="de-DE" sz="1100"/>
              <a:t>frisch </a:t>
            </a:r>
            <a:r>
              <a:rPr lang="de-DE" sz="1100" smtClean="0"/>
              <a:t>aufgebaut.</a:t>
            </a:r>
          </a:p>
          <a:p>
            <a:pPr marL="342900" indent="-342900">
              <a:buAutoNum type="arabicPeriod"/>
            </a:pPr>
            <a:r>
              <a:rPr lang="de-DE" sz="1100" b="1" smtClean="0"/>
              <a:t>Retrieval- </a:t>
            </a:r>
            <a:r>
              <a:rPr lang="de-DE" sz="1100" b="1"/>
              <a:t>&amp; Prompt-Pipeline (Mittlerer </a:t>
            </a:r>
            <a:r>
              <a:rPr lang="de-DE" sz="1100" b="1"/>
              <a:t>Pfad</a:t>
            </a:r>
            <a:r>
              <a:rPr lang="de-DE" sz="1100" b="1" smtClean="0"/>
              <a:t>) - </a:t>
            </a:r>
            <a:r>
              <a:rPr lang="de-DE" sz="1100" smtClean="0"/>
              <a:t>Die </a:t>
            </a:r>
            <a:r>
              <a:rPr lang="de-DE" sz="1100"/>
              <a:t>Testfragen werden eingelesen (Flitest Datei lesen), mit Kontext angereichert und über die Ollama-Embeddings in Qdrant gesucht. Aus diesen Vektor-Ergebnissen wird automatisiert der finale </a:t>
            </a:r>
            <a:r>
              <a:rPr lang="de-DE" sz="1100"/>
              <a:t>Benchmark-Prompt </a:t>
            </a:r>
            <a:r>
              <a:rPr lang="de-DE" sz="1100" smtClean="0"/>
              <a:t>zusammengesetzt.</a:t>
            </a:r>
            <a:endParaRPr lang="de-DE" sz="1100" b="1"/>
          </a:p>
          <a:p>
            <a:pPr marL="342900" indent="-342900">
              <a:buAutoNum type="arabicPeriod"/>
            </a:pPr>
            <a:r>
              <a:rPr lang="de-DE" sz="1100" b="1" smtClean="0"/>
              <a:t>Latenz-Messung </a:t>
            </a:r>
            <a:r>
              <a:rPr lang="de-DE" sz="1100" b="1"/>
              <a:t>&amp; Analyse (Rechter </a:t>
            </a:r>
            <a:r>
              <a:rPr lang="de-DE" sz="1100" b="1"/>
              <a:t>Pfad</a:t>
            </a:r>
            <a:r>
              <a:rPr lang="de-DE" sz="1100" b="1" smtClean="0"/>
              <a:t>) - </a:t>
            </a:r>
            <a:r>
              <a:rPr lang="de-DE" sz="1100" smtClean="0"/>
              <a:t>Sobald </a:t>
            </a:r>
            <a:r>
              <a:rPr lang="de-DE" sz="1100"/>
              <a:t>die Anfrage an die lokale KI übergeben wird, misst der Node Ollama-Antwort messen die exakten Zeiten (Latenz / Generierungsdauer). Danach wird die Antwort semantisch bewertet und im letzten Schritt für den Export ausgewertet.</a:t>
            </a:r>
            <a:endParaRPr lang="en-US" sz="1100" dirty="0">
              <a:solidFill>
                <a:srgbClr val="5B64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PERFORMANCE TUNING · iGPU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39" y="2857500"/>
            <a:ext cx="10499347" cy="3680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74318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86868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7213D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81160" y="1118235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2980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37844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27080" y="548640"/>
            <a:ext cx="0" cy="36576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27080" y="2651760"/>
            <a:ext cx="0" cy="411480"/>
          </a:xfrm>
          <a:prstGeom prst="line">
            <a:avLst/>
          </a:prstGeom>
          <a:noFill/>
          <a:ln w="19050">
            <a:solidFill>
              <a:srgbClr val="00D9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1160" y="118872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121A33"/>
          </a:solidFill>
          <a:ln w="9525">
            <a:solidFill>
              <a:srgbClr val="00D9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81160" y="11887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iGPU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Dank!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2743200" cy="0"/>
          </a:xfrm>
          <a:prstGeom prst="line">
            <a:avLst/>
          </a:prstGeom>
          <a:noFill/>
          <a:ln w="25400">
            <a:solidFill>
              <a:srgbClr val="00D9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 Ollama, Vulkan oder iGPU-Tuning?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collabnix.com – Ollama Performance Tuning: GPU Optimization Techniques for Production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5449</Words>
  <Application>Microsoft Office PowerPoint</Application>
  <PresentationFormat>Benutzerdefiniert</PresentationFormat>
  <Paragraphs>884</Paragraphs>
  <Slides>38</Slides>
  <Notes>26</Notes>
  <HiddenSlides>0</HiddenSlides>
  <MMClips>0</MMClips>
  <ScaleCrop>false</ScaleCrop>
  <HeadingPairs>
    <vt:vector size="4" baseType="variant">
      <vt:variant>
        <vt:lpstr>Design</vt:lpstr>
      </vt:variant>
      <vt:variant>
        <vt:i4>5</vt:i4>
      </vt:variant>
      <vt:variant>
        <vt:lpstr>Folientitel</vt:lpstr>
      </vt:variant>
      <vt:variant>
        <vt:i4>38</vt:i4>
      </vt:variant>
    </vt:vector>
  </HeadingPairs>
  <TitlesOfParts>
    <vt:vector size="43" baseType="lpstr">
      <vt:lpstr>Office Theme</vt:lpstr>
      <vt:lpstr>1_Office Theme</vt:lpstr>
      <vt:lpstr>2_Office Theme</vt:lpstr>
      <vt:lpstr>3_Office Theme</vt:lpstr>
      <vt:lpstr>4_Office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Ralf</cp:lastModifiedBy>
  <cp:revision>74</cp:revision>
  <dcterms:created xsi:type="dcterms:W3CDTF">2026-09-10T21:06:57Z</dcterms:created>
  <dcterms:modified xsi:type="dcterms:W3CDTF">2026-09-23T20:38:43Z</dcterms:modified>
</cp:coreProperties>
</file>